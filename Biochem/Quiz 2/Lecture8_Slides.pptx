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96" r:id="rId2"/>
    <p:sldId id="332" r:id="rId3"/>
    <p:sldId id="314" r:id="rId4"/>
    <p:sldId id="335" r:id="rId5"/>
    <p:sldId id="337" r:id="rId6"/>
    <p:sldId id="331" r:id="rId7"/>
    <p:sldId id="333" r:id="rId8"/>
    <p:sldId id="338" r:id="rId9"/>
    <p:sldId id="339" r:id="rId10"/>
    <p:sldId id="340" r:id="rId11"/>
    <p:sldId id="341" r:id="rId12"/>
    <p:sldId id="298" r:id="rId13"/>
    <p:sldId id="336" r:id="rId14"/>
    <p:sldId id="299" r:id="rId15"/>
    <p:sldId id="300" r:id="rId16"/>
    <p:sldId id="301" r:id="rId17"/>
    <p:sldId id="302" r:id="rId18"/>
    <p:sldId id="303" r:id="rId19"/>
    <p:sldId id="304" r:id="rId20"/>
    <p:sldId id="311" r:id="rId21"/>
    <p:sldId id="306" r:id="rId22"/>
    <p:sldId id="307" r:id="rId23"/>
    <p:sldId id="308" r:id="rId24"/>
  </p:sldIdLst>
  <p:sldSz cx="9144000" cy="6858000" type="screen4x3"/>
  <p:notesSz cx="6858000" cy="9144000"/>
  <p:defaultTextStyle>
    <a:lvl1pPr marL="40639" marR="40639">
      <a:defRPr sz="2000" b="1">
        <a:uFill>
          <a:solidFill/>
        </a:uFill>
        <a:latin typeface="Helvetica"/>
        <a:ea typeface="Helvetica"/>
        <a:cs typeface="Helvetica"/>
        <a:sym typeface="Helvetica"/>
      </a:defRPr>
    </a:lvl1pPr>
    <a:lvl2pPr marL="40639" marR="40639" indent="3429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2pPr>
    <a:lvl3pPr marL="40639" marR="40639" indent="6858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3pPr>
    <a:lvl4pPr marL="40639" marR="40639" indent="10287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4pPr>
    <a:lvl5pPr marL="40639" marR="40639" indent="13716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5pPr>
    <a:lvl6pPr marL="40639" marR="40639" indent="17145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6pPr>
    <a:lvl7pPr marL="40639" marR="40639" indent="20574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7pPr>
    <a:lvl8pPr marL="40639" marR="40639" indent="24003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8pPr>
    <a:lvl9pPr marL="40639" marR="40639" indent="2743200">
      <a:defRPr sz="2000" b="1">
        <a:uFill>
          <a:solidFill/>
        </a:uFill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55FF"/>
    <a:srgbClr val="FB97FF"/>
    <a:srgbClr val="CB83FF"/>
    <a:srgbClr val="D07CD4"/>
    <a:srgbClr val="054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7270" autoAdjust="0"/>
  </p:normalViewPr>
  <p:slideViewPr>
    <p:cSldViewPr snapToGrid="0" snapToObjects="1">
      <p:cViewPr varScale="1">
        <p:scale>
          <a:sx n="109" d="100"/>
          <a:sy n="109" d="100"/>
        </p:scale>
        <p:origin x="152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4" name="Shape 1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0058613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73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45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54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36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68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2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48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7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06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74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35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63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30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13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9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26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10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4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>
              <a:latin typeface="Gill Sans" charset="0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982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469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39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977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3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1pPr>
          </a:lstStyle>
          <a:p>
            <a:pPr lvl="0">
              <a:defRPr sz="1800">
                <a:uFillTx/>
              </a:defRPr>
            </a:pPr>
            <a:r>
              <a:rPr sz="4400" dirty="0">
                <a:uFill>
                  <a:solidFill/>
                </a:uFill>
              </a:rP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1pPr>
            <a:lvl2pPr marL="783590" indent="-285750">
              <a:spcBef>
                <a:spcPts val="600"/>
              </a:spcBef>
              <a:buChar char="–"/>
              <a:defRPr sz="28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2pPr>
            <a:lvl3pPr marL="1183639" indent="-228600">
              <a:spcBef>
                <a:spcPts val="500"/>
              </a:spcBef>
              <a:defRPr sz="24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3pPr>
            <a:lvl4pPr marL="1640839" indent="-228600">
              <a:spcBef>
                <a:spcPts val="400"/>
              </a:spcBef>
              <a:buChar char="–"/>
              <a:defRPr sz="20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4pPr>
            <a:lvl5pPr marL="2098039" indent="-228600">
              <a:spcBef>
                <a:spcPts val="400"/>
              </a:spcBef>
              <a:buChar char="»"/>
              <a:defRPr sz="2000"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5pPr>
          </a:lstStyle>
          <a:p>
            <a:pPr lvl="0">
              <a:defRPr sz="1800">
                <a:uFillTx/>
              </a:defRPr>
            </a:pPr>
            <a:r>
              <a:rPr sz="3200" dirty="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800" dirty="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400" dirty="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 dirty="0">
                <a:uFill>
                  <a:solidFill/>
                </a:uFill>
              </a:rPr>
              <a:t>Body Level Five</a:t>
            </a:r>
          </a:p>
        </p:txBody>
      </p:sp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xfrm>
            <a:off x="7397497" y="6248400"/>
            <a:ext cx="216406" cy="21544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Gill Sans Regular" charset="0"/>
                <a:ea typeface="Gill Sans Regular" charset="0"/>
                <a:cs typeface="Gill Sans Regular" charset="0"/>
                <a:sym typeface="Helvetica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  <p:transition spd="med" advClick="0" advTm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60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0">
              <a:defRPr sz="1800">
                <a:uFillTx/>
              </a:defRPr>
            </a:pPr>
            <a:r>
              <a:rPr sz="4400">
                <a:uFill>
                  <a:solidFill/>
                </a:uFill>
              </a:rP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876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>
            <a:lvl2pPr marL="783590" indent="-285750">
              <a:spcBef>
                <a:spcPts val="600"/>
              </a:spcBef>
              <a:buChar char="–"/>
              <a:defRPr sz="2800"/>
            </a:lvl2pPr>
            <a:lvl3pPr marL="1183639" indent="-228600">
              <a:spcBef>
                <a:spcPts val="500"/>
              </a:spcBef>
              <a:defRPr sz="2400"/>
            </a:lvl3pPr>
            <a:lvl4pPr marL="1640839" indent="-228600">
              <a:spcBef>
                <a:spcPts val="400"/>
              </a:spcBef>
              <a:buChar char="–"/>
              <a:defRPr sz="2000"/>
            </a:lvl4pPr>
            <a:lvl5pPr marL="2098039" indent="-228600">
              <a:spcBef>
                <a:spcPts val="400"/>
              </a:spcBef>
              <a:buChar char="»"/>
              <a:defRPr sz="2000"/>
            </a:lvl5pPr>
          </a:lstStyle>
          <a:p>
            <a:pPr lvl="0">
              <a:defRPr sz="1800">
                <a:uFillTx/>
              </a:defRPr>
            </a:pPr>
            <a:r>
              <a:rPr sz="3200">
                <a:uFill>
                  <a:solidFill/>
                </a:uFill>
              </a:rPr>
              <a:t>Body Level One</a:t>
            </a:r>
          </a:p>
          <a:p>
            <a:pPr lvl="1">
              <a:defRPr sz="1800">
                <a:uFillTx/>
              </a:defRPr>
            </a:pPr>
            <a:r>
              <a:rPr sz="2800">
                <a:uFill>
                  <a:solidFill/>
                </a:uFill>
              </a:rPr>
              <a:t>Body Level Two</a:t>
            </a:r>
          </a:p>
          <a:p>
            <a:pPr lvl="2">
              <a:defRPr sz="1800">
                <a:uFillTx/>
              </a:defRPr>
            </a:pPr>
            <a:r>
              <a:rPr sz="2400">
                <a:uFill>
                  <a:solidFill/>
                </a:uFill>
              </a:rPr>
              <a:t>Body Level Three</a:t>
            </a:r>
          </a:p>
          <a:p>
            <a:pPr lvl="3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Four</a:t>
            </a:r>
          </a:p>
          <a:p>
            <a:pPr lvl="4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7359650" y="6248400"/>
            <a:ext cx="292100" cy="3302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marL="0" marR="0" algn="ctr" defTabSz="584200">
              <a:defRPr sz="1400" b="0">
                <a:latin typeface="+mn-lt"/>
                <a:ea typeface="+mn-ea"/>
                <a:cs typeface="+mn-cs"/>
                <a:sym typeface="Times Roman"/>
              </a:defRPr>
            </a:lvl1pPr>
          </a:lstStyle>
          <a:p>
            <a:pPr lvl="0"/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med"/>
  <p:txStyles>
    <p:titleStyle>
      <a:lvl1pPr marL="40639" marR="40639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1pPr>
      <a:lvl2pPr marL="40639" marR="40639" indent="2286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2pPr>
      <a:lvl3pPr marL="40639" marR="40639" indent="4572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3pPr>
      <a:lvl4pPr marL="40639" marR="40639" indent="6858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4pPr>
      <a:lvl5pPr marL="40639" marR="40639" indent="9144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5pPr>
      <a:lvl6pPr marL="40639" marR="40639" indent="11430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6pPr>
      <a:lvl7pPr marL="40639" marR="40639" indent="13716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7pPr>
      <a:lvl8pPr marL="40639" marR="40639" indent="16002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8pPr>
      <a:lvl9pPr marL="40639" marR="40639" indent="1828800" algn="ctr">
        <a:defRPr sz="4400">
          <a:uFill>
            <a:solidFill/>
          </a:uFill>
          <a:latin typeface="+mn-lt"/>
          <a:ea typeface="+mn-ea"/>
          <a:cs typeface="+mn-cs"/>
          <a:sym typeface="Times Roman"/>
        </a:defRPr>
      </a:lvl9pPr>
    </p:titleStyle>
    <p:bodyStyle>
      <a:lvl1pPr marL="383540" marR="40639" indent="-34290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1pPr>
      <a:lvl2pPr marL="824411" marR="40639" indent="-326571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2pPr>
      <a:lvl3pPr marL="1259839" marR="40639" indent="-30480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3pPr>
      <a:lvl4pPr marL="17780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4pPr>
      <a:lvl5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5pPr>
      <a:lvl6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6pPr>
      <a:lvl7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7pPr>
      <a:lvl8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8pPr>
      <a:lvl9pPr marL="2235200" marR="40639" indent="-365760">
        <a:spcBef>
          <a:spcPts val="700"/>
        </a:spcBef>
        <a:buSzPct val="100000"/>
        <a:buChar char="•"/>
        <a:defRPr sz="3200">
          <a:uFill>
            <a:solidFill/>
          </a:uFill>
          <a:latin typeface="+mn-lt"/>
          <a:ea typeface="+mn-ea"/>
          <a:cs typeface="+mn-cs"/>
          <a:sym typeface="Times Roman"/>
        </a:defRPr>
      </a:lvl9pPr>
    </p:bodyStyle>
    <p:otherStyle>
      <a:lvl1pPr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1pPr>
      <a:lvl2pPr indent="2286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2pPr>
      <a:lvl3pPr indent="4572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3pPr>
      <a:lvl4pPr indent="6858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4pPr>
      <a:lvl5pPr indent="9144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5pPr>
      <a:lvl6pPr indent="11430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6pPr>
      <a:lvl7pPr indent="13716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7pPr>
      <a:lvl8pPr indent="16002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8pPr>
      <a:lvl9pPr indent="1828800" algn="ctr" defTabSz="584200">
        <a:defRPr sz="1400">
          <a:solidFill>
            <a:schemeClr val="tx1"/>
          </a:solidFill>
          <a:uFill>
            <a:solidFill/>
          </a:uFill>
          <a:latin typeface="+mn-lt"/>
          <a:ea typeface="+mn-ea"/>
          <a:cs typeface="+mn-cs"/>
          <a:sym typeface="Times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emf"/><Relationship Id="rId4" Type="http://schemas.openxmlformats.org/officeDocument/2006/relationships/image" Target="../media/image10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40.tiff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18" Type="http://schemas.openxmlformats.org/officeDocument/2006/relationships/image" Target="../media/image42.jpe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1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cop.mrc-lmb.cam.ac.uk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scop.berkeley.edu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tif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82.png"/><Relationship Id="rId5" Type="http://schemas.openxmlformats.org/officeDocument/2006/relationships/image" Target="../media/image89.png"/><Relationship Id="rId10" Type="http://schemas.openxmlformats.org/officeDocument/2006/relationships/image" Target="../media/image83.png"/><Relationship Id="rId4" Type="http://schemas.openxmlformats.org/officeDocument/2006/relationships/image" Target="../media/image88.png"/><Relationship Id="rId9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61"/>
            <a:ext cx="914400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Lecture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9F5CD9-F84A-A84D-8A2C-F13C753BCF74}"/>
              </a:ext>
            </a:extLst>
          </p:cNvPr>
          <p:cNvSpPr txBox="1"/>
          <p:nvPr/>
        </p:nvSpPr>
        <p:spPr>
          <a:xfrm>
            <a:off x="1937965" y="312966"/>
            <a:ext cx="5562741" cy="207236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  <a:p>
            <a:pPr marL="326389" marR="40639" indent="-28575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Catch up from Lecture 7</a:t>
            </a:r>
            <a:endParaRPr lang="en-US" sz="1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 marL="326389" marR="40639" indent="-28575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Structural classification of proteins</a:t>
            </a:r>
            <a:endParaRPr lang="en-US" sz="1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 marL="326389" marR="40639" indent="-28575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Tertiary structure (single polypeptide chain)</a:t>
            </a:r>
          </a:p>
          <a:p>
            <a:pPr lvl="1" indent="0" algn="l" rtl="0" latinLnBrk="1" hangingPunct="0"/>
            <a:r>
              <a:rPr lang="en-US" sz="1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Single fold</a:t>
            </a:r>
          </a:p>
          <a:p>
            <a:pPr lvl="1" indent="0" algn="l" rtl="0" latinLnBrk="1" hangingPunct="0"/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	Multifold</a:t>
            </a:r>
          </a:p>
          <a:p>
            <a:pPr lvl="1" indent="0" algn="l" rtl="0" latinLnBrk="1" hangingPunct="0"/>
            <a:r>
              <a:rPr lang="en-US" sz="1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Repeated folds</a:t>
            </a:r>
          </a:p>
          <a:p>
            <a:pPr marL="326389" marR="40639" indent="-28575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Quaternary structure (2 or more polypeptide chains)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0D0A794-10E4-0BD3-40FB-AAE9886E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56" y="5586204"/>
            <a:ext cx="8930244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GillSans" panose="020B0A02020104020203" pitchFamily="34" charset="77"/>
              </a:rPr>
              <a:t>Lecture 8 Learning Outcomes:</a:t>
            </a:r>
            <a:endParaRPr lang="en-US" altLang="en-US" sz="1400" b="0" dirty="0">
              <a:solidFill>
                <a:schemeClr val="tx1"/>
              </a:solidFill>
              <a:latin typeface="GillSans" panose="020B0A02020104020203" pitchFamily="34" charset="77"/>
            </a:endParaRPr>
          </a:p>
          <a:p>
            <a:pPr marL="285750" marR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0" dirty="0">
                <a:solidFill>
                  <a:srgbClr val="000000"/>
                </a:solidFill>
                <a:latin typeface="GillSans" panose="020B0A02020104020203" pitchFamily="34" charset="77"/>
              </a:rPr>
              <a:t>Define fold, superfamily, family</a:t>
            </a:r>
          </a:p>
          <a:p>
            <a:pPr marL="285750" marR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0" dirty="0">
                <a:solidFill>
                  <a:srgbClr val="000000"/>
                </a:solidFill>
                <a:latin typeface="GillSans" panose="020B0A02020104020203" pitchFamily="34" charset="77"/>
              </a:rPr>
              <a:t>Describe the purpose of SCOP/</a:t>
            </a:r>
            <a:r>
              <a:rPr lang="en-US" altLang="en-US" sz="1400" b="0" dirty="0" err="1">
                <a:solidFill>
                  <a:srgbClr val="000000"/>
                </a:solidFill>
                <a:latin typeface="GillSans" panose="020B0A02020104020203" pitchFamily="34" charset="77"/>
              </a:rPr>
              <a:t>SCOPe</a:t>
            </a:r>
            <a:r>
              <a:rPr lang="en-US" altLang="en-US" sz="1400" b="0" dirty="0">
                <a:solidFill>
                  <a:srgbClr val="000000"/>
                </a:solidFill>
                <a:latin typeface="GillSans" panose="020B0A02020104020203" pitchFamily="34" charset="77"/>
              </a:rPr>
              <a:t>, what they do and what they provide</a:t>
            </a:r>
            <a:endParaRPr lang="en-US" altLang="en-US" sz="1400" b="0" dirty="0">
              <a:solidFill>
                <a:schemeClr val="tx1"/>
              </a:solidFill>
              <a:latin typeface="GillSans" panose="020B0A02020104020203" pitchFamily="34" charset="7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/>
                </a:uFill>
                <a:latin typeface="GillSans" panose="020B0A02020104020203" pitchFamily="34" charset="77"/>
                <a:sym typeface="Helvetica"/>
              </a:rPr>
              <a:t>Distinguish between a multi-fold tertiary structure vs a quaternary structure (stable or transient)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A09906-378C-8E6E-DFF7-A8D386C0F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56" y="2385328"/>
            <a:ext cx="8930244" cy="32008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GillSans" panose="020B0A02020104020203" pitchFamily="34" charset="77"/>
              </a:rPr>
              <a:t>Lecture 7 Learning Outcomes:</a:t>
            </a:r>
            <a:endParaRPr lang="en-US" altLang="en-US" sz="1400" b="0" dirty="0">
              <a:solidFill>
                <a:schemeClr val="tx1"/>
              </a:solidFill>
              <a:latin typeface="GillSans" panose="020B0A02020104020203" pitchFamily="34" charset="77"/>
            </a:endParaRPr>
          </a:p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0" dirty="0">
                <a:solidFill>
                  <a:schemeClr val="tx1"/>
                </a:solidFill>
                <a:latin typeface="GillSans" panose="020B0A02020104020203" pitchFamily="34" charset="77"/>
              </a:rPr>
              <a:t>Beta turns</a:t>
            </a:r>
          </a:p>
          <a:p>
            <a:pPr marL="285750" marR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0" dirty="0">
                <a:solidFill>
                  <a:srgbClr val="000000"/>
                </a:solidFill>
                <a:latin typeface="GillSans" panose="020B0A02020104020203" pitchFamily="34" charset="77"/>
              </a:rPr>
              <a:t>Describe how beta turns are defined (4 amino acid residues, i+1 and i+2 </a:t>
            </a:r>
            <a:r>
              <a:rPr lang="en-US" altLang="en-US" sz="1400" b="0" dirty="0" err="1">
                <a:solidFill>
                  <a:srgbClr val="000000"/>
                </a:solidFill>
                <a:latin typeface="GillSans" panose="020B0A02020104020203" pitchFamily="34" charset="77"/>
              </a:rPr>
              <a:t>phi,psi</a:t>
            </a:r>
            <a:r>
              <a:rPr lang="en-US" altLang="en-US" sz="1400" b="0" dirty="0">
                <a:solidFill>
                  <a:srgbClr val="000000"/>
                </a:solidFill>
                <a:latin typeface="GillSans" panose="020B0A02020104020203" pitchFamily="34" charset="77"/>
              </a:rPr>
              <a:t> torsion angles)</a:t>
            </a:r>
          </a:p>
          <a:p>
            <a:pPr marL="285750" marR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0" dirty="0">
                <a:solidFill>
                  <a:srgbClr val="000000"/>
                </a:solidFill>
                <a:latin typeface="GillSans" panose="020B0A02020104020203" pitchFamily="34" charset="77"/>
              </a:rPr>
              <a:t>Identify beta turn positions where Pro is favored or where Gly is required</a:t>
            </a:r>
            <a:r>
              <a:rPr lang="en-US" altLang="en-US" sz="1600" b="0" dirty="0">
                <a:solidFill>
                  <a:srgbClr val="000000"/>
                </a:solidFill>
                <a:latin typeface="GillSans" panose="020B0A02020104020203" pitchFamily="34" charset="77"/>
              </a:rPr>
              <a:t> </a:t>
            </a:r>
            <a:endParaRPr lang="en-US" altLang="en-US" sz="1400" b="0" dirty="0">
              <a:solidFill>
                <a:schemeClr val="tx1"/>
              </a:solidFill>
              <a:latin typeface="GillSans" panose="020B0A02020104020203" pitchFamily="34" charset="77"/>
            </a:endParaRPr>
          </a:p>
          <a:p>
            <a:pPr marL="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0" dirty="0">
                <a:solidFill>
                  <a:schemeClr val="tx1"/>
                </a:solidFill>
                <a:latin typeface="GillSans" panose="020B0A02020104020203" pitchFamily="34" charset="77"/>
              </a:rPr>
              <a:t>Collagen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Sans" panose="020B0A02020104020203" pitchFamily="34" charset="77"/>
              </a:rPr>
              <a:t> 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3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Sans" panose="020B0A02020104020203" pitchFamily="34" charset="77"/>
              </a:rPr>
              <a:t>Describe the structure of Collagen (primary, secondary, tertiary, quaternary)</a:t>
            </a:r>
          </a:p>
          <a:p>
            <a:pPr marL="285750" marR="0" lvl="3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0" dirty="0">
                <a:solidFill>
                  <a:schemeClr val="tx1"/>
                </a:solidFill>
                <a:latin typeface="GillSans" panose="020B0A02020104020203" pitchFamily="34" charset="77"/>
              </a:rPr>
              <a:t>Describe collagen synthesis (what occurs inside vs. outside the cell)</a:t>
            </a:r>
          </a:p>
          <a:p>
            <a:pPr marL="285750" marR="0" lvl="3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Sans" panose="020B0A02020104020203" pitchFamily="34" charset="77"/>
              </a:rPr>
              <a:t>Explain link between Vitamin C deficiency and Scurvy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MT"/>
            </a:endParaRPr>
          </a:p>
          <a:p>
            <a:pPr marL="285750" marR="0" lvl="3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Sans" panose="020B0A02020104020203" pitchFamily="34" charset="77"/>
              </a:rPr>
              <a:t>Identify what amino acid sidechains undergo post-translational modification (hydroxylation, crosslinking) and where (inside vs. outside the </a:t>
            </a:r>
            <a:r>
              <a:rPr lang="en-US" altLang="en-US" sz="1400" b="0" dirty="0">
                <a:solidFill>
                  <a:schemeClr val="tx1"/>
                </a:solidFill>
                <a:latin typeface="GillSans" panose="020B0A02020104020203" pitchFamily="34" charset="77"/>
              </a:rPr>
              <a:t>cell)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Sans" panose="020B0A02020104020203" pitchFamily="34" charset="77"/>
              </a:rPr>
              <a:t>these modifications happen.</a:t>
            </a:r>
            <a:endParaRPr lang="en-US" altLang="en-US" sz="1400" b="0" dirty="0">
              <a:solidFill>
                <a:srgbClr val="000000"/>
              </a:solidFill>
              <a:latin typeface="GillSans" panose="020B0A02020104020203" pitchFamily="34" charset="7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/>
                </a:uFill>
                <a:latin typeface="GillSans" panose="020B0A02020104020203" pitchFamily="34" charset="77"/>
                <a:sym typeface="Helvetica"/>
              </a:rPr>
              <a:t>Protein Folds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/>
                </a:uFill>
                <a:latin typeface="GillSans" panose="020B0A02020104020203" pitchFamily="34" charset="77"/>
                <a:sym typeface="Helvetica"/>
              </a:rPr>
              <a:t>List and recognize the main categories of folds (e.g., all alpha, all beta, etc.)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/>
                </a:uFill>
                <a:latin typeface="GillSans" panose="020B0A02020104020203" pitchFamily="34" charset="77"/>
                <a:sym typeface="Helvetica"/>
              </a:rPr>
              <a:t>Give reasons for the limited number of unique protein folds.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/>
                </a:uFill>
                <a:latin typeface="GillSans" panose="020B0A02020104020203" pitchFamily="34" charset="77"/>
                <a:sym typeface="Helvetica"/>
              </a:rPr>
              <a:t>Describe what a topology diagram shows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640462"/>
      </p:ext>
    </p:extLst>
  </p:cSld>
  <p:clrMapOvr>
    <a:masterClrMapping/>
  </p:clrMapOvr>
  <p:transition spd="med" advClick="0" advTm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3095625" y="2387600"/>
            <a:ext cx="3076575" cy="3252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Shape 185"/>
          <p:cNvSpPr/>
          <p:nvPr/>
        </p:nvSpPr>
        <p:spPr>
          <a:xfrm>
            <a:off x="381000" y="533400"/>
            <a:ext cx="1905000" cy="7620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86" name="Shape 186"/>
          <p:cNvSpPr/>
          <p:nvPr/>
        </p:nvSpPr>
        <p:spPr>
          <a:xfrm>
            <a:off x="381000" y="1143000"/>
            <a:ext cx="1600200" cy="6858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87" name="Shape 187"/>
          <p:cNvSpPr/>
          <p:nvPr/>
        </p:nvSpPr>
        <p:spPr>
          <a:xfrm>
            <a:off x="1524000" y="6172200"/>
            <a:ext cx="3886200" cy="4572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88" name="Shape 188"/>
          <p:cNvSpPr/>
          <p:nvPr/>
        </p:nvSpPr>
        <p:spPr>
          <a:xfrm>
            <a:off x="1003300" y="5473700"/>
            <a:ext cx="58801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100"/>
              </a:spcBef>
              <a:buClr>
                <a:srgbClr val="000000"/>
              </a:buClr>
              <a:buFont typeface="Helvetica"/>
              <a:defRPr sz="1800"/>
            </a:lvl1pPr>
          </a:lstStyle>
          <a:p>
            <a:pPr lvl="0">
              <a:defRPr b="0">
                <a:uFillTx/>
              </a:defRPr>
            </a:pPr>
            <a:r>
              <a:rPr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ype</a:t>
            </a:r>
            <a:r>
              <a:rPr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I			     T</a:t>
            </a:r>
            <a:r>
              <a:rPr lang="en-US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ype</a:t>
            </a:r>
            <a:r>
              <a:rPr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II</a:t>
            </a:r>
          </a:p>
        </p:txBody>
      </p:sp>
      <p:sp>
        <p:nvSpPr>
          <p:cNvPr id="189" name="Shape 189"/>
          <p:cNvSpPr/>
          <p:nvPr/>
        </p:nvSpPr>
        <p:spPr>
          <a:xfrm>
            <a:off x="3174" y="661416"/>
            <a:ext cx="91567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D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efinition: &lt; 7 angstrom between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C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sz="14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(i)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and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C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sz="14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(i+3)</a:t>
            </a:r>
          </a:p>
        </p:txBody>
      </p:sp>
      <p:sp>
        <p:nvSpPr>
          <p:cNvPr id="190" name="Shape 190"/>
          <p:cNvSpPr/>
          <p:nvPr/>
        </p:nvSpPr>
        <p:spPr>
          <a:xfrm>
            <a:off x="3174" y="1620266"/>
            <a:ext cx="915670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M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ost turns at protein surface.  Small proteins ~ 1/4 of all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AA 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in turns.</a:t>
            </a:r>
          </a:p>
        </p:txBody>
      </p:sp>
      <p:sp>
        <p:nvSpPr>
          <p:cNvPr id="191" name="Shape 191"/>
          <p:cNvSpPr/>
          <p:nvPr/>
        </p:nvSpPr>
        <p:spPr>
          <a:xfrm>
            <a:off x="3174" y="1315466"/>
            <a:ext cx="91567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N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ames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-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turn, tight turn, reverse turn</a:t>
            </a:r>
          </a:p>
        </p:txBody>
      </p:sp>
      <p:sp>
        <p:nvSpPr>
          <p:cNvPr id="192" name="Shape 192"/>
          <p:cNvSpPr/>
          <p:nvPr/>
        </p:nvSpPr>
        <p:spPr>
          <a:xfrm>
            <a:off x="3174" y="1939353"/>
            <a:ext cx="915670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V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arious “rules” have been found:</a:t>
            </a:r>
          </a:p>
        </p:txBody>
      </p:sp>
      <p:sp>
        <p:nvSpPr>
          <p:cNvPr id="193" name="Shape 193"/>
          <p:cNvSpPr/>
          <p:nvPr/>
        </p:nvSpPr>
        <p:spPr>
          <a:xfrm>
            <a:off x="1219199" y="513714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4" name="Shape 194"/>
          <p:cNvSpPr/>
          <p:nvPr/>
        </p:nvSpPr>
        <p:spPr>
          <a:xfrm>
            <a:off x="939799" y="321309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5" name="Shape 195"/>
          <p:cNvSpPr/>
          <p:nvPr/>
        </p:nvSpPr>
        <p:spPr>
          <a:xfrm>
            <a:off x="2698749" y="290829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4286249" y="512444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8" name="Shape 198"/>
          <p:cNvSpPr/>
          <p:nvPr/>
        </p:nvSpPr>
        <p:spPr>
          <a:xfrm>
            <a:off x="5721349" y="559434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9" name="Shape 199"/>
          <p:cNvSpPr/>
          <p:nvPr/>
        </p:nvSpPr>
        <p:spPr>
          <a:xfrm>
            <a:off x="5778499" y="2717799"/>
            <a:ext cx="190501" cy="171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0" name="Shape 200"/>
          <p:cNvSpPr/>
          <p:nvPr/>
        </p:nvSpPr>
        <p:spPr>
          <a:xfrm>
            <a:off x="6096127" y="1886712"/>
            <a:ext cx="31369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E31E3"/>
              </a:buClr>
              <a:buFont typeface="Helvetica"/>
              <a:defRPr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re there other secondary structures?!</a:t>
            </a:r>
          </a:p>
        </p:txBody>
      </p:sp>
      <p:pic>
        <p:nvPicPr>
          <p:cNvPr id="201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2362200"/>
            <a:ext cx="3081338" cy="31527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4" name="Group 204"/>
          <p:cNvGrpSpPr/>
          <p:nvPr/>
        </p:nvGrpSpPr>
        <p:grpSpPr>
          <a:xfrm>
            <a:off x="2628900" y="2197100"/>
            <a:ext cx="1841500" cy="1270000"/>
            <a:chOff x="0" y="0"/>
            <a:chExt cx="1841500" cy="1270000"/>
          </a:xfrm>
        </p:grpSpPr>
        <p:sp>
          <p:nvSpPr>
            <p:cNvPr id="202" name="Shape 202"/>
            <p:cNvSpPr/>
            <p:nvPr/>
          </p:nvSpPr>
          <p:spPr>
            <a:xfrm>
              <a:off x="0" y="0"/>
              <a:ext cx="18415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E33FF"/>
                </a:buClr>
                <a:buFont typeface="Helvetica"/>
                <a:defRPr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lang="en-US" sz="1600" b="0" dirty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nly</a:t>
              </a:r>
              <a:r>
                <a:rPr sz="1600" b="0" dirty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G</a:t>
              </a:r>
              <a:r>
                <a:rPr lang="en-US" sz="1600" b="0" dirty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ly</a:t>
              </a:r>
              <a:endParaRPr sz="1600" b="0" dirty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03" name="Shape 203"/>
            <p:cNvSpPr/>
            <p:nvPr/>
          </p:nvSpPr>
          <p:spPr>
            <a:xfrm>
              <a:off x="571500" y="279400"/>
              <a:ext cx="292100" cy="990600"/>
            </a:xfrm>
            <a:prstGeom prst="line">
              <a:avLst/>
            </a:prstGeom>
            <a:noFill/>
            <a:ln w="28575" cap="flat">
              <a:solidFill>
                <a:srgbClr val="1E31E3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 b="0">
                  <a:uFillTx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209" name="Group 209"/>
          <p:cNvGrpSpPr/>
          <p:nvPr/>
        </p:nvGrpSpPr>
        <p:grpSpPr>
          <a:xfrm>
            <a:off x="1701800" y="4089400"/>
            <a:ext cx="2921000" cy="385921"/>
            <a:chOff x="0" y="0"/>
            <a:chExt cx="2921000" cy="385921"/>
          </a:xfrm>
        </p:grpSpPr>
        <p:grpSp>
          <p:nvGrpSpPr>
            <p:cNvPr id="207" name="Group 207"/>
            <p:cNvGrpSpPr/>
            <p:nvPr/>
          </p:nvGrpSpPr>
          <p:grpSpPr>
            <a:xfrm>
              <a:off x="0" y="0"/>
              <a:ext cx="2476500" cy="385921"/>
              <a:chOff x="0" y="0"/>
              <a:chExt cx="2476500" cy="385921"/>
            </a:xfrm>
          </p:grpSpPr>
          <p:sp>
            <p:nvSpPr>
              <p:cNvPr id="205" name="Shape 205"/>
              <p:cNvSpPr/>
              <p:nvPr/>
            </p:nvSpPr>
            <p:spPr>
              <a:xfrm>
                <a:off x="787400" y="139700"/>
                <a:ext cx="1689100" cy="2462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900"/>
                  </a:spcBef>
                  <a:buClr>
                    <a:srgbClr val="0E33FF"/>
                  </a:buClr>
                  <a:buFont typeface="Helvetica"/>
                  <a:defRPr>
                    <a:solidFill>
                      <a:srgbClr val="0E33FF"/>
                    </a:solidFill>
                    <a:uFill>
                      <a:solidFill>
                        <a:srgbClr val="0E33FF"/>
                      </a:solidFill>
                    </a:u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  <a:uFillTx/>
                  </a:defRPr>
                </a:pPr>
                <a:r>
                  <a:rPr sz="1600" b="0" dirty="0">
                    <a:solidFill>
                      <a:srgbClr val="0E33FF"/>
                    </a:solidFill>
                    <a:uFill>
                      <a:solidFill>
                        <a:srgbClr val="0E33FF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H-</a:t>
                </a:r>
                <a:r>
                  <a:rPr lang="en-US" sz="1600" b="0" dirty="0">
                    <a:solidFill>
                      <a:srgbClr val="0E33FF"/>
                    </a:solidFill>
                    <a:uFill>
                      <a:solidFill>
                        <a:srgbClr val="0E33FF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bond</a:t>
                </a:r>
              </a:p>
            </p:txBody>
          </p:sp>
          <p:sp>
            <p:nvSpPr>
              <p:cNvPr id="206" name="Shape 206"/>
              <p:cNvSpPr/>
              <p:nvPr/>
            </p:nvSpPr>
            <p:spPr>
              <a:xfrm flipH="1" flipV="1">
                <a:off x="0" y="0"/>
                <a:ext cx="850900" cy="215900"/>
              </a:xfrm>
              <a:prstGeom prst="line">
                <a:avLst/>
              </a:prstGeom>
              <a:noFill/>
              <a:ln w="28575" cap="flat">
                <a:solidFill>
                  <a:srgbClr val="1E31E3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sp>
          <p:nvSpPr>
            <p:cNvPr id="208" name="Shape 208"/>
            <p:cNvSpPr/>
            <p:nvPr/>
          </p:nvSpPr>
          <p:spPr>
            <a:xfrm flipV="1">
              <a:off x="1676400" y="127000"/>
              <a:ext cx="1244600" cy="101600"/>
            </a:xfrm>
            <a:prstGeom prst="line">
              <a:avLst/>
            </a:prstGeom>
            <a:noFill/>
            <a:ln w="28575" cap="flat">
              <a:solidFill>
                <a:srgbClr val="1E31E3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 b="0">
                  <a:uFillTx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213" name="Group 213"/>
          <p:cNvGrpSpPr/>
          <p:nvPr/>
        </p:nvGrpSpPr>
        <p:grpSpPr>
          <a:xfrm>
            <a:off x="635000" y="4762500"/>
            <a:ext cx="3225800" cy="1076484"/>
            <a:chOff x="0" y="0"/>
            <a:chExt cx="3225800" cy="1076483"/>
          </a:xfrm>
        </p:grpSpPr>
        <p:sp>
          <p:nvSpPr>
            <p:cNvPr id="210" name="Shape 210"/>
            <p:cNvSpPr/>
            <p:nvPr/>
          </p:nvSpPr>
          <p:spPr>
            <a:xfrm>
              <a:off x="1460500" y="830262"/>
              <a:ext cx="17653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182BCF"/>
                </a:buClr>
                <a:buFont typeface="Helvetica"/>
                <a:defRPr>
                  <a:solidFill>
                    <a:srgbClr val="182BCF"/>
                  </a:solidFill>
                  <a:uFill>
                    <a:solidFill>
                      <a:srgbClr val="182BCF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rgbClr val="182BCF"/>
                  </a:solidFill>
                  <a:uFill>
                    <a:solidFill>
                      <a:srgbClr val="182BC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P</a:t>
              </a:r>
              <a:r>
                <a:rPr lang="en-US" sz="1600" b="0" dirty="0">
                  <a:solidFill>
                    <a:srgbClr val="182BCF"/>
                  </a:solidFill>
                  <a:uFill>
                    <a:solidFill>
                      <a:srgbClr val="182BC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ro common</a:t>
              </a:r>
            </a:p>
          </p:txBody>
        </p:sp>
        <p:sp>
          <p:nvSpPr>
            <p:cNvPr id="211" name="Shape 211"/>
            <p:cNvSpPr/>
            <p:nvPr/>
          </p:nvSpPr>
          <p:spPr>
            <a:xfrm flipV="1">
              <a:off x="1943100" y="139700"/>
              <a:ext cx="1155700" cy="723900"/>
            </a:xfrm>
            <a:prstGeom prst="line">
              <a:avLst/>
            </a:prstGeom>
            <a:noFill/>
            <a:ln w="28575" cap="flat">
              <a:solidFill>
                <a:srgbClr val="1E31E3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 b="0">
                  <a:uFillTx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12" name="Shape 212"/>
            <p:cNvSpPr/>
            <p:nvPr/>
          </p:nvSpPr>
          <p:spPr>
            <a:xfrm flipH="1" flipV="1">
              <a:off x="0" y="0"/>
              <a:ext cx="1828800" cy="876300"/>
            </a:xfrm>
            <a:prstGeom prst="line">
              <a:avLst/>
            </a:prstGeom>
            <a:noFill/>
            <a:ln w="28575" cap="flat">
              <a:solidFill>
                <a:srgbClr val="1E31E3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 b="0">
                  <a:uFillTx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14" name="Shape 214"/>
          <p:cNvSpPr/>
          <p:nvPr/>
        </p:nvSpPr>
        <p:spPr>
          <a:xfrm>
            <a:off x="155575" y="5943600"/>
            <a:ext cx="3934287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182BCF"/>
              </a:buClr>
              <a:buFont typeface="Helvetica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AA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in turns often polar/charged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                 W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hy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?!  A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surface, in contact with water</a:t>
            </a:r>
          </a:p>
        </p:txBody>
      </p:sp>
      <p:sp>
        <p:nvSpPr>
          <p:cNvPr id="215" name="Shape 215"/>
          <p:cNvSpPr/>
          <p:nvPr/>
        </p:nvSpPr>
        <p:spPr>
          <a:xfrm>
            <a:off x="3175" y="986853"/>
            <a:ext cx="9004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hese four AA do </a:t>
            </a:r>
            <a:r>
              <a:rPr lang="en-US" sz="1600" i="1" u="sng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not have repeating</a:t>
            </a:r>
            <a:r>
              <a:rPr lang="en-US" sz="1600" i="1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Φ,Ψ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values! </a:t>
            </a:r>
            <a:endParaRPr sz="1600" b="0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16" name="Shape 216"/>
          <p:cNvSpPr/>
          <p:nvPr/>
        </p:nvSpPr>
        <p:spPr>
          <a:xfrm>
            <a:off x="155575" y="6477000"/>
            <a:ext cx="61468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82BCF"/>
              </a:buClr>
              <a:buFont typeface="Helvetica"/>
              <a:defRPr>
                <a:solidFill>
                  <a:srgbClr val="182BCF"/>
                </a:solidFill>
                <a:uFill>
                  <a:solidFill>
                    <a:srgbClr val="182BCF"/>
                  </a:solidFill>
                </a:u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ypes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I &amp; II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2BC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most common.  Ten types now identified</a:t>
            </a:r>
          </a:p>
        </p:txBody>
      </p:sp>
      <p:sp>
        <p:nvSpPr>
          <p:cNvPr id="217" name="Shape 217"/>
          <p:cNvSpPr/>
          <p:nvPr/>
        </p:nvSpPr>
        <p:spPr>
          <a:xfrm>
            <a:off x="5998911" y="3431762"/>
            <a:ext cx="3136900" cy="902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DD33C5"/>
              </a:buClr>
              <a:buFont typeface="Helvetica"/>
              <a:defRPr sz="1800" b="0">
                <a:uFillTx/>
              </a:defRPr>
            </a:pPr>
            <a:r>
              <a:rPr lang="en-US" sz="4000" b="0" baseline="-11000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Wingdings 2" pitchFamily="2" charset="2"/>
                <a:ea typeface="Gill Sans" charset="0"/>
                <a:cs typeface="Gill Sans" charset="0"/>
              </a:rPr>
              <a:t>j</a:t>
            </a:r>
            <a:r>
              <a:rPr lang="en-US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Wingdings 2" pitchFamily="2" charset="2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Other ~</a:t>
            </a:r>
            <a:r>
              <a:rPr lang="en-US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Chalkboard"/>
              </a:rPr>
              <a:t>40%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not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random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Φ,Ψ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values! 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nstead, simply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not repeating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φ,ψ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values.         </a:t>
            </a:r>
            <a:endParaRPr sz="1600" b="0" dirty="0">
              <a:solidFill>
                <a:schemeClr val="tx1"/>
              </a:solidFill>
              <a:uFill>
                <a:solidFill>
                  <a:srgbClr val="1E31E3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18" name="Shape 218"/>
          <p:cNvSpPr/>
          <p:nvPr/>
        </p:nvSpPr>
        <p:spPr>
          <a:xfrm>
            <a:off x="6269252" y="4346232"/>
            <a:ext cx="2917399" cy="1261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DD33C5"/>
              </a:buClr>
              <a:buFont typeface="Helvetica"/>
              <a:defRPr sz="1800" b="0">
                <a:uFillTx/>
              </a:defRPr>
            </a:pPr>
            <a:r>
              <a:rPr sz="1600" b="0" u="sng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J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argon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non repeating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Φ,Ψ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parts of proteins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, i.e.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not turns or helices or sheets, are called</a:t>
            </a:r>
            <a:r>
              <a:rPr lang="en-US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“coil” or “loop”. 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hese "coils/loops" also make all possible H-bonds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.</a:t>
            </a:r>
          </a:p>
        </p:txBody>
      </p:sp>
      <p:grpSp>
        <p:nvGrpSpPr>
          <p:cNvPr id="222" name="Group 222"/>
          <p:cNvGrpSpPr/>
          <p:nvPr/>
        </p:nvGrpSpPr>
        <p:grpSpPr>
          <a:xfrm>
            <a:off x="3786207" y="3073400"/>
            <a:ext cx="5489557" cy="1964486"/>
            <a:chOff x="-127747" y="0"/>
            <a:chExt cx="5489555" cy="1964485"/>
          </a:xfrm>
        </p:grpSpPr>
        <p:sp>
          <p:nvSpPr>
            <p:cNvPr id="219" name="Shape 219"/>
            <p:cNvSpPr/>
            <p:nvPr/>
          </p:nvSpPr>
          <p:spPr>
            <a:xfrm>
              <a:off x="-127747" y="348409"/>
              <a:ext cx="5120508" cy="1616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1579" extrusionOk="0">
                  <a:moveTo>
                    <a:pt x="21583" y="0"/>
                  </a:moveTo>
                  <a:cubicBezTo>
                    <a:pt x="21068" y="212"/>
                    <a:pt x="20553" y="339"/>
                    <a:pt x="20044" y="445"/>
                  </a:cubicBezTo>
                  <a:cubicBezTo>
                    <a:pt x="19395" y="763"/>
                    <a:pt x="18759" y="1124"/>
                    <a:pt x="18117" y="1357"/>
                  </a:cubicBezTo>
                  <a:cubicBezTo>
                    <a:pt x="17675" y="1675"/>
                    <a:pt x="17247" y="1802"/>
                    <a:pt x="16799" y="1908"/>
                  </a:cubicBezTo>
                  <a:cubicBezTo>
                    <a:pt x="15976" y="2650"/>
                    <a:pt x="14945" y="3010"/>
                    <a:pt x="14089" y="3159"/>
                  </a:cubicBezTo>
                  <a:cubicBezTo>
                    <a:pt x="13118" y="3498"/>
                    <a:pt x="12282" y="4070"/>
                    <a:pt x="11305" y="4176"/>
                  </a:cubicBezTo>
                  <a:cubicBezTo>
                    <a:pt x="9699" y="4091"/>
                    <a:pt x="8180" y="3795"/>
                    <a:pt x="6594" y="3498"/>
                  </a:cubicBezTo>
                  <a:cubicBezTo>
                    <a:pt x="6326" y="3307"/>
                    <a:pt x="6072" y="3222"/>
                    <a:pt x="5805" y="3159"/>
                  </a:cubicBezTo>
                  <a:cubicBezTo>
                    <a:pt x="4808" y="2395"/>
                    <a:pt x="3804" y="1823"/>
                    <a:pt x="2807" y="1230"/>
                  </a:cubicBezTo>
                  <a:cubicBezTo>
                    <a:pt x="2579" y="784"/>
                    <a:pt x="2312" y="636"/>
                    <a:pt x="2057" y="551"/>
                  </a:cubicBezTo>
                  <a:cubicBezTo>
                    <a:pt x="1489" y="-21"/>
                    <a:pt x="1917" y="318"/>
                    <a:pt x="739" y="551"/>
                  </a:cubicBezTo>
                  <a:cubicBezTo>
                    <a:pt x="652" y="615"/>
                    <a:pt x="518" y="509"/>
                    <a:pt x="492" y="784"/>
                  </a:cubicBezTo>
                  <a:cubicBezTo>
                    <a:pt x="411" y="1442"/>
                    <a:pt x="378" y="2120"/>
                    <a:pt x="311" y="2819"/>
                  </a:cubicBezTo>
                  <a:cubicBezTo>
                    <a:pt x="284" y="4176"/>
                    <a:pt x="284" y="5999"/>
                    <a:pt x="130" y="7334"/>
                  </a:cubicBezTo>
                  <a:cubicBezTo>
                    <a:pt x="117" y="7780"/>
                    <a:pt x="117" y="8225"/>
                    <a:pt x="97" y="8691"/>
                  </a:cubicBezTo>
                  <a:cubicBezTo>
                    <a:pt x="77" y="9030"/>
                    <a:pt x="23" y="9709"/>
                    <a:pt x="23" y="9709"/>
                  </a:cubicBezTo>
                  <a:cubicBezTo>
                    <a:pt x="-10" y="10832"/>
                    <a:pt x="-17" y="11871"/>
                    <a:pt x="63" y="12994"/>
                  </a:cubicBezTo>
                  <a:cubicBezTo>
                    <a:pt x="83" y="13800"/>
                    <a:pt x="103" y="14478"/>
                    <a:pt x="170" y="15262"/>
                  </a:cubicBezTo>
                  <a:cubicBezTo>
                    <a:pt x="177" y="15750"/>
                    <a:pt x="177" y="16237"/>
                    <a:pt x="204" y="16725"/>
                  </a:cubicBezTo>
                  <a:cubicBezTo>
                    <a:pt x="237" y="17467"/>
                    <a:pt x="384" y="19184"/>
                    <a:pt x="632" y="19438"/>
                  </a:cubicBezTo>
                  <a:cubicBezTo>
                    <a:pt x="813" y="20286"/>
                    <a:pt x="926" y="20350"/>
                    <a:pt x="1201" y="20795"/>
                  </a:cubicBezTo>
                  <a:cubicBezTo>
                    <a:pt x="1274" y="20901"/>
                    <a:pt x="1328" y="21176"/>
                    <a:pt x="1415" y="21240"/>
                  </a:cubicBezTo>
                  <a:cubicBezTo>
                    <a:pt x="1790" y="21515"/>
                    <a:pt x="1622" y="21409"/>
                    <a:pt x="1917" y="21579"/>
                  </a:cubicBezTo>
                  <a:cubicBezTo>
                    <a:pt x="4138" y="21346"/>
                    <a:pt x="6360" y="21240"/>
                    <a:pt x="8588" y="21134"/>
                  </a:cubicBezTo>
                  <a:cubicBezTo>
                    <a:pt x="9277" y="20985"/>
                    <a:pt x="9987" y="21176"/>
                    <a:pt x="10663" y="20689"/>
                  </a:cubicBezTo>
                  <a:cubicBezTo>
                    <a:pt x="10890" y="20498"/>
                    <a:pt x="11071" y="19862"/>
                    <a:pt x="11305" y="19777"/>
                  </a:cubicBezTo>
                  <a:cubicBezTo>
                    <a:pt x="11994" y="19502"/>
                    <a:pt x="12703" y="19692"/>
                    <a:pt x="13406" y="19671"/>
                  </a:cubicBezTo>
                  <a:cubicBezTo>
                    <a:pt x="14952" y="19268"/>
                    <a:pt x="16029" y="19374"/>
                    <a:pt x="17869" y="19332"/>
                  </a:cubicBezTo>
                  <a:cubicBezTo>
                    <a:pt x="19087" y="19226"/>
                    <a:pt x="20285" y="19205"/>
                    <a:pt x="21509" y="19205"/>
                  </a:cubicBezTo>
                </a:path>
              </a:pathLst>
            </a:custGeom>
            <a:noFill/>
            <a:ln w="76200" cap="flat">
              <a:solidFill>
                <a:srgbClr val="0E33FF">
                  <a:alpha val="50196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20" name="Shape 220"/>
            <p:cNvSpPr/>
            <p:nvPr/>
          </p:nvSpPr>
          <p:spPr>
            <a:xfrm>
              <a:off x="4772845" y="1409700"/>
              <a:ext cx="322524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buClr>
                  <a:srgbClr val="0E33FF"/>
                </a:buClr>
                <a:buFont typeface="Helvetica"/>
                <a:defRPr sz="240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2400" b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N</a:t>
              </a:r>
            </a:p>
          </p:txBody>
        </p:sp>
        <p:sp>
          <p:nvSpPr>
            <p:cNvPr id="221" name="Shape 221"/>
            <p:cNvSpPr/>
            <p:nvPr/>
          </p:nvSpPr>
          <p:spPr>
            <a:xfrm>
              <a:off x="4815707" y="0"/>
              <a:ext cx="546101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400"/>
                </a:spcBef>
                <a:buClr>
                  <a:srgbClr val="0E33FF"/>
                </a:buClr>
                <a:buFont typeface="Helvetica"/>
                <a:defRPr sz="240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2400" b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C</a:t>
              </a:r>
            </a:p>
          </p:txBody>
        </p:sp>
      </p:grpSp>
      <p:grpSp>
        <p:nvGrpSpPr>
          <p:cNvPr id="225" name="Group 225"/>
          <p:cNvGrpSpPr/>
          <p:nvPr/>
        </p:nvGrpSpPr>
        <p:grpSpPr>
          <a:xfrm>
            <a:off x="6094233" y="2404535"/>
            <a:ext cx="3049767" cy="720270"/>
            <a:chOff x="0" y="55334"/>
            <a:chExt cx="3373617" cy="720269"/>
          </a:xfrm>
        </p:grpSpPr>
        <p:sp>
          <p:nvSpPr>
            <p:cNvPr id="223" name="Shape 223"/>
            <p:cNvSpPr/>
            <p:nvPr/>
          </p:nvSpPr>
          <p:spPr>
            <a:xfrm>
              <a:off x="20816" y="252384"/>
              <a:ext cx="3352801" cy="5232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defRPr sz="1800" b="0">
                  <a:uFillTx/>
                </a:defRPr>
              </a:pP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account for 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Chalkboard"/>
                </a:rPr>
                <a:t>only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~ </a:t>
              </a:r>
              <a:r>
                <a:rPr lang="en-US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Chalkboard"/>
                </a:rPr>
                <a:t>60%</a:t>
              </a:r>
              <a:r>
                <a:rPr lang="en-US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of all 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AA 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in proteins! </a:t>
              </a:r>
              <a:endPara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24" name="Shape 224"/>
            <p:cNvSpPr/>
            <p:nvPr/>
          </p:nvSpPr>
          <p:spPr>
            <a:xfrm>
              <a:off x="0" y="55334"/>
              <a:ext cx="2404831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/>
            <a:p>
              <a:pPr lvl="0">
                <a:defRPr sz="1800" b="0"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α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-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helix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, 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β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-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sheet, and turns </a:t>
              </a:r>
              <a:endPara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-109728" y="-28312"/>
            <a:ext cx="9358060" cy="44114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Turns:</a:t>
            </a:r>
            <a:r>
              <a:rPr kumimoji="0" lang="en-US" sz="2200" b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4 AA are the minimum for a chain to turn 180</a:t>
            </a:r>
            <a:r>
              <a:rPr kumimoji="0" lang="en-US" sz="2200" b="0" u="none" strike="noStrike" cap="none" spc="0" normalizeH="0" baseline="3000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</a:t>
            </a:r>
            <a:r>
              <a:rPr kumimoji="0" lang="en-US" sz="2200" b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and a type of II structure</a:t>
            </a:r>
            <a:endParaRPr kumimoji="0" lang="en-US" sz="2200" b="0" u="none" strike="noStrike" cap="none" spc="0" normalizeH="0" baseline="3000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Gill Sans" charset="0"/>
              <a:ea typeface="Gill Sans" charset="0"/>
              <a:cs typeface="Gill Sans" charset="0"/>
              <a:sym typeface="Helvetic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D2A78-4BE7-724C-91C9-C9B047C7DF17}"/>
              </a:ext>
            </a:extLst>
          </p:cNvPr>
          <p:cNvSpPr txBox="1"/>
          <p:nvPr/>
        </p:nvSpPr>
        <p:spPr>
          <a:xfrm>
            <a:off x="6473117" y="3149917"/>
            <a:ext cx="1767587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2 different cases:</a:t>
            </a:r>
          </a:p>
        </p:txBody>
      </p:sp>
      <p:sp>
        <p:nvSpPr>
          <p:cNvPr id="46" name="Shape 217">
            <a:extLst>
              <a:ext uri="{FF2B5EF4-FFF2-40B4-BE49-F238E27FC236}">
                <a16:creationId xmlns:a16="http://schemas.microsoft.com/office/drawing/2014/main" id="{0274EFB1-AE6B-6A43-8101-34370DCE6A34}"/>
              </a:ext>
            </a:extLst>
          </p:cNvPr>
          <p:cNvSpPr/>
          <p:nvPr/>
        </p:nvSpPr>
        <p:spPr>
          <a:xfrm>
            <a:off x="6041866" y="5534673"/>
            <a:ext cx="3060700" cy="114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DD33C5"/>
              </a:buClr>
              <a:buFont typeface="Helvetica"/>
              <a:defRPr sz="1800" b="0">
                <a:uFillTx/>
              </a:defRPr>
            </a:pPr>
            <a:r>
              <a:rPr lang="en-US" sz="4000" b="0" baseline="-11000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Wingdings 2" pitchFamily="2" charset="2"/>
                <a:ea typeface="Gill Sans" charset="0"/>
                <a:cs typeface="Gill Sans" charset="0"/>
              </a:rPr>
              <a:t>k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    Some proteins are “intrinsically disordered”, with parts or even the entire protein not having fixed structure.</a:t>
            </a:r>
            <a:endParaRPr sz="1600" b="0" dirty="0">
              <a:solidFill>
                <a:schemeClr val="tx1"/>
              </a:solidFill>
              <a:uFill>
                <a:solidFill>
                  <a:srgbClr val="1E31E3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E8659-C655-C943-A3FB-91F6F8A37BA6}"/>
              </a:ext>
            </a:extLst>
          </p:cNvPr>
          <p:cNvSpPr txBox="1"/>
          <p:nvPr/>
        </p:nvSpPr>
        <p:spPr>
          <a:xfrm>
            <a:off x="-71249" y="325466"/>
            <a:ext cx="5011386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“Turns” allow the polypeptide chain to reverse direction.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6B10E7-AD1D-964C-B9BA-CC46CD7088A0}"/>
              </a:ext>
            </a:extLst>
          </p:cNvPr>
          <p:cNvSpPr txBox="1"/>
          <p:nvPr/>
        </p:nvSpPr>
        <p:spPr>
          <a:xfrm>
            <a:off x="4856806" y="322418"/>
            <a:ext cx="4773167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rtl="0" latinLnBrk="1" hangingPunct="0"/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</a:rPr>
              <a:t>T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hey are 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defined by the (</a:t>
            </a:r>
            <a:r>
              <a:rPr kumimoji="0" lang="en-US" sz="1600" b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i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 + 1) and (</a:t>
            </a:r>
            <a:r>
              <a:rPr kumimoji="0" lang="en-US" sz="1600" b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i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 + 2) </a:t>
            </a:r>
            <a:r>
              <a:rPr lang="el-GR" sz="1600" b="0" dirty="0">
                <a:solidFill>
                  <a:srgbClr val="FF0000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Φ,Ψ</a:t>
            </a:r>
            <a:endParaRPr kumimoji="0" lang="en-US" sz="1600" b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>
                <a:solidFill>
                  <a:srgbClr val="000000"/>
                </a:solidFill>
              </a:uFill>
              <a:latin typeface="Gill Sans" panose="020B0502020104020203" pitchFamily="34" charset="-79"/>
              <a:cs typeface="Gill Sans" panose="020B0502020104020203" pitchFamily="34" charset="-79"/>
              <a:sym typeface="Helvetica"/>
            </a:endParaRP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7AFD8346-CAE1-5AD4-3FE8-20AD06455291}"/>
              </a:ext>
            </a:extLst>
          </p:cNvPr>
          <p:cNvSpPr/>
          <p:nvPr/>
        </p:nvSpPr>
        <p:spPr>
          <a:xfrm rot="1430015">
            <a:off x="915157" y="3098580"/>
            <a:ext cx="1092200" cy="666752"/>
          </a:xfrm>
          <a:prstGeom prst="parallelogram">
            <a:avLst/>
          </a:prstGeom>
          <a:noFill/>
          <a:ln w="76200" cap="flat">
            <a:solidFill>
              <a:schemeClr val="tx1">
                <a:lumMod val="50000"/>
                <a:lumOff val="50000"/>
              </a:schemeClr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267C3AE-158B-A9BB-5D74-2A042C45796C}"/>
              </a:ext>
            </a:extLst>
          </p:cNvPr>
          <p:cNvSpPr/>
          <p:nvPr/>
        </p:nvSpPr>
        <p:spPr>
          <a:xfrm rot="13886928" flipV="1">
            <a:off x="398165" y="3819989"/>
            <a:ext cx="985382" cy="605363"/>
          </a:xfrm>
          <a:prstGeom prst="parallelogram">
            <a:avLst>
              <a:gd name="adj" fmla="val 113313"/>
            </a:avLst>
          </a:prstGeom>
          <a:noFill/>
          <a:ln w="76200" cap="flat">
            <a:solidFill>
              <a:schemeClr val="tx1">
                <a:lumMod val="50000"/>
                <a:lumOff val="50000"/>
              </a:schemeClr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4C7251E4-25AC-AC84-F330-8CEEF523AD9F}"/>
              </a:ext>
            </a:extLst>
          </p:cNvPr>
          <p:cNvSpPr/>
          <p:nvPr/>
        </p:nvSpPr>
        <p:spPr>
          <a:xfrm rot="2562635">
            <a:off x="1017719" y="4465223"/>
            <a:ext cx="1012886" cy="672704"/>
          </a:xfrm>
          <a:prstGeom prst="parallelogram">
            <a:avLst>
              <a:gd name="adj" fmla="val 57558"/>
            </a:avLst>
          </a:prstGeom>
          <a:noFill/>
          <a:ln w="76200" cap="flat">
            <a:solidFill>
              <a:schemeClr val="tx1">
                <a:lumMod val="50000"/>
                <a:lumOff val="50000"/>
              </a:schemeClr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30796815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animBg="1" advAuto="0"/>
      <p:bldP spid="190" grpId="0" animBg="1" advAuto="0"/>
      <p:bldP spid="191" grpId="0" animBg="1" advAuto="0"/>
      <p:bldP spid="192" grpId="0" animBg="1" advAuto="0"/>
      <p:bldP spid="200" grpId="0" animBg="1" advAuto="0"/>
      <p:bldP spid="204" grpId="0" animBg="1" advAuto="0"/>
      <p:bldP spid="209" grpId="0" animBg="1" advAuto="0"/>
      <p:bldP spid="213" grpId="0" animBg="1" advAuto="0"/>
      <p:bldP spid="214" grpId="0" animBg="1" advAuto="0"/>
      <p:bldP spid="215" grpId="0" animBg="1" advAuto="0"/>
      <p:bldP spid="216" grpId="0" animBg="1" advAuto="0"/>
      <p:bldP spid="217" grpId="0" animBg="1" advAuto="0"/>
      <p:bldP spid="218" grpId="0" animBg="1" advAuto="0"/>
      <p:bldP spid="222" grpId="0" animBg="1" advAuto="0"/>
      <p:bldP spid="222" grpId="1" animBg="1" advAuto="0"/>
      <p:bldP spid="225" grpId="0" advAuto="0"/>
      <p:bldP spid="3" grpId="0"/>
      <p:bldP spid="46" grpId="0" animBg="1" advAuto="0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/>
        </p:nvSpPr>
        <p:spPr>
          <a:xfrm>
            <a:off x="10583" y="-27043"/>
            <a:ext cx="91567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200"/>
              </a:spcBef>
              <a:buClr>
                <a:srgbClr val="000000"/>
              </a:buClr>
              <a:buFont typeface="Helvetica"/>
              <a:defRPr sz="2000"/>
            </a:lvl1pPr>
          </a:lstStyle>
          <a:p>
            <a:pPr lvl="0">
              <a:defRPr sz="1800" b="0">
                <a:uFillTx/>
              </a:defRPr>
            </a:pPr>
            <a:r>
              <a:rPr sz="2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sz="2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ore on turns</a:t>
            </a:r>
          </a:p>
        </p:txBody>
      </p:sp>
      <p:sp>
        <p:nvSpPr>
          <p:cNvPr id="228" name="Shape 228"/>
          <p:cNvSpPr/>
          <p:nvPr/>
        </p:nvSpPr>
        <p:spPr>
          <a:xfrm>
            <a:off x="39920" y="366917"/>
            <a:ext cx="93091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~ 25%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of turns have no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H-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bond to stabilize the turn!  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any turns are at protein surface where  H-bonds are made to water, instead of within the turn.</a:t>
            </a:r>
          </a:p>
        </p:txBody>
      </p:sp>
      <p:pic>
        <p:nvPicPr>
          <p:cNvPr id="229" name="image.png"/>
          <p:cNvPicPr/>
          <p:nvPr/>
        </p:nvPicPr>
        <p:blipFill>
          <a:blip r:embed="rId3"/>
          <a:stretch>
            <a:fillRect/>
          </a:stretch>
        </p:blipFill>
        <p:spPr>
          <a:xfrm rot="21583854">
            <a:off x="254000" y="2012950"/>
            <a:ext cx="4648201" cy="4406901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Shape 230"/>
          <p:cNvSpPr/>
          <p:nvPr/>
        </p:nvSpPr>
        <p:spPr>
          <a:xfrm>
            <a:off x="73786" y="1128029"/>
            <a:ext cx="8928101" cy="607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AA  i + 1 </a:t>
            </a:r>
            <a:r>
              <a:rPr lang="en-US"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and</a:t>
            </a: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i + 2 </a:t>
            </a:r>
            <a:r>
              <a:rPr lang="en-US"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define, or “make the turn”, and have particular </a:t>
            </a: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</a:t>
            </a: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, </a:t>
            </a: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Ψ</a:t>
            </a:r>
            <a:r>
              <a:rPr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rgbClr val="0A38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values;</a:t>
            </a:r>
          </a:p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ow to read where these turns show up on a Ramachandran map:</a:t>
            </a:r>
          </a:p>
        </p:txBody>
      </p:sp>
      <p:sp>
        <p:nvSpPr>
          <p:cNvPr id="231" name="Shape 231"/>
          <p:cNvSpPr/>
          <p:nvPr/>
        </p:nvSpPr>
        <p:spPr>
          <a:xfrm>
            <a:off x="1558925" y="2573337"/>
            <a:ext cx="3937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E33FF"/>
              </a:buClr>
              <a:buFont typeface="Helvetica"/>
              <a:defRPr sz="20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Wingdings 2"/>
                <a:ea typeface="Wingdings 2"/>
                <a:cs typeface="Wingdings 2"/>
                <a:sym typeface="Wingdings 2"/>
              </a:defRPr>
            </a:lvl1pPr>
          </a:lstStyle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200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</a:t>
            </a:r>
          </a:p>
        </p:txBody>
      </p:sp>
      <p:sp>
        <p:nvSpPr>
          <p:cNvPr id="232" name="Shape 232"/>
          <p:cNvSpPr/>
          <p:nvPr/>
        </p:nvSpPr>
        <p:spPr>
          <a:xfrm>
            <a:off x="3038475" y="3987800"/>
            <a:ext cx="3937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E33FF"/>
              </a:buClr>
              <a:buFont typeface="Helvetica"/>
              <a:defRPr sz="20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Wingdings 2"/>
                <a:ea typeface="Wingdings 2"/>
                <a:cs typeface="Wingdings 2"/>
                <a:sym typeface="Wingdings 2"/>
              </a:defRPr>
            </a:lvl1pPr>
          </a:lstStyle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200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</a:t>
            </a:r>
          </a:p>
        </p:txBody>
      </p:sp>
      <p:sp>
        <p:nvSpPr>
          <p:cNvPr id="233" name="Shape 233"/>
          <p:cNvSpPr/>
          <p:nvPr/>
        </p:nvSpPr>
        <p:spPr>
          <a:xfrm>
            <a:off x="1651000" y="4427537"/>
            <a:ext cx="3937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E33FF"/>
              </a:buClr>
              <a:buFont typeface="Helvetica"/>
              <a:defRPr sz="20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Wingdings 2"/>
                <a:ea typeface="Wingdings 2"/>
                <a:cs typeface="Wingdings 2"/>
                <a:sym typeface="Wingdings 2"/>
              </a:defRPr>
            </a:lvl1pPr>
          </a:lstStyle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200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</a:t>
            </a:r>
          </a:p>
        </p:txBody>
      </p:sp>
      <p:sp>
        <p:nvSpPr>
          <p:cNvPr id="234" name="Shape 234"/>
          <p:cNvSpPr/>
          <p:nvPr/>
        </p:nvSpPr>
        <p:spPr>
          <a:xfrm>
            <a:off x="1370012" y="3978275"/>
            <a:ext cx="39370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E33FF"/>
              </a:buClr>
              <a:buFont typeface="Helvetica"/>
              <a:defRPr sz="20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Wingdings 2"/>
                <a:ea typeface="Wingdings 2"/>
                <a:cs typeface="Wingdings 2"/>
                <a:sym typeface="Wingdings 2"/>
              </a:defRPr>
            </a:lvl1pPr>
          </a:lstStyle>
          <a:p>
            <a:pPr lvl="0">
              <a:defRPr sz="1800">
                <a:solidFill>
                  <a:srgbClr val="000000"/>
                </a:solidFill>
                <a:uFillTx/>
              </a:defRPr>
            </a:pPr>
            <a:r>
              <a:rPr sz="200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</a:t>
            </a:r>
          </a:p>
        </p:txBody>
      </p:sp>
      <p:sp>
        <p:nvSpPr>
          <p:cNvPr id="235" name="Shape 235"/>
          <p:cNvSpPr/>
          <p:nvPr/>
        </p:nvSpPr>
        <p:spPr>
          <a:xfrm>
            <a:off x="4588933" y="2926950"/>
            <a:ext cx="3462991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ote that the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,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Ψ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values do not repeat for the consecutive i + 1 and i + 2     turn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AAs</a:t>
            </a:r>
          </a:p>
        </p:txBody>
      </p:sp>
      <p:grpSp>
        <p:nvGrpSpPr>
          <p:cNvPr id="240" name="Group 240"/>
          <p:cNvGrpSpPr/>
          <p:nvPr/>
        </p:nvGrpSpPr>
        <p:grpSpPr>
          <a:xfrm>
            <a:off x="4588933" y="3895581"/>
            <a:ext cx="3804856" cy="1008656"/>
            <a:chOff x="0" y="4039"/>
            <a:chExt cx="3804855" cy="1008654"/>
          </a:xfrm>
        </p:grpSpPr>
        <p:sp>
          <p:nvSpPr>
            <p:cNvPr id="236" name="Shape 236"/>
            <p:cNvSpPr/>
            <p:nvPr/>
          </p:nvSpPr>
          <p:spPr>
            <a:xfrm>
              <a:off x="0" y="4039"/>
              <a:ext cx="3438761" cy="3488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000000"/>
                </a:buClr>
                <a:buFont typeface="Helvetica"/>
                <a:defRPr sz="1800" b="0">
                  <a:uFillTx/>
                </a:defRPr>
              </a:pP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Φ</a:t>
              </a: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</a:t>
              </a: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Ψ</a:t>
              </a: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</a:t>
              </a:r>
              <a:r>
                <a:rPr lang="en-US"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values for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         </a:t>
              </a:r>
              <a:r>
                <a:rPr lang="en-US"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</a:t>
              </a: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i + 1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         </a:t>
              </a:r>
              <a:r>
                <a:rPr sz="1600" b="0" u="sng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i + 2</a:t>
              </a:r>
            </a:p>
          </p:txBody>
        </p:sp>
        <p:sp>
          <p:nvSpPr>
            <p:cNvPr id="237" name="Shape 237"/>
            <p:cNvSpPr/>
            <p:nvPr/>
          </p:nvSpPr>
          <p:spPr>
            <a:xfrm>
              <a:off x="98673" y="339300"/>
              <a:ext cx="3456394" cy="3488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000000"/>
                </a:buClr>
                <a:buFont typeface="Helvetica"/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ype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I                  -60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-30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    -90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</a:p>
          </p:txBody>
        </p:sp>
        <p:sp>
          <p:nvSpPr>
            <p:cNvPr id="238" name="Shape 238"/>
            <p:cNvSpPr/>
            <p:nvPr/>
          </p:nvSpPr>
          <p:spPr>
            <a:xfrm>
              <a:off x="98673" y="631399"/>
              <a:ext cx="3478836" cy="3488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000000"/>
                </a:buClr>
                <a:buFont typeface="Helvetica"/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ype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II       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         -60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120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     80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0</a:t>
              </a:r>
              <a:r>
                <a:rPr sz="1600" b="0" baseline="31999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</a:p>
          </p:txBody>
        </p:sp>
        <p:sp>
          <p:nvSpPr>
            <p:cNvPr id="239" name="Shape 239"/>
            <p:cNvSpPr/>
            <p:nvPr/>
          </p:nvSpPr>
          <p:spPr>
            <a:xfrm>
              <a:off x="18104" y="4762"/>
              <a:ext cx="3786751" cy="100793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841487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 advAuto="0"/>
      <p:bldP spid="230" grpId="0" animBg="1" advAuto="0"/>
      <p:bldP spid="235" grpId="0" animBg="1" advAuto="0"/>
      <p:bldP spid="240" grpId="0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54E5-CD76-8447-8203-3463F4765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29" y="69359"/>
            <a:ext cx="7772400" cy="1600200"/>
          </a:xfrm>
        </p:spPr>
        <p:txBody>
          <a:bodyPr/>
          <a:lstStyle/>
          <a:p>
            <a:r>
              <a:rPr lang="en-US" dirty="0"/>
              <a:t>Fold Patterns Drawn in 2D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D73DE-4FFB-2543-BA46-E518A1775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06286"/>
            <a:ext cx="8680863" cy="5180610"/>
          </a:xfrm>
        </p:spPr>
        <p:txBody>
          <a:bodyPr/>
          <a:lstStyle/>
          <a:p>
            <a:r>
              <a:rPr lang="en-US" dirty="0"/>
              <a:t>Topology diagram shows beta-sheet connections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36464-7975-7E42-94DC-5F980A755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271" y="4613068"/>
            <a:ext cx="2921000" cy="1295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C38ADD-2C16-E54A-AEA7-7A929C487087}"/>
              </a:ext>
            </a:extLst>
          </p:cNvPr>
          <p:cNvSpPr/>
          <p:nvPr/>
        </p:nvSpPr>
        <p:spPr>
          <a:xfrm>
            <a:off x="587828" y="6302286"/>
            <a:ext cx="85561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/>
              <a:t>https://</a:t>
            </a:r>
            <a:r>
              <a:rPr lang="en-US" b="0" dirty="0" err="1"/>
              <a:t>proteinstructures.com</a:t>
            </a:r>
            <a:r>
              <a:rPr lang="en-US" b="0" dirty="0"/>
              <a:t>/Structure/Structure/protein-</a:t>
            </a:r>
            <a:r>
              <a:rPr lang="en-US" b="0" dirty="0" err="1"/>
              <a:t>motifs.html</a:t>
            </a:r>
            <a:endParaRPr lang="en-US" b="0" dirty="0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39678D13-1522-B94A-9069-4A720EF0D8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87" y="2139877"/>
            <a:ext cx="4616043" cy="349564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71EF50A-451B-3F43-9CB3-FAFA398060D1}"/>
              </a:ext>
            </a:extLst>
          </p:cNvPr>
          <p:cNvGrpSpPr/>
          <p:nvPr/>
        </p:nvGrpSpPr>
        <p:grpSpPr>
          <a:xfrm>
            <a:off x="786496" y="3871201"/>
            <a:ext cx="4474302" cy="2137217"/>
            <a:chOff x="789708" y="4512623"/>
            <a:chExt cx="4474302" cy="213721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95F4DA-8688-DB49-A9AE-ACD2BB559256}"/>
                </a:ext>
              </a:extLst>
            </p:cNvPr>
            <p:cNvSpPr/>
            <p:nvPr/>
          </p:nvSpPr>
          <p:spPr>
            <a:xfrm>
              <a:off x="2968833" y="4512623"/>
              <a:ext cx="1401288" cy="1496291"/>
            </a:xfrm>
            <a:prstGeom prst="rect">
              <a:avLst/>
            </a:prstGeom>
            <a:noFill/>
            <a:ln w="76200" cap="flat">
              <a:solidFill>
                <a:srgbClr val="FF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5E24F0-A66A-0547-829E-4C40D1EC2758}"/>
                </a:ext>
              </a:extLst>
            </p:cNvPr>
            <p:cNvSpPr txBox="1"/>
            <p:nvPr/>
          </p:nvSpPr>
          <p:spPr>
            <a:xfrm>
              <a:off x="789708" y="6301027"/>
              <a:ext cx="4474302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rPr>
                <a:t>Greek Key Motif (Jane Richardson, Duke U.)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889E4A4-6431-9944-9E44-3ED5B03BA4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2" t="7713" r="63357" b="72118"/>
          <a:stretch/>
        </p:blipFill>
        <p:spPr>
          <a:xfrm>
            <a:off x="5860744" y="1922745"/>
            <a:ext cx="2380731" cy="2408097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0B2D84A-B718-8947-B604-D9DA6C86945B}"/>
              </a:ext>
            </a:extLst>
          </p:cNvPr>
          <p:cNvGrpSpPr/>
          <p:nvPr/>
        </p:nvGrpSpPr>
        <p:grpSpPr>
          <a:xfrm>
            <a:off x="5941899" y="2251827"/>
            <a:ext cx="2142787" cy="1634373"/>
            <a:chOff x="5941899" y="2251827"/>
            <a:chExt cx="2142787" cy="1634373"/>
          </a:xfrm>
        </p:grpSpPr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ABA960CE-1A56-A34D-98BB-F61E3E05D312}"/>
                </a:ext>
              </a:extLst>
            </p:cNvPr>
            <p:cNvSpPr/>
            <p:nvPr/>
          </p:nvSpPr>
          <p:spPr>
            <a:xfrm>
              <a:off x="6499728" y="2618366"/>
              <a:ext cx="529233" cy="1045894"/>
            </a:xfrm>
            <a:prstGeom prst="downArrow">
              <a:avLst/>
            </a:prstGeom>
            <a:solidFill>
              <a:srgbClr val="C6E6E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15" name="Up Arrow 14">
              <a:extLst>
                <a:ext uri="{FF2B5EF4-FFF2-40B4-BE49-F238E27FC236}">
                  <a16:creationId xmlns:a16="http://schemas.microsoft.com/office/drawing/2014/main" id="{EE8F32D1-C88C-914D-99DB-E74176D569AF}"/>
                </a:ext>
              </a:extLst>
            </p:cNvPr>
            <p:cNvSpPr/>
            <p:nvPr/>
          </p:nvSpPr>
          <p:spPr>
            <a:xfrm>
              <a:off x="7011041" y="2618366"/>
              <a:ext cx="503750" cy="810634"/>
            </a:xfrm>
            <a:prstGeom prst="up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16" name="Up Arrow 15">
              <a:extLst>
                <a:ext uri="{FF2B5EF4-FFF2-40B4-BE49-F238E27FC236}">
                  <a16:creationId xmlns:a16="http://schemas.microsoft.com/office/drawing/2014/main" id="{B38EE463-6512-214A-8ED2-0CD7385C2CA4}"/>
                </a:ext>
              </a:extLst>
            </p:cNvPr>
            <p:cNvSpPr/>
            <p:nvPr/>
          </p:nvSpPr>
          <p:spPr>
            <a:xfrm>
              <a:off x="5941899" y="2524716"/>
              <a:ext cx="503750" cy="933092"/>
            </a:xfrm>
            <a:prstGeom prst="up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17868B3-98E0-224C-867E-E956D57E80DC}"/>
                </a:ext>
              </a:extLst>
            </p:cNvPr>
            <p:cNvSpPr/>
            <p:nvPr/>
          </p:nvSpPr>
          <p:spPr>
            <a:xfrm>
              <a:off x="7255042" y="3453063"/>
              <a:ext cx="541421" cy="204537"/>
            </a:xfrm>
            <a:custGeom>
              <a:avLst/>
              <a:gdLst>
                <a:gd name="connsiteX0" fmla="*/ 0 w 541421"/>
                <a:gd name="connsiteY0" fmla="*/ 0 h 204537"/>
                <a:gd name="connsiteX1" fmla="*/ 12032 w 541421"/>
                <a:gd name="connsiteY1" fmla="*/ 108284 h 204537"/>
                <a:gd name="connsiteX2" fmla="*/ 24063 w 541421"/>
                <a:gd name="connsiteY2" fmla="*/ 144379 h 204537"/>
                <a:gd name="connsiteX3" fmla="*/ 132347 w 541421"/>
                <a:gd name="connsiteY3" fmla="*/ 204537 h 204537"/>
                <a:gd name="connsiteX4" fmla="*/ 336884 w 541421"/>
                <a:gd name="connsiteY4" fmla="*/ 192505 h 204537"/>
                <a:gd name="connsiteX5" fmla="*/ 481263 w 541421"/>
                <a:gd name="connsiteY5" fmla="*/ 180474 h 204537"/>
                <a:gd name="connsiteX6" fmla="*/ 517358 w 541421"/>
                <a:gd name="connsiteY6" fmla="*/ 144379 h 204537"/>
                <a:gd name="connsiteX7" fmla="*/ 541421 w 541421"/>
                <a:gd name="connsiteY7" fmla="*/ 48126 h 204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1421" h="204537">
                  <a:moveTo>
                    <a:pt x="0" y="0"/>
                  </a:moveTo>
                  <a:cubicBezTo>
                    <a:pt x="4011" y="36095"/>
                    <a:pt x="6062" y="72461"/>
                    <a:pt x="12032" y="108284"/>
                  </a:cubicBezTo>
                  <a:cubicBezTo>
                    <a:pt x="14117" y="120794"/>
                    <a:pt x="15095" y="135411"/>
                    <a:pt x="24063" y="144379"/>
                  </a:cubicBezTo>
                  <a:cubicBezTo>
                    <a:pt x="65432" y="185748"/>
                    <a:pt x="86960" y="189407"/>
                    <a:pt x="132347" y="204537"/>
                  </a:cubicBezTo>
                  <a:lnTo>
                    <a:pt x="336884" y="192505"/>
                  </a:lnTo>
                  <a:cubicBezTo>
                    <a:pt x="385063" y="189182"/>
                    <a:pt x="434600" y="192917"/>
                    <a:pt x="481263" y="180474"/>
                  </a:cubicBezTo>
                  <a:cubicBezTo>
                    <a:pt x="497704" y="176090"/>
                    <a:pt x="505326" y="156411"/>
                    <a:pt x="517358" y="144379"/>
                  </a:cubicBezTo>
                  <a:lnTo>
                    <a:pt x="541421" y="48126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C0C6B9B-A2D2-A940-8D56-A7233383BE44}"/>
                </a:ext>
              </a:extLst>
            </p:cNvPr>
            <p:cNvSpPr/>
            <p:nvPr/>
          </p:nvSpPr>
          <p:spPr>
            <a:xfrm rot="10800000">
              <a:off x="6728060" y="2414349"/>
              <a:ext cx="541421" cy="204537"/>
            </a:xfrm>
            <a:custGeom>
              <a:avLst/>
              <a:gdLst>
                <a:gd name="connsiteX0" fmla="*/ 0 w 541421"/>
                <a:gd name="connsiteY0" fmla="*/ 0 h 204537"/>
                <a:gd name="connsiteX1" fmla="*/ 12032 w 541421"/>
                <a:gd name="connsiteY1" fmla="*/ 108284 h 204537"/>
                <a:gd name="connsiteX2" fmla="*/ 24063 w 541421"/>
                <a:gd name="connsiteY2" fmla="*/ 144379 h 204537"/>
                <a:gd name="connsiteX3" fmla="*/ 132347 w 541421"/>
                <a:gd name="connsiteY3" fmla="*/ 204537 h 204537"/>
                <a:gd name="connsiteX4" fmla="*/ 336884 w 541421"/>
                <a:gd name="connsiteY4" fmla="*/ 192505 h 204537"/>
                <a:gd name="connsiteX5" fmla="*/ 481263 w 541421"/>
                <a:gd name="connsiteY5" fmla="*/ 180474 h 204537"/>
                <a:gd name="connsiteX6" fmla="*/ 517358 w 541421"/>
                <a:gd name="connsiteY6" fmla="*/ 144379 h 204537"/>
                <a:gd name="connsiteX7" fmla="*/ 541421 w 541421"/>
                <a:gd name="connsiteY7" fmla="*/ 48126 h 204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1421" h="204537">
                  <a:moveTo>
                    <a:pt x="0" y="0"/>
                  </a:moveTo>
                  <a:cubicBezTo>
                    <a:pt x="4011" y="36095"/>
                    <a:pt x="6062" y="72461"/>
                    <a:pt x="12032" y="108284"/>
                  </a:cubicBezTo>
                  <a:cubicBezTo>
                    <a:pt x="14117" y="120794"/>
                    <a:pt x="15095" y="135411"/>
                    <a:pt x="24063" y="144379"/>
                  </a:cubicBezTo>
                  <a:cubicBezTo>
                    <a:pt x="65432" y="185748"/>
                    <a:pt x="86960" y="189407"/>
                    <a:pt x="132347" y="204537"/>
                  </a:cubicBezTo>
                  <a:lnTo>
                    <a:pt x="336884" y="192505"/>
                  </a:lnTo>
                  <a:cubicBezTo>
                    <a:pt x="385063" y="189182"/>
                    <a:pt x="434600" y="192917"/>
                    <a:pt x="481263" y="180474"/>
                  </a:cubicBezTo>
                  <a:cubicBezTo>
                    <a:pt x="497704" y="176090"/>
                    <a:pt x="505326" y="156411"/>
                    <a:pt x="517358" y="144379"/>
                  </a:cubicBezTo>
                  <a:lnTo>
                    <a:pt x="541421" y="48126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B0B0BE2-6867-6A4C-AD26-3EA70EB3DD80}"/>
                </a:ext>
              </a:extLst>
            </p:cNvPr>
            <p:cNvSpPr/>
            <p:nvPr/>
          </p:nvSpPr>
          <p:spPr>
            <a:xfrm rot="10800000">
              <a:off x="6196262" y="2251827"/>
              <a:ext cx="1600199" cy="342476"/>
            </a:xfrm>
            <a:custGeom>
              <a:avLst/>
              <a:gdLst>
                <a:gd name="connsiteX0" fmla="*/ 0 w 541421"/>
                <a:gd name="connsiteY0" fmla="*/ 0 h 204537"/>
                <a:gd name="connsiteX1" fmla="*/ 12032 w 541421"/>
                <a:gd name="connsiteY1" fmla="*/ 108284 h 204537"/>
                <a:gd name="connsiteX2" fmla="*/ 24063 w 541421"/>
                <a:gd name="connsiteY2" fmla="*/ 144379 h 204537"/>
                <a:gd name="connsiteX3" fmla="*/ 132347 w 541421"/>
                <a:gd name="connsiteY3" fmla="*/ 204537 h 204537"/>
                <a:gd name="connsiteX4" fmla="*/ 336884 w 541421"/>
                <a:gd name="connsiteY4" fmla="*/ 192505 h 204537"/>
                <a:gd name="connsiteX5" fmla="*/ 481263 w 541421"/>
                <a:gd name="connsiteY5" fmla="*/ 180474 h 204537"/>
                <a:gd name="connsiteX6" fmla="*/ 517358 w 541421"/>
                <a:gd name="connsiteY6" fmla="*/ 144379 h 204537"/>
                <a:gd name="connsiteX7" fmla="*/ 541421 w 541421"/>
                <a:gd name="connsiteY7" fmla="*/ 48126 h 204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1421" h="204537">
                  <a:moveTo>
                    <a:pt x="0" y="0"/>
                  </a:moveTo>
                  <a:cubicBezTo>
                    <a:pt x="4011" y="36095"/>
                    <a:pt x="6062" y="72461"/>
                    <a:pt x="12032" y="108284"/>
                  </a:cubicBezTo>
                  <a:cubicBezTo>
                    <a:pt x="14117" y="120794"/>
                    <a:pt x="15095" y="135411"/>
                    <a:pt x="24063" y="144379"/>
                  </a:cubicBezTo>
                  <a:cubicBezTo>
                    <a:pt x="65432" y="185748"/>
                    <a:pt x="86960" y="189407"/>
                    <a:pt x="132347" y="204537"/>
                  </a:cubicBezTo>
                  <a:lnTo>
                    <a:pt x="336884" y="192505"/>
                  </a:lnTo>
                  <a:cubicBezTo>
                    <a:pt x="385063" y="189182"/>
                    <a:pt x="434600" y="192917"/>
                    <a:pt x="481263" y="180474"/>
                  </a:cubicBezTo>
                  <a:cubicBezTo>
                    <a:pt x="497704" y="176090"/>
                    <a:pt x="505326" y="156411"/>
                    <a:pt x="517358" y="144379"/>
                  </a:cubicBezTo>
                  <a:lnTo>
                    <a:pt x="541421" y="48126"/>
                  </a:lnTo>
                </a:path>
              </a:pathLst>
            </a:custGeom>
            <a:noFill/>
            <a:ln w="28575" cap="flat">
              <a:solidFill>
                <a:schemeClr val="tx1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0050B63-4FB2-CD49-B3DA-66893C6F50B9}"/>
                </a:ext>
              </a:extLst>
            </p:cNvPr>
            <p:cNvSpPr/>
            <p:nvPr/>
          </p:nvSpPr>
          <p:spPr>
            <a:xfrm>
              <a:off x="6749713" y="3669632"/>
              <a:ext cx="1034719" cy="216568"/>
            </a:xfrm>
            <a:custGeom>
              <a:avLst/>
              <a:gdLst>
                <a:gd name="connsiteX0" fmla="*/ 12034 w 1034719"/>
                <a:gd name="connsiteY0" fmla="*/ 0 h 216568"/>
                <a:gd name="connsiteX1" fmla="*/ 12034 w 1034719"/>
                <a:gd name="connsiteY1" fmla="*/ 156410 h 216568"/>
                <a:gd name="connsiteX2" fmla="*/ 24066 w 1034719"/>
                <a:gd name="connsiteY2" fmla="*/ 192505 h 216568"/>
                <a:gd name="connsiteX3" fmla="*/ 96255 w 1034719"/>
                <a:gd name="connsiteY3" fmla="*/ 216568 h 216568"/>
                <a:gd name="connsiteX4" fmla="*/ 782055 w 1034719"/>
                <a:gd name="connsiteY4" fmla="*/ 204536 h 216568"/>
                <a:gd name="connsiteX5" fmla="*/ 986592 w 1034719"/>
                <a:gd name="connsiteY5" fmla="*/ 180473 h 216568"/>
                <a:gd name="connsiteX6" fmla="*/ 1034719 w 1034719"/>
                <a:gd name="connsiteY6" fmla="*/ 192505 h 21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4719" h="216568">
                  <a:moveTo>
                    <a:pt x="12034" y="0"/>
                  </a:moveTo>
                  <a:cubicBezTo>
                    <a:pt x="-915" y="90650"/>
                    <a:pt x="-6837" y="71492"/>
                    <a:pt x="12034" y="156410"/>
                  </a:cubicBezTo>
                  <a:cubicBezTo>
                    <a:pt x="14785" y="168791"/>
                    <a:pt x="13746" y="185133"/>
                    <a:pt x="24066" y="192505"/>
                  </a:cubicBezTo>
                  <a:cubicBezTo>
                    <a:pt x="44706" y="207248"/>
                    <a:pt x="96255" y="216568"/>
                    <a:pt x="96255" y="216568"/>
                  </a:cubicBezTo>
                  <a:lnTo>
                    <a:pt x="782055" y="204536"/>
                  </a:lnTo>
                  <a:cubicBezTo>
                    <a:pt x="838396" y="202854"/>
                    <a:pt x="927337" y="188938"/>
                    <a:pt x="986592" y="180473"/>
                  </a:cubicBezTo>
                  <a:lnTo>
                    <a:pt x="1034719" y="192505"/>
                  </a:ln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CBFBE713-E7F8-844E-AEBA-5433814CAFA6}"/>
                </a:ext>
              </a:extLst>
            </p:cNvPr>
            <p:cNvSpPr/>
            <p:nvPr/>
          </p:nvSpPr>
          <p:spPr>
            <a:xfrm>
              <a:off x="7555453" y="2467327"/>
              <a:ext cx="529233" cy="1045894"/>
            </a:xfrm>
            <a:prstGeom prst="downArrow">
              <a:avLst/>
            </a:prstGeom>
            <a:solidFill>
              <a:srgbClr val="C6E6E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0371137"/>
      </p:ext>
    </p:extLst>
  </p:cSld>
  <p:clrMapOvr>
    <a:masterClrMapping/>
  </p:clrMapOvr>
  <p:transition spd="med"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/>
          </p:cNvSpPr>
          <p:nvPr>
            <p:ph type="title"/>
          </p:nvPr>
        </p:nvSpPr>
        <p:spPr>
          <a:xfrm>
            <a:off x="2324100" y="-41190"/>
            <a:ext cx="6562130" cy="358776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>
              <a:defRPr sz="1800" b="0">
                <a:uFillTx/>
              </a:defRPr>
            </a:pP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“S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pecial” secondary structure</a:t>
            </a: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: C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ollagen</a:t>
            </a:r>
          </a:p>
        </p:txBody>
      </p:sp>
      <p:grpSp>
        <p:nvGrpSpPr>
          <p:cNvPr id="248" name="Group 248"/>
          <p:cNvGrpSpPr/>
          <p:nvPr/>
        </p:nvGrpSpPr>
        <p:grpSpPr>
          <a:xfrm>
            <a:off x="4712146" y="5631134"/>
            <a:ext cx="4584700" cy="492443"/>
            <a:chOff x="0" y="0"/>
            <a:chExt cx="4584700" cy="492442"/>
          </a:xfrm>
        </p:grpSpPr>
        <p:sp>
          <p:nvSpPr>
            <p:cNvPr id="246" name="Shape 246"/>
            <p:cNvSpPr/>
            <p:nvPr/>
          </p:nvSpPr>
          <p:spPr>
            <a:xfrm>
              <a:off x="0" y="0"/>
              <a:ext cx="4584700" cy="492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40640" lvl="0">
                <a:spcBef>
                  <a:spcPts val="900"/>
                </a:spcBef>
                <a:buClr>
                  <a:schemeClr val="tx1"/>
                </a:buClr>
                <a:buSzPct val="100000"/>
                <a:buFont typeface="Helvetica"/>
                <a:buChar char="•"/>
                <a:defRPr sz="1800" b="0"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H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eat collagen dry to 63</a:t>
              </a:r>
              <a:r>
                <a:rPr lang="en-US" sz="1600" b="0" baseline="35999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C, chains come apart              	1st degree burn (sunburn)</a:t>
              </a:r>
            </a:p>
          </p:txBody>
        </p:sp>
        <p:sp>
          <p:nvSpPr>
            <p:cNvPr id="247" name="Shape 247"/>
            <p:cNvSpPr/>
            <p:nvPr/>
          </p:nvSpPr>
          <p:spPr>
            <a:xfrm flipV="1">
              <a:off x="375241" y="387280"/>
              <a:ext cx="417067" cy="1726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buClr>
                  <a:schemeClr val="tx1"/>
                </a:buClr>
                <a:defRPr sz="1200" b="0">
                  <a:uFillTx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50" name="Shape 250"/>
          <p:cNvSpPr/>
          <p:nvPr/>
        </p:nvSpPr>
        <p:spPr>
          <a:xfrm>
            <a:off x="-12700" y="0"/>
            <a:ext cx="1498601" cy="2921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54" name="Group 254"/>
          <p:cNvGrpSpPr/>
          <p:nvPr/>
        </p:nvGrpSpPr>
        <p:grpSpPr>
          <a:xfrm>
            <a:off x="0" y="473075"/>
            <a:ext cx="1562100" cy="3870325"/>
            <a:chOff x="0" y="0"/>
            <a:chExt cx="1562100" cy="3870325"/>
          </a:xfrm>
        </p:grpSpPr>
        <p:pic>
          <p:nvPicPr>
            <p:cNvPr id="251" name="image.pdf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08025" y="0"/>
              <a:ext cx="854075" cy="38703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2" name="image.pdf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84137"/>
              <a:ext cx="584200" cy="37163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3" name="Shape 253"/>
            <p:cNvSpPr/>
            <p:nvPr/>
          </p:nvSpPr>
          <p:spPr>
            <a:xfrm>
              <a:off x="409575" y="1295400"/>
              <a:ext cx="546100" cy="492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900"/>
                </a:spcBef>
                <a:buClr>
                  <a:srgbClr val="000000"/>
                </a:buClr>
                <a:buFont typeface="Helvetica"/>
                <a:defRPr sz="3200"/>
              </a:lvl1pPr>
            </a:lstStyle>
            <a:p>
              <a:pPr lvl="0">
                <a:defRPr sz="1800" b="0">
                  <a:uFillTx/>
                </a:defRPr>
              </a:pPr>
              <a:r>
                <a:rPr sz="32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=</a:t>
              </a:r>
            </a:p>
          </p:txBody>
        </p:sp>
      </p:grpSp>
      <p:sp>
        <p:nvSpPr>
          <p:cNvPr id="255" name="Shape 255"/>
          <p:cNvSpPr/>
          <p:nvPr/>
        </p:nvSpPr>
        <p:spPr>
          <a:xfrm>
            <a:off x="-36037" y="-10880"/>
            <a:ext cx="302612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8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(G</a:t>
            </a:r>
            <a:r>
              <a:rPr lang="en-US"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ly</a:t>
            </a:r>
            <a:r>
              <a:rPr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-P</a:t>
            </a:r>
            <a:r>
              <a:rPr lang="en-US"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</a:t>
            </a:r>
            <a:r>
              <a:rPr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-P</a:t>
            </a:r>
            <a:r>
              <a:rPr lang="en-US"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ro)</a:t>
            </a:r>
            <a:r>
              <a:rPr lang="en-US" sz="1600" b="0" baseline="-14999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</a:t>
            </a:r>
            <a:r>
              <a:rPr lang="en-US" sz="1600" b="0" dirty="0">
                <a:solidFill>
                  <a:srgbClr val="1855FF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= artificial collagen </a:t>
            </a:r>
            <a:endParaRPr sz="1600" b="0" dirty="0">
              <a:solidFill>
                <a:srgbClr val="1855FF"/>
              </a:solidFill>
              <a:uFill>
                <a:solidFill/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58" name="Group 258"/>
          <p:cNvGrpSpPr/>
          <p:nvPr/>
        </p:nvGrpSpPr>
        <p:grpSpPr>
          <a:xfrm>
            <a:off x="0" y="4902200"/>
            <a:ext cx="2163763" cy="1651000"/>
            <a:chOff x="0" y="0"/>
            <a:chExt cx="2163762" cy="1651000"/>
          </a:xfrm>
        </p:grpSpPr>
        <p:pic>
          <p:nvPicPr>
            <p:cNvPr id="256" name="image.pdf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2163763" cy="1651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7" name="Shape 257"/>
            <p:cNvSpPr/>
            <p:nvPr/>
          </p:nvSpPr>
          <p:spPr>
            <a:xfrm>
              <a:off x="1127125" y="890587"/>
              <a:ext cx="296863" cy="58738"/>
            </a:xfrm>
            <a:prstGeom prst="line">
              <a:avLst/>
            </a:prstGeom>
            <a:noFill/>
            <a:ln w="57150" cap="flat">
              <a:solidFill>
                <a:srgbClr val="000000"/>
              </a:solidFill>
              <a:prstDash val="sysDot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 b="0">
                  <a:uFillTx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59" name="Shape 259"/>
          <p:cNvSpPr/>
          <p:nvPr/>
        </p:nvSpPr>
        <p:spPr>
          <a:xfrm>
            <a:off x="1981200" y="5410200"/>
            <a:ext cx="11557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E31E3"/>
              </a:buClr>
              <a:buFont typeface="Helvetica"/>
              <a:defRPr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G</a:t>
            </a:r>
            <a:r>
              <a:rPr lang="en-US" sz="1600" b="0" dirty="0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ly</a:t>
            </a:r>
            <a:r>
              <a:rPr sz="1600" b="0" dirty="0">
                <a:solidFill>
                  <a:srgbClr val="1E31E3"/>
                </a:solidFill>
                <a:uFill>
                  <a:solidFill>
                    <a:srgbClr val="1E31E3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NH</a:t>
            </a:r>
          </a:p>
        </p:txBody>
      </p:sp>
      <p:sp>
        <p:nvSpPr>
          <p:cNvPr id="260" name="Shape 260"/>
          <p:cNvSpPr/>
          <p:nvPr/>
        </p:nvSpPr>
        <p:spPr>
          <a:xfrm flipH="1">
            <a:off x="1660525" y="5591175"/>
            <a:ext cx="390525" cy="184150"/>
          </a:xfrm>
          <a:prstGeom prst="line">
            <a:avLst/>
          </a:prstGeom>
          <a:ln w="19050">
            <a:solidFill>
              <a:srgbClr val="1E31E3"/>
            </a:solidFill>
            <a:round/>
            <a:tailEnd type="triangle"/>
          </a:ln>
        </p:spPr>
        <p:txBody>
          <a:bodyPr lIns="0" tIns="0" rIns="0" bIns="0"/>
          <a:lstStyle/>
          <a:p>
            <a:pPr marL="0" marR="0" lvl="0" defTabSz="457200">
              <a:defRPr sz="1200" b="0">
                <a:uFillTx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61" name="Shape 261"/>
          <p:cNvSpPr/>
          <p:nvPr/>
        </p:nvSpPr>
        <p:spPr>
          <a:xfrm>
            <a:off x="1562100" y="3693494"/>
            <a:ext cx="683895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M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any chem. </a:t>
            </a:r>
            <a:r>
              <a:rPr lang="en-US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odifications:  hydroxy-Pro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and hydroxy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-L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ys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;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glucose and galactose then added to hydroxy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-L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ys</a:t>
            </a:r>
          </a:p>
        </p:txBody>
      </p:sp>
      <p:grpSp>
        <p:nvGrpSpPr>
          <p:cNvPr id="284" name="Group 284"/>
          <p:cNvGrpSpPr/>
          <p:nvPr/>
        </p:nvGrpSpPr>
        <p:grpSpPr>
          <a:xfrm>
            <a:off x="5616575" y="2726963"/>
            <a:ext cx="3352065" cy="923470"/>
            <a:chOff x="0" y="0"/>
            <a:chExt cx="3352064" cy="923469"/>
          </a:xfrm>
        </p:grpSpPr>
        <p:grpSp>
          <p:nvGrpSpPr>
            <p:cNvPr id="274" name="Group 274"/>
            <p:cNvGrpSpPr/>
            <p:nvPr/>
          </p:nvGrpSpPr>
          <p:grpSpPr>
            <a:xfrm>
              <a:off x="0" y="0"/>
              <a:ext cx="1185864" cy="923469"/>
              <a:chOff x="0" y="0"/>
              <a:chExt cx="1185863" cy="923469"/>
            </a:xfrm>
          </p:grpSpPr>
          <p:sp>
            <p:nvSpPr>
              <p:cNvPr id="262" name="Shape 262"/>
              <p:cNvSpPr/>
              <p:nvPr/>
            </p:nvSpPr>
            <p:spPr>
              <a:xfrm>
                <a:off x="247650" y="0"/>
                <a:ext cx="622300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700"/>
                  </a:spcBef>
                  <a:buClr>
                    <a:srgbClr val="FF28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solidFill>
                      <a:srgbClr val="FF2800"/>
                    </a:solidFill>
                    <a:uFill>
                      <a:solidFill>
                        <a:srgbClr val="FF2800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O</a:t>
                </a: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H</a:t>
                </a:r>
              </a:p>
            </p:txBody>
          </p:sp>
          <p:sp>
            <p:nvSpPr>
              <p:cNvPr id="263" name="Shape 263"/>
              <p:cNvSpPr/>
              <p:nvPr/>
            </p:nvSpPr>
            <p:spPr>
              <a:xfrm>
                <a:off x="250825" y="228600"/>
                <a:ext cx="546100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Font typeface="Helvetica"/>
                  <a:defRPr sz="1200"/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</a:p>
            </p:txBody>
          </p:sp>
          <p:sp>
            <p:nvSpPr>
              <p:cNvPr id="264" name="Shape 264"/>
              <p:cNvSpPr/>
              <p:nvPr/>
            </p:nvSpPr>
            <p:spPr>
              <a:xfrm>
                <a:off x="563562" y="422275"/>
                <a:ext cx="622301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700"/>
                  </a:spcBef>
                  <a:buClr>
                    <a:srgbClr val="0000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2</a:t>
                </a:r>
              </a:p>
            </p:txBody>
          </p:sp>
          <p:sp>
            <p:nvSpPr>
              <p:cNvPr id="265" name="Shape 265"/>
              <p:cNvSpPr/>
              <p:nvPr/>
            </p:nvSpPr>
            <p:spPr>
              <a:xfrm>
                <a:off x="0" y="444500"/>
                <a:ext cx="372218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/>
              <a:p>
                <a:pPr lvl="0">
                  <a:buClr>
                    <a:srgbClr val="0000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2</a:t>
                </a:r>
              </a:p>
            </p:txBody>
          </p:sp>
          <p:sp>
            <p:nvSpPr>
              <p:cNvPr id="266" name="Shape 266"/>
              <p:cNvSpPr/>
              <p:nvPr/>
            </p:nvSpPr>
            <p:spPr>
              <a:xfrm>
                <a:off x="465137" y="708025"/>
                <a:ext cx="546101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Font typeface="Helvetica"/>
                  <a:defRPr sz="1200"/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200" b="0" dirty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</a:p>
            </p:txBody>
          </p:sp>
          <p:sp>
            <p:nvSpPr>
              <p:cNvPr id="267" name="Shape 267"/>
              <p:cNvSpPr/>
              <p:nvPr/>
            </p:nvSpPr>
            <p:spPr>
              <a:xfrm>
                <a:off x="138112" y="708025"/>
                <a:ext cx="546101" cy="21544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800"/>
                  </a:spcBef>
                  <a:buClr>
                    <a:srgbClr val="1E31E3"/>
                  </a:buClr>
                  <a:buFont typeface="Helvetica"/>
                  <a:defRPr sz="1400">
                    <a:solidFill>
                      <a:srgbClr val="1E31E3"/>
                    </a:solidFill>
                    <a:uFill>
                      <a:solidFill>
                        <a:srgbClr val="1E31E3"/>
                      </a:solidFill>
                    </a:u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  <a:uFillTx/>
                  </a:defRPr>
                </a:pPr>
                <a:r>
                  <a:rPr sz="1400" b="0">
                    <a:solidFill>
                      <a:srgbClr val="1E31E3"/>
                    </a:solidFill>
                    <a:uFill>
                      <a:solidFill>
                        <a:srgbClr val="1E31E3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N</a:t>
                </a:r>
              </a:p>
            </p:txBody>
          </p:sp>
          <p:sp>
            <p:nvSpPr>
              <p:cNvPr id="268" name="Shape 268"/>
              <p:cNvSpPr/>
              <p:nvPr/>
            </p:nvSpPr>
            <p:spPr>
              <a:xfrm flipH="1">
                <a:off x="600075" y="588962"/>
                <a:ext cx="50800" cy="136526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69" name="Shape 269"/>
              <p:cNvSpPr/>
              <p:nvPr/>
            </p:nvSpPr>
            <p:spPr>
              <a:xfrm flipV="1">
                <a:off x="321519" y="816489"/>
                <a:ext cx="184150" cy="635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70" name="Shape 270"/>
              <p:cNvSpPr/>
              <p:nvPr/>
            </p:nvSpPr>
            <p:spPr>
              <a:xfrm>
                <a:off x="117475" y="611187"/>
                <a:ext cx="88900" cy="127000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71" name="Shape 271"/>
              <p:cNvSpPr/>
              <p:nvPr/>
            </p:nvSpPr>
            <p:spPr>
              <a:xfrm flipV="1">
                <a:off x="146050" y="366712"/>
                <a:ext cx="155575" cy="10160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72" name="Shape 272"/>
              <p:cNvSpPr/>
              <p:nvPr/>
            </p:nvSpPr>
            <p:spPr>
              <a:xfrm>
                <a:off x="511175" y="373062"/>
                <a:ext cx="111125" cy="9525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73" name="Shape 273"/>
              <p:cNvSpPr/>
              <p:nvPr/>
            </p:nvSpPr>
            <p:spPr>
              <a:xfrm>
                <a:off x="393700" y="204787"/>
                <a:ext cx="1588" cy="8890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283" name="Group 283"/>
            <p:cNvGrpSpPr/>
            <p:nvPr/>
          </p:nvGrpSpPr>
          <p:grpSpPr>
            <a:xfrm>
              <a:off x="1838325" y="447675"/>
              <a:ext cx="1513739" cy="375166"/>
              <a:chOff x="0" y="0"/>
              <a:chExt cx="1513738" cy="375165"/>
            </a:xfrm>
          </p:grpSpPr>
          <p:sp>
            <p:nvSpPr>
              <p:cNvPr id="275" name="Shape 275"/>
              <p:cNvSpPr/>
              <p:nvPr/>
            </p:nvSpPr>
            <p:spPr>
              <a:xfrm>
                <a:off x="0" y="190500"/>
                <a:ext cx="372218" cy="18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/>
              <a:p>
                <a:pPr lvl="0">
                  <a:buClr>
                    <a:srgbClr val="0000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2</a:t>
                </a:r>
              </a:p>
            </p:txBody>
          </p:sp>
          <p:sp>
            <p:nvSpPr>
              <p:cNvPr id="276" name="Shape 276"/>
              <p:cNvSpPr/>
              <p:nvPr/>
            </p:nvSpPr>
            <p:spPr>
              <a:xfrm>
                <a:off x="304800" y="190500"/>
                <a:ext cx="372218" cy="18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/>
              <a:p>
                <a:pPr lvl="0">
                  <a:buClr>
                    <a:srgbClr val="0000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2</a:t>
                </a:r>
              </a:p>
            </p:txBody>
          </p:sp>
          <p:sp>
            <p:nvSpPr>
              <p:cNvPr id="277" name="Shape 277"/>
              <p:cNvSpPr/>
              <p:nvPr/>
            </p:nvSpPr>
            <p:spPr>
              <a:xfrm>
                <a:off x="609600" y="190500"/>
                <a:ext cx="303288" cy="18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buClr>
                    <a:srgbClr val="000000"/>
                  </a:buClr>
                  <a:buFont typeface="Helvetica"/>
                  <a:defRPr sz="1200"/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</a:p>
            </p:txBody>
          </p:sp>
          <p:sp>
            <p:nvSpPr>
              <p:cNvPr id="278" name="Shape 278"/>
              <p:cNvSpPr/>
              <p:nvPr/>
            </p:nvSpPr>
            <p:spPr>
              <a:xfrm>
                <a:off x="831850" y="190500"/>
                <a:ext cx="372218" cy="18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/>
              <a:p>
                <a:pPr lvl="0">
                  <a:buClr>
                    <a:srgbClr val="0000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CH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2</a:t>
                </a:r>
              </a:p>
            </p:txBody>
          </p:sp>
          <p:sp>
            <p:nvSpPr>
              <p:cNvPr id="279" name="Shape 279"/>
              <p:cNvSpPr/>
              <p:nvPr/>
            </p:nvSpPr>
            <p:spPr>
              <a:xfrm>
                <a:off x="1130300" y="184150"/>
                <a:ext cx="383438" cy="184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/>
              <a:p>
                <a:pPr lvl="0">
                  <a:buClr>
                    <a:srgbClr val="1E31E3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solidFill>
                      <a:srgbClr val="1E31E3"/>
                    </a:solidFill>
                    <a:uFill>
                      <a:solidFill>
                        <a:srgbClr val="1E31E3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N</a:t>
                </a: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H</a:t>
                </a:r>
                <a:r>
                  <a:rPr sz="1600" b="0" baseline="-1500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3</a:t>
                </a:r>
              </a:p>
            </p:txBody>
          </p:sp>
          <p:sp>
            <p:nvSpPr>
              <p:cNvPr id="280" name="Shape 280"/>
              <p:cNvSpPr/>
              <p:nvPr/>
            </p:nvSpPr>
            <p:spPr>
              <a:xfrm>
                <a:off x="603250" y="0"/>
                <a:ext cx="546100" cy="184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/>
              <a:p>
                <a:pPr lvl="0">
                  <a:spcBef>
                    <a:spcPts val="700"/>
                  </a:spcBef>
                  <a:buClr>
                    <a:srgbClr val="FF2800"/>
                  </a:buClr>
                  <a:buFont typeface="Helvetica"/>
                  <a:defRPr sz="1800" b="0">
                    <a:uFillTx/>
                  </a:defRPr>
                </a:pPr>
                <a:r>
                  <a:rPr sz="1200" b="0">
                    <a:solidFill>
                      <a:srgbClr val="FF2800"/>
                    </a:solidFill>
                    <a:uFill>
                      <a:solidFill>
                        <a:srgbClr val="FF2800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O</a:t>
                </a:r>
                <a:r>
                  <a:rPr sz="12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H</a:t>
                </a:r>
              </a:p>
            </p:txBody>
          </p:sp>
          <p:sp>
            <p:nvSpPr>
              <p:cNvPr id="281" name="Shape 281"/>
              <p:cNvSpPr/>
              <p:nvPr/>
            </p:nvSpPr>
            <p:spPr>
              <a:xfrm>
                <a:off x="711200" y="161926"/>
                <a:ext cx="1588" cy="60325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lvl="0" defTabSz="457200">
                  <a:defRPr sz="1200" b="0">
                    <a:uFillTx/>
                  </a:defRPr>
                </a:pPr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82" name="Shape 282"/>
              <p:cNvSpPr/>
              <p:nvPr/>
            </p:nvSpPr>
            <p:spPr>
              <a:xfrm>
                <a:off x="1209675" y="42180"/>
                <a:ext cx="241300" cy="215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800"/>
                  </a:spcBef>
                  <a:buClr>
                    <a:srgbClr val="1E31E3"/>
                  </a:buClr>
                  <a:buFont typeface="Helvetica"/>
                  <a:defRPr sz="1400">
                    <a:solidFill>
                      <a:srgbClr val="1E31E3"/>
                    </a:solidFill>
                    <a:uFill>
                      <a:solidFill>
                        <a:srgbClr val="1E31E3"/>
                      </a:solidFill>
                    </a:u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  <a:uFillTx/>
                  </a:defRPr>
                </a:pPr>
                <a:r>
                  <a:rPr sz="1400" b="0" dirty="0">
                    <a:solidFill>
                      <a:srgbClr val="1E31E3"/>
                    </a:solidFill>
                    <a:uFill>
                      <a:solidFill>
                        <a:srgbClr val="1E31E3"/>
                      </a:solidFill>
                    </a:uFill>
                    <a:latin typeface="Gill Sans" charset="0"/>
                    <a:ea typeface="Gill Sans" charset="0"/>
                    <a:cs typeface="Gill Sans" charset="0"/>
                  </a:rPr>
                  <a:t>+</a:t>
                </a:r>
              </a:p>
            </p:txBody>
          </p:sp>
        </p:grpSp>
      </p:grpSp>
      <p:sp>
        <p:nvSpPr>
          <p:cNvPr id="285" name="Shape 285"/>
          <p:cNvSpPr/>
          <p:nvPr/>
        </p:nvSpPr>
        <p:spPr>
          <a:xfrm>
            <a:off x="1533520" y="467175"/>
            <a:ext cx="1367622" cy="256032"/>
          </a:xfrm>
          <a:prstGeom prst="rect">
            <a:avLst/>
          </a:prstGeom>
          <a:ln w="19050">
            <a:solidFill>
              <a:srgbClr val="1E31E3"/>
            </a:solidFill>
            <a:prstDash val="sysDot"/>
            <a:miter lim="400000"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86" name="Shape 286"/>
          <p:cNvSpPr/>
          <p:nvPr/>
        </p:nvSpPr>
        <p:spPr>
          <a:xfrm>
            <a:off x="1518224" y="2372951"/>
            <a:ext cx="254301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riple helix: tropocollagen</a:t>
            </a:r>
            <a:endParaRPr sz="1600" b="0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87" name="Shape 287"/>
          <p:cNvSpPr/>
          <p:nvPr/>
        </p:nvSpPr>
        <p:spPr>
          <a:xfrm>
            <a:off x="1458850" y="1760380"/>
            <a:ext cx="76962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M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ost abundant protein in mammals!  30% total body protein; found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outside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of cells: skin, tendon, bone, blood vessels, cornea; a main component of extracellular matrix </a:t>
            </a:r>
          </a:p>
        </p:txBody>
      </p:sp>
      <p:sp>
        <p:nvSpPr>
          <p:cNvPr id="288" name="Shape 288"/>
          <p:cNvSpPr/>
          <p:nvPr/>
        </p:nvSpPr>
        <p:spPr>
          <a:xfrm>
            <a:off x="1422400" y="790575"/>
            <a:ext cx="4432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I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 fish scales, animal hides (skin)</a:t>
            </a:r>
          </a:p>
        </p:txBody>
      </p:sp>
      <p:sp>
        <p:nvSpPr>
          <p:cNvPr id="289" name="Shape 289"/>
          <p:cNvSpPr/>
          <p:nvPr/>
        </p:nvSpPr>
        <p:spPr>
          <a:xfrm>
            <a:off x="1413933" y="469899"/>
            <a:ext cx="695385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R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epeating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 Φ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,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Ψ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= -60</a:t>
            </a:r>
            <a:r>
              <a:rPr sz="1600" b="0" baseline="35999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, +140</a:t>
            </a:r>
            <a:r>
              <a:rPr sz="1600" b="0" baseline="35999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(similar to </a:t>
            </a:r>
            <a:r>
              <a:rPr lang="en-US" sz="160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polyproline type 2  helix!), </a:t>
            </a:r>
            <a:r>
              <a:rPr lang="en-US" dirty="0">
                <a:solidFill>
                  <a:srgbClr val="FF0000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3AA/turn</a:t>
            </a:r>
            <a:endParaRPr sz="1600" baseline="35999" dirty="0">
              <a:solidFill>
                <a:srgbClr val="FF0000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90" name="Shape 290"/>
          <p:cNvSpPr/>
          <p:nvPr/>
        </p:nvSpPr>
        <p:spPr>
          <a:xfrm>
            <a:off x="1530925" y="2677751"/>
            <a:ext cx="45085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O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nly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G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ly can fit in center of triple helix!  </a:t>
            </a:r>
            <a:endParaRPr sz="1600" b="0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91" name="Shape 291"/>
          <p:cNvSpPr/>
          <p:nvPr/>
        </p:nvSpPr>
        <p:spPr>
          <a:xfrm>
            <a:off x="1447800" y="3189379"/>
            <a:ext cx="4432300" cy="607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marL="40640" lvl="0">
              <a:spcBef>
                <a:spcPts val="900"/>
              </a:spcBef>
              <a:buClr>
                <a:schemeClr val="tx1"/>
              </a:buClr>
              <a:buSzPct val="100000"/>
              <a:buFont typeface="Helvetica"/>
              <a:buChar char="•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P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ro fits well with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Φ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,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Ψ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= -60</a:t>
            </a:r>
            <a:r>
              <a:rPr sz="1600" b="0" baseline="35999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, +140</a:t>
            </a:r>
            <a:r>
              <a:rPr sz="1600" b="0" baseline="35999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</a:t>
            </a:r>
          </a:p>
          <a:p>
            <a:pPr lvl="0">
              <a:spcBef>
                <a:spcPts val="900"/>
              </a:spcBef>
              <a:buClr>
                <a:schemeClr val="tx1"/>
              </a:buClr>
              <a:buFont typeface="Helvetica"/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</a:p>
        </p:txBody>
      </p:sp>
      <p:grpSp>
        <p:nvGrpSpPr>
          <p:cNvPr id="294" name="Group 294"/>
          <p:cNvGrpSpPr/>
          <p:nvPr/>
        </p:nvGrpSpPr>
        <p:grpSpPr>
          <a:xfrm>
            <a:off x="1447800" y="4354151"/>
            <a:ext cx="5499100" cy="492443"/>
            <a:chOff x="0" y="0"/>
            <a:chExt cx="5499100" cy="492443"/>
          </a:xfrm>
        </p:grpSpPr>
        <p:sp>
          <p:nvSpPr>
            <p:cNvPr id="292" name="Shape 292"/>
            <p:cNvSpPr/>
            <p:nvPr/>
          </p:nvSpPr>
          <p:spPr>
            <a:xfrm>
              <a:off x="0" y="0"/>
              <a:ext cx="5499100" cy="492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40640">
                <a:spcBef>
                  <a:spcPts val="900"/>
                </a:spcBef>
                <a:buClr>
                  <a:srgbClr val="DD33C5"/>
                </a:buClr>
                <a:buSzPct val="100000"/>
                <a:buFont typeface="Helvetica"/>
                <a:buChar char="•"/>
                <a:defRPr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pPr lvl="0">
                <a:buClr>
                  <a:schemeClr val="tx1"/>
                </a:buClr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“I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mmature” form of collagen secreted from cells.  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utside cell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, L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ys is oxidized and cross-linked                  insoluble fiber </a:t>
              </a:r>
              <a:endPara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93" name="Shape 293"/>
            <p:cNvSpPr/>
            <p:nvPr/>
          </p:nvSpPr>
          <p:spPr>
            <a:xfrm>
              <a:off x="2728937" y="372611"/>
              <a:ext cx="838200" cy="1588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buClr>
                  <a:schemeClr val="tx1"/>
                </a:buClr>
                <a:defRPr sz="1200" b="0">
                  <a:uFillTx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49" name="Shape 249"/>
          <p:cNvSpPr/>
          <p:nvPr/>
        </p:nvSpPr>
        <p:spPr>
          <a:xfrm>
            <a:off x="264582" y="6143685"/>
            <a:ext cx="2298702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700"/>
              </a:spcBef>
              <a:buClr>
                <a:srgbClr val="000000"/>
              </a:buClr>
              <a:buFont typeface="Helvetica"/>
              <a:defRPr sz="1200"/>
            </a:lvl1pPr>
          </a:lstStyle>
          <a:p>
            <a:pPr lvl="0">
              <a:defRPr sz="1800" b="0">
                <a:uFillTx/>
              </a:defRPr>
            </a:pPr>
            <a:r>
              <a:rPr sz="1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sz="1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nside the triple helix</a:t>
            </a:r>
          </a:p>
        </p:txBody>
      </p:sp>
      <p:sp>
        <p:nvSpPr>
          <p:cNvPr id="55" name="Shape 286"/>
          <p:cNvSpPr/>
          <p:nvPr/>
        </p:nvSpPr>
        <p:spPr>
          <a:xfrm>
            <a:off x="4096431" y="2377721"/>
            <a:ext cx="254301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DD33C5"/>
              </a:buClr>
              <a:buSzPct val="100000"/>
              <a:buFont typeface="Helvetica"/>
              <a:buChar char="•"/>
              <a:defRPr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pPr lvl="0">
              <a:buClr>
                <a:schemeClr val="tx1"/>
              </a:buClr>
              <a:buNone/>
              <a:defRPr sz="1800" b="0">
                <a:solidFill>
                  <a:srgbClr val="000000"/>
                </a:solidFill>
                <a:uFillTx/>
              </a:defRPr>
            </a:pPr>
            <a:r>
              <a:rPr lang="en-US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NOT an </a:t>
            </a:r>
            <a:r>
              <a:rPr lang="el-GR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α</a:t>
            </a:r>
            <a:r>
              <a:rPr lang="en-US" sz="1600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-helix!</a:t>
            </a:r>
            <a:endParaRPr sz="1600" b="0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45" name="Group 245"/>
          <p:cNvGrpSpPr/>
          <p:nvPr/>
        </p:nvGrpSpPr>
        <p:grpSpPr>
          <a:xfrm>
            <a:off x="1413933" y="1042631"/>
            <a:ext cx="7696200" cy="880801"/>
            <a:chOff x="567606" y="-24198"/>
            <a:chExt cx="4444555" cy="880799"/>
          </a:xfrm>
        </p:grpSpPr>
        <p:sp>
          <p:nvSpPr>
            <p:cNvPr id="243" name="Shape 243"/>
            <p:cNvSpPr/>
            <p:nvPr/>
          </p:nvSpPr>
          <p:spPr>
            <a:xfrm>
              <a:off x="567606" y="-24198"/>
              <a:ext cx="4444555" cy="8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marL="40640">
                <a:spcBef>
                  <a:spcPts val="900"/>
                </a:spcBef>
                <a:buClr>
                  <a:srgbClr val="DD33C5"/>
                </a:buClr>
                <a:buSzPct val="100000"/>
                <a:buFont typeface="Helvetica"/>
                <a:buChar char="•"/>
                <a:defRPr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pPr lvl="0">
                <a:buClr>
                  <a:schemeClr val="tx1"/>
                </a:buClr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H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eat collagen in water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: </a:t>
              </a:r>
              <a:endPara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endParaRPr>
            </a:p>
            <a:p>
              <a:pPr lvl="1">
                <a:buClr>
                  <a:schemeClr val="tx1"/>
                </a:buClr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C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hains come apart and make lots of 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H-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bonds with water             gelatin</a:t>
              </a:r>
            </a:p>
          </p:txBody>
        </p:sp>
        <p:sp>
          <p:nvSpPr>
            <p:cNvPr id="244" name="Shape 244"/>
            <p:cNvSpPr/>
            <p:nvPr/>
          </p:nvSpPr>
          <p:spPr>
            <a:xfrm flipV="1">
              <a:off x="3523247" y="363510"/>
              <a:ext cx="333429" cy="7274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buClr>
                  <a:schemeClr val="tx1"/>
                </a:buClr>
                <a:defRPr sz="1200" b="0">
                  <a:uFillTx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961050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" grpId="0" advAuto="0"/>
      <p:bldP spid="261" grpId="0" animBg="1" advAuto="0"/>
      <p:bldP spid="284" grpId="0" animBg="1" advAuto="0"/>
      <p:bldP spid="285" grpId="0" animBg="1" advAuto="0"/>
      <p:bldP spid="286" grpId="0" animBg="1" advAuto="0"/>
      <p:bldP spid="287" grpId="0" animBg="1" advAuto="0"/>
      <p:bldP spid="288" grpId="0" animBg="1" advAuto="0"/>
      <p:bldP spid="289" grpId="0" animBg="1" advAuto="0"/>
      <p:bldP spid="290" grpId="0" animBg="1" advAuto="0"/>
      <p:bldP spid="291" grpId="0" animBg="1" advAuto="0"/>
      <p:bldP spid="294" grpId="0" advAuto="0"/>
      <p:bldP spid="55" grpId="0" animBg="1"/>
      <p:bldP spid="245" grpId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/>
          <p:nvPr/>
        </p:nvSpPr>
        <p:spPr>
          <a:xfrm>
            <a:off x="6257817" y="4616764"/>
            <a:ext cx="374650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800"/>
              </a:spcBef>
              <a:buClr>
                <a:srgbClr val="DD33C5"/>
              </a:buClr>
              <a:buFont typeface="Helvetica"/>
              <a:defRPr sz="1400"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r>
              <a: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ost simple collagen crosslink</a:t>
            </a:r>
            <a:r>
              <a:rPr lang="en-US" b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98" name="Shape 398"/>
          <p:cNvSpPr/>
          <p:nvPr/>
        </p:nvSpPr>
        <p:spPr>
          <a:xfrm>
            <a:off x="5552016" y="121246"/>
            <a:ext cx="363855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>
            <a:lvl1pPr algn="ctr">
              <a:defRPr sz="1400"/>
            </a:lvl1pPr>
          </a:lstStyle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056" y="4988258"/>
            <a:ext cx="2744470" cy="1220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3678" y="0"/>
            <a:ext cx="2526889" cy="62581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Collagen synthesis      </a:t>
            </a:r>
            <a:r>
              <a:rPr kumimoji="0" lang="en-US" sz="14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and how it gets outside the cell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580882-0C81-704F-916E-0E6E53076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31" y="0"/>
            <a:ext cx="6309360" cy="4927414"/>
          </a:xfrm>
          <a:prstGeom prst="rect">
            <a:avLst/>
          </a:prstGeom>
        </p:spPr>
      </p:pic>
      <p:sp>
        <p:nvSpPr>
          <p:cNvPr id="390" name="Shape 390"/>
          <p:cNvSpPr/>
          <p:nvPr/>
        </p:nvSpPr>
        <p:spPr>
          <a:xfrm>
            <a:off x="2758133" y="662523"/>
            <a:ext cx="1155700" cy="35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LUMEN OF SMOOTH ER</a:t>
            </a:r>
          </a:p>
        </p:txBody>
      </p:sp>
      <p:sp>
        <p:nvSpPr>
          <p:cNvPr id="391" name="Shape 391"/>
          <p:cNvSpPr/>
          <p:nvPr/>
        </p:nvSpPr>
        <p:spPr>
          <a:xfrm>
            <a:off x="4329450" y="916388"/>
            <a:ext cx="6985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SUGAR</a:t>
            </a:r>
            <a:r>
              <a:rPr lang="en-US"/>
              <a:t>S</a:t>
            </a:r>
            <a:endParaRPr/>
          </a:p>
        </p:txBody>
      </p:sp>
      <p:sp>
        <p:nvSpPr>
          <p:cNvPr id="392" name="Shape 392"/>
          <p:cNvSpPr/>
          <p:nvPr/>
        </p:nvSpPr>
        <p:spPr>
          <a:xfrm>
            <a:off x="2312771" y="1351045"/>
            <a:ext cx="774700" cy="355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TRANSFER VESICLE</a:t>
            </a:r>
          </a:p>
        </p:txBody>
      </p:sp>
      <p:sp>
        <p:nvSpPr>
          <p:cNvPr id="393" name="Shape 393"/>
          <p:cNvSpPr/>
          <p:nvPr/>
        </p:nvSpPr>
        <p:spPr>
          <a:xfrm>
            <a:off x="2706667" y="1732305"/>
            <a:ext cx="10795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LUMEN OF GOLGI</a:t>
            </a:r>
          </a:p>
        </p:txBody>
      </p:sp>
      <p:sp>
        <p:nvSpPr>
          <p:cNvPr id="394" name="Shape 394"/>
          <p:cNvSpPr/>
          <p:nvPr/>
        </p:nvSpPr>
        <p:spPr>
          <a:xfrm>
            <a:off x="3061252" y="2881473"/>
            <a:ext cx="1079500" cy="355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SECRETORY VESICLES</a:t>
            </a:r>
          </a:p>
        </p:txBody>
      </p:sp>
      <p:sp>
        <p:nvSpPr>
          <p:cNvPr id="395" name="Shape 395"/>
          <p:cNvSpPr/>
          <p:nvPr/>
        </p:nvSpPr>
        <p:spPr>
          <a:xfrm>
            <a:off x="3903106" y="2041824"/>
            <a:ext cx="12319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PROCOLLAGEN</a:t>
            </a:r>
          </a:p>
        </p:txBody>
      </p:sp>
      <p:sp>
        <p:nvSpPr>
          <p:cNvPr id="396" name="Shape 396"/>
          <p:cNvSpPr/>
          <p:nvPr/>
        </p:nvSpPr>
        <p:spPr>
          <a:xfrm>
            <a:off x="2470305" y="3261820"/>
            <a:ext cx="1917700" cy="2286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numCol="1" anchor="t">
            <a:spAutoFit/>
          </a:bodyPr>
          <a:lstStyle>
            <a:lvl1pPr>
              <a:spcBef>
                <a:spcPts val="500"/>
              </a:spcBef>
              <a:buClr>
                <a:srgbClr val="000000"/>
              </a:buClr>
              <a:buFont typeface="Helvetica"/>
              <a:defRPr sz="800"/>
            </a:lvl1pPr>
          </a:lstStyle>
          <a:p>
            <a:r>
              <a:t>PLASMA MEMBRANE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90CEA2-5AFF-1D4B-AD5F-C74B4437F963}"/>
              </a:ext>
            </a:extLst>
          </p:cNvPr>
          <p:cNvSpPr/>
          <p:nvPr/>
        </p:nvSpPr>
        <p:spPr>
          <a:xfrm>
            <a:off x="3061252" y="1018124"/>
            <a:ext cx="166978" cy="126864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E87122-9431-E84B-B403-3BEA197553DE}"/>
              </a:ext>
            </a:extLst>
          </p:cNvPr>
          <p:cNvCxnSpPr>
            <a:cxnSpLocks/>
          </p:cNvCxnSpPr>
          <p:nvPr/>
        </p:nvCxnSpPr>
        <p:spPr>
          <a:xfrm flipH="1">
            <a:off x="4237463" y="1023700"/>
            <a:ext cx="150542" cy="102573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DF029B3-34A6-7C4C-B3FB-F49757F59A39}"/>
              </a:ext>
            </a:extLst>
          </p:cNvPr>
          <p:cNvCxnSpPr>
            <a:cxnSpLocks/>
          </p:cNvCxnSpPr>
          <p:nvPr/>
        </p:nvCxnSpPr>
        <p:spPr>
          <a:xfrm flipH="1">
            <a:off x="4438185" y="1071126"/>
            <a:ext cx="172430" cy="188962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A99A52B-D76B-044E-8D50-55FA27F66636}"/>
              </a:ext>
            </a:extLst>
          </p:cNvPr>
          <p:cNvCxnSpPr>
            <a:cxnSpLocks/>
          </p:cNvCxnSpPr>
          <p:nvPr/>
        </p:nvCxnSpPr>
        <p:spPr>
          <a:xfrm flipH="1">
            <a:off x="2041597" y="1434364"/>
            <a:ext cx="357389" cy="94481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9CBE09E-90B0-434A-966C-796839D0DD55}"/>
              </a:ext>
            </a:extLst>
          </p:cNvPr>
          <p:cNvCxnSpPr>
            <a:cxnSpLocks/>
          </p:cNvCxnSpPr>
          <p:nvPr/>
        </p:nvCxnSpPr>
        <p:spPr>
          <a:xfrm flipH="1">
            <a:off x="2296766" y="1481604"/>
            <a:ext cx="102220" cy="127519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648F8A7-00C0-714E-B050-E6E44E1C66FC}"/>
              </a:ext>
            </a:extLst>
          </p:cNvPr>
          <p:cNvCxnSpPr>
            <a:cxnSpLocks/>
          </p:cNvCxnSpPr>
          <p:nvPr/>
        </p:nvCxnSpPr>
        <p:spPr>
          <a:xfrm>
            <a:off x="3289610" y="2737624"/>
            <a:ext cx="33453" cy="178420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654C2EC-1E7D-CA46-AA06-04467C094D31}"/>
              </a:ext>
            </a:extLst>
          </p:cNvPr>
          <p:cNvCxnSpPr>
            <a:cxnSpLocks/>
          </p:cNvCxnSpPr>
          <p:nvPr/>
        </p:nvCxnSpPr>
        <p:spPr>
          <a:xfrm>
            <a:off x="2984380" y="2965308"/>
            <a:ext cx="199293" cy="78975"/>
          </a:xfrm>
          <a:prstGeom prst="line">
            <a:avLst/>
          </a:prstGeom>
          <a:noFill/>
          <a:ln w="317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8" name="TextBox 107"/>
          <p:cNvSpPr txBox="1"/>
          <p:nvPr/>
        </p:nvSpPr>
        <p:spPr>
          <a:xfrm>
            <a:off x="3228230" y="3558676"/>
            <a:ext cx="1473199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Outside cell, collagen “trimmed”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5551" y="1760762"/>
            <a:ext cx="1271215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Inside cell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320" y="2410389"/>
            <a:ext cx="1271215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Outside cell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4C57C-1B6D-5A4A-83A3-B08B4BCD63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5" name="Shape 373">
            <a:extLst>
              <a:ext uri="{FF2B5EF4-FFF2-40B4-BE49-F238E27FC236}">
                <a16:creationId xmlns:a16="http://schemas.microsoft.com/office/drawing/2014/main" id="{8212BFEB-6D2A-B14B-B6DD-1287C7D45A66}"/>
              </a:ext>
            </a:extLst>
          </p:cNvPr>
          <p:cNvSpPr/>
          <p:nvPr/>
        </p:nvSpPr>
        <p:spPr>
          <a:xfrm>
            <a:off x="5031603" y="3873220"/>
            <a:ext cx="259709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>
              <a:spcBef>
                <a:spcPts val="800"/>
              </a:spcBef>
              <a:buClr>
                <a:srgbClr val="DD33C5"/>
              </a:buClr>
              <a:buFont typeface="Helvetica"/>
              <a:defRPr sz="2400" b="0">
                <a:latin typeface="+mn-lt"/>
                <a:ea typeface="+mn-ea"/>
                <a:cs typeface="+mn-cs"/>
                <a:sym typeface="Times"/>
              </a:defRPr>
            </a:pPr>
            <a:r>
              <a:rPr sz="1600" b="0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600" b="0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inal, crosslinked form of collagen </a:t>
            </a:r>
            <a:r>
              <a:rPr lang="en-US" sz="1600" b="0" u="sng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outside</a:t>
            </a:r>
            <a:r>
              <a:rPr lang="en-US" sz="1600" b="0" dirty="0">
                <a:solidFill>
                  <a:srgbClr val="0541E0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the cell</a:t>
            </a:r>
            <a:endParaRPr sz="1600" b="0" dirty="0">
              <a:solidFill>
                <a:srgbClr val="0541E0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  <a:sym typeface="Helvetica"/>
            </a:endParaRPr>
          </a:p>
        </p:txBody>
      </p:sp>
      <p:sp>
        <p:nvSpPr>
          <p:cNvPr id="26" name="Shape 374">
            <a:extLst>
              <a:ext uri="{FF2B5EF4-FFF2-40B4-BE49-F238E27FC236}">
                <a16:creationId xmlns:a16="http://schemas.microsoft.com/office/drawing/2014/main" id="{D2D0CC10-6E49-A441-B0D4-17F1ABBF930C}"/>
              </a:ext>
            </a:extLst>
          </p:cNvPr>
          <p:cNvSpPr/>
          <p:nvPr/>
        </p:nvSpPr>
        <p:spPr>
          <a:xfrm>
            <a:off x="12323922" y="5268670"/>
            <a:ext cx="3746500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spAutoFit/>
          </a:bodyPr>
          <a:lstStyle>
            <a:lvl1pPr>
              <a:spcBef>
                <a:spcPts val="800"/>
              </a:spcBef>
              <a:buClr>
                <a:srgbClr val="DD33C5"/>
              </a:buClr>
              <a:buFont typeface="Helvetica"/>
              <a:defRPr sz="1400"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</a:defRPr>
            </a:lvl1pPr>
          </a:lstStyle>
          <a:p>
            <a:r>
              <a:rPr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ost simple collagen crosslink</a:t>
            </a:r>
            <a:r>
              <a:rPr lang="en-US" b="0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7E34F59-9AC6-7945-8198-B3179AD9F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8414" y="5589392"/>
            <a:ext cx="2744470" cy="1220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22389D8-860D-D644-A9AA-16827874023E}"/>
              </a:ext>
            </a:extLst>
          </p:cNvPr>
          <p:cNvGrpSpPr/>
          <p:nvPr/>
        </p:nvGrpSpPr>
        <p:grpSpPr>
          <a:xfrm>
            <a:off x="4184298" y="349699"/>
            <a:ext cx="4912186" cy="671352"/>
            <a:chOff x="4184298" y="349699"/>
            <a:chExt cx="4912186" cy="671352"/>
          </a:xfrm>
        </p:grpSpPr>
        <p:sp>
          <p:nvSpPr>
            <p:cNvPr id="35" name="Shape 384">
              <a:extLst>
                <a:ext uri="{FF2B5EF4-FFF2-40B4-BE49-F238E27FC236}">
                  <a16:creationId xmlns:a16="http://schemas.microsoft.com/office/drawing/2014/main" id="{C3FBEADB-F29A-1F4D-9EB5-EAC1CF20076E}"/>
                </a:ext>
              </a:extLst>
            </p:cNvPr>
            <p:cNvSpPr/>
            <p:nvPr/>
          </p:nvSpPr>
          <p:spPr>
            <a:xfrm>
              <a:off x="6416784" y="672238"/>
              <a:ext cx="2679700" cy="3488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spcBef>
                  <a:spcPts val="800"/>
                </a:spcBef>
                <a:buClr>
                  <a:srgbClr val="DD33C5"/>
                </a:buClr>
                <a:buFont typeface="Helvetica"/>
                <a:defRPr sz="1400"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r>
                <a:rPr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S</a:t>
              </a:r>
              <a:r>
                <a:rPr lang="en-US"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ynthesis on ribosomes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143E0CB-FC96-4343-923C-F6C4BA9BBB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4298" y="349699"/>
              <a:ext cx="2322825" cy="479641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EA344-7B53-4949-8ED4-AE75BD622A0A}"/>
              </a:ext>
            </a:extLst>
          </p:cNvPr>
          <p:cNvGrpSpPr/>
          <p:nvPr/>
        </p:nvGrpSpPr>
        <p:grpSpPr>
          <a:xfrm>
            <a:off x="4438185" y="820363"/>
            <a:ext cx="4859471" cy="892721"/>
            <a:chOff x="4438185" y="820363"/>
            <a:chExt cx="4859471" cy="892721"/>
          </a:xfrm>
        </p:grpSpPr>
        <p:grpSp>
          <p:nvGrpSpPr>
            <p:cNvPr id="27" name="Group 377">
              <a:extLst>
                <a:ext uri="{FF2B5EF4-FFF2-40B4-BE49-F238E27FC236}">
                  <a16:creationId xmlns:a16="http://schemas.microsoft.com/office/drawing/2014/main" id="{AF1A8815-266C-8E41-8590-5D2FCD2AB83C}"/>
                </a:ext>
              </a:extLst>
            </p:cNvPr>
            <p:cNvGrpSpPr/>
            <p:nvPr/>
          </p:nvGrpSpPr>
          <p:grpSpPr>
            <a:xfrm>
              <a:off x="6292426" y="1118049"/>
              <a:ext cx="3005230" cy="595035"/>
              <a:chOff x="28145" y="8287"/>
              <a:chExt cx="3670300" cy="595035"/>
            </a:xfrm>
          </p:grpSpPr>
          <p:sp>
            <p:nvSpPr>
              <p:cNvPr id="28" name="Shape 375">
                <a:extLst>
                  <a:ext uri="{FF2B5EF4-FFF2-40B4-BE49-F238E27FC236}">
                    <a16:creationId xmlns:a16="http://schemas.microsoft.com/office/drawing/2014/main" id="{C0118748-BEA4-DA4A-8654-877E0E676B91}"/>
                  </a:ext>
                </a:extLst>
              </p:cNvPr>
              <p:cNvSpPr/>
              <p:nvPr/>
            </p:nvSpPr>
            <p:spPr>
              <a:xfrm>
                <a:off x="28145" y="8287"/>
                <a:ext cx="3670300" cy="5950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>
                  <a:spcBef>
                    <a:spcPts val="800"/>
                  </a:spcBef>
                  <a:buClr>
                    <a:srgbClr val="DD33C5"/>
                  </a:buClr>
                  <a:buFont typeface="Helvetica"/>
                  <a:defRPr sz="1400">
                    <a:solidFill>
                      <a:srgbClr val="DD33C5"/>
                    </a:solidFill>
                    <a:uFill>
                      <a:solidFill>
                        <a:srgbClr val="DD33C5"/>
                      </a:solidFill>
                    </a:uFill>
                  </a:defRPr>
                </a:lvl1pPr>
              </a:lstStyle>
              <a:p>
                <a:r>
                  <a:rPr sz="1600" b="0" dirty="0">
                    <a:solidFill>
                      <a:srgbClr val="0541E0"/>
                    </a:solidFill>
                    <a:latin typeface="Gill Sans" charset="0"/>
                    <a:ea typeface="Gill Sans" charset="0"/>
                    <a:cs typeface="Gill Sans" charset="0"/>
                  </a:rPr>
                  <a:t>H</a:t>
                </a:r>
                <a:r>
                  <a:rPr lang="en-US" sz="1600" b="0" dirty="0">
                    <a:solidFill>
                      <a:srgbClr val="0541E0"/>
                    </a:solidFill>
                    <a:latin typeface="Gill Sans" charset="0"/>
                    <a:ea typeface="Gill Sans" charset="0"/>
                    <a:cs typeface="Gill Sans" charset="0"/>
                  </a:rPr>
                  <a:t>ydroxylation requires ascorbic acid (</a:t>
                </a:r>
                <a:r>
                  <a:rPr lang="en-US" sz="1600" dirty="0">
                    <a:solidFill>
                      <a:srgbClr val="FF0000"/>
                    </a:solidFill>
                    <a:latin typeface="Gill Sans" charset="0"/>
                    <a:ea typeface="Gill Sans" charset="0"/>
                    <a:cs typeface="Gill Sans" charset="0"/>
                  </a:rPr>
                  <a:t>Vit C</a:t>
                </a:r>
                <a:r>
                  <a:rPr lang="en-US" sz="1600" b="0" dirty="0">
                    <a:solidFill>
                      <a:srgbClr val="0541E0"/>
                    </a:solidFill>
                    <a:latin typeface="Gill Sans" charset="0"/>
                    <a:ea typeface="Gill Sans" charset="0"/>
                    <a:cs typeface="Gill Sans" charset="0"/>
                  </a:rPr>
                  <a:t>). If not        </a:t>
                </a:r>
                <a:r>
                  <a:rPr sz="1600" b="0" dirty="0">
                    <a:solidFill>
                      <a:srgbClr val="0541E0"/>
                    </a:solidFill>
                    <a:latin typeface="Gill Sans" charset="0"/>
                    <a:ea typeface="Gill Sans" charset="0"/>
                    <a:cs typeface="Gill Sans" charset="0"/>
                  </a:rPr>
                  <a:t>S</a:t>
                </a:r>
                <a:r>
                  <a:rPr lang="en-US" sz="1600" b="0" dirty="0">
                    <a:solidFill>
                      <a:srgbClr val="0541E0"/>
                    </a:solidFill>
                    <a:latin typeface="Gill Sans" charset="0"/>
                    <a:ea typeface="Gill Sans" charset="0"/>
                    <a:cs typeface="Gill Sans" charset="0"/>
                  </a:rPr>
                  <a:t>curvy</a:t>
                </a:r>
                <a:r>
                  <a:rPr lang="en-US" sz="1600" b="0" dirty="0">
                    <a:solidFill>
                      <a:srgbClr val="FF0000"/>
                    </a:solidFill>
                    <a:latin typeface="Gill Sans" charset="0"/>
                    <a:ea typeface="Gill Sans" charset="0"/>
                    <a:cs typeface="Gill Sans" charset="0"/>
                  </a:rPr>
                  <a:t>*</a:t>
                </a:r>
              </a:p>
            </p:txBody>
          </p:sp>
          <p:sp>
            <p:nvSpPr>
              <p:cNvPr id="29" name="Shape 376">
                <a:extLst>
                  <a:ext uri="{FF2B5EF4-FFF2-40B4-BE49-F238E27FC236}">
                    <a16:creationId xmlns:a16="http://schemas.microsoft.com/office/drawing/2014/main" id="{3933625F-4A65-2841-A868-F6FFE3D4A84C}"/>
                  </a:ext>
                </a:extLst>
              </p:cNvPr>
              <p:cNvSpPr/>
              <p:nvPr/>
            </p:nvSpPr>
            <p:spPr>
              <a:xfrm>
                <a:off x="2207953" y="438545"/>
                <a:ext cx="304800" cy="1588"/>
              </a:xfrm>
              <a:prstGeom prst="line">
                <a:avLst/>
              </a:prstGeom>
              <a:noFill/>
              <a:ln w="25400" cap="flat">
                <a:solidFill>
                  <a:srgbClr val="0737F8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marL="0" marR="0" defTabSz="457200">
                  <a:defRPr sz="1200" b="0">
                    <a:uFillTx/>
                  </a:defRPr>
                </a:pPr>
                <a:endParaRPr/>
              </a:p>
            </p:txBody>
          </p:sp>
        </p:grp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DDBC186-DDAD-104B-B7D7-D7C4529820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38185" y="820363"/>
              <a:ext cx="1831196" cy="447731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7C65C2-FD5A-7545-A72E-A72CCFC77C9E}"/>
              </a:ext>
            </a:extLst>
          </p:cNvPr>
          <p:cNvGrpSpPr/>
          <p:nvPr/>
        </p:nvGrpSpPr>
        <p:grpSpPr>
          <a:xfrm>
            <a:off x="4519056" y="1357610"/>
            <a:ext cx="5330587" cy="732599"/>
            <a:chOff x="4519056" y="1357610"/>
            <a:chExt cx="5330587" cy="732599"/>
          </a:xfrm>
        </p:grpSpPr>
        <p:sp>
          <p:nvSpPr>
            <p:cNvPr id="30" name="Shape 378">
              <a:extLst>
                <a:ext uri="{FF2B5EF4-FFF2-40B4-BE49-F238E27FC236}">
                  <a16:creationId xmlns:a16="http://schemas.microsoft.com/office/drawing/2014/main" id="{C07AC780-4E2D-C44D-ABFA-4773C66328DC}"/>
                </a:ext>
              </a:extLst>
            </p:cNvPr>
            <p:cNvSpPr/>
            <p:nvPr/>
          </p:nvSpPr>
          <p:spPr>
            <a:xfrm>
              <a:off x="6103143" y="1741396"/>
              <a:ext cx="3746500" cy="3488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spcBef>
                  <a:spcPts val="800"/>
                </a:spcBef>
                <a:buClr>
                  <a:srgbClr val="DD33C5"/>
                </a:buClr>
                <a:buFont typeface="Helvetica"/>
                <a:defRPr sz="1400"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r>
                <a:rPr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S</a:t>
              </a:r>
              <a:r>
                <a:rPr lang="en-US"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ugars added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49BDFAC-28A3-1D40-8EF7-9B178AE82D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19056" y="1357610"/>
              <a:ext cx="1597267" cy="541907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1903A58-171E-8442-A60D-3B0D5764B7AE}"/>
              </a:ext>
            </a:extLst>
          </p:cNvPr>
          <p:cNvGrpSpPr/>
          <p:nvPr/>
        </p:nvGrpSpPr>
        <p:grpSpPr>
          <a:xfrm>
            <a:off x="2977576" y="1543521"/>
            <a:ext cx="6651057" cy="1029944"/>
            <a:chOff x="2977576" y="1543521"/>
            <a:chExt cx="6651057" cy="1029944"/>
          </a:xfrm>
        </p:grpSpPr>
        <p:sp>
          <p:nvSpPr>
            <p:cNvPr id="32" name="Shape 379">
              <a:extLst>
                <a:ext uri="{FF2B5EF4-FFF2-40B4-BE49-F238E27FC236}">
                  <a16:creationId xmlns:a16="http://schemas.microsoft.com/office/drawing/2014/main" id="{8FC7DC93-5980-D84E-866E-E694347EFEB9}"/>
                </a:ext>
              </a:extLst>
            </p:cNvPr>
            <p:cNvSpPr/>
            <p:nvPr/>
          </p:nvSpPr>
          <p:spPr>
            <a:xfrm>
              <a:off x="5828369" y="2038981"/>
              <a:ext cx="3800264" cy="5344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>
                <a:spcBef>
                  <a:spcPts val="800"/>
                </a:spcBef>
                <a:buClr>
                  <a:srgbClr val="DD33C5"/>
                </a:buClr>
                <a:buFont typeface="Helvetica"/>
                <a:defRPr sz="1400"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r>
                <a:rPr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V</a:t>
              </a:r>
              <a:r>
                <a:rPr lang="en-US"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esicles of endoplasmic reticulum               containing collagen pinch off, fuse with Golgi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1F895F6-D967-0C44-8EB3-04CE597E75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7576" y="1543521"/>
              <a:ext cx="2938141" cy="770272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CE21B3-BE4A-A946-948F-131511528F03}"/>
              </a:ext>
            </a:extLst>
          </p:cNvPr>
          <p:cNvGrpSpPr/>
          <p:nvPr/>
        </p:nvGrpSpPr>
        <p:grpSpPr>
          <a:xfrm>
            <a:off x="4184300" y="2412732"/>
            <a:ext cx="5026254" cy="715459"/>
            <a:chOff x="4184300" y="2412732"/>
            <a:chExt cx="5026254" cy="715459"/>
          </a:xfrm>
        </p:grpSpPr>
        <p:sp>
          <p:nvSpPr>
            <p:cNvPr id="34" name="Shape 382">
              <a:extLst>
                <a:ext uri="{FF2B5EF4-FFF2-40B4-BE49-F238E27FC236}">
                  <a16:creationId xmlns:a16="http://schemas.microsoft.com/office/drawing/2014/main" id="{A5B0B80B-1291-0F41-B782-FD989BCF3FC3}"/>
                </a:ext>
              </a:extLst>
            </p:cNvPr>
            <p:cNvSpPr/>
            <p:nvPr/>
          </p:nvSpPr>
          <p:spPr>
            <a:xfrm>
              <a:off x="5230990" y="2779378"/>
              <a:ext cx="3979564" cy="3488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50800" tIns="50800" rIns="50800" bIns="50800">
              <a:spAutoFit/>
            </a:bodyPr>
            <a:lstStyle>
              <a:lvl1pPr>
                <a:spcBef>
                  <a:spcPts val="800"/>
                </a:spcBef>
                <a:buClr>
                  <a:srgbClr val="DD33C5"/>
                </a:buClr>
                <a:buFont typeface="Helvetica"/>
                <a:defRPr sz="1400"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r>
                <a:rPr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T</a:t>
              </a:r>
              <a:r>
                <a:rPr lang="en-US"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riple helix </a:t>
              </a:r>
              <a:r>
                <a:rPr lang="en-US" sz="1600" dirty="0">
                  <a:solidFill>
                    <a:srgbClr val="FF0000"/>
                  </a:solidFill>
                  <a:latin typeface="Gill Sans" charset="0"/>
                  <a:ea typeface="Gill Sans" charset="0"/>
                  <a:cs typeface="Gill Sans" charset="0"/>
                </a:rPr>
                <a:t>procollagen</a:t>
              </a:r>
              <a:r>
                <a:rPr lang="en-US" sz="1600" b="0" dirty="0">
                  <a:solidFill>
                    <a:srgbClr val="0541E0"/>
                  </a:solidFill>
                  <a:latin typeface="Gill Sans" charset="0"/>
                  <a:ea typeface="Gill Sans" charset="0"/>
                  <a:cs typeface="Gill Sans" charset="0"/>
                </a:rPr>
                <a:t> forms in Golgi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BAFBDCD-77CB-F347-9E49-ACD1B1000C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4300" y="2412732"/>
              <a:ext cx="1071803" cy="468741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B575B79-4799-9940-8F3D-B7E1293FCB04}"/>
              </a:ext>
            </a:extLst>
          </p:cNvPr>
          <p:cNvSpPr/>
          <p:nvPr/>
        </p:nvSpPr>
        <p:spPr>
          <a:xfrm>
            <a:off x="5672874" y="4701749"/>
            <a:ext cx="2983545" cy="1741506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9973FA3-AAB4-6E41-95D9-F49D0A26C7FE}"/>
              </a:ext>
            </a:extLst>
          </p:cNvPr>
          <p:cNvGrpSpPr/>
          <p:nvPr/>
        </p:nvGrpSpPr>
        <p:grpSpPr>
          <a:xfrm>
            <a:off x="3745351" y="3069446"/>
            <a:ext cx="4464497" cy="635303"/>
            <a:chOff x="3745351" y="3069446"/>
            <a:chExt cx="4464497" cy="635303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6A0AC1A-5757-AD44-8386-7EE78B95C04F}"/>
                </a:ext>
              </a:extLst>
            </p:cNvPr>
            <p:cNvSpPr txBox="1"/>
            <p:nvPr/>
          </p:nvSpPr>
          <p:spPr>
            <a:xfrm>
              <a:off x="4739355" y="3109714"/>
              <a:ext cx="3470493" cy="5950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u="none" strike="noStrike" cap="none" spc="0" normalizeH="0" baseline="0" dirty="0">
                  <a:ln>
                    <a:noFill/>
                  </a:ln>
                  <a:solidFill>
                    <a:srgbClr val="0541E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panose="020B0502020104020203" pitchFamily="34" charset="-79"/>
                  <a:cs typeface="Gill Sans" panose="020B0502020104020203" pitchFamily="34" charset="-79"/>
                  <a:sym typeface="Helvetica"/>
                </a:rPr>
                <a:t>Vesicles of </a:t>
              </a:r>
              <a:r>
                <a:rPr lang="en-US" sz="1600" b="0" dirty="0">
                  <a:solidFill>
                    <a:srgbClr val="0541E0"/>
                  </a:solidFill>
                  <a:uFill>
                    <a:solidFill>
                      <a:srgbClr val="000000"/>
                    </a:solidFill>
                  </a:uFill>
                  <a:latin typeface="Gill Sans" panose="020B0502020104020203" pitchFamily="34" charset="-79"/>
                  <a:cs typeface="Gill Sans" panose="020B0502020104020203" pitchFamily="34" charset="-79"/>
                </a:rPr>
                <a:t>G</a:t>
              </a:r>
              <a:r>
                <a:rPr kumimoji="0" lang="en-US" sz="1600" b="0" u="none" strike="noStrike" cap="none" spc="0" normalizeH="0" baseline="0" dirty="0">
                  <a:ln>
                    <a:noFill/>
                  </a:ln>
                  <a:solidFill>
                    <a:srgbClr val="0541E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panose="020B0502020104020203" pitchFamily="34" charset="-79"/>
                  <a:cs typeface="Gill Sans" panose="020B0502020104020203" pitchFamily="34" charset="-79"/>
                  <a:sym typeface="Helvetica"/>
                </a:rPr>
                <a:t>olgi containing triple helix  pinch off, fuse with plasma membrane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39B8E05-301E-FD46-84C2-6603724BC2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5351" y="3069446"/>
              <a:ext cx="1051499" cy="203566"/>
            </a:xfrm>
            <a:prstGeom prst="straightConnector1">
              <a:avLst/>
            </a:prstGeom>
            <a:noFill/>
            <a:ln w="19050" cap="flat">
              <a:solidFill>
                <a:srgbClr val="0737F8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BB26C38-649F-0043-80BC-0B715EAF644B}"/>
              </a:ext>
            </a:extLst>
          </p:cNvPr>
          <p:cNvSpPr txBox="1"/>
          <p:nvPr/>
        </p:nvSpPr>
        <p:spPr>
          <a:xfrm>
            <a:off x="1645652" y="4617623"/>
            <a:ext cx="2140515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solidFill>
                  <a:srgbClr val="0541E0"/>
                </a:solidFill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</a:rPr>
              <a:t>Outside cell, collagen is “trimmed” b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0541E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y enzyme -catalyzed hydrolysis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59D3DC-5EFE-D647-9010-CF8E3BCDAA1B}"/>
              </a:ext>
            </a:extLst>
          </p:cNvPr>
          <p:cNvSpPr/>
          <p:nvPr/>
        </p:nvSpPr>
        <p:spPr>
          <a:xfrm>
            <a:off x="3144741" y="3558676"/>
            <a:ext cx="1243264" cy="684140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DB106A-3551-D445-9BDD-D7B9F5023282}"/>
              </a:ext>
            </a:extLst>
          </p:cNvPr>
          <p:cNvSpPr/>
          <p:nvPr/>
        </p:nvSpPr>
        <p:spPr>
          <a:xfrm>
            <a:off x="329518" y="5666475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1" dirty="0">
                <a:solidFill>
                  <a:srgbClr val="FF0000"/>
                </a:solidFill>
                <a:latin typeface="Gill Sans" charset="0"/>
                <a:ea typeface="Gill Sans" charset="0"/>
                <a:cs typeface="Gill Sans" charset="0"/>
              </a:rPr>
              <a:t>*</a:t>
            </a:r>
            <a:r>
              <a:rPr lang="en-US" b="0" i="1" dirty="0">
                <a:solidFill>
                  <a:srgbClr val="0541E0"/>
                </a:solidFill>
                <a:latin typeface="Gill Sans" charset="0"/>
                <a:ea typeface="Gill Sans" charset="0"/>
                <a:cs typeface="Gill Sans" charset="0"/>
              </a:rPr>
              <a:t> Box 4-2 in eBook (Nelson &amp; Cox), “Why Sailors, Explorers and College Students Should Eat Their Fresh Fruits and Vegetables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A60DE-3625-5661-838A-6EA49763B3E2}"/>
              </a:ext>
            </a:extLst>
          </p:cNvPr>
          <p:cNvSpPr txBox="1"/>
          <p:nvPr/>
        </p:nvSpPr>
        <p:spPr>
          <a:xfrm>
            <a:off x="5039943" y="4390199"/>
            <a:ext cx="2743059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= COLLAGEN FIBRIL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026F2-CF54-A292-7D0C-5D3A5E147D10}"/>
              </a:ext>
            </a:extLst>
          </p:cNvPr>
          <p:cNvSpPr txBox="1"/>
          <p:nvPr/>
        </p:nvSpPr>
        <p:spPr>
          <a:xfrm rot="20792624">
            <a:off x="1394540" y="4023586"/>
            <a:ext cx="1540806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tropocollagen</a:t>
            </a:r>
          </a:p>
        </p:txBody>
      </p:sp>
    </p:spTree>
    <p:extLst>
      <p:ext uri="{BB962C8B-B14F-4D97-AF65-F5344CB8AC3E}">
        <p14:creationId xmlns:p14="http://schemas.microsoft.com/office/powerpoint/2010/main" val="2375900107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1" grpId="0" animBg="1"/>
      <p:bldP spid="37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36B4-D665-6443-B656-B21A952C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200891"/>
            <a:ext cx="7772400" cy="1600200"/>
          </a:xfrm>
        </p:spPr>
        <p:txBody>
          <a:bodyPr/>
          <a:lstStyle/>
          <a:p>
            <a:r>
              <a:rPr lang="en-US" dirty="0"/>
              <a:t>How does this crosslink form?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D2A2C252-5AC6-3144-A6BA-7C52661F6D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2704" y="1044000"/>
            <a:ext cx="2835577" cy="51693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3D34F8D-28CA-FD47-A0B4-9594FAF4301B}"/>
              </a:ext>
            </a:extLst>
          </p:cNvPr>
          <p:cNvSpPr/>
          <p:nvPr/>
        </p:nvSpPr>
        <p:spPr>
          <a:xfrm>
            <a:off x="1751610" y="6456703"/>
            <a:ext cx="65729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en.wikipedia.org</a:t>
            </a:r>
            <a:r>
              <a:rPr lang="en-US" sz="1600" dirty="0"/>
              <a:t>/wiki/</a:t>
            </a:r>
            <a:r>
              <a:rPr lang="en-US" sz="1600" dirty="0" err="1"/>
              <a:t>Collagen#Chemistry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13D67-11DF-8A48-866B-5AEBF68D7883}"/>
              </a:ext>
            </a:extLst>
          </p:cNvPr>
          <p:cNvSpPr txBox="1"/>
          <p:nvPr/>
        </p:nvSpPr>
        <p:spPr>
          <a:xfrm>
            <a:off x="685800" y="2650830"/>
            <a:ext cx="162416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i="1" u="none" strike="noStrike" cap="none" spc="0" normalizeH="0" baseline="0" dirty="0">
                <a:ln>
                  <a:noFill/>
                </a:ln>
                <a:solidFill>
                  <a:srgbClr val="1855FF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An enzyme!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28A45218-6829-9C4E-AFCB-201E9432E903}"/>
              </a:ext>
            </a:extLst>
          </p:cNvPr>
          <p:cNvSpPr/>
          <p:nvPr/>
        </p:nvSpPr>
        <p:spPr>
          <a:xfrm>
            <a:off x="2409285" y="2796637"/>
            <a:ext cx="903932" cy="124693"/>
          </a:xfrm>
          <a:prstGeom prst="rightArrow">
            <a:avLst/>
          </a:prstGeom>
          <a:solidFill>
            <a:srgbClr val="FF0000"/>
          </a:solidFill>
          <a:ln w="9525" cap="flat">
            <a:solidFill>
              <a:srgbClr val="000000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86DA5-7CB9-044A-986A-F6F7DA90C62E}"/>
              </a:ext>
            </a:extLst>
          </p:cNvPr>
          <p:cNvSpPr txBox="1"/>
          <p:nvPr/>
        </p:nvSpPr>
        <p:spPr>
          <a:xfrm>
            <a:off x="5191590" y="2639772"/>
            <a:ext cx="3730508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→ Hydrogen Peroxide and Ammonium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56219C-4959-134E-AF80-41A9C170AB8E}"/>
              </a:ext>
            </a:extLst>
          </p:cNvPr>
          <p:cNvSpPr txBox="1"/>
          <p:nvPr/>
        </p:nvSpPr>
        <p:spPr>
          <a:xfrm>
            <a:off x="5263736" y="4548237"/>
            <a:ext cx="2714205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 rtl="0" latinLnBrk="1" hangingPunct="0"/>
            <a:r>
              <a:rPr lang="en-US" sz="16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aldol condensation → water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640182550"/>
      </p:ext>
    </p:extLst>
  </p:cSld>
  <p:clrMapOvr>
    <a:masterClrMapping/>
  </p:clrMapOvr>
  <p:transition spd="med" advClick="0" advTm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-76200" y="228600"/>
            <a:ext cx="8991600" cy="5356225"/>
          </a:xfrm>
          <a:prstGeom prst="rect">
            <a:avLst/>
          </a:prstGeom>
          <a:ln w="12700">
            <a:miter lim="400000"/>
          </a:ln>
        </p:spPr>
      </p:pic>
      <p:sp>
        <p:nvSpPr>
          <p:cNvPr id="392" name="Shape 392"/>
          <p:cNvSpPr/>
          <p:nvPr/>
        </p:nvSpPr>
        <p:spPr>
          <a:xfrm rot="3300000">
            <a:off x="5575992" y="2607145"/>
            <a:ext cx="1498601" cy="2438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ln w="63500">
            <a:solidFill>
              <a:srgbClr val="00C200"/>
            </a:solidFill>
            <a:custDash>
              <a:ds d="200000" sp="200000"/>
            </a:custDash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395" name="Group 395"/>
          <p:cNvGrpSpPr/>
          <p:nvPr/>
        </p:nvGrpSpPr>
        <p:grpSpPr>
          <a:xfrm>
            <a:off x="4089399" y="419100"/>
            <a:ext cx="5207001" cy="4432300"/>
            <a:chOff x="-1" y="0"/>
            <a:chExt cx="5207001" cy="4432300"/>
          </a:xfrm>
        </p:grpSpPr>
        <p:sp>
          <p:nvSpPr>
            <p:cNvPr id="393" name="Shape 393"/>
            <p:cNvSpPr/>
            <p:nvPr/>
          </p:nvSpPr>
          <p:spPr>
            <a:xfrm>
              <a:off x="3594100" y="4089400"/>
              <a:ext cx="16129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DD33C5"/>
                </a:buClr>
                <a:buFont typeface="Helvetica"/>
                <a:defRPr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A 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stable fold</a:t>
              </a:r>
            </a:p>
          </p:txBody>
        </p:sp>
        <p:sp>
          <p:nvSpPr>
            <p:cNvPr id="394" name="Shape 394"/>
            <p:cNvSpPr/>
            <p:nvPr/>
          </p:nvSpPr>
          <p:spPr>
            <a:xfrm>
              <a:off x="-1" y="0"/>
              <a:ext cx="4965702" cy="44323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noFill/>
            <a:ln w="38100" cap="rnd">
              <a:solidFill>
                <a:srgbClr val="DD33C5"/>
              </a:solidFill>
              <a:prstDash val="sysDot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398" name="Group 398"/>
          <p:cNvGrpSpPr/>
          <p:nvPr/>
        </p:nvGrpSpPr>
        <p:grpSpPr>
          <a:xfrm>
            <a:off x="-76201" y="3378199"/>
            <a:ext cx="4343402" cy="1562102"/>
            <a:chOff x="221852" y="520902"/>
            <a:chExt cx="4343400" cy="1562101"/>
          </a:xfrm>
        </p:grpSpPr>
        <p:sp>
          <p:nvSpPr>
            <p:cNvPr id="396" name="Shape 396"/>
            <p:cNvSpPr/>
            <p:nvPr/>
          </p:nvSpPr>
          <p:spPr>
            <a:xfrm rot="19815231">
              <a:off x="221852" y="520902"/>
              <a:ext cx="2514601" cy="1562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noFill/>
            <a:ln w="63500" cap="flat">
              <a:solidFill>
                <a:srgbClr val="00BA00"/>
              </a:solidFill>
              <a:custDash>
                <a:ds d="200000" sp="200000"/>
              </a:custDash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97" name="Shape 397"/>
            <p:cNvSpPr/>
            <p:nvPr/>
          </p:nvSpPr>
          <p:spPr>
            <a:xfrm>
              <a:off x="2418951" y="1486103"/>
              <a:ext cx="2146301" cy="492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DD33C5"/>
                </a:buClr>
                <a:buFont typeface="Helvetica"/>
                <a:defRPr>
                  <a:solidFill>
                    <a:srgbClr val="DD33C5"/>
                  </a:solidFill>
                  <a:uFill>
                    <a:solidFill>
                      <a:srgbClr val="DD33C5"/>
                    </a:solidFill>
                  </a:uFill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N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ot very stable by itself; 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C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DD33C5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an unfold in water</a:t>
              </a:r>
            </a:p>
          </p:txBody>
        </p:sp>
      </p:grpSp>
      <p:sp>
        <p:nvSpPr>
          <p:cNvPr id="399" name="Shape 399"/>
          <p:cNvSpPr/>
          <p:nvPr/>
        </p:nvSpPr>
        <p:spPr>
          <a:xfrm>
            <a:off x="38100" y="5956300"/>
            <a:ext cx="91059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he word “domain” is used in different ways! Domain can also mean a part of a protein having special binding or function.</a:t>
            </a:r>
          </a:p>
        </p:txBody>
      </p:sp>
      <p:sp>
        <p:nvSpPr>
          <p:cNvPr id="400" name="Shape 400"/>
          <p:cNvSpPr/>
          <p:nvPr/>
        </p:nvSpPr>
        <p:spPr>
          <a:xfrm>
            <a:off x="914400" y="5486400"/>
            <a:ext cx="67945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table folds are also known as: structural domains or motifs or folding units</a:t>
            </a:r>
          </a:p>
        </p:txBody>
      </p:sp>
      <p:sp>
        <p:nvSpPr>
          <p:cNvPr id="402" name="Shape 402"/>
          <p:cNvSpPr/>
          <p:nvPr/>
        </p:nvSpPr>
        <p:spPr>
          <a:xfrm>
            <a:off x="241808" y="1293301"/>
            <a:ext cx="3529584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defRPr sz="1800" b="0">
                <a:uFillTx/>
              </a:defRPr>
            </a:pPr>
            <a:r>
              <a:rPr sz="18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W</a:t>
            </a:r>
            <a:r>
              <a:rPr lang="en-US" sz="18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e will mainly use the term “fold” to describe the stable pattern of the protein’s structure</a:t>
            </a:r>
          </a:p>
        </p:txBody>
      </p:sp>
      <p:sp>
        <p:nvSpPr>
          <p:cNvPr id="390" name="Shape 390"/>
          <p:cNvSpPr>
            <a:spLocks noGrp="1"/>
          </p:cNvSpPr>
          <p:nvPr>
            <p:ph type="title"/>
          </p:nvPr>
        </p:nvSpPr>
        <p:spPr>
          <a:xfrm>
            <a:off x="685800" y="-88900"/>
            <a:ext cx="7772400" cy="4572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 lvl="0">
              <a:defRPr sz="1800" b="0">
                <a:uFillTx/>
              </a:defRPr>
            </a:pP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ew topic: what is a stable protein fold</a:t>
            </a: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?</a:t>
            </a:r>
          </a:p>
        </p:txBody>
      </p:sp>
      <p:grpSp>
        <p:nvGrpSpPr>
          <p:cNvPr id="405" name="Group 405"/>
          <p:cNvGrpSpPr/>
          <p:nvPr/>
        </p:nvGrpSpPr>
        <p:grpSpPr>
          <a:xfrm>
            <a:off x="0" y="21178"/>
            <a:ext cx="9131302" cy="6515101"/>
            <a:chOff x="0" y="0"/>
            <a:chExt cx="9131301" cy="6515100"/>
          </a:xfrm>
        </p:grpSpPr>
        <p:sp>
          <p:nvSpPr>
            <p:cNvPr id="403" name="Shape 403"/>
            <p:cNvSpPr/>
            <p:nvPr/>
          </p:nvSpPr>
          <p:spPr>
            <a:xfrm>
              <a:off x="0" y="0"/>
              <a:ext cx="9131301" cy="6515100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04" name="Shape 404"/>
            <p:cNvSpPr/>
            <p:nvPr/>
          </p:nvSpPr>
          <p:spPr>
            <a:xfrm>
              <a:off x="457201" y="312184"/>
              <a:ext cx="8013699" cy="7386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 algn="ctr">
                <a:spcBef>
                  <a:spcPts val="1100"/>
                </a:spcBef>
                <a:buClr>
                  <a:srgbClr val="000000"/>
                </a:buClr>
                <a:buFont typeface="Helvetica"/>
                <a:defRPr sz="1800" b="0">
                  <a:uFillTx/>
                </a:defRPr>
              </a:pP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H</a:t>
              </a:r>
              <a:r>
                <a:rPr lang="en-US"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ow do </a:t>
              </a: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α</a:t>
              </a: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-</a:t>
              </a:r>
              <a:r>
                <a:rPr lang="en-US"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helices</a:t>
              </a: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, </a:t>
              </a: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β</a:t>
              </a: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-</a:t>
              </a:r>
              <a:r>
                <a:rPr lang="en-US"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sheets, and turns fit together to form stable structure?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459552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" grpId="0" animBg="1" advAuto="0"/>
      <p:bldP spid="395" grpId="0" advAuto="0"/>
      <p:bldP spid="398" grpId="0" advAuto="0"/>
      <p:bldP spid="399" grpId="0" animBg="1" advAuto="0"/>
      <p:bldP spid="400" grpId="0" animBg="1" advAuto="0"/>
      <p:bldP spid="402" grpId="0" animBg="1" advAuto="0"/>
      <p:bldP spid="405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23857" cy="24018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08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2359025"/>
            <a:ext cx="5867400" cy="4498975"/>
          </a:xfrm>
          <a:prstGeom prst="rect">
            <a:avLst/>
          </a:prstGeom>
          <a:ln w="12700">
            <a:miter lim="400000"/>
          </a:ln>
        </p:spPr>
      </p:pic>
      <p:sp>
        <p:nvSpPr>
          <p:cNvPr id="409" name="Shape 409"/>
          <p:cNvSpPr/>
          <p:nvPr/>
        </p:nvSpPr>
        <p:spPr>
          <a:xfrm>
            <a:off x="6540500" y="28615"/>
            <a:ext cx="33655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00000"/>
              </a:buClr>
              <a:buFont typeface="Helvetica"/>
              <a:defRPr sz="2000"/>
            </a:lvl1pPr>
          </a:lstStyle>
          <a:p>
            <a:pPr lvl="0">
              <a:defRPr sz="1800" b="0">
                <a:uFillTx/>
              </a:defRPr>
            </a:pPr>
            <a:r>
              <a:rPr sz="2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2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rotein folds</a:t>
            </a:r>
          </a:p>
        </p:txBody>
      </p:sp>
      <p:sp>
        <p:nvSpPr>
          <p:cNvPr id="410" name="Shape 410"/>
          <p:cNvSpPr/>
          <p:nvPr/>
        </p:nvSpPr>
        <p:spPr>
          <a:xfrm>
            <a:off x="0" y="2311400"/>
            <a:ext cx="8509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ll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</a:p>
        </p:txBody>
      </p:sp>
      <p:pic>
        <p:nvPicPr>
          <p:cNvPr id="411" name="image.pdf"/>
          <p:cNvPicPr/>
          <p:nvPr/>
        </p:nvPicPr>
        <p:blipFill>
          <a:blip r:embed="rId5"/>
          <a:stretch>
            <a:fillRect/>
          </a:stretch>
        </p:blipFill>
        <p:spPr>
          <a:xfrm>
            <a:off x="76200" y="228600"/>
            <a:ext cx="1343025" cy="1371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" name="image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1524000" y="76200"/>
            <a:ext cx="1042988" cy="144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" name="image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2743200" y="152400"/>
            <a:ext cx="1524000" cy="15097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14" name="image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4419600" y="609600"/>
            <a:ext cx="1144588" cy="927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5" name="image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152400" y="2667000"/>
            <a:ext cx="984250" cy="114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6" name="image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1981200" y="2411412"/>
            <a:ext cx="1430338" cy="139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17" name="image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3886200" y="2435225"/>
            <a:ext cx="1524001" cy="1428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8" name="image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92075" y="4648200"/>
            <a:ext cx="1355726" cy="1384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9" name="image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1981200" y="4730750"/>
            <a:ext cx="1906588" cy="1289050"/>
          </a:xfrm>
          <a:prstGeom prst="rect">
            <a:avLst/>
          </a:prstGeom>
          <a:ln w="12700">
            <a:miter lim="400000"/>
          </a:ln>
        </p:spPr>
      </p:pic>
      <p:sp>
        <p:nvSpPr>
          <p:cNvPr id="420" name="Shape 420"/>
          <p:cNvSpPr/>
          <p:nvPr/>
        </p:nvSpPr>
        <p:spPr>
          <a:xfrm>
            <a:off x="5771242" y="685800"/>
            <a:ext cx="35179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</a:lvl1pPr>
          </a:lstStyle>
          <a:p>
            <a:pPr lvl="0">
              <a:defRPr sz="1800" b="0">
                <a:uFillTx/>
              </a:defRPr>
            </a:pP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Approx. 1400 identified so far; only “the 20”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AA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are needed to form all 1400</a:t>
            </a:r>
          </a:p>
        </p:txBody>
      </p:sp>
      <p:sp>
        <p:nvSpPr>
          <p:cNvPr id="429" name="Shape 429"/>
          <p:cNvSpPr/>
          <p:nvPr/>
        </p:nvSpPr>
        <p:spPr>
          <a:xfrm>
            <a:off x="76200" y="1130300"/>
            <a:ext cx="1104900" cy="1104900"/>
          </a:xfrm>
          <a:prstGeom prst="rect">
            <a:avLst/>
          </a:prstGeom>
          <a:solidFill>
            <a:srgbClr val="FFFFFF"/>
          </a:solidFill>
          <a:ln>
            <a:solidFill>
              <a:srgbClr val="000000">
                <a:alpha val="0"/>
              </a:srgbClr>
            </a:solidFill>
            <a:round/>
          </a:ln>
        </p:spPr>
        <p:txBody>
          <a:bodyPr lIns="0" tIns="0" rIns="0" bIns="0" anchor="ctr"/>
          <a:lstStyle/>
          <a:p>
            <a:pPr lvl="0"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430" name="droppedImage.png"/>
          <p:cNvPicPr/>
          <p:nvPr/>
        </p:nvPicPr>
        <p:blipFill>
          <a:blip r:embed="rId14"/>
          <a:stretch>
            <a:fillRect/>
          </a:stretch>
        </p:blipFill>
        <p:spPr>
          <a:xfrm>
            <a:off x="72268" y="177628"/>
            <a:ext cx="1244601" cy="2057572"/>
          </a:xfrm>
          <a:prstGeom prst="rect">
            <a:avLst/>
          </a:prstGeom>
          <a:ln>
            <a:round/>
          </a:ln>
        </p:spPr>
      </p:pic>
      <p:sp>
        <p:nvSpPr>
          <p:cNvPr id="431" name="Shape 431"/>
          <p:cNvSpPr/>
          <p:nvPr/>
        </p:nvSpPr>
        <p:spPr>
          <a:xfrm>
            <a:off x="0" y="-38100"/>
            <a:ext cx="8509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  <a:buClr>
                <a:srgbClr val="000000"/>
              </a:buClr>
              <a:buFont typeface="Helvetica"/>
              <a:defRPr sz="1800" b="0">
                <a:uFillTx/>
              </a:defRPr>
            </a:pP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ll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</a:p>
        </p:txBody>
      </p:sp>
    </p:spTree>
    <p:extLst>
      <p:ext uri="{BB962C8B-B14F-4D97-AF65-F5344CB8AC3E}">
        <p14:creationId xmlns:p14="http://schemas.microsoft.com/office/powerpoint/2010/main" val="175762213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228600" y="228600"/>
            <a:ext cx="1141413" cy="1600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368021" y="254000"/>
            <a:ext cx="1085851" cy="1600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image.pdf"/>
          <p:cNvPicPr/>
          <p:nvPr/>
        </p:nvPicPr>
        <p:blipFill>
          <a:blip r:embed="rId5"/>
          <a:stretch>
            <a:fillRect/>
          </a:stretch>
        </p:blipFill>
        <p:spPr>
          <a:xfrm>
            <a:off x="4419600" y="134937"/>
            <a:ext cx="1092200" cy="1922463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Shape 63"/>
          <p:cNvSpPr/>
          <p:nvPr/>
        </p:nvSpPr>
        <p:spPr>
          <a:xfrm>
            <a:off x="5334000" y="1600200"/>
            <a:ext cx="76200" cy="1524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4" name="Shape 64"/>
          <p:cNvSpPr/>
          <p:nvPr/>
        </p:nvSpPr>
        <p:spPr>
          <a:xfrm>
            <a:off x="5334000" y="1752600"/>
            <a:ext cx="76200" cy="1524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65" name="image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3124200"/>
            <a:ext cx="2133600" cy="895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image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2133600" y="2852737"/>
            <a:ext cx="1524000" cy="1236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image.pdf"/>
          <p:cNvPicPr/>
          <p:nvPr/>
        </p:nvPicPr>
        <p:blipFill>
          <a:blip r:embed="rId8"/>
          <a:stretch>
            <a:fillRect/>
          </a:stretch>
        </p:blipFill>
        <p:spPr>
          <a:xfrm>
            <a:off x="4267200" y="2590800"/>
            <a:ext cx="1141413" cy="1714500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Shape 68"/>
          <p:cNvSpPr/>
          <p:nvPr/>
        </p:nvSpPr>
        <p:spPr>
          <a:xfrm>
            <a:off x="5410200" y="32004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9" name="Shape 69"/>
          <p:cNvSpPr/>
          <p:nvPr/>
        </p:nvSpPr>
        <p:spPr>
          <a:xfrm>
            <a:off x="5334000" y="38862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0" name="Shape 70"/>
          <p:cNvSpPr/>
          <p:nvPr/>
        </p:nvSpPr>
        <p:spPr>
          <a:xfrm>
            <a:off x="5257800" y="41148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1" name="Shape 71"/>
          <p:cNvSpPr/>
          <p:nvPr/>
        </p:nvSpPr>
        <p:spPr>
          <a:xfrm>
            <a:off x="5384800" y="3995737"/>
            <a:ext cx="254000" cy="238126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2" name="Shape 72"/>
          <p:cNvSpPr/>
          <p:nvPr/>
        </p:nvSpPr>
        <p:spPr>
          <a:xfrm>
            <a:off x="5367337" y="1633537"/>
            <a:ext cx="111126" cy="279401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3" name="Shape 73"/>
          <p:cNvSpPr/>
          <p:nvPr/>
        </p:nvSpPr>
        <p:spPr>
          <a:xfrm>
            <a:off x="5521325" y="3206750"/>
            <a:ext cx="88900" cy="174625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54432" y="152400"/>
            <a:ext cx="21463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</a:t>
            </a:r>
            <a:r>
              <a:rPr lang="en-US"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ixed</a:t>
            </a: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AND </a:t>
            </a:r>
            <a:r>
              <a:rPr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</a:p>
        </p:txBody>
      </p:sp>
      <p:sp>
        <p:nvSpPr>
          <p:cNvPr id="79" name="Shape 79"/>
          <p:cNvSpPr/>
          <p:nvPr/>
        </p:nvSpPr>
        <p:spPr>
          <a:xfrm>
            <a:off x="5418137" y="1270000"/>
            <a:ext cx="288926" cy="6778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0" name="Shape 80"/>
          <p:cNvSpPr/>
          <p:nvPr/>
        </p:nvSpPr>
        <p:spPr>
          <a:xfrm>
            <a:off x="703262" y="109537"/>
            <a:ext cx="177801" cy="1444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1" name="Shape 81"/>
          <p:cNvSpPr/>
          <p:nvPr/>
        </p:nvSpPr>
        <p:spPr>
          <a:xfrm>
            <a:off x="1109662" y="5969000"/>
            <a:ext cx="523876" cy="2460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2" name="Shape 82"/>
          <p:cNvSpPr/>
          <p:nvPr/>
        </p:nvSpPr>
        <p:spPr>
          <a:xfrm>
            <a:off x="3716337" y="3970337"/>
            <a:ext cx="212726" cy="288926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83" name="image.pdf"/>
          <p:cNvPicPr/>
          <p:nvPr/>
        </p:nvPicPr>
        <p:blipFill>
          <a:blip r:embed="rId9"/>
          <a:stretch>
            <a:fillRect/>
          </a:stretch>
        </p:blipFill>
        <p:spPr>
          <a:xfrm>
            <a:off x="0" y="1897062"/>
            <a:ext cx="5638800" cy="8461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image.pdf"/>
          <p:cNvPicPr/>
          <p:nvPr/>
        </p:nvPicPr>
        <p:blipFill>
          <a:blip r:embed="rId10"/>
          <a:stretch>
            <a:fillRect/>
          </a:stretch>
        </p:blipFill>
        <p:spPr>
          <a:xfrm>
            <a:off x="0" y="4094162"/>
            <a:ext cx="5562600" cy="706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image.pdf"/>
          <p:cNvPicPr/>
          <p:nvPr/>
        </p:nvPicPr>
        <p:blipFill>
          <a:blip r:embed="rId11"/>
          <a:stretch>
            <a:fillRect/>
          </a:stretch>
        </p:blipFill>
        <p:spPr>
          <a:xfrm>
            <a:off x="0" y="6149975"/>
            <a:ext cx="1633538" cy="7318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image.pdf"/>
          <p:cNvPicPr/>
          <p:nvPr/>
        </p:nvPicPr>
        <p:blipFill>
          <a:blip r:embed="rId12"/>
          <a:stretch>
            <a:fillRect/>
          </a:stretch>
        </p:blipFill>
        <p:spPr>
          <a:xfrm>
            <a:off x="320675" y="4927600"/>
            <a:ext cx="1200150" cy="1219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droppedImage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172617" y="424469"/>
            <a:ext cx="1043182" cy="1475185"/>
          </a:xfrm>
          <a:prstGeom prst="rect">
            <a:avLst/>
          </a:prstGeom>
          <a:ln>
            <a:round/>
          </a:ln>
        </p:spPr>
      </p:pic>
      <p:pic>
        <p:nvPicPr>
          <p:cNvPr id="90" name="droppedImage.png"/>
          <p:cNvPicPr/>
          <p:nvPr/>
        </p:nvPicPr>
        <p:blipFill>
          <a:blip r:embed="rId14"/>
          <a:stretch>
            <a:fillRect/>
          </a:stretch>
        </p:blipFill>
        <p:spPr>
          <a:xfrm>
            <a:off x="4445793" y="221032"/>
            <a:ext cx="1002507" cy="1758581"/>
          </a:xfrm>
          <a:prstGeom prst="rect">
            <a:avLst/>
          </a:prstGeom>
          <a:ln>
            <a:round/>
          </a:ln>
        </p:spPr>
      </p:pic>
      <p:pic>
        <p:nvPicPr>
          <p:cNvPr id="91" name="droppedImage.png"/>
          <p:cNvPicPr/>
          <p:nvPr/>
        </p:nvPicPr>
        <p:blipFill>
          <a:blip r:embed="rId15"/>
          <a:stretch>
            <a:fillRect/>
          </a:stretch>
        </p:blipFill>
        <p:spPr>
          <a:xfrm>
            <a:off x="4308475" y="2666984"/>
            <a:ext cx="1028801" cy="1502982"/>
          </a:xfrm>
          <a:prstGeom prst="rect">
            <a:avLst/>
          </a:prstGeom>
          <a:ln>
            <a:round/>
          </a:ln>
        </p:spPr>
      </p:pic>
      <p:pic>
        <p:nvPicPr>
          <p:cNvPr id="92" name="droppedImage.png"/>
          <p:cNvPicPr/>
          <p:nvPr/>
        </p:nvPicPr>
        <p:blipFill>
          <a:blip r:embed="rId16"/>
          <a:stretch>
            <a:fillRect/>
          </a:stretch>
        </p:blipFill>
        <p:spPr>
          <a:xfrm>
            <a:off x="110704" y="4789884"/>
            <a:ext cx="1827237" cy="1450182"/>
          </a:xfrm>
          <a:prstGeom prst="rect">
            <a:avLst/>
          </a:prstGeom>
          <a:ln>
            <a:round/>
          </a:ln>
        </p:spPr>
      </p:pic>
    </p:spTree>
    <p:extLst>
      <p:ext uri="{BB962C8B-B14F-4D97-AF65-F5344CB8AC3E}">
        <p14:creationId xmlns:p14="http://schemas.microsoft.com/office/powerpoint/2010/main" val="317582515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23857" cy="24018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08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2359025"/>
            <a:ext cx="5867400" cy="4498975"/>
          </a:xfrm>
          <a:prstGeom prst="rect">
            <a:avLst/>
          </a:prstGeom>
          <a:ln w="12700">
            <a:miter lim="400000"/>
          </a:ln>
        </p:spPr>
      </p:pic>
      <p:sp>
        <p:nvSpPr>
          <p:cNvPr id="409" name="Shape 409"/>
          <p:cNvSpPr/>
          <p:nvPr/>
        </p:nvSpPr>
        <p:spPr>
          <a:xfrm>
            <a:off x="6540500" y="28615"/>
            <a:ext cx="33655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00000"/>
              </a:buClr>
              <a:buFont typeface="Helvetica"/>
              <a:defRPr sz="2000"/>
            </a:lvl1pPr>
          </a:lstStyle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rotein folds</a:t>
            </a:r>
          </a:p>
        </p:txBody>
      </p:sp>
      <p:sp>
        <p:nvSpPr>
          <p:cNvPr id="410" name="Shape 410"/>
          <p:cNvSpPr/>
          <p:nvPr/>
        </p:nvSpPr>
        <p:spPr>
          <a:xfrm>
            <a:off x="0" y="2311400"/>
            <a:ext cx="8509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ll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</a:p>
        </p:txBody>
      </p:sp>
      <p:pic>
        <p:nvPicPr>
          <p:cNvPr id="411" name="image.pdf"/>
          <p:cNvPicPr/>
          <p:nvPr/>
        </p:nvPicPr>
        <p:blipFill>
          <a:blip r:embed="rId5"/>
          <a:stretch>
            <a:fillRect/>
          </a:stretch>
        </p:blipFill>
        <p:spPr>
          <a:xfrm>
            <a:off x="76200" y="228600"/>
            <a:ext cx="1343025" cy="1371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" name="image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1524000" y="76200"/>
            <a:ext cx="1042988" cy="1447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" name="image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2743200" y="152400"/>
            <a:ext cx="1524000" cy="15097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14" name="image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4419600" y="609600"/>
            <a:ext cx="1144588" cy="927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5" name="image.png"/>
          <p:cNvPicPr/>
          <p:nvPr/>
        </p:nvPicPr>
        <p:blipFill>
          <a:blip r:embed="rId9"/>
          <a:stretch>
            <a:fillRect/>
          </a:stretch>
        </p:blipFill>
        <p:spPr>
          <a:xfrm>
            <a:off x="152400" y="2667000"/>
            <a:ext cx="984250" cy="114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6" name="image.png"/>
          <p:cNvPicPr/>
          <p:nvPr/>
        </p:nvPicPr>
        <p:blipFill>
          <a:blip r:embed="rId10"/>
          <a:stretch>
            <a:fillRect/>
          </a:stretch>
        </p:blipFill>
        <p:spPr>
          <a:xfrm>
            <a:off x="1981200" y="2411412"/>
            <a:ext cx="1430338" cy="139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17" name="image.png"/>
          <p:cNvPicPr/>
          <p:nvPr/>
        </p:nvPicPr>
        <p:blipFill>
          <a:blip r:embed="rId11"/>
          <a:stretch>
            <a:fillRect/>
          </a:stretch>
        </p:blipFill>
        <p:spPr>
          <a:xfrm>
            <a:off x="3886200" y="2435225"/>
            <a:ext cx="1524001" cy="1428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8" name="image.png"/>
          <p:cNvPicPr/>
          <p:nvPr/>
        </p:nvPicPr>
        <p:blipFill>
          <a:blip r:embed="rId12"/>
          <a:stretch>
            <a:fillRect/>
          </a:stretch>
        </p:blipFill>
        <p:spPr>
          <a:xfrm>
            <a:off x="92075" y="4648200"/>
            <a:ext cx="1355726" cy="1384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9" name="image.png"/>
          <p:cNvPicPr/>
          <p:nvPr/>
        </p:nvPicPr>
        <p:blipFill>
          <a:blip r:embed="rId13"/>
          <a:stretch>
            <a:fillRect/>
          </a:stretch>
        </p:blipFill>
        <p:spPr>
          <a:xfrm>
            <a:off x="1981200" y="4730750"/>
            <a:ext cx="1906588" cy="1289050"/>
          </a:xfrm>
          <a:prstGeom prst="rect">
            <a:avLst/>
          </a:prstGeom>
          <a:ln w="12700">
            <a:miter lim="400000"/>
          </a:ln>
        </p:spPr>
      </p:pic>
      <p:sp>
        <p:nvSpPr>
          <p:cNvPr id="420" name="Shape 420"/>
          <p:cNvSpPr/>
          <p:nvPr/>
        </p:nvSpPr>
        <p:spPr>
          <a:xfrm>
            <a:off x="5771242" y="685800"/>
            <a:ext cx="35179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</a:lvl1pPr>
          </a:lstStyle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Approx. 1400 identified so far; only “the 20”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AA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are needed to form all 1400</a:t>
            </a:r>
          </a:p>
        </p:txBody>
      </p:sp>
      <p:sp>
        <p:nvSpPr>
          <p:cNvPr id="421" name="Shape 421"/>
          <p:cNvSpPr/>
          <p:nvPr/>
        </p:nvSpPr>
        <p:spPr>
          <a:xfrm>
            <a:off x="6134560" y="1353978"/>
            <a:ext cx="3078841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</a:lvl1pPr>
          </a:lstStyle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aybe not many more different folds exist?!</a:t>
            </a:r>
          </a:p>
        </p:txBody>
      </p:sp>
      <p:sp>
        <p:nvSpPr>
          <p:cNvPr id="422" name="Shape 422"/>
          <p:cNvSpPr/>
          <p:nvPr/>
        </p:nvSpPr>
        <p:spPr>
          <a:xfrm>
            <a:off x="6019800" y="2649862"/>
            <a:ext cx="2906487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1. L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imited ways to get stable combination of helices,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-sheets, turns, coils </a:t>
            </a:r>
          </a:p>
        </p:txBody>
      </p:sp>
      <p:sp>
        <p:nvSpPr>
          <p:cNvPr id="423" name="Shape 423"/>
          <p:cNvSpPr/>
          <p:nvPr/>
        </p:nvSpPr>
        <p:spPr>
          <a:xfrm>
            <a:off x="6176148" y="2099818"/>
            <a:ext cx="239681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2000"/>
            </a:lvl1pPr>
          </a:lstStyle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W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hy only these 1400?</a:t>
            </a:r>
          </a:p>
        </p:txBody>
      </p:sp>
      <p:sp>
        <p:nvSpPr>
          <p:cNvPr id="424" name="Shape 424"/>
          <p:cNvSpPr/>
          <p:nvPr/>
        </p:nvSpPr>
        <p:spPr>
          <a:xfrm>
            <a:off x="6019800" y="4376315"/>
            <a:ext cx="3136900" cy="607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3.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nother category:</a:t>
            </a:r>
          </a:p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ntrinsically disordered proteins!</a:t>
            </a:r>
          </a:p>
        </p:txBody>
      </p:sp>
      <p:grpSp>
        <p:nvGrpSpPr>
          <p:cNvPr id="428" name="Group 428"/>
          <p:cNvGrpSpPr/>
          <p:nvPr/>
        </p:nvGrpSpPr>
        <p:grpSpPr>
          <a:xfrm>
            <a:off x="5988959" y="4741504"/>
            <a:ext cx="2906486" cy="593767"/>
            <a:chOff x="152401" y="-435768"/>
            <a:chExt cx="2906486" cy="593766"/>
          </a:xfrm>
        </p:grpSpPr>
        <p:sp>
          <p:nvSpPr>
            <p:cNvPr id="426" name="Shape 426"/>
            <p:cNvSpPr/>
            <p:nvPr/>
          </p:nvSpPr>
          <p:spPr>
            <a:xfrm flipH="1" flipV="1">
              <a:off x="1278553" y="-150072"/>
              <a:ext cx="167816" cy="308070"/>
            </a:xfrm>
            <a:prstGeom prst="line">
              <a:avLst/>
            </a:prstGeom>
            <a:noFill/>
            <a:ln w="28575" cap="flat">
              <a:solidFill>
                <a:srgbClr val="1855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>
                  <a:uFillTx/>
                </a:defRPr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Gill Sans" charset="0"/>
                <a:ea typeface="Gill Sans" charset="0"/>
                <a:cs typeface="Gill Sans" charset="0"/>
                <a:sym typeface="Helvetica"/>
              </a:endParaRPr>
            </a:p>
          </p:txBody>
        </p:sp>
        <p:sp>
          <p:nvSpPr>
            <p:cNvPr id="427" name="Shape 427"/>
            <p:cNvSpPr/>
            <p:nvPr/>
          </p:nvSpPr>
          <p:spPr>
            <a:xfrm>
              <a:off x="152401" y="-435768"/>
              <a:ext cx="2906486" cy="287564"/>
            </a:xfrm>
            <a:prstGeom prst="roundRect">
              <a:avLst>
                <a:gd name="adj" fmla="val 16827"/>
              </a:avLst>
            </a:prstGeom>
            <a:noFill/>
            <a:ln w="28575" cap="rnd">
              <a:solidFill>
                <a:schemeClr val="bg1">
                  <a:lumMod val="65000"/>
                </a:schemeClr>
              </a:solidFill>
              <a:prstDash val="sysDot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40639" marR="40639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400" b="0">
                  <a:latin typeface="+mn-lt"/>
                  <a:ea typeface="+mn-ea"/>
                  <a:cs typeface="+mn-cs"/>
                  <a:sym typeface="Times Roman"/>
                </a:defRPr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Times Roman"/>
              </a:endParaRPr>
            </a:p>
          </p:txBody>
        </p:sp>
      </p:grpSp>
      <p:sp>
        <p:nvSpPr>
          <p:cNvPr id="429" name="Shape 429"/>
          <p:cNvSpPr/>
          <p:nvPr/>
        </p:nvSpPr>
        <p:spPr>
          <a:xfrm>
            <a:off x="76200" y="1130300"/>
            <a:ext cx="1104900" cy="1104900"/>
          </a:xfrm>
          <a:prstGeom prst="rect">
            <a:avLst/>
          </a:prstGeom>
          <a:solidFill>
            <a:srgbClr val="FFFFFF"/>
          </a:solidFill>
          <a:ln>
            <a:solidFill>
              <a:srgbClr val="000000">
                <a:alpha val="0"/>
              </a:srgbClr>
            </a:solidFill>
            <a:round/>
          </a:ln>
        </p:spPr>
        <p:txBody>
          <a:bodyPr lIns="0" tIns="0" rIns="0" bIns="0" anchor="ctr"/>
          <a:lstStyle/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latin typeface="+mn-lt"/>
                <a:ea typeface="+mn-ea"/>
                <a:cs typeface="+mn-cs"/>
                <a:sym typeface="Times Roman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>
                <a:solidFill/>
              </a:uFill>
              <a:latin typeface="Gill Sans" charset="0"/>
              <a:ea typeface="Gill Sans" charset="0"/>
              <a:cs typeface="Gill Sans" charset="0"/>
              <a:sym typeface="Times Roman"/>
            </a:endParaRPr>
          </a:p>
        </p:txBody>
      </p:sp>
      <p:pic>
        <p:nvPicPr>
          <p:cNvPr id="430" name="droppedImage.png"/>
          <p:cNvPicPr/>
          <p:nvPr/>
        </p:nvPicPr>
        <p:blipFill>
          <a:blip r:embed="rId14"/>
          <a:stretch>
            <a:fillRect/>
          </a:stretch>
        </p:blipFill>
        <p:spPr>
          <a:xfrm>
            <a:off x="72268" y="177628"/>
            <a:ext cx="1244601" cy="2057572"/>
          </a:xfrm>
          <a:prstGeom prst="rect">
            <a:avLst/>
          </a:prstGeom>
          <a:ln>
            <a:round/>
          </a:ln>
        </p:spPr>
      </p:pic>
      <p:sp>
        <p:nvSpPr>
          <p:cNvPr id="431" name="Shape 431"/>
          <p:cNvSpPr/>
          <p:nvPr/>
        </p:nvSpPr>
        <p:spPr>
          <a:xfrm>
            <a:off x="0" y="-38100"/>
            <a:ext cx="8509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>
                <a:uFillTx/>
              </a:defRPr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ll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</a:p>
        </p:txBody>
      </p:sp>
      <p:sp>
        <p:nvSpPr>
          <p:cNvPr id="432" name="Shape 432"/>
          <p:cNvSpPr/>
          <p:nvPr/>
        </p:nvSpPr>
        <p:spPr>
          <a:xfrm>
            <a:off x="6019800" y="3548390"/>
            <a:ext cx="3308799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700" u="sng"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 marL="40639" marR="40639" lvl="0" indent="0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Helvetica"/>
              <a:buNone/>
              <a:tabLst/>
              <a:defRPr sz="1800" b="0" u="none">
                <a:uFillTx/>
              </a:defRPr>
            </a:pPr>
            <a:r>
              <a:rPr kumimoji="0" sz="17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Chalkboard"/>
              </a:rPr>
              <a:t>2. T</a:t>
            </a:r>
            <a:r>
              <a:rPr kumimoji="0" lang="en-US" sz="17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Chalkboard"/>
              </a:rPr>
              <a:t>hat can fold quickly, in millisec to sec or min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3775657-D13D-794A-B04B-D6202E3845B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71867" y="4755105"/>
            <a:ext cx="2743200" cy="20655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A05DC3-961E-0741-8F41-7B263BBE17F1}"/>
              </a:ext>
            </a:extLst>
          </p:cNvPr>
          <p:cNvSpPr txBox="1"/>
          <p:nvPr/>
        </p:nvSpPr>
        <p:spPr>
          <a:xfrm>
            <a:off x="6019800" y="5288879"/>
            <a:ext cx="3155041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lvl="0" indent="0" algn="l" defTabSz="914400" rtl="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855FF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Most have large fraction of            polar/charged residues, which tend  to stay in water rather than to fold </a:t>
            </a:r>
          </a:p>
        </p:txBody>
      </p:sp>
    </p:spTree>
    <p:extLst>
      <p:ext uri="{BB962C8B-B14F-4D97-AF65-F5344CB8AC3E}">
        <p14:creationId xmlns:p14="http://schemas.microsoft.com/office/powerpoint/2010/main" val="368219799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" grpId="0" animBg="1" advAuto="0"/>
      <p:bldP spid="422" grpId="0" animBg="1" advAuto="0"/>
      <p:bldP spid="423" grpId="0" animBg="1" advAuto="0"/>
      <p:bldP spid="424" grpId="0" animBg="1" advAuto="0"/>
      <p:bldP spid="428" grpId="0" advAuto="0"/>
      <p:bldP spid="432" grpId="0" animBg="1" advAuto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/>
        </p:nvSpPr>
        <p:spPr>
          <a:xfrm>
            <a:off x="6781800" y="-33868"/>
            <a:ext cx="16891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00000"/>
              </a:buClr>
              <a:buFont typeface="Helvetica"/>
              <a:defRPr sz="2000" b="1" u="sng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 u="none">
                <a:uFillTx/>
              </a:defRPr>
            </a:pPr>
            <a:r>
              <a:rPr lang="en-US" sz="24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Folds</a:t>
            </a:r>
          </a:p>
        </p:txBody>
      </p:sp>
      <p:pic>
        <p:nvPicPr>
          <p:cNvPr id="60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228600" y="228600"/>
            <a:ext cx="1141413" cy="1600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368021" y="254000"/>
            <a:ext cx="1085851" cy="1600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image.pdf"/>
          <p:cNvPicPr/>
          <p:nvPr/>
        </p:nvPicPr>
        <p:blipFill>
          <a:blip r:embed="rId5"/>
          <a:stretch>
            <a:fillRect/>
          </a:stretch>
        </p:blipFill>
        <p:spPr>
          <a:xfrm>
            <a:off x="4419600" y="134937"/>
            <a:ext cx="1092200" cy="1922463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Shape 63"/>
          <p:cNvSpPr/>
          <p:nvPr/>
        </p:nvSpPr>
        <p:spPr>
          <a:xfrm>
            <a:off x="5334000" y="1600200"/>
            <a:ext cx="76200" cy="1524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4" name="Shape 64"/>
          <p:cNvSpPr/>
          <p:nvPr/>
        </p:nvSpPr>
        <p:spPr>
          <a:xfrm>
            <a:off x="5334000" y="1752600"/>
            <a:ext cx="76200" cy="1524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65" name="image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3124200"/>
            <a:ext cx="2133600" cy="895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image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2133600" y="2852737"/>
            <a:ext cx="1524000" cy="1236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image.pdf"/>
          <p:cNvPicPr/>
          <p:nvPr/>
        </p:nvPicPr>
        <p:blipFill>
          <a:blip r:embed="rId8"/>
          <a:stretch>
            <a:fillRect/>
          </a:stretch>
        </p:blipFill>
        <p:spPr>
          <a:xfrm>
            <a:off x="4267200" y="2590800"/>
            <a:ext cx="1141413" cy="1714500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Shape 68"/>
          <p:cNvSpPr/>
          <p:nvPr/>
        </p:nvSpPr>
        <p:spPr>
          <a:xfrm>
            <a:off x="5410200" y="32004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9" name="Shape 69"/>
          <p:cNvSpPr/>
          <p:nvPr/>
        </p:nvSpPr>
        <p:spPr>
          <a:xfrm>
            <a:off x="5334000" y="38862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0" name="Shape 70"/>
          <p:cNvSpPr/>
          <p:nvPr/>
        </p:nvSpPr>
        <p:spPr>
          <a:xfrm>
            <a:off x="5257800" y="4114800"/>
            <a:ext cx="152400" cy="2286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1" name="Shape 71"/>
          <p:cNvSpPr/>
          <p:nvPr/>
        </p:nvSpPr>
        <p:spPr>
          <a:xfrm>
            <a:off x="5384800" y="3995737"/>
            <a:ext cx="254000" cy="238126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2" name="Shape 72"/>
          <p:cNvSpPr/>
          <p:nvPr/>
        </p:nvSpPr>
        <p:spPr>
          <a:xfrm>
            <a:off x="5367337" y="1633537"/>
            <a:ext cx="111126" cy="279401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3" name="Shape 73"/>
          <p:cNvSpPr/>
          <p:nvPr/>
        </p:nvSpPr>
        <p:spPr>
          <a:xfrm>
            <a:off x="5521325" y="3206750"/>
            <a:ext cx="88900" cy="174625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54432" y="152400"/>
            <a:ext cx="21463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</a:t>
            </a:r>
            <a:r>
              <a:rPr lang="en-US"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ixed</a:t>
            </a: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AND </a:t>
            </a:r>
            <a:r>
              <a:rPr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</a:p>
        </p:txBody>
      </p:sp>
      <p:sp>
        <p:nvSpPr>
          <p:cNvPr id="79" name="Shape 79"/>
          <p:cNvSpPr/>
          <p:nvPr/>
        </p:nvSpPr>
        <p:spPr>
          <a:xfrm>
            <a:off x="5418137" y="1270000"/>
            <a:ext cx="288926" cy="6778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0" name="Shape 80"/>
          <p:cNvSpPr/>
          <p:nvPr/>
        </p:nvSpPr>
        <p:spPr>
          <a:xfrm>
            <a:off x="703262" y="109537"/>
            <a:ext cx="177801" cy="1444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1" name="Shape 81"/>
          <p:cNvSpPr/>
          <p:nvPr/>
        </p:nvSpPr>
        <p:spPr>
          <a:xfrm>
            <a:off x="1109662" y="5969000"/>
            <a:ext cx="523876" cy="246063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2" name="Shape 82"/>
          <p:cNvSpPr/>
          <p:nvPr/>
        </p:nvSpPr>
        <p:spPr>
          <a:xfrm>
            <a:off x="3716337" y="3970337"/>
            <a:ext cx="212726" cy="288926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83" name="image.pdf"/>
          <p:cNvPicPr/>
          <p:nvPr/>
        </p:nvPicPr>
        <p:blipFill>
          <a:blip r:embed="rId9"/>
          <a:stretch>
            <a:fillRect/>
          </a:stretch>
        </p:blipFill>
        <p:spPr>
          <a:xfrm>
            <a:off x="0" y="1897062"/>
            <a:ext cx="5638800" cy="8461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image.pdf"/>
          <p:cNvPicPr/>
          <p:nvPr/>
        </p:nvPicPr>
        <p:blipFill>
          <a:blip r:embed="rId10"/>
          <a:stretch>
            <a:fillRect/>
          </a:stretch>
        </p:blipFill>
        <p:spPr>
          <a:xfrm>
            <a:off x="0" y="4094162"/>
            <a:ext cx="5562600" cy="706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image.pdf"/>
          <p:cNvPicPr/>
          <p:nvPr/>
        </p:nvPicPr>
        <p:blipFill>
          <a:blip r:embed="rId11"/>
          <a:stretch>
            <a:fillRect/>
          </a:stretch>
        </p:blipFill>
        <p:spPr>
          <a:xfrm>
            <a:off x="4495800" y="5943600"/>
            <a:ext cx="914400" cy="8032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image.pdf"/>
          <p:cNvPicPr/>
          <p:nvPr/>
        </p:nvPicPr>
        <p:blipFill>
          <a:blip r:embed="rId12"/>
          <a:stretch>
            <a:fillRect/>
          </a:stretch>
        </p:blipFill>
        <p:spPr>
          <a:xfrm>
            <a:off x="0" y="6149975"/>
            <a:ext cx="1633538" cy="7318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image.pdf"/>
          <p:cNvPicPr/>
          <p:nvPr/>
        </p:nvPicPr>
        <p:blipFill>
          <a:blip r:embed="rId13"/>
          <a:stretch>
            <a:fillRect/>
          </a:stretch>
        </p:blipFill>
        <p:spPr>
          <a:xfrm>
            <a:off x="320675" y="4927600"/>
            <a:ext cx="1200150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Shape 88"/>
          <p:cNvSpPr/>
          <p:nvPr/>
        </p:nvSpPr>
        <p:spPr>
          <a:xfrm>
            <a:off x="5867400" y="381000"/>
            <a:ext cx="3289300" cy="2316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everal different research groups publish "fold databases"</a:t>
            </a:r>
          </a:p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PDB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-- M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ost up-to-date protein structures, links to SCOP, CATH, etc.</a:t>
            </a:r>
          </a:p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SCOP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–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Structural Classification of Proteins</a:t>
            </a:r>
          </a:p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CATH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–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Class, Architecture, Topology, Homology</a:t>
            </a:r>
          </a:p>
        </p:txBody>
      </p:sp>
      <p:pic>
        <p:nvPicPr>
          <p:cNvPr id="89" name="droppedImage.png"/>
          <p:cNvPicPr/>
          <p:nvPr/>
        </p:nvPicPr>
        <p:blipFill>
          <a:blip r:embed="rId14"/>
          <a:stretch>
            <a:fillRect/>
          </a:stretch>
        </p:blipFill>
        <p:spPr>
          <a:xfrm>
            <a:off x="172617" y="424469"/>
            <a:ext cx="1043182" cy="1475185"/>
          </a:xfrm>
          <a:prstGeom prst="rect">
            <a:avLst/>
          </a:prstGeom>
          <a:ln>
            <a:round/>
          </a:ln>
        </p:spPr>
      </p:pic>
      <p:pic>
        <p:nvPicPr>
          <p:cNvPr id="90" name="droppedImage.png"/>
          <p:cNvPicPr/>
          <p:nvPr/>
        </p:nvPicPr>
        <p:blipFill>
          <a:blip r:embed="rId15"/>
          <a:stretch>
            <a:fillRect/>
          </a:stretch>
        </p:blipFill>
        <p:spPr>
          <a:xfrm>
            <a:off x="4445793" y="221032"/>
            <a:ext cx="1002507" cy="1758581"/>
          </a:xfrm>
          <a:prstGeom prst="rect">
            <a:avLst/>
          </a:prstGeom>
          <a:ln>
            <a:round/>
          </a:ln>
        </p:spPr>
      </p:pic>
      <p:pic>
        <p:nvPicPr>
          <p:cNvPr id="91" name="droppedImage.png"/>
          <p:cNvPicPr/>
          <p:nvPr/>
        </p:nvPicPr>
        <p:blipFill>
          <a:blip r:embed="rId16"/>
          <a:stretch>
            <a:fillRect/>
          </a:stretch>
        </p:blipFill>
        <p:spPr>
          <a:xfrm>
            <a:off x="4308475" y="2666984"/>
            <a:ext cx="1028801" cy="1502982"/>
          </a:xfrm>
          <a:prstGeom prst="rect">
            <a:avLst/>
          </a:prstGeom>
          <a:ln>
            <a:round/>
          </a:ln>
        </p:spPr>
      </p:pic>
      <p:pic>
        <p:nvPicPr>
          <p:cNvPr id="92" name="droppedImage.png"/>
          <p:cNvPicPr/>
          <p:nvPr/>
        </p:nvPicPr>
        <p:blipFill>
          <a:blip r:embed="rId17"/>
          <a:stretch>
            <a:fillRect/>
          </a:stretch>
        </p:blipFill>
        <p:spPr>
          <a:xfrm>
            <a:off x="110704" y="4789884"/>
            <a:ext cx="1827237" cy="1450182"/>
          </a:xfrm>
          <a:prstGeom prst="rect">
            <a:avLst/>
          </a:prstGeom>
          <a:ln>
            <a:round/>
          </a:ln>
        </p:spPr>
      </p:pic>
      <p:grpSp>
        <p:nvGrpSpPr>
          <p:cNvPr id="5" name="Group 4"/>
          <p:cNvGrpSpPr/>
          <p:nvPr/>
        </p:nvGrpSpPr>
        <p:grpSpPr>
          <a:xfrm>
            <a:off x="4445793" y="3179339"/>
            <a:ext cx="4922894" cy="3624264"/>
            <a:chOff x="4445793" y="3179339"/>
            <a:chExt cx="4922894" cy="3624264"/>
          </a:xfrm>
        </p:grpSpPr>
        <p:grpSp>
          <p:nvGrpSpPr>
            <p:cNvPr id="4" name="Group 3"/>
            <p:cNvGrpSpPr/>
            <p:nvPr/>
          </p:nvGrpSpPr>
          <p:grpSpPr>
            <a:xfrm>
              <a:off x="4445793" y="3179339"/>
              <a:ext cx="4754889" cy="3624264"/>
              <a:chOff x="4419600" y="3192463"/>
              <a:chExt cx="4754889" cy="3624264"/>
            </a:xfrm>
          </p:grpSpPr>
          <p:grpSp>
            <p:nvGrpSpPr>
              <p:cNvPr id="78" name="Group 78"/>
              <p:cNvGrpSpPr/>
              <p:nvPr/>
            </p:nvGrpSpPr>
            <p:grpSpPr>
              <a:xfrm>
                <a:off x="4419600" y="3192463"/>
                <a:ext cx="4754889" cy="3624264"/>
                <a:chOff x="0" y="0"/>
                <a:chExt cx="4754888" cy="3624263"/>
              </a:xfrm>
            </p:grpSpPr>
            <p:pic>
              <p:nvPicPr>
                <p:cNvPr id="75" name="Protein descrip icon.jpg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65700" y="0"/>
                  <a:ext cx="2389188" cy="219075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76" name="Shape 76"/>
                <p:cNvSpPr/>
                <p:nvPr/>
              </p:nvSpPr>
              <p:spPr>
                <a:xfrm>
                  <a:off x="0" y="2609850"/>
                  <a:ext cx="1041400" cy="1014413"/>
                </a:xfrm>
                <a:prstGeom prst="rect">
                  <a:avLst/>
                </a:prstGeom>
                <a:noFill/>
                <a:ln w="76200" cap="rnd">
                  <a:solidFill>
                    <a:srgbClr val="000000"/>
                  </a:solidFill>
                  <a:prstDash val="sysDot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/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  <p:sp>
              <p:nvSpPr>
                <p:cNvPr id="77" name="Shape 77"/>
                <p:cNvSpPr/>
                <p:nvPr/>
              </p:nvSpPr>
              <p:spPr>
                <a:xfrm rot="19980000">
                  <a:off x="1057267" y="1854097"/>
                  <a:ext cx="1219201" cy="685801"/>
                </a:xfrm>
                <a:prstGeom prst="rightArrow">
                  <a:avLst>
                    <a:gd name="adj1" fmla="val 50000"/>
                    <a:gd name="adj2" fmla="val 44444"/>
                  </a:avLst>
                </a:prstGeom>
                <a:noFill/>
                <a:ln w="28575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/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sp>
            <p:nvSpPr>
              <p:cNvPr id="3" name="Rectangle 2"/>
              <p:cNvSpPr/>
              <p:nvPr/>
            </p:nvSpPr>
            <p:spPr>
              <a:xfrm>
                <a:off x="6830712" y="3607957"/>
                <a:ext cx="198422" cy="471924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noFill/>
                <a:prstDash val="solid"/>
                <a:round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40639" marR="40639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Times Roman"/>
                </a:endParaRP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7133487" y="3314700"/>
              <a:ext cx="2235200" cy="2010807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Times Roman"/>
                </a:rPr>
                <a:t>PDB identifier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Fold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Times Roman"/>
                </a:rPr>
                <a:t>Superfamily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Family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Times Roman"/>
                </a:rPr>
                <a:t>Protein</a:t>
              </a:r>
            </a:p>
            <a:p>
              <a:pPr marL="40639" marR="40639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Species</a:t>
              </a:r>
              <a:endParaRPr kumimoji="0" lang="en-US" sz="24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Times Roman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BAC9557-BBC6-D410-1C45-D78C761B4F1E}"/>
              </a:ext>
            </a:extLst>
          </p:cNvPr>
          <p:cNvSpPr txBox="1"/>
          <p:nvPr/>
        </p:nvSpPr>
        <p:spPr>
          <a:xfrm>
            <a:off x="6018213" y="2848091"/>
            <a:ext cx="2690160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SCOP classification:</a:t>
            </a:r>
          </a:p>
        </p:txBody>
      </p:sp>
    </p:spTree>
    <p:extLst>
      <p:ext uri="{BB962C8B-B14F-4D97-AF65-F5344CB8AC3E}">
        <p14:creationId xmlns:p14="http://schemas.microsoft.com/office/powerpoint/2010/main" val="102369913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687289-4D6F-8D4A-B612-758F8B3063D2}"/>
              </a:ext>
            </a:extLst>
          </p:cNvPr>
          <p:cNvSpPr txBox="1"/>
          <p:nvPr/>
        </p:nvSpPr>
        <p:spPr>
          <a:xfrm>
            <a:off x="1355047" y="1062908"/>
            <a:ext cx="7324018" cy="36112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SCOP =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S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tructural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C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lassification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o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f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P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roteins</a:t>
            </a:r>
          </a:p>
          <a:p>
            <a:pPr algn="l" rtl="0" latinLnBrk="1" hangingPunct="0"/>
            <a:r>
              <a:rPr lang="en-US" dirty="0">
                <a:hlinkClick r:id="rId3"/>
              </a:rPr>
              <a:t>http://scop.mrc-lmb.cam.ac.uk</a:t>
            </a:r>
            <a:endParaRPr lang="en-US" dirty="0"/>
          </a:p>
          <a:p>
            <a:pPr algn="l" rtl="0" latinLnBrk="1" hangingPunct="0"/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  <a:p>
            <a:pPr algn="l" rtl="0" latinLnBrk="1" hangingPunct="0"/>
            <a:r>
              <a:rPr lang="en-US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SCOPe</a:t>
            </a: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=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uFill>
                  <a:solidFill>
                    <a:srgbClr val="000000"/>
                  </a:solidFill>
                </a:uFill>
              </a:rPr>
              <a:t>S</a:t>
            </a: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tructural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uFill>
                  <a:solidFill>
                    <a:srgbClr val="000000"/>
                  </a:solidFill>
                </a:uFill>
              </a:rPr>
              <a:t>C</a:t>
            </a: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lassification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uFill>
                  <a:solidFill>
                    <a:srgbClr val="000000"/>
                  </a:solidFill>
                </a:uFill>
              </a:rPr>
              <a:t>o</a:t>
            </a: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uFill>
                  <a:solidFill>
                    <a:srgbClr val="000000"/>
                  </a:solidFill>
                </a:uFill>
              </a:rPr>
              <a:t>P</a:t>
            </a: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roteins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uFill>
                  <a:solidFill>
                    <a:srgbClr val="000000"/>
                  </a:solidFill>
                </a:uFill>
              </a:rPr>
              <a:t>e</a:t>
            </a: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xtended</a:t>
            </a:r>
          </a:p>
          <a:p>
            <a:pPr algn="l" rtl="0" latinLnBrk="1" hangingPunct="0"/>
            <a:r>
              <a:rPr lang="en-US" u="sng" dirty="0">
                <a:hlinkClick r:id="rId4"/>
              </a:rPr>
              <a:t>http://scop.berkeley.edu</a:t>
            </a:r>
            <a:endParaRPr lang="en-US" dirty="0"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 algn="l" rtl="0" latinLnBrk="1" hangingPunct="0"/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  <a:p>
            <a:pPr algn="l" rtl="0" latinLnBrk="1" hangingPunct="0"/>
            <a:r>
              <a:rPr kumimoji="0" lang="en-US" sz="1200" b="0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Purpose</a:t>
            </a:r>
            <a:r>
              <a:rPr kumimoji="0" lang="en-US" sz="1200" b="0" i="0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: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sz="1200" b="0" dirty="0"/>
              <a:t>The purpose of both SCOP and </a:t>
            </a:r>
            <a:r>
              <a:rPr lang="en-US" sz="1200" b="0" dirty="0" err="1"/>
              <a:t>SCOPe</a:t>
            </a:r>
            <a:r>
              <a:rPr lang="en-US" sz="1200" b="0" dirty="0"/>
              <a:t> is to “provide a detailed and comprehensive description of the structural and evolutionary relationships between all proteins whose structure is known.”  </a:t>
            </a:r>
          </a:p>
          <a:p>
            <a:pPr algn="l" rtl="0" latinLnBrk="1" hangingPunct="0"/>
            <a:endParaRPr lang="en-US" sz="1200" b="0" u="sng" dirty="0"/>
          </a:p>
          <a:p>
            <a:pPr algn="l" rtl="0" latinLnBrk="1" hangingPunct="0"/>
            <a:r>
              <a:rPr lang="en-US" sz="1200" b="0" u="sng" dirty="0"/>
              <a:t>What they do</a:t>
            </a:r>
            <a:r>
              <a:rPr lang="en-US" sz="1200" b="0" dirty="0"/>
              <a:t>: look for structural and sequence similarities, classify protein folds (fold, family, superfamily)</a:t>
            </a:r>
          </a:p>
          <a:p>
            <a:pPr algn="l" rtl="0" latinLnBrk="1" hangingPunct="0"/>
            <a:endParaRPr lang="en-US" sz="1200" b="0" u="sng" dirty="0"/>
          </a:p>
          <a:p>
            <a:pPr algn="l" rtl="0" latinLnBrk="1" hangingPunct="0"/>
            <a:r>
              <a:rPr lang="en-US" sz="1200" b="0" u="sng" dirty="0"/>
              <a:t>How they differ</a:t>
            </a:r>
            <a:r>
              <a:rPr lang="en-US" sz="1200" b="0" dirty="0"/>
              <a:t>: how they utilize </a:t>
            </a:r>
            <a:r>
              <a:rPr lang="en-US" sz="1200" dirty="0">
                <a:solidFill>
                  <a:srgbClr val="FF0000"/>
                </a:solidFill>
              </a:rPr>
              <a:t>manual curation</a:t>
            </a:r>
            <a:r>
              <a:rPr lang="en-US" sz="1200" b="0" dirty="0"/>
              <a:t> vs. </a:t>
            </a:r>
            <a:r>
              <a:rPr lang="en-US" sz="1200" dirty="0">
                <a:solidFill>
                  <a:srgbClr val="FF0000"/>
                </a:solidFill>
              </a:rPr>
              <a:t>automated methods </a:t>
            </a:r>
            <a:r>
              <a:rPr lang="en-US" sz="1200" b="0" dirty="0"/>
              <a:t>(but they agree fairly well) </a:t>
            </a:r>
          </a:p>
          <a:p>
            <a:pPr algn="l" rtl="0" latinLnBrk="1" hangingPunct="0"/>
            <a:endParaRPr lang="en-US" sz="1200" b="0" dirty="0"/>
          </a:p>
          <a:p>
            <a:pPr algn="l" rtl="0" latinLnBrk="1" hangingPunct="0"/>
            <a:r>
              <a:rPr lang="en-US" sz="1200" b="0" u="sng" dirty="0"/>
              <a:t>What they provide</a:t>
            </a:r>
            <a:r>
              <a:rPr lang="en-US" sz="1200" b="0" dirty="0"/>
              <a:t>: At these websites, you can find an example of every protein fold yet discovered, at </a:t>
            </a:r>
          </a:p>
          <a:p>
            <a:pPr algn="l" rtl="0" latinLnBrk="1" hangingPunct="0"/>
            <a:r>
              <a:rPr lang="en-US" sz="1200" b="0" dirty="0"/>
              <a:t>least up to the last update! 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66775210"/>
      </p:ext>
    </p:extLst>
  </p:cSld>
  <p:clrMapOvr>
    <a:masterClrMapping/>
  </p:clrMapOvr>
  <p:transition spd="med" advClick="0" advTm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6"/>
          <p:cNvGrpSpPr/>
          <p:nvPr/>
        </p:nvGrpSpPr>
        <p:grpSpPr>
          <a:xfrm>
            <a:off x="5029200" y="337613"/>
            <a:ext cx="3746500" cy="1069975"/>
            <a:chOff x="0" y="0"/>
            <a:chExt cx="3746500" cy="1069975"/>
          </a:xfrm>
        </p:grpSpPr>
        <p:pic>
          <p:nvPicPr>
            <p:cNvPr id="94" name="image.png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143000" y="0"/>
              <a:ext cx="1676400" cy="10699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5" name="Shape 95"/>
            <p:cNvSpPr/>
            <p:nvPr/>
          </p:nvSpPr>
          <p:spPr>
            <a:xfrm>
              <a:off x="0" y="619125"/>
              <a:ext cx="37465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E33FF"/>
                </a:buClr>
                <a:buFont typeface="Helvetica"/>
                <a:defRPr sz="1600" b="1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>
                  <a:solidFill>
                    <a:srgbClr val="0E33FF"/>
                  </a:solidFill>
                  <a:uFill>
                    <a:solidFill>
                      <a:srgbClr val="0E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e.g. 1CD8</a:t>
              </a:r>
            </a:p>
          </p:txBody>
        </p:sp>
      </p:grpSp>
      <p:sp>
        <p:nvSpPr>
          <p:cNvPr id="97" name="Shape 97"/>
          <p:cNvSpPr/>
          <p:nvPr/>
        </p:nvSpPr>
        <p:spPr>
          <a:xfrm>
            <a:off x="762000" y="-96262"/>
            <a:ext cx="7785100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rotein classification definitions</a:t>
            </a:r>
          </a:p>
        </p:txBody>
      </p:sp>
      <p:sp>
        <p:nvSpPr>
          <p:cNvPr id="98" name="Shape 98"/>
          <p:cNvSpPr/>
          <p:nvPr/>
        </p:nvSpPr>
        <p:spPr>
          <a:xfrm>
            <a:off x="-1" y="1337738"/>
            <a:ext cx="915670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old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also known as structural domain, folding unit, motif.   A characteristic arrangement of the major secondary structures, including the same topological connections.</a:t>
            </a:r>
          </a:p>
        </p:txBody>
      </p:sp>
      <p:sp>
        <p:nvSpPr>
          <p:cNvPr id="99" name="Shape 99"/>
          <p:cNvSpPr/>
          <p:nvPr/>
        </p:nvSpPr>
        <p:spPr>
          <a:xfrm>
            <a:off x="-1" y="956738"/>
            <a:ext cx="915670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</a:t>
            </a:r>
            <a:r>
              <a:rPr lang="en-US" sz="1600" b="0" u="sng" dirty="0">
                <a:latin typeface="Gill Sans" charset="0"/>
                <a:ea typeface="Gill Sans" charset="0"/>
                <a:cs typeface="Gill Sans" charset="0"/>
              </a:rPr>
              <a:t>DB</a:t>
            </a:r>
            <a:r>
              <a:rPr lang="en-US"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identifier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protein data bank code</a:t>
            </a:r>
          </a:p>
        </p:txBody>
      </p:sp>
      <p:sp>
        <p:nvSpPr>
          <p:cNvPr id="100" name="Shape 100"/>
          <p:cNvSpPr/>
          <p:nvPr/>
        </p:nvSpPr>
        <p:spPr>
          <a:xfrm>
            <a:off x="-1" y="2861738"/>
            <a:ext cx="9248663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lang="en-US"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uperfamily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proteins with </a:t>
            </a:r>
            <a:r>
              <a:rPr lang="en-US"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same fold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; vary in AA sequence identity from high to nearly zero.  Proteins in the same superfamily have structural (and sometimes functional) similarities that suggest a common evolutionary origin.  A superfamily can contain only one, or many different families.</a:t>
            </a:r>
          </a:p>
        </p:txBody>
      </p:sp>
      <p:sp>
        <p:nvSpPr>
          <p:cNvPr id="101" name="Shape 101"/>
          <p:cNvSpPr/>
          <p:nvPr/>
        </p:nvSpPr>
        <p:spPr>
          <a:xfrm>
            <a:off x="-1" y="4353988"/>
            <a:ext cx="9156701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amily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groupings within a superfamily. </a:t>
            </a:r>
            <a:r>
              <a:rPr lang="en-US" sz="1600" b="0" dirty="0"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hese proteins have a common evolutionary origin based on either of two criteria: (1) sequence identities of &gt; 30%; or (2) lower sequence identity but having similar structures and functions, for example: </a:t>
            </a:r>
            <a:r>
              <a:rPr lang="en-US" sz="1600" b="0" dirty="0" err="1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globins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with sequence identities of ~ 15%. </a:t>
            </a:r>
            <a:endParaRPr sz="1600" b="0" dirty="0">
              <a:uFill>
                <a:solidFill/>
              </a:uFill>
              <a:latin typeface="Gill Sans" charset="0"/>
              <a:ea typeface="Gill Sans" charset="0"/>
              <a:cs typeface="Gill Sans" charset="0"/>
              <a:sym typeface="Helvetica"/>
            </a:endParaRPr>
          </a:p>
        </p:txBody>
      </p:sp>
      <p:sp>
        <p:nvSpPr>
          <p:cNvPr id="102" name="Shape 102"/>
          <p:cNvSpPr/>
          <p:nvPr/>
        </p:nvSpPr>
        <p:spPr>
          <a:xfrm>
            <a:off x="-1" y="5632453"/>
            <a:ext cx="9156701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</a:t>
            </a:r>
            <a:r>
              <a:rPr lang="en-US"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rotein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name of this specific protein.  </a:t>
            </a:r>
            <a:r>
              <a:rPr lang="en-US" sz="1600" b="0"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ame protein from different species shows a range of amino acid sequence differences.</a:t>
            </a:r>
          </a:p>
        </p:txBody>
      </p:sp>
      <p:sp>
        <p:nvSpPr>
          <p:cNvPr id="103" name="Shape 103"/>
          <p:cNvSpPr/>
          <p:nvPr/>
        </p:nvSpPr>
        <p:spPr>
          <a:xfrm>
            <a:off x="-1" y="6369047"/>
            <a:ext cx="915670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lang="en-US" sz="16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pecies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the organism in which this protein is found.    </a:t>
            </a:r>
            <a:endParaRPr sz="1600" b="0">
              <a:uFill>
                <a:solidFill/>
              </a:uFill>
              <a:latin typeface="Gill Sans" charset="0"/>
              <a:ea typeface="Gill Sans" charset="0"/>
              <a:cs typeface="Gill Sans" charset="0"/>
              <a:sym typeface="Helvetica"/>
            </a:endParaRPr>
          </a:p>
        </p:txBody>
      </p:sp>
      <p:sp>
        <p:nvSpPr>
          <p:cNvPr id="104" name="Shape 104"/>
          <p:cNvSpPr/>
          <p:nvPr/>
        </p:nvSpPr>
        <p:spPr>
          <a:xfrm>
            <a:off x="0" y="359838"/>
            <a:ext cx="5253037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DD33C5"/>
              </a:buClr>
              <a:buFont typeface="Helvetica"/>
              <a:defRPr sz="1800"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rom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SCOPe = </a:t>
            </a:r>
            <a:r>
              <a:rPr sz="1600" b="0" u="sng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tructural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sz="1600" b="0" u="sng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lassification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sz="1600" b="0" u="sng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sz="1600" b="0" u="sng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roteins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sz="1600" b="0" u="sng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xtended     </a:t>
            </a:r>
            <a:r>
              <a:rPr sz="1600" b="0"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scop.berkeley.edu</a:t>
            </a:r>
          </a:p>
        </p:txBody>
      </p:sp>
      <p:sp>
        <p:nvSpPr>
          <p:cNvPr id="105" name="Shape 105"/>
          <p:cNvSpPr/>
          <p:nvPr/>
        </p:nvSpPr>
        <p:spPr>
          <a:xfrm>
            <a:off x="-1" y="2099738"/>
            <a:ext cx="3730362" cy="607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DD33C5"/>
              </a:buClr>
              <a:buFont typeface="Helvetica"/>
              <a:defRPr sz="1600" b="1"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1536 different folds are listed in SCOP</a:t>
            </a:r>
          </a:p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1457 different folds are listed in </a:t>
            </a:r>
            <a:r>
              <a:rPr sz="1600" b="0" dirty="0" err="1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SCOPe</a:t>
            </a:r>
            <a:endParaRPr sz="1600" b="0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0" y="3799950"/>
            <a:ext cx="90043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DD33C5"/>
              </a:buClr>
              <a:buFont typeface="Helvetica"/>
              <a:defRPr sz="1600" b="1"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lang="en-US" sz="1800" b="0" dirty="0">
                <a:solidFill>
                  <a:schemeClr val="tx1"/>
                </a:solidFill>
                <a:uFillTx/>
                <a:latin typeface="Gill Sans" charset="0"/>
                <a:ea typeface="Gill Sans" charset="0"/>
                <a:cs typeface="Gill Sans" charset="0"/>
              </a:rPr>
              <a:t>2656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different superfamilies listed in </a:t>
            </a:r>
            <a:r>
              <a:rPr sz="1600" b="0" dirty="0" err="1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SCOPe</a:t>
            </a:r>
            <a:endParaRPr sz="1600" b="0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-1" y="5099045"/>
            <a:ext cx="355600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DD33C5"/>
              </a:buClr>
              <a:buFont typeface="Helvetica"/>
              <a:defRPr sz="1600" b="1"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lang="en-US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4919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different families listed in </a:t>
            </a:r>
            <a:r>
              <a:rPr sz="1600" b="0" dirty="0" err="1">
                <a:solidFill>
                  <a:schemeClr val="tx1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SCOPe</a:t>
            </a:r>
            <a:endParaRPr sz="1600" b="0" dirty="0">
              <a:solidFill>
                <a:schemeClr val="tx1"/>
              </a:solidFill>
              <a:uFill>
                <a:solidFill>
                  <a:srgbClr val="DD33C5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8" name="Shape 108"/>
          <p:cNvSpPr/>
          <p:nvPr/>
        </p:nvSpPr>
        <p:spPr>
          <a:xfrm>
            <a:off x="3886200" y="2099738"/>
            <a:ext cx="26035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E33FF"/>
              </a:buClr>
              <a:buFont typeface="Helvetica"/>
              <a:defRPr sz="1800">
                <a:uFillTx/>
              </a:defRPr>
            </a:pPr>
            <a:r>
              <a:rPr sz="16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</a:t>
            </a:r>
            <a:r>
              <a:rPr lang="en-US" sz="16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mmunoglobulin-like</a:t>
            </a:r>
            <a:r>
              <a:rPr lang="en-US" sz="16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 β</a:t>
            </a:r>
            <a:r>
              <a:rPr lang="en-US" sz="16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sandwich</a:t>
            </a:r>
          </a:p>
        </p:txBody>
      </p:sp>
      <p:sp>
        <p:nvSpPr>
          <p:cNvPr id="109" name="Shape 109"/>
          <p:cNvSpPr/>
          <p:nvPr/>
        </p:nvSpPr>
        <p:spPr>
          <a:xfrm>
            <a:off x="6553200" y="3820588"/>
            <a:ext cx="26035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E33FF"/>
              </a:buClr>
              <a:buFont typeface="Helvetica"/>
              <a:defRPr sz="1600" b="1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sz="16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mmunoglobulin</a:t>
            </a:r>
          </a:p>
        </p:txBody>
      </p:sp>
      <p:sp>
        <p:nvSpPr>
          <p:cNvPr id="110" name="Shape 110"/>
          <p:cNvSpPr/>
          <p:nvPr/>
        </p:nvSpPr>
        <p:spPr>
          <a:xfrm>
            <a:off x="5638801" y="5166781"/>
            <a:ext cx="279184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E33FF"/>
              </a:buClr>
              <a:buFont typeface="Helvetica"/>
              <a:defRPr sz="1600" b="1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6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ntibody variable domain-like</a:t>
            </a:r>
            <a:endParaRPr sz="1600" b="0">
              <a:solidFill>
                <a:srgbClr val="0E33FF"/>
              </a:solidFill>
              <a:uFill>
                <a:solidFill>
                  <a:srgbClr val="0E33FF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11" name="Shape 111"/>
          <p:cNvSpPr/>
          <p:nvPr/>
        </p:nvSpPr>
        <p:spPr>
          <a:xfrm>
            <a:off x="7315200" y="6004984"/>
            <a:ext cx="6604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E33FF"/>
              </a:buClr>
              <a:buFont typeface="Helvetica"/>
              <a:defRPr sz="1600" b="1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CD8</a:t>
            </a:r>
          </a:p>
        </p:txBody>
      </p:sp>
      <p:grpSp>
        <p:nvGrpSpPr>
          <p:cNvPr id="136" name="Group 136"/>
          <p:cNvGrpSpPr/>
          <p:nvPr/>
        </p:nvGrpSpPr>
        <p:grpSpPr>
          <a:xfrm>
            <a:off x="3439317" y="1572004"/>
            <a:ext cx="3445174" cy="465353"/>
            <a:chOff x="1064417" y="-273733"/>
            <a:chExt cx="3445173" cy="465351"/>
          </a:xfrm>
        </p:grpSpPr>
        <p:sp>
          <p:nvSpPr>
            <p:cNvPr id="134" name="Shape 134"/>
            <p:cNvSpPr/>
            <p:nvPr/>
          </p:nvSpPr>
          <p:spPr>
            <a:xfrm>
              <a:off x="1064417" y="-273733"/>
              <a:ext cx="2104766" cy="279400"/>
            </a:xfrm>
            <a:prstGeom prst="roundRect">
              <a:avLst>
                <a:gd name="adj" fmla="val 16667"/>
              </a:avLst>
            </a:prstGeom>
            <a:noFill/>
            <a:ln w="19050" cap="flat">
              <a:solidFill>
                <a:srgbClr val="1E31E3"/>
              </a:solidFill>
              <a:prstDash val="sysDot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35" name="Shape 135"/>
            <p:cNvSpPr/>
            <p:nvPr/>
          </p:nvSpPr>
          <p:spPr>
            <a:xfrm rot="480000">
              <a:off x="3196726" y="10642"/>
              <a:ext cx="1312864" cy="180976"/>
            </a:xfrm>
            <a:prstGeom prst="rightArrow">
              <a:avLst>
                <a:gd name="adj1" fmla="val 50000"/>
                <a:gd name="adj2" fmla="val 181360"/>
              </a:avLst>
            </a:prstGeom>
            <a:noFill/>
            <a:ln w="19050" cap="flat">
              <a:solidFill>
                <a:srgbClr val="1E31E3"/>
              </a:solidFill>
              <a:prstDash val="sysDot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pic>
        <p:nvPicPr>
          <p:cNvPr id="137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7869237" y="280463"/>
            <a:ext cx="1290638" cy="113347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0" name="Group 140"/>
          <p:cNvGrpSpPr/>
          <p:nvPr/>
        </p:nvGrpSpPr>
        <p:grpSpPr>
          <a:xfrm>
            <a:off x="7640847" y="1016503"/>
            <a:ext cx="1067119" cy="5003296"/>
            <a:chOff x="-5080" y="0"/>
            <a:chExt cx="1067118" cy="5003295"/>
          </a:xfrm>
        </p:grpSpPr>
        <p:sp>
          <p:nvSpPr>
            <p:cNvPr id="138" name="Shape 138"/>
            <p:cNvSpPr/>
            <p:nvPr/>
          </p:nvSpPr>
          <p:spPr>
            <a:xfrm flipV="1">
              <a:off x="-5080" y="131761"/>
              <a:ext cx="851218" cy="4871534"/>
            </a:xfrm>
            <a:prstGeom prst="line">
              <a:avLst/>
            </a:prstGeom>
            <a:noFill/>
            <a:ln w="28575" cap="flat">
              <a:solidFill>
                <a:srgbClr val="0E33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39" name="Shape 139"/>
            <p:cNvSpPr/>
            <p:nvPr/>
          </p:nvSpPr>
          <p:spPr>
            <a:xfrm>
              <a:off x="528637" y="0"/>
              <a:ext cx="533401" cy="149225"/>
            </a:xfrm>
            <a:prstGeom prst="roundRect">
              <a:avLst>
                <a:gd name="adj" fmla="val 16667"/>
              </a:avLst>
            </a:prstGeom>
            <a:noFill/>
            <a:ln w="28575" cap="flat">
              <a:solidFill>
                <a:srgbClr val="0E33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7351713" y="847200"/>
            <a:ext cx="1292226" cy="4310380"/>
            <a:chOff x="11113" y="0"/>
            <a:chExt cx="1292225" cy="4310379"/>
          </a:xfrm>
        </p:grpSpPr>
        <p:sp>
          <p:nvSpPr>
            <p:cNvPr id="141" name="Shape 141"/>
            <p:cNvSpPr/>
            <p:nvPr/>
          </p:nvSpPr>
          <p:spPr>
            <a:xfrm flipV="1">
              <a:off x="11113" y="138777"/>
              <a:ext cx="1110891" cy="4171602"/>
            </a:xfrm>
            <a:prstGeom prst="line">
              <a:avLst/>
            </a:prstGeom>
            <a:noFill/>
            <a:ln w="28575" cap="flat">
              <a:solidFill>
                <a:srgbClr val="0E33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42" name="Shape 142"/>
            <p:cNvSpPr/>
            <p:nvPr/>
          </p:nvSpPr>
          <p:spPr>
            <a:xfrm>
              <a:off x="785240" y="0"/>
              <a:ext cx="518098" cy="151841"/>
            </a:xfrm>
            <a:prstGeom prst="roundRect">
              <a:avLst>
                <a:gd name="adj" fmla="val 16667"/>
              </a:avLst>
            </a:prstGeom>
            <a:noFill/>
            <a:ln w="28575" cap="flat">
              <a:solidFill>
                <a:srgbClr val="0E33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7408862" y="702738"/>
            <a:ext cx="1536701" cy="3192463"/>
            <a:chOff x="0" y="0"/>
            <a:chExt cx="1536700" cy="3192462"/>
          </a:xfrm>
        </p:grpSpPr>
        <p:sp>
          <p:nvSpPr>
            <p:cNvPr id="144" name="Shape 144"/>
            <p:cNvSpPr/>
            <p:nvPr/>
          </p:nvSpPr>
          <p:spPr>
            <a:xfrm flipV="1">
              <a:off x="0" y="127000"/>
              <a:ext cx="973138" cy="3065463"/>
            </a:xfrm>
            <a:prstGeom prst="line">
              <a:avLst/>
            </a:prstGeom>
            <a:noFill/>
            <a:ln w="28575" cap="flat">
              <a:solidFill>
                <a:srgbClr val="0E33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45" name="Shape 145"/>
            <p:cNvSpPr/>
            <p:nvPr/>
          </p:nvSpPr>
          <p:spPr>
            <a:xfrm>
              <a:off x="757237" y="0"/>
              <a:ext cx="779463" cy="177800"/>
            </a:xfrm>
            <a:prstGeom prst="roundRect">
              <a:avLst>
                <a:gd name="adj" fmla="val 16667"/>
              </a:avLst>
            </a:prstGeom>
            <a:noFill/>
            <a:ln w="28575" cap="flat">
              <a:solidFill>
                <a:srgbClr val="0E33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5859462" y="586850"/>
            <a:ext cx="2644776" cy="1817688"/>
            <a:chOff x="0" y="0"/>
            <a:chExt cx="2644775" cy="1817687"/>
          </a:xfrm>
        </p:grpSpPr>
        <p:sp>
          <p:nvSpPr>
            <p:cNvPr id="147" name="Shape 147"/>
            <p:cNvSpPr/>
            <p:nvPr/>
          </p:nvSpPr>
          <p:spPr>
            <a:xfrm flipV="1">
              <a:off x="0" y="115887"/>
              <a:ext cx="2311400" cy="1701801"/>
            </a:xfrm>
            <a:prstGeom prst="line">
              <a:avLst/>
            </a:prstGeom>
            <a:noFill/>
            <a:ln w="28575" cap="flat">
              <a:solidFill>
                <a:srgbClr val="0E33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48" name="Shape 148"/>
            <p:cNvSpPr/>
            <p:nvPr/>
          </p:nvSpPr>
          <p:spPr>
            <a:xfrm>
              <a:off x="2286000" y="0"/>
              <a:ext cx="358775" cy="147638"/>
            </a:xfrm>
            <a:prstGeom prst="roundRect">
              <a:avLst>
                <a:gd name="adj" fmla="val 16667"/>
              </a:avLst>
            </a:prstGeom>
            <a:noFill/>
            <a:ln w="28575" cap="flat">
              <a:solidFill>
                <a:srgbClr val="0E33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6027737" y="431275"/>
            <a:ext cx="3040063" cy="669926"/>
            <a:chOff x="0" y="0"/>
            <a:chExt cx="3040062" cy="669925"/>
          </a:xfrm>
        </p:grpSpPr>
        <p:sp>
          <p:nvSpPr>
            <p:cNvPr id="150" name="Shape 150"/>
            <p:cNvSpPr/>
            <p:nvPr/>
          </p:nvSpPr>
          <p:spPr>
            <a:xfrm flipV="1">
              <a:off x="0" y="101599"/>
              <a:ext cx="2143125" cy="568326"/>
            </a:xfrm>
            <a:prstGeom prst="line">
              <a:avLst/>
            </a:prstGeom>
            <a:noFill/>
            <a:ln w="28575" cap="flat">
              <a:solidFill>
                <a:srgbClr val="0E33F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51" name="Shape 151"/>
            <p:cNvSpPr/>
            <p:nvPr/>
          </p:nvSpPr>
          <p:spPr>
            <a:xfrm>
              <a:off x="2125662" y="0"/>
              <a:ext cx="914401" cy="177800"/>
            </a:xfrm>
            <a:prstGeom prst="roundRect">
              <a:avLst>
                <a:gd name="adj" fmla="val 16667"/>
              </a:avLst>
            </a:prstGeom>
            <a:noFill/>
            <a:ln w="28575" cap="flat">
              <a:solidFill>
                <a:srgbClr val="0E33F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154" name="Shape 154"/>
          <p:cNvSpPr/>
          <p:nvPr/>
        </p:nvSpPr>
        <p:spPr>
          <a:xfrm>
            <a:off x="6324600" y="6405032"/>
            <a:ext cx="1268296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E33FF"/>
              </a:buClr>
              <a:buFont typeface="Helvetica"/>
              <a:defRPr sz="1600" b="1" i="1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 i="0">
                <a:solidFill>
                  <a:srgbClr val="000000"/>
                </a:solidFill>
                <a:uFillTx/>
              </a:defRPr>
            </a:pPr>
            <a:r>
              <a:rPr sz="1600" b="0" i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</a:t>
            </a:r>
            <a:r>
              <a:rPr lang="en-US" sz="1600" b="0" i="0">
                <a:solidFill>
                  <a:srgbClr val="0E33FF"/>
                </a:solidFill>
                <a:uFill>
                  <a:solidFill>
                    <a:srgbClr val="0E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omo sapiens</a:t>
            </a:r>
          </a:p>
        </p:txBody>
      </p:sp>
      <p:grpSp>
        <p:nvGrpSpPr>
          <p:cNvPr id="161" name="Group 161"/>
          <p:cNvGrpSpPr/>
          <p:nvPr/>
        </p:nvGrpSpPr>
        <p:grpSpPr>
          <a:xfrm>
            <a:off x="6919862" y="1833006"/>
            <a:ext cx="885925" cy="893130"/>
            <a:chOff x="0" y="0"/>
            <a:chExt cx="885924" cy="893129"/>
          </a:xfrm>
        </p:grpSpPr>
        <p:sp>
          <p:nvSpPr>
            <p:cNvPr id="155" name="Shape 155"/>
            <p:cNvSpPr/>
            <p:nvPr/>
          </p:nvSpPr>
          <p:spPr>
            <a:xfrm>
              <a:off x="0" y="0"/>
              <a:ext cx="231875" cy="7715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56" name="Shape 156"/>
            <p:cNvSpPr/>
            <p:nvPr/>
          </p:nvSpPr>
          <p:spPr>
            <a:xfrm>
              <a:off x="654049" y="9524"/>
              <a:ext cx="231876" cy="115256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57" name="Shape 157"/>
            <p:cNvSpPr/>
            <p:nvPr/>
          </p:nvSpPr>
          <p:spPr>
            <a:xfrm>
              <a:off x="396875" y="758824"/>
              <a:ext cx="345889" cy="134306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58" name="Shape 158"/>
            <p:cNvSpPr/>
            <p:nvPr/>
          </p:nvSpPr>
          <p:spPr>
            <a:xfrm>
              <a:off x="229703" y="159655"/>
              <a:ext cx="196814" cy="72712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59" name="Shape 159"/>
            <p:cNvSpPr/>
            <p:nvPr/>
          </p:nvSpPr>
          <p:spPr>
            <a:xfrm>
              <a:off x="142875" y="755650"/>
              <a:ext cx="231875" cy="77155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0" name="Shape 160"/>
            <p:cNvSpPr/>
            <p:nvPr/>
          </p:nvSpPr>
          <p:spPr>
            <a:xfrm>
              <a:off x="348146" y="88899"/>
              <a:ext cx="61529" cy="77156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153" name="Shape 153"/>
          <p:cNvSpPr/>
          <p:nvPr/>
        </p:nvSpPr>
        <p:spPr>
          <a:xfrm>
            <a:off x="6964389" y="2653775"/>
            <a:ext cx="33147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DD33C5"/>
              </a:buClr>
              <a:buFont typeface="Helvetica"/>
              <a:defRPr sz="1400" b="1"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 dirty="0"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400" b="0" dirty="0">
                <a:solidFill>
                  <a:srgbClr val="DD33C5"/>
                </a:solidFill>
                <a:uFill>
                  <a:solidFill>
                    <a:srgbClr val="DD33C5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hese are different folds!</a:t>
            </a:r>
          </a:p>
        </p:txBody>
      </p:sp>
      <p:grpSp>
        <p:nvGrpSpPr>
          <p:cNvPr id="133" name="Group 133"/>
          <p:cNvGrpSpPr/>
          <p:nvPr/>
        </p:nvGrpSpPr>
        <p:grpSpPr>
          <a:xfrm>
            <a:off x="6862498" y="1654057"/>
            <a:ext cx="1958976" cy="900577"/>
            <a:chOff x="0" y="0"/>
            <a:chExt cx="1958975" cy="900575"/>
          </a:xfrm>
        </p:grpSpPr>
        <p:grpSp>
          <p:nvGrpSpPr>
            <p:cNvPr id="122" name="Group 122"/>
            <p:cNvGrpSpPr/>
            <p:nvPr/>
          </p:nvGrpSpPr>
          <p:grpSpPr>
            <a:xfrm>
              <a:off x="0" y="22687"/>
              <a:ext cx="812857" cy="869304"/>
              <a:chOff x="0" y="0"/>
              <a:chExt cx="812856" cy="869302"/>
            </a:xfrm>
          </p:grpSpPr>
          <p:grpSp>
            <p:nvGrpSpPr>
              <p:cNvPr id="117" name="Group 117"/>
              <p:cNvGrpSpPr/>
              <p:nvPr/>
            </p:nvGrpSpPr>
            <p:grpSpPr>
              <a:xfrm>
                <a:off x="203200" y="64392"/>
                <a:ext cx="484188" cy="676125"/>
                <a:chOff x="0" y="0"/>
                <a:chExt cx="484187" cy="676123"/>
              </a:xfrm>
            </p:grpSpPr>
            <p:grpSp>
              <p:nvGrpSpPr>
                <p:cNvPr id="115" name="Group 115"/>
                <p:cNvGrpSpPr/>
                <p:nvPr/>
              </p:nvGrpSpPr>
              <p:grpSpPr>
                <a:xfrm>
                  <a:off x="0" y="0"/>
                  <a:ext cx="230188" cy="676124"/>
                  <a:chOff x="0" y="0"/>
                  <a:chExt cx="230187" cy="676123"/>
                </a:xfrm>
              </p:grpSpPr>
              <p:sp>
                <p:nvSpPr>
                  <p:cNvPr id="113" name="Shape 113"/>
                  <p:cNvSpPr/>
                  <p:nvPr/>
                </p:nvSpPr>
                <p:spPr>
                  <a:xfrm flipV="1">
                    <a:off x="0" y="0"/>
                    <a:ext cx="1588" cy="676124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C72DB1"/>
                    </a:solidFill>
                    <a:prstDash val="solid"/>
                    <a:round/>
                    <a:tailEnd type="triangle" w="med" len="med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marL="0" marR="0" lvl="0" defTabSz="457200">
                      <a:defRPr sz="1200">
                        <a:uFillTx/>
                        <a:latin typeface="Helvetica"/>
                        <a:ea typeface="Helvetica"/>
                        <a:cs typeface="Helvetica"/>
                        <a:sym typeface="Helvetica"/>
                      </a:defRPr>
                    </a:pPr>
                    <a:endParaRPr b="0">
                      <a:latin typeface="Gill Sans" charset="0"/>
                      <a:ea typeface="Gill Sans" charset="0"/>
                      <a:cs typeface="Gill Sans" charset="0"/>
                    </a:endParaRPr>
                  </a:p>
                </p:txBody>
              </p:sp>
              <p:sp>
                <p:nvSpPr>
                  <p:cNvPr id="114" name="Shape 114"/>
                  <p:cNvSpPr/>
                  <p:nvPr/>
                </p:nvSpPr>
                <p:spPr>
                  <a:xfrm flipV="1">
                    <a:off x="228600" y="0"/>
                    <a:ext cx="1588" cy="676124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C72DB1"/>
                    </a:solidFill>
                    <a:prstDash val="solid"/>
                    <a:round/>
                    <a:tailEnd type="triangle" w="med" len="med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marL="0" marR="0" lvl="0" defTabSz="457200">
                      <a:defRPr sz="1200">
                        <a:uFillTx/>
                        <a:latin typeface="Helvetica"/>
                        <a:ea typeface="Helvetica"/>
                        <a:cs typeface="Helvetica"/>
                        <a:sym typeface="Helvetica"/>
                      </a:defRPr>
                    </a:pPr>
                    <a:endParaRPr b="0">
                      <a:latin typeface="Gill Sans" charset="0"/>
                      <a:ea typeface="Gill Sans" charset="0"/>
                      <a:cs typeface="Gill Sans" charset="0"/>
                    </a:endParaRPr>
                  </a:p>
                </p:txBody>
              </p:sp>
            </p:grpSp>
            <p:sp>
              <p:nvSpPr>
                <p:cNvPr id="116" name="Shape 116"/>
                <p:cNvSpPr/>
                <p:nvPr/>
              </p:nvSpPr>
              <p:spPr>
                <a:xfrm>
                  <a:off x="482600" y="64392"/>
                  <a:ext cx="1588" cy="611732"/>
                </a:xfrm>
                <a:prstGeom prst="line">
                  <a:avLst/>
                </a:prstGeom>
                <a:noFill/>
                <a:ln w="19050" cap="flat">
                  <a:solidFill>
                    <a:srgbClr val="C72DB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sp>
            <p:nvSpPr>
              <p:cNvPr id="118" name="Shape 118"/>
              <p:cNvSpPr/>
              <p:nvPr/>
            </p:nvSpPr>
            <p:spPr>
              <a:xfrm>
                <a:off x="419100" y="724418"/>
                <a:ext cx="279400" cy="1448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200" extrusionOk="0">
                    <a:moveTo>
                      <a:pt x="21600" y="0"/>
                    </a:moveTo>
                    <a:cubicBezTo>
                      <a:pt x="19882" y="10667"/>
                      <a:pt x="17673" y="15467"/>
                      <a:pt x="12764" y="19200"/>
                    </a:cubicBezTo>
                    <a:cubicBezTo>
                      <a:pt x="3191" y="17067"/>
                      <a:pt x="0" y="21600"/>
                      <a:pt x="0" y="2133"/>
                    </a:cubicBezTo>
                  </a:path>
                </a:pathLst>
              </a:custGeom>
              <a:noFill/>
              <a:ln w="19050" cap="rnd">
                <a:solidFill>
                  <a:srgbClr val="C72DB1"/>
                </a:solidFill>
                <a:prstDash val="sysDot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19" name="Shape 119"/>
              <p:cNvSpPr/>
              <p:nvPr/>
            </p:nvSpPr>
            <p:spPr>
              <a:xfrm>
                <a:off x="202014" y="86410"/>
                <a:ext cx="242487" cy="7185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82" h="20567" extrusionOk="0">
                    <a:moveTo>
                      <a:pt x="20882" y="292"/>
                    </a:moveTo>
                    <a:cubicBezTo>
                      <a:pt x="11723" y="-1033"/>
                      <a:pt x="11312" y="2423"/>
                      <a:pt x="9945" y="5361"/>
                    </a:cubicBezTo>
                    <a:cubicBezTo>
                      <a:pt x="9125" y="15153"/>
                      <a:pt x="17874" y="18321"/>
                      <a:pt x="2290" y="20567"/>
                    </a:cubicBezTo>
                    <a:cubicBezTo>
                      <a:pt x="-718" y="18666"/>
                      <a:pt x="102" y="19703"/>
                      <a:pt x="102" y="17341"/>
                    </a:cubicBezTo>
                  </a:path>
                </a:pathLst>
              </a:custGeom>
              <a:noFill/>
              <a:ln w="19050" cap="rnd">
                <a:solidFill>
                  <a:srgbClr val="C72DB1"/>
                </a:solidFill>
                <a:prstDash val="sysDot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0" name="Shape 120"/>
              <p:cNvSpPr/>
              <p:nvPr/>
            </p:nvSpPr>
            <p:spPr>
              <a:xfrm>
                <a:off x="685800" y="16098"/>
                <a:ext cx="127057" cy="1287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83" h="21268" extrusionOk="0">
                    <a:moveTo>
                      <a:pt x="0" y="21268"/>
                    </a:moveTo>
                    <a:cubicBezTo>
                      <a:pt x="527" y="17613"/>
                      <a:pt x="0" y="13293"/>
                      <a:pt x="2107" y="10634"/>
                    </a:cubicBezTo>
                    <a:cubicBezTo>
                      <a:pt x="5268" y="5650"/>
                      <a:pt x="14751" y="0"/>
                      <a:pt x="14751" y="0"/>
                    </a:cubicBezTo>
                    <a:cubicBezTo>
                      <a:pt x="21600" y="2659"/>
                      <a:pt x="21073" y="-332"/>
                      <a:pt x="21073" y="5317"/>
                    </a:cubicBezTo>
                  </a:path>
                </a:pathLst>
              </a:custGeom>
              <a:noFill/>
              <a:ln w="19050" cap="rnd">
                <a:solidFill>
                  <a:srgbClr val="C72DB1"/>
                </a:solidFill>
                <a:prstDash val="sysDot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1" name="Shape 121"/>
              <p:cNvSpPr/>
              <p:nvPr/>
            </p:nvSpPr>
            <p:spPr>
              <a:xfrm>
                <a:off x="0" y="0"/>
                <a:ext cx="215900" cy="965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19535" y="4950"/>
                      <a:pt x="17153" y="4050"/>
                      <a:pt x="11435" y="0"/>
                    </a:cubicBezTo>
                    <a:cubicBezTo>
                      <a:pt x="7624" y="1800"/>
                      <a:pt x="2859" y="2250"/>
                      <a:pt x="0" y="10800"/>
                    </a:cubicBezTo>
                  </a:path>
                </a:pathLst>
              </a:custGeom>
              <a:noFill/>
              <a:ln w="19050" cap="rnd">
                <a:solidFill>
                  <a:srgbClr val="C72DB1"/>
                </a:solidFill>
                <a:prstDash val="sysDot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1355725" y="0"/>
              <a:ext cx="603250" cy="900576"/>
              <a:chOff x="0" y="0"/>
              <a:chExt cx="603250" cy="900575"/>
            </a:xfrm>
          </p:grpSpPr>
          <p:grpSp>
            <p:nvGrpSpPr>
              <p:cNvPr id="127" name="Group 127"/>
              <p:cNvGrpSpPr/>
              <p:nvPr/>
            </p:nvGrpSpPr>
            <p:grpSpPr>
              <a:xfrm>
                <a:off x="6350" y="94797"/>
                <a:ext cx="484188" cy="663583"/>
                <a:chOff x="0" y="0"/>
                <a:chExt cx="484187" cy="663581"/>
              </a:xfrm>
            </p:grpSpPr>
            <p:grpSp>
              <p:nvGrpSpPr>
                <p:cNvPr id="125" name="Group 125"/>
                <p:cNvGrpSpPr/>
                <p:nvPr/>
              </p:nvGrpSpPr>
              <p:grpSpPr>
                <a:xfrm>
                  <a:off x="0" y="0"/>
                  <a:ext cx="230188" cy="663582"/>
                  <a:chOff x="0" y="0"/>
                  <a:chExt cx="230187" cy="663581"/>
                </a:xfrm>
              </p:grpSpPr>
              <p:sp>
                <p:nvSpPr>
                  <p:cNvPr id="123" name="Shape 123"/>
                  <p:cNvSpPr/>
                  <p:nvPr/>
                </p:nvSpPr>
                <p:spPr>
                  <a:xfrm flipV="1">
                    <a:off x="0" y="0"/>
                    <a:ext cx="1588" cy="663582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C72DB1"/>
                    </a:solidFill>
                    <a:prstDash val="solid"/>
                    <a:round/>
                    <a:tailEnd type="triangle" w="med" len="med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marL="0" marR="0" lvl="0" defTabSz="457200">
                      <a:defRPr sz="1200">
                        <a:uFillTx/>
                        <a:latin typeface="Helvetica"/>
                        <a:ea typeface="Helvetica"/>
                        <a:cs typeface="Helvetica"/>
                        <a:sym typeface="Helvetica"/>
                      </a:defRPr>
                    </a:pPr>
                    <a:endParaRPr b="0">
                      <a:latin typeface="Gill Sans" charset="0"/>
                      <a:ea typeface="Gill Sans" charset="0"/>
                      <a:cs typeface="Gill Sans" charset="0"/>
                    </a:endParaRPr>
                  </a:p>
                </p:txBody>
              </p:sp>
              <p:sp>
                <p:nvSpPr>
                  <p:cNvPr id="124" name="Shape 124"/>
                  <p:cNvSpPr/>
                  <p:nvPr/>
                </p:nvSpPr>
                <p:spPr>
                  <a:xfrm flipV="1">
                    <a:off x="228600" y="0"/>
                    <a:ext cx="1588" cy="663582"/>
                  </a:xfrm>
                  <a:prstGeom prst="line">
                    <a:avLst/>
                  </a:prstGeom>
                  <a:noFill/>
                  <a:ln w="19050" cap="flat">
                    <a:solidFill>
                      <a:srgbClr val="C72DB1"/>
                    </a:solidFill>
                    <a:prstDash val="solid"/>
                    <a:round/>
                    <a:tailEnd type="triangle" w="med" len="med"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marL="0" marR="0" lvl="0" defTabSz="457200">
                      <a:defRPr sz="1200">
                        <a:uFillTx/>
                        <a:latin typeface="Helvetica"/>
                        <a:ea typeface="Helvetica"/>
                        <a:cs typeface="Helvetica"/>
                        <a:sym typeface="Helvetica"/>
                      </a:defRPr>
                    </a:pPr>
                    <a:endParaRPr b="0">
                      <a:latin typeface="Gill Sans" charset="0"/>
                      <a:ea typeface="Gill Sans" charset="0"/>
                      <a:cs typeface="Gill Sans" charset="0"/>
                    </a:endParaRPr>
                  </a:p>
                </p:txBody>
              </p:sp>
            </p:grpSp>
            <p:sp>
              <p:nvSpPr>
                <p:cNvPr id="126" name="Shape 126"/>
                <p:cNvSpPr/>
                <p:nvPr/>
              </p:nvSpPr>
              <p:spPr>
                <a:xfrm>
                  <a:off x="482600" y="63198"/>
                  <a:ext cx="1588" cy="600384"/>
                </a:xfrm>
                <a:prstGeom prst="line">
                  <a:avLst/>
                </a:prstGeom>
                <a:noFill/>
                <a:ln w="19050" cap="flat">
                  <a:solidFill>
                    <a:srgbClr val="C72DB1"/>
                  </a:solidFill>
                  <a:prstDash val="solid"/>
                  <a:round/>
                  <a:tailEnd type="triangle" w="med" len="med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marL="0" marR="0" lvl="0" defTabSz="457200">
                    <a:defRPr sz="1200">
                      <a:uFillTx/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 b="0">
                    <a:latin typeface="Gill Sans" charset="0"/>
                    <a:ea typeface="Gill Sans" charset="0"/>
                    <a:cs typeface="Gill Sans" charset="0"/>
                  </a:endParaRPr>
                </a:p>
              </p:txBody>
            </p:sp>
          </p:grpSp>
          <p:sp>
            <p:nvSpPr>
              <p:cNvPr id="128" name="Shape 128"/>
              <p:cNvSpPr/>
              <p:nvPr/>
            </p:nvSpPr>
            <p:spPr>
              <a:xfrm>
                <a:off x="482600" y="71431"/>
                <a:ext cx="120650" cy="1023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303" extrusionOk="0">
                    <a:moveTo>
                      <a:pt x="21600" y="4406"/>
                    </a:moveTo>
                    <a:cubicBezTo>
                      <a:pt x="14779" y="-1552"/>
                      <a:pt x="5684" y="-2297"/>
                      <a:pt x="1137" y="7386"/>
                    </a:cubicBezTo>
                    <a:cubicBezTo>
                      <a:pt x="568" y="11110"/>
                      <a:pt x="0" y="19303"/>
                      <a:pt x="0" y="19303"/>
                    </a:cubicBezTo>
                  </a:path>
                </a:pathLst>
              </a:custGeom>
              <a:noFill/>
              <a:ln w="19050" cap="rnd">
                <a:solidFill>
                  <a:srgbClr val="C72DB1"/>
                </a:solidFill>
                <a:prstDash val="sysDot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9" name="Shape 129"/>
              <p:cNvSpPr/>
              <p:nvPr/>
            </p:nvSpPr>
            <p:spPr>
              <a:xfrm>
                <a:off x="0" y="710980"/>
                <a:ext cx="488950" cy="1895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249" y="9675"/>
                      <a:pt x="21249" y="11700"/>
                      <a:pt x="18795" y="17100"/>
                    </a:cubicBezTo>
                    <a:cubicBezTo>
                      <a:pt x="17392" y="19800"/>
                      <a:pt x="18234" y="18450"/>
                      <a:pt x="16270" y="20700"/>
                    </a:cubicBezTo>
                    <a:cubicBezTo>
                      <a:pt x="15990" y="20925"/>
                      <a:pt x="15429" y="21600"/>
                      <a:pt x="15429" y="21600"/>
                    </a:cubicBezTo>
                    <a:cubicBezTo>
                      <a:pt x="12203" y="20925"/>
                      <a:pt x="11431" y="21375"/>
                      <a:pt x="8977" y="19800"/>
                    </a:cubicBezTo>
                    <a:cubicBezTo>
                      <a:pt x="6452" y="18000"/>
                      <a:pt x="4278" y="14175"/>
                      <a:pt x="1964" y="11700"/>
                    </a:cubicBezTo>
                    <a:cubicBezTo>
                      <a:pt x="1473" y="9450"/>
                      <a:pt x="631" y="2025"/>
                      <a:pt x="281" y="900"/>
                    </a:cubicBezTo>
                    <a:cubicBezTo>
                      <a:pt x="140" y="450"/>
                      <a:pt x="70" y="1350"/>
                      <a:pt x="0" y="1800"/>
                    </a:cubicBezTo>
                  </a:path>
                </a:pathLst>
              </a:custGeom>
              <a:noFill/>
              <a:ln w="19050" cap="rnd">
                <a:solidFill>
                  <a:srgbClr val="C72DB1"/>
                </a:solidFill>
                <a:prstDash val="sysDot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0" name="Shape 130"/>
              <p:cNvSpPr/>
              <p:nvPr/>
            </p:nvSpPr>
            <p:spPr>
              <a:xfrm>
                <a:off x="6350" y="71098"/>
                <a:ext cx="231568" cy="7504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729" h="21600" extrusionOk="0">
                    <a:moveTo>
                      <a:pt x="0" y="1137"/>
                    </a:moveTo>
                    <a:cubicBezTo>
                      <a:pt x="142" y="909"/>
                      <a:pt x="0" y="568"/>
                      <a:pt x="568" y="455"/>
                    </a:cubicBezTo>
                    <a:cubicBezTo>
                      <a:pt x="1421" y="171"/>
                      <a:pt x="3979" y="0"/>
                      <a:pt x="3979" y="0"/>
                    </a:cubicBezTo>
                    <a:cubicBezTo>
                      <a:pt x="6679" y="682"/>
                      <a:pt x="5400" y="171"/>
                      <a:pt x="6821" y="1819"/>
                    </a:cubicBezTo>
                    <a:cubicBezTo>
                      <a:pt x="6963" y="2046"/>
                      <a:pt x="7389" y="2501"/>
                      <a:pt x="7389" y="2501"/>
                    </a:cubicBezTo>
                    <a:cubicBezTo>
                      <a:pt x="8384" y="6537"/>
                      <a:pt x="7816" y="10573"/>
                      <a:pt x="10232" y="14552"/>
                    </a:cubicBezTo>
                    <a:cubicBezTo>
                      <a:pt x="11084" y="16086"/>
                      <a:pt x="11368" y="17735"/>
                      <a:pt x="12505" y="19326"/>
                    </a:cubicBezTo>
                    <a:cubicBezTo>
                      <a:pt x="12789" y="19781"/>
                      <a:pt x="12505" y="20406"/>
                      <a:pt x="13642" y="20691"/>
                    </a:cubicBezTo>
                    <a:cubicBezTo>
                      <a:pt x="14779" y="20975"/>
                      <a:pt x="17053" y="21600"/>
                      <a:pt x="17053" y="21600"/>
                    </a:cubicBezTo>
                    <a:cubicBezTo>
                      <a:pt x="17905" y="21486"/>
                      <a:pt x="19042" y="21543"/>
                      <a:pt x="19895" y="21373"/>
                    </a:cubicBezTo>
                    <a:cubicBezTo>
                      <a:pt x="21600" y="20861"/>
                      <a:pt x="20321" y="19042"/>
                      <a:pt x="19326" y="18644"/>
                    </a:cubicBezTo>
                  </a:path>
                </a:pathLst>
              </a:custGeom>
              <a:noFill/>
              <a:ln w="19050" cap="rnd">
                <a:solidFill>
                  <a:srgbClr val="C72DB1"/>
                </a:solidFill>
                <a:prstDash val="sysDot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1" name="Shape 131"/>
              <p:cNvSpPr/>
              <p:nvPr/>
            </p:nvSpPr>
            <p:spPr>
              <a:xfrm>
                <a:off x="234950" y="0"/>
                <a:ext cx="127000" cy="12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470" extrusionOk="0">
                    <a:moveTo>
                      <a:pt x="0" y="19470"/>
                    </a:moveTo>
                    <a:cubicBezTo>
                      <a:pt x="1080" y="9431"/>
                      <a:pt x="1620" y="3346"/>
                      <a:pt x="10800" y="0"/>
                    </a:cubicBezTo>
                    <a:cubicBezTo>
                      <a:pt x="21060" y="1216"/>
                      <a:pt x="18900" y="-2130"/>
                      <a:pt x="21600" y="3650"/>
                    </a:cubicBezTo>
                  </a:path>
                </a:pathLst>
              </a:custGeom>
              <a:noFill/>
              <a:ln w="19050" cap="rnd">
                <a:solidFill>
                  <a:srgbClr val="C72DB1"/>
                </a:solidFill>
                <a:prstDash val="sysDot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583047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 advAuto="0"/>
      <p:bldP spid="98" grpId="0" animBg="1" advAuto="0"/>
      <p:bldP spid="99" grpId="0" animBg="1" advAuto="0"/>
      <p:bldP spid="100" grpId="0" animBg="1" advAuto="0"/>
      <p:bldP spid="101" grpId="0" animBg="1" advAuto="0"/>
      <p:bldP spid="102" grpId="0" animBg="1" advAuto="0"/>
      <p:bldP spid="103" grpId="0" animBg="1" advAuto="0"/>
      <p:bldP spid="104" grpId="0" animBg="1" advAuto="0"/>
      <p:bldP spid="105" grpId="0" animBg="1" advAuto="0"/>
      <p:bldP spid="106" grpId="0" animBg="1" advAuto="0"/>
      <p:bldP spid="107" grpId="0" animBg="1" advAuto="0"/>
      <p:bldP spid="108" grpId="0" animBg="1" advAuto="0"/>
      <p:bldP spid="109" grpId="0" animBg="1" advAuto="0"/>
      <p:bldP spid="110" grpId="0" animBg="1" advAuto="0"/>
      <p:bldP spid="111" grpId="0" animBg="1" advAuto="0"/>
      <p:bldP spid="136" grpId="0" animBg="1" advAuto="0"/>
      <p:bldP spid="140" grpId="0" animBg="1" advAuto="0"/>
      <p:bldP spid="140" grpId="1" animBg="1" advAuto="0"/>
      <p:bldP spid="143" grpId="0" animBg="1" advAuto="0"/>
      <p:bldP spid="143" grpId="1" animBg="1" advAuto="0"/>
      <p:bldP spid="146" grpId="0" animBg="1" advAuto="0"/>
      <p:bldP spid="146" grpId="1" animBg="1" advAuto="0"/>
      <p:bldP spid="149" grpId="0" animBg="1" advAuto="0"/>
      <p:bldP spid="149" grpId="1" animBg="1" advAuto="0"/>
      <p:bldP spid="152" grpId="0" animBg="1" advAuto="0"/>
      <p:bldP spid="152" grpId="1" animBg="1" advAuto="0"/>
      <p:bldP spid="154" grpId="0" animBg="1" advAuto="0"/>
      <p:bldP spid="153" grpId="0" animBg="1" advAuto="0"/>
      <p:bldP spid="153" grpId="1" animBg="1" advAuto="0"/>
      <p:bldP spid="133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human kinome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-114300" y="-131763"/>
            <a:ext cx="5245100" cy="7345363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Shape 164"/>
          <p:cNvSpPr/>
          <p:nvPr/>
        </p:nvSpPr>
        <p:spPr>
          <a:xfrm>
            <a:off x="2757016" y="-31950"/>
            <a:ext cx="66421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11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</a:t>
            </a:r>
            <a:r>
              <a:rPr lang="en-US"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he</a:t>
            </a:r>
            <a:r>
              <a:rPr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H</a:t>
            </a:r>
            <a:r>
              <a:rPr lang="en-US"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uman</a:t>
            </a:r>
            <a:r>
              <a:rPr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"K</a:t>
            </a:r>
            <a:r>
              <a:rPr lang="en-US"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inome</a:t>
            </a:r>
            <a:r>
              <a:rPr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" </a:t>
            </a:r>
            <a:r>
              <a:rPr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≡</a:t>
            </a:r>
            <a:r>
              <a:rPr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 T</a:t>
            </a:r>
            <a:r>
              <a:rPr lang="en-US" sz="2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he kinase superfamily</a:t>
            </a:r>
          </a:p>
        </p:txBody>
      </p:sp>
      <p:grpSp>
        <p:nvGrpSpPr>
          <p:cNvPr id="167" name="Group 167"/>
          <p:cNvGrpSpPr/>
          <p:nvPr/>
        </p:nvGrpSpPr>
        <p:grpSpPr>
          <a:xfrm>
            <a:off x="372524" y="187073"/>
            <a:ext cx="8644478" cy="2801837"/>
            <a:chOff x="562966" y="380334"/>
            <a:chExt cx="8644476" cy="2801836"/>
          </a:xfrm>
        </p:grpSpPr>
        <p:sp>
          <p:nvSpPr>
            <p:cNvPr id="165" name="Shape 165"/>
            <p:cNvSpPr/>
            <p:nvPr/>
          </p:nvSpPr>
          <p:spPr>
            <a:xfrm>
              <a:off x="5765741" y="2935949"/>
              <a:ext cx="3441701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D038D9"/>
                </a:buClr>
                <a:buFont typeface="Helvetica"/>
                <a:defRPr sz="1800">
                  <a:uFillTx/>
                </a:defRPr>
              </a:pPr>
              <a:r>
                <a:rPr sz="1600" b="0" dirty="0">
                  <a:solidFill>
                    <a:srgbClr val="D038D9"/>
                  </a:solidFill>
                  <a:uFill>
                    <a:solidFill>
                      <a:srgbClr val="D038D9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TK </a:t>
              </a:r>
              <a:r>
                <a:rPr sz="1600" b="0" dirty="0">
                  <a:solidFill>
                    <a:srgbClr val="D038D9"/>
                  </a:solidFill>
                  <a:uFill>
                    <a:solidFill>
                      <a:srgbClr val="D038D9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≡</a:t>
              </a:r>
              <a:r>
                <a:rPr sz="1600" b="0" dirty="0">
                  <a:solidFill>
                    <a:srgbClr val="D038D9"/>
                  </a:solidFill>
                  <a:uFill>
                    <a:solidFill>
                      <a:srgbClr val="D038D9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T</a:t>
              </a:r>
              <a:r>
                <a:rPr lang="en-US" sz="1600" b="0" dirty="0">
                  <a:solidFill>
                    <a:srgbClr val="D038D9"/>
                  </a:solidFill>
                  <a:uFill>
                    <a:solidFill>
                      <a:srgbClr val="D038D9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yrosine is target</a:t>
              </a:r>
            </a:p>
          </p:txBody>
        </p:sp>
        <p:sp>
          <p:nvSpPr>
            <p:cNvPr id="166" name="Shape 166"/>
            <p:cNvSpPr/>
            <p:nvPr/>
          </p:nvSpPr>
          <p:spPr>
            <a:xfrm rot="19320000">
              <a:off x="562966" y="380334"/>
              <a:ext cx="2116138" cy="2557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noFill/>
            <a:ln w="76200" cap="rnd">
              <a:solidFill>
                <a:srgbClr val="D038D9"/>
              </a:solidFill>
              <a:prstDash val="sysDot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2769926" y="876114"/>
            <a:ext cx="6255013" cy="2566990"/>
            <a:chOff x="550097" y="118068"/>
            <a:chExt cx="6255011" cy="2566988"/>
          </a:xfrm>
        </p:grpSpPr>
        <p:sp>
          <p:nvSpPr>
            <p:cNvPr id="168" name="Shape 168"/>
            <p:cNvSpPr/>
            <p:nvPr/>
          </p:nvSpPr>
          <p:spPr>
            <a:xfrm>
              <a:off x="3363407" y="2283472"/>
              <a:ext cx="3441701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707070"/>
                </a:buClr>
                <a:buFont typeface="Helvetica"/>
                <a:defRPr sz="1800">
                  <a:uFillTx/>
                </a:defRPr>
              </a:pPr>
              <a:r>
                <a:rPr sz="1600" b="0" dirty="0">
                  <a:solidFill>
                    <a:srgbClr val="707070"/>
                  </a:solidFill>
                  <a:uFill>
                    <a:solidFill>
                      <a:srgbClr val="70707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TKL </a:t>
              </a:r>
              <a:r>
                <a:rPr sz="1600" b="0" dirty="0">
                  <a:solidFill>
                    <a:srgbClr val="707070"/>
                  </a:solidFill>
                  <a:uFill>
                    <a:solidFill>
                      <a:srgbClr val="70707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≡</a:t>
              </a:r>
              <a:r>
                <a:rPr sz="1600" b="0" dirty="0">
                  <a:solidFill>
                    <a:srgbClr val="707070"/>
                  </a:solidFill>
                  <a:uFill>
                    <a:solidFill>
                      <a:srgbClr val="70707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T</a:t>
              </a:r>
              <a:r>
                <a:rPr lang="en-US" sz="1600" b="0" dirty="0">
                  <a:solidFill>
                    <a:srgbClr val="707070"/>
                  </a:solidFill>
                  <a:uFill>
                    <a:solidFill>
                      <a:srgbClr val="70707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yrosine kinase-like </a:t>
              </a:r>
              <a:endParaRPr sz="1600" b="0" dirty="0">
                <a:solidFill>
                  <a:srgbClr val="707070"/>
                </a:solidFill>
                <a:uFill>
                  <a:solidFill>
                    <a:srgbClr val="707070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endParaRPr>
            </a:p>
          </p:txBody>
        </p:sp>
        <p:sp>
          <p:nvSpPr>
            <p:cNvPr id="169" name="Shape 169"/>
            <p:cNvSpPr/>
            <p:nvPr/>
          </p:nvSpPr>
          <p:spPr>
            <a:xfrm rot="1740000">
              <a:off x="550097" y="118068"/>
              <a:ext cx="1150939" cy="2566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noFill/>
            <a:ln w="76200" cap="rnd">
              <a:solidFill>
                <a:srgbClr val="707070"/>
              </a:solidFill>
              <a:prstDash val="sysDot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2692477" y="3292740"/>
            <a:ext cx="6340399" cy="2437117"/>
            <a:chOff x="213666" y="139965"/>
            <a:chExt cx="6340398" cy="2437116"/>
          </a:xfrm>
        </p:grpSpPr>
        <p:sp>
          <p:nvSpPr>
            <p:cNvPr id="171" name="Shape 171"/>
            <p:cNvSpPr/>
            <p:nvPr/>
          </p:nvSpPr>
          <p:spPr>
            <a:xfrm>
              <a:off x="3112363" y="139965"/>
              <a:ext cx="3441701" cy="492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00A8AA"/>
                </a:buClr>
                <a:buFont typeface="Helvetica"/>
                <a:defRPr sz="1800">
                  <a:uFillTx/>
                </a:defRPr>
              </a:pPr>
              <a:r>
                <a:rPr sz="1600" b="0" dirty="0">
                  <a:solidFill>
                    <a:srgbClr val="00A8AA"/>
                  </a:solidFill>
                  <a:uFill>
                    <a:solidFill>
                      <a:srgbClr val="00A8AA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AGC</a:t>
              </a:r>
              <a:r>
                <a:rPr sz="1600" b="0" dirty="0">
                  <a:solidFill>
                    <a:srgbClr val="707070"/>
                  </a:solidFill>
                  <a:uFill>
                    <a:solidFill>
                      <a:srgbClr val="707070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</a:t>
              </a:r>
              <a:r>
                <a:rPr sz="1600" b="0" dirty="0">
                  <a:solidFill>
                    <a:srgbClr val="00A8AA"/>
                  </a:solidFill>
                  <a:uFill>
                    <a:solidFill>
                      <a:srgbClr val="00A8AA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Symbol"/>
                </a:rPr>
                <a:t>≡</a:t>
              </a:r>
              <a:r>
                <a:rPr sz="1600" b="0" dirty="0">
                  <a:solidFill>
                    <a:srgbClr val="00A8AA"/>
                  </a:solidFill>
                  <a:uFill>
                    <a:solidFill>
                      <a:srgbClr val="00A8AA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I</a:t>
              </a:r>
              <a:r>
                <a:rPr lang="en-US" sz="1600" b="0" dirty="0">
                  <a:solidFill>
                    <a:srgbClr val="00A8AA"/>
                  </a:solidFill>
                  <a:uFill>
                    <a:solidFill>
                      <a:srgbClr val="00A8AA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ncludes protein kinase A, protein kinase G, and protein kinase C </a:t>
              </a:r>
              <a:endParaRPr sz="1600" b="0" dirty="0">
                <a:solidFill>
                  <a:srgbClr val="00A8AA"/>
                </a:solidFill>
                <a:uFill>
                  <a:solidFill>
                    <a:srgbClr val="00A8AA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 rot="1560000">
              <a:off x="213666" y="968943"/>
              <a:ext cx="2743201" cy="16081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noFill/>
            <a:ln w="76200" cap="rnd">
              <a:solidFill>
                <a:srgbClr val="00A8AA"/>
              </a:solidFill>
              <a:prstDash val="sysDot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176" name="Group 176"/>
          <p:cNvGrpSpPr/>
          <p:nvPr/>
        </p:nvGrpSpPr>
        <p:grpSpPr>
          <a:xfrm>
            <a:off x="64969" y="-344783"/>
            <a:ext cx="7985112" cy="7169151"/>
            <a:chOff x="1610342" y="843840"/>
            <a:chExt cx="7985111" cy="7169150"/>
          </a:xfrm>
        </p:grpSpPr>
        <p:sp>
          <p:nvSpPr>
            <p:cNvPr id="174" name="Shape 174"/>
            <p:cNvSpPr/>
            <p:nvPr/>
          </p:nvSpPr>
          <p:spPr>
            <a:xfrm rot="19440000">
              <a:off x="1610342" y="843840"/>
              <a:ext cx="5200651" cy="7169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noFill/>
            <a:ln w="76200" cap="rnd">
              <a:solidFill>
                <a:srgbClr val="D6D6D6"/>
              </a:solidFill>
              <a:prstDash val="sysDot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75" name="Shape 175"/>
            <p:cNvSpPr/>
            <p:nvPr/>
          </p:nvSpPr>
          <p:spPr>
            <a:xfrm>
              <a:off x="7623438" y="5381357"/>
              <a:ext cx="1972015" cy="246221"/>
            </a:xfrm>
            <a:prstGeom prst="rect">
              <a:avLst/>
            </a:prstGeom>
            <a:noFill/>
            <a:ln w="9525" cap="flat">
              <a:solidFill>
                <a:srgbClr val="90909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buClr>
                  <a:srgbClr val="000000"/>
                </a:buClr>
                <a:buFont typeface="Helvetica"/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he kinase superfamily</a:t>
              </a:r>
            </a:p>
          </p:txBody>
        </p:sp>
      </p:grpSp>
      <p:sp>
        <p:nvSpPr>
          <p:cNvPr id="177" name="Shape 177"/>
          <p:cNvSpPr/>
          <p:nvPr/>
        </p:nvSpPr>
        <p:spPr>
          <a:xfrm>
            <a:off x="4702175" y="470355"/>
            <a:ext cx="4283075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roteins in this superfamily contain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same fold</a:t>
            </a:r>
            <a:r>
              <a:rPr sz="1600" b="0" u="sng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"P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rotein kinase-like"</a:t>
            </a:r>
            <a:r>
              <a:rPr lang="en-US" sz="1600" b="0" dirty="0">
                <a:solidFill>
                  <a:srgbClr val="184AFF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;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ll 518 proteins have </a:t>
            </a:r>
            <a:r>
              <a:rPr lang="en-US"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structural &amp; evolutionary relationship</a:t>
            </a:r>
          </a:p>
        </p:txBody>
      </p:sp>
      <p:sp>
        <p:nvSpPr>
          <p:cNvPr id="178" name="Shape 178"/>
          <p:cNvSpPr/>
          <p:nvPr/>
        </p:nvSpPr>
        <p:spPr>
          <a:xfrm>
            <a:off x="5344271" y="5572066"/>
            <a:ext cx="3960596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 u="sng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 u="none">
                <a:uFillTx/>
              </a:defRPr>
            </a:pPr>
            <a:r>
              <a:rPr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M</a:t>
            </a:r>
            <a:r>
              <a:rPr lang="en-US"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ost kinase proteins evolved to have functions additional to being a kinase. </a:t>
            </a:r>
            <a:endParaRPr sz="1600" b="0" u="sng" dirty="0">
              <a:uFill>
                <a:solidFill/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79" name="Shape 179"/>
          <p:cNvSpPr/>
          <p:nvPr/>
        </p:nvSpPr>
        <p:spPr>
          <a:xfrm>
            <a:off x="4659757" y="6103841"/>
            <a:ext cx="458470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buClr>
                <a:srgbClr val="000000"/>
              </a:buClr>
              <a:buFont typeface="Chalkboard"/>
              <a:defRPr sz="2000" b="1">
                <a:solidFill>
                  <a:srgbClr val="EA56DD"/>
                </a:solidFill>
                <a:latin typeface="Chalkboard"/>
                <a:ea typeface="Chalkboard"/>
                <a:cs typeface="Chalkboard"/>
                <a:sym typeface="Chalkboard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20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W</a:t>
            </a:r>
            <a:r>
              <a:rPr lang="en-US" sz="20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hat does this mean?!</a:t>
            </a:r>
          </a:p>
        </p:txBody>
      </p:sp>
      <p:sp>
        <p:nvSpPr>
          <p:cNvPr id="180" name="Shape 180"/>
          <p:cNvSpPr/>
          <p:nvPr/>
        </p:nvSpPr>
        <p:spPr>
          <a:xfrm>
            <a:off x="5689600" y="4445000"/>
            <a:ext cx="3213100" cy="98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C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ontains 8 families; </a:t>
            </a: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he proteins within each family are closely related to each other by AA sequence and enzyme behavior</a:t>
            </a:r>
          </a:p>
        </p:txBody>
      </p:sp>
      <p:grpSp>
        <p:nvGrpSpPr>
          <p:cNvPr id="184" name="Group 184"/>
          <p:cNvGrpSpPr/>
          <p:nvPr/>
        </p:nvGrpSpPr>
        <p:grpSpPr>
          <a:xfrm>
            <a:off x="2789237" y="217970"/>
            <a:ext cx="6337301" cy="297456"/>
            <a:chOff x="0" y="58992"/>
            <a:chExt cx="6337300" cy="297455"/>
          </a:xfrm>
        </p:grpSpPr>
        <p:sp>
          <p:nvSpPr>
            <p:cNvPr id="182" name="Shape 182"/>
            <p:cNvSpPr/>
            <p:nvPr/>
          </p:nvSpPr>
          <p:spPr>
            <a:xfrm>
              <a:off x="0" y="110227"/>
              <a:ext cx="6337300" cy="2462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lvl="0">
                <a:spcBef>
                  <a:spcPts val="9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A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ll catalyze 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PO</a:t>
              </a:r>
              <a:r>
                <a:rPr sz="2100" b="0" baseline="-2500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4</a:t>
              </a: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 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chem. mod. of Tyr, </a:t>
              </a:r>
              <a:r>
                <a:rPr lang="en-US" sz="1600" b="0" dirty="0" err="1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Thr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, or </a:t>
              </a:r>
              <a:r>
                <a:rPr lang="en-US" sz="1600" b="0" dirty="0" err="1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Ser</a:t>
              </a:r>
              <a:endPara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endParaRPr>
            </a:p>
          </p:txBody>
        </p:sp>
        <p:sp>
          <p:nvSpPr>
            <p:cNvPr id="183" name="Shape 183"/>
            <p:cNvSpPr/>
            <p:nvPr/>
          </p:nvSpPr>
          <p:spPr>
            <a:xfrm>
              <a:off x="1280753" y="58992"/>
              <a:ext cx="469900" cy="215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Font typeface="Helvetica"/>
                <a:defRPr sz="14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=</a:t>
              </a:r>
            </a:p>
          </p:txBody>
        </p:sp>
      </p:grpSp>
      <p:grpSp>
        <p:nvGrpSpPr>
          <p:cNvPr id="188" name="Group 188"/>
          <p:cNvGrpSpPr/>
          <p:nvPr/>
        </p:nvGrpSpPr>
        <p:grpSpPr>
          <a:xfrm>
            <a:off x="4520991" y="1472609"/>
            <a:ext cx="5388930" cy="859254"/>
            <a:chOff x="677337" y="-2956"/>
            <a:chExt cx="5388928" cy="859253"/>
          </a:xfrm>
        </p:grpSpPr>
        <p:sp>
          <p:nvSpPr>
            <p:cNvPr id="185" name="Shape 185"/>
            <p:cNvSpPr/>
            <p:nvPr/>
          </p:nvSpPr>
          <p:spPr>
            <a:xfrm>
              <a:off x="677337" y="-2956"/>
              <a:ext cx="5388928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6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</a:t>
              </a:r>
              <a:r>
                <a:rPr lang="en-US" sz="16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hese proteins differ in small and big ways:              </a:t>
              </a:r>
              <a:endPara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6" name="Shape 186"/>
            <p:cNvSpPr/>
            <p:nvPr/>
          </p:nvSpPr>
          <p:spPr>
            <a:xfrm>
              <a:off x="1013833" y="229628"/>
              <a:ext cx="3095718" cy="348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6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(1) AA </a:t>
              </a:r>
              <a:r>
                <a:rPr lang="en-US" sz="16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differ, so binding sites differ</a:t>
              </a:r>
              <a:endPara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7" name="Shape 187"/>
            <p:cNvSpPr/>
            <p:nvPr/>
          </p:nvSpPr>
          <p:spPr>
            <a:xfrm>
              <a:off x="1023077" y="476706"/>
              <a:ext cx="4277267" cy="3795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16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(2) </a:t>
              </a:r>
              <a:r>
                <a:rPr lang="en-US" b="0" dirty="0">
                  <a:latin typeface="Gill Sans" charset="0"/>
                  <a:ea typeface="Gill Sans" charset="0"/>
                  <a:cs typeface="Gill Sans" charset="0"/>
                </a:rPr>
                <a:t>Additional, d</a:t>
              </a:r>
              <a:r>
                <a:rPr lang="en-US" sz="16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ifferent folds added!</a:t>
              </a:r>
            </a:p>
          </p:txBody>
        </p:sp>
      </p:grpSp>
      <p:grpSp>
        <p:nvGrpSpPr>
          <p:cNvPr id="191" name="Group 191"/>
          <p:cNvGrpSpPr/>
          <p:nvPr/>
        </p:nvGrpSpPr>
        <p:grpSpPr>
          <a:xfrm>
            <a:off x="-172982" y="8049"/>
            <a:ext cx="9316982" cy="505427"/>
            <a:chOff x="-555838" y="-6821432"/>
            <a:chExt cx="10248679" cy="505426"/>
          </a:xfrm>
        </p:grpSpPr>
        <p:sp>
          <p:nvSpPr>
            <p:cNvPr id="189" name="Shape 189"/>
            <p:cNvSpPr/>
            <p:nvPr/>
          </p:nvSpPr>
          <p:spPr>
            <a:xfrm>
              <a:off x="-264782" y="-6790543"/>
              <a:ext cx="9878611" cy="47453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000"/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90" name="Shape 190"/>
            <p:cNvSpPr/>
            <p:nvPr/>
          </p:nvSpPr>
          <p:spPr>
            <a:xfrm>
              <a:off x="-555838" y="-6821432"/>
              <a:ext cx="10248679" cy="4719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2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 algn="ctr">
                <a:defRPr sz="1800" b="0">
                  <a:uFillTx/>
                </a:defRPr>
              </a:pPr>
              <a:r>
                <a:rPr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L</a:t>
              </a:r>
              <a:r>
                <a:rPr lang="en-US" sz="24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et’s clarify the meaning of the protein classifications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DFAEBEB-B5CB-6D43-BB1B-1A5A172CCD90}"/>
              </a:ext>
            </a:extLst>
          </p:cNvPr>
          <p:cNvGrpSpPr/>
          <p:nvPr/>
        </p:nvGrpSpPr>
        <p:grpSpPr>
          <a:xfrm>
            <a:off x="7415884" y="653143"/>
            <a:ext cx="1737360" cy="2992075"/>
            <a:chOff x="7415884" y="653143"/>
            <a:chExt cx="1737360" cy="2992075"/>
          </a:xfrm>
        </p:grpSpPr>
        <p:cxnSp>
          <p:nvCxnSpPr>
            <p:cNvPr id="3" name="Straight Arrow Connector 2"/>
            <p:cNvCxnSpPr/>
            <p:nvPr/>
          </p:nvCxnSpPr>
          <p:spPr>
            <a:xfrm flipH="1" flipV="1">
              <a:off x="8092421" y="653143"/>
              <a:ext cx="616150" cy="819466"/>
            </a:xfrm>
            <a:prstGeom prst="straightConnector1">
              <a:avLst/>
            </a:prstGeom>
            <a:noFill/>
            <a:ln w="28575" cap="flat">
              <a:solidFill>
                <a:srgbClr val="CB83FF"/>
              </a:solidFill>
              <a:prstDash val="solid"/>
              <a:round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81FD813-A38D-3A41-AB43-45CAA6008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15884" y="1368913"/>
              <a:ext cx="1737360" cy="2276305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0B715AF-A260-B34B-BD41-D523C20F220A}"/>
              </a:ext>
            </a:extLst>
          </p:cNvPr>
          <p:cNvSpPr txBox="1"/>
          <p:nvPr/>
        </p:nvSpPr>
        <p:spPr>
          <a:xfrm>
            <a:off x="6321241" y="2390854"/>
            <a:ext cx="933061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Families</a:t>
            </a:r>
          </a:p>
        </p:txBody>
      </p:sp>
    </p:spTree>
    <p:extLst>
      <p:ext uri="{BB962C8B-B14F-4D97-AF65-F5344CB8AC3E}">
        <p14:creationId xmlns:p14="http://schemas.microsoft.com/office/powerpoint/2010/main" val="144333046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 advAuto="0"/>
      <p:bldP spid="170" grpId="0" animBg="1" advAuto="0"/>
      <p:bldP spid="173" grpId="0" animBg="1" advAuto="0"/>
      <p:bldP spid="176" grpId="0" animBg="1" advAuto="0"/>
      <p:bldP spid="177" grpId="0" animBg="1" advAuto="0"/>
      <p:bldP spid="178" grpId="0" animBg="1" advAuto="0"/>
      <p:bldP spid="179" grpId="0" animBg="1" advAuto="0"/>
      <p:bldP spid="180" grpId="0" animBg="1" advAuto="0"/>
      <p:bldP spid="184" grpId="0" animBg="1" advAuto="0"/>
      <p:bldP spid="188" grpId="0" animBg="1" advAuto="0"/>
      <p:bldP spid="191" grpId="0" animBg="1" advAuto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/>
        </p:nvSpPr>
        <p:spPr>
          <a:xfrm>
            <a:off x="20549" y="-72275"/>
            <a:ext cx="9123452" cy="441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 algn="ctr">
              <a:defRPr b="0">
                <a:uFillTx/>
              </a:defRPr>
            </a:pP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roteins can have multiple folds within a single polypeptide chain</a:t>
            </a:r>
          </a:p>
        </p:txBody>
      </p:sp>
      <p:sp>
        <p:nvSpPr>
          <p:cNvPr id="196" name="Shape 196"/>
          <p:cNvSpPr/>
          <p:nvPr/>
        </p:nvSpPr>
        <p:spPr>
          <a:xfrm>
            <a:off x="-244870" y="283649"/>
            <a:ext cx="3708958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lvl="0" algn="ctr">
              <a:defRPr sz="180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P</a:t>
            </a:r>
            <a:r>
              <a:rPr lang="de-DE" sz="1600" b="0" dirty="0" err="1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yruvate</a:t>
            </a:r>
            <a:r>
              <a:rPr lang="de-DE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de-DE" sz="1600" b="0" dirty="0" err="1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kinase</a:t>
            </a:r>
            <a:r>
              <a:rPr lang="de-DE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                                 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</a:t>
            </a:r>
            <a:r>
              <a:rPr lang="de-DE" sz="1400" b="0" dirty="0" err="1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as</a:t>
            </a:r>
            <a:r>
              <a:rPr lang="de-DE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de-DE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3 different </a:t>
            </a:r>
            <a:r>
              <a:rPr lang="de-DE" sz="1400" b="0" dirty="0" err="1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folds</a:t>
            </a:r>
            <a:r>
              <a:rPr lang="de-DE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                                  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W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hy: bind pyruvate &amp; ATP, and is regulated</a:t>
            </a:r>
          </a:p>
        </p:txBody>
      </p:sp>
      <p:pic>
        <p:nvPicPr>
          <p:cNvPr id="197" name="pasted-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4233" y="1072632"/>
            <a:ext cx="1925177" cy="3330035"/>
          </a:xfrm>
          <a:prstGeom prst="rect">
            <a:avLst/>
          </a:prstGeom>
          <a:ln>
            <a:round/>
          </a:ln>
        </p:spPr>
      </p:pic>
      <p:grpSp>
        <p:nvGrpSpPr>
          <p:cNvPr id="200" name="Group 200"/>
          <p:cNvGrpSpPr/>
          <p:nvPr/>
        </p:nvGrpSpPr>
        <p:grpSpPr>
          <a:xfrm>
            <a:off x="1720849" y="2038350"/>
            <a:ext cx="1639571" cy="719026"/>
            <a:chOff x="43421" y="0"/>
            <a:chExt cx="1639570" cy="719025"/>
          </a:xfrm>
        </p:grpSpPr>
        <p:pic>
          <p:nvPicPr>
            <p:cNvPr id="198" name="pasted-image.pdf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43421" y="0"/>
              <a:ext cx="1104763" cy="647620"/>
            </a:xfrm>
            <a:prstGeom prst="rect">
              <a:avLst/>
            </a:prstGeom>
            <a:ln w="9525" cap="flat">
              <a:noFill/>
              <a:round/>
            </a:ln>
            <a:effectLst/>
          </p:spPr>
        </p:pic>
        <p:sp>
          <p:nvSpPr>
            <p:cNvPr id="199" name="Shape 199"/>
            <p:cNvSpPr/>
            <p:nvPr/>
          </p:nvSpPr>
          <p:spPr>
            <a:xfrm>
              <a:off x="286059" y="185624"/>
              <a:ext cx="1396932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lvl="0" algn="ctr">
                <a:defRPr sz="1800">
                  <a:uFillTx/>
                </a:defRPr>
              </a:pPr>
              <a:r>
                <a:rPr sz="1400" b="0" u="sng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T</a:t>
              </a:r>
              <a:r>
                <a:rPr lang="en-US" sz="1400" b="0" u="sng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his is the</a:t>
              </a:r>
              <a:r>
                <a:rPr lang="en-US" sz="14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</a:t>
              </a:r>
              <a:r>
                <a:rPr lang="en-US" sz="1400" b="0" u="sng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kinase domain</a:t>
              </a:r>
            </a:p>
          </p:txBody>
        </p:sp>
      </p:grpSp>
      <p:grpSp>
        <p:nvGrpSpPr>
          <p:cNvPr id="203" name="Group 203"/>
          <p:cNvGrpSpPr/>
          <p:nvPr/>
        </p:nvGrpSpPr>
        <p:grpSpPr>
          <a:xfrm>
            <a:off x="1692338" y="3117850"/>
            <a:ext cx="1511784" cy="747577"/>
            <a:chOff x="243510" y="0"/>
            <a:chExt cx="1511782" cy="747576"/>
          </a:xfrm>
        </p:grpSpPr>
        <p:pic>
          <p:nvPicPr>
            <p:cNvPr id="201" name="pasted-image.pdf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329171" y="0"/>
              <a:ext cx="1026368" cy="381001"/>
            </a:xfrm>
            <a:prstGeom prst="rect">
              <a:avLst/>
            </a:prstGeom>
            <a:ln w="9525" cap="flat">
              <a:noFill/>
              <a:round/>
            </a:ln>
            <a:effectLst/>
          </p:spPr>
        </p:pic>
        <p:sp>
          <p:nvSpPr>
            <p:cNvPr id="202" name="Shape 202"/>
            <p:cNvSpPr/>
            <p:nvPr/>
          </p:nvSpPr>
          <p:spPr>
            <a:xfrm>
              <a:off x="243510" y="214098"/>
              <a:ext cx="1511782" cy="5334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1400" b="1">
                  <a:solidFill>
                    <a:srgbClr val="D04DC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4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</a:t>
              </a:r>
              <a:r>
                <a:rPr lang="en-US" sz="14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his is the regulatory domain</a:t>
              </a:r>
            </a:p>
          </p:txBody>
        </p:sp>
      </p:grpSp>
      <p:grpSp>
        <p:nvGrpSpPr>
          <p:cNvPr id="206" name="Group 206"/>
          <p:cNvGrpSpPr/>
          <p:nvPr/>
        </p:nvGrpSpPr>
        <p:grpSpPr>
          <a:xfrm>
            <a:off x="1613017" y="1145993"/>
            <a:ext cx="1744946" cy="781009"/>
            <a:chOff x="-31633" y="877"/>
            <a:chExt cx="1744945" cy="781008"/>
          </a:xfrm>
        </p:grpSpPr>
        <p:pic>
          <p:nvPicPr>
            <p:cNvPr id="204" name="pasted-image.pdf"/>
            <p:cNvPicPr/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-31633" y="877"/>
              <a:ext cx="1011920" cy="510142"/>
            </a:xfrm>
            <a:prstGeom prst="rect">
              <a:avLst/>
            </a:prstGeom>
            <a:ln w="9525" cap="flat">
              <a:noFill/>
              <a:round/>
            </a:ln>
            <a:effectLst/>
          </p:spPr>
        </p:pic>
        <p:sp>
          <p:nvSpPr>
            <p:cNvPr id="205" name="Shape 205"/>
            <p:cNvSpPr/>
            <p:nvPr/>
          </p:nvSpPr>
          <p:spPr>
            <a:xfrm>
              <a:off x="192541" y="248484"/>
              <a:ext cx="1520771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defRPr sz="1400" b="1">
                  <a:solidFill>
                    <a:srgbClr val="D04DC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4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F</a:t>
              </a:r>
              <a:r>
                <a:rPr lang="en-US" sz="14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orms cap over the catalytic site</a:t>
              </a:r>
            </a:p>
          </p:txBody>
        </p:sp>
      </p:grpSp>
      <p:sp>
        <p:nvSpPr>
          <p:cNvPr id="207" name="Shape 207"/>
          <p:cNvSpPr/>
          <p:nvPr/>
        </p:nvSpPr>
        <p:spPr>
          <a:xfrm>
            <a:off x="4145289" y="281516"/>
            <a:ext cx="4991119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0" algn="ctr">
              <a:defRPr sz="1800">
                <a:uFillTx/>
              </a:defRPr>
            </a:pP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66 </a:t>
            </a:r>
            <a:r>
              <a:rPr sz="1600" b="0" dirty="0" err="1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kD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en-US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chain of </a:t>
            </a:r>
            <a:r>
              <a:rPr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HIV </a:t>
            </a:r>
            <a:r>
              <a:rPr lang="ro-RO" sz="16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reverse </a:t>
            </a:r>
            <a:r>
              <a:rPr lang="ro-RO" sz="1600" b="0" dirty="0" err="1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transcriptase</a:t>
            </a:r>
            <a:r>
              <a:rPr lang="ro-RO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                                 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</a:t>
            </a:r>
            <a:r>
              <a:rPr lang="de-DE" sz="1400" b="0" dirty="0" err="1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as</a:t>
            </a:r>
            <a:r>
              <a:rPr lang="de-DE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lang="de-DE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4 different </a:t>
            </a:r>
            <a:r>
              <a:rPr lang="de-DE" sz="1400" b="0" dirty="0" err="1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folds</a:t>
            </a:r>
            <a:r>
              <a:rPr lang="de-DE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                                                           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W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hy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C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opy viral 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RNA; </a:t>
            </a:r>
            <a:r>
              <a:rPr lang="en-US" sz="1400" b="0" dirty="0" err="1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syn</a:t>
            </a:r>
            <a:r>
              <a:rPr sz="1400" b="0" dirty="0" err="1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.DNA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; 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degrade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RNA</a:t>
            </a:r>
          </a:p>
        </p:txBody>
      </p:sp>
      <p:pic>
        <p:nvPicPr>
          <p:cNvPr id="208" name="pasted-image.pdf"/>
          <p:cNvPicPr/>
          <p:nvPr/>
        </p:nvPicPr>
        <p:blipFill>
          <a:blip r:embed="rId7"/>
          <a:stretch>
            <a:fillRect/>
          </a:stretch>
        </p:blipFill>
        <p:spPr>
          <a:xfrm>
            <a:off x="4329629" y="1070423"/>
            <a:ext cx="4473588" cy="2747310"/>
          </a:xfrm>
          <a:prstGeom prst="rect">
            <a:avLst/>
          </a:prstGeom>
          <a:ln>
            <a:round/>
          </a:ln>
        </p:spPr>
      </p:pic>
      <p:pic>
        <p:nvPicPr>
          <p:cNvPr id="209" name="pasted-image.pdf"/>
          <p:cNvPicPr/>
          <p:nvPr/>
        </p:nvPicPr>
        <p:blipFill>
          <a:blip r:embed="rId8"/>
          <a:stretch>
            <a:fillRect/>
          </a:stretch>
        </p:blipFill>
        <p:spPr>
          <a:xfrm>
            <a:off x="8407400" y="2692400"/>
            <a:ext cx="463827" cy="381001"/>
          </a:xfrm>
          <a:prstGeom prst="rect">
            <a:avLst/>
          </a:prstGeom>
          <a:ln>
            <a:round/>
          </a:ln>
        </p:spPr>
      </p:pic>
      <p:pic>
        <p:nvPicPr>
          <p:cNvPr id="210" name="pasted-image.pdf"/>
          <p:cNvPicPr/>
          <p:nvPr/>
        </p:nvPicPr>
        <p:blipFill>
          <a:blip r:embed="rId9"/>
          <a:stretch>
            <a:fillRect/>
          </a:stretch>
        </p:blipFill>
        <p:spPr>
          <a:xfrm>
            <a:off x="5435600" y="1466850"/>
            <a:ext cx="708838" cy="381001"/>
          </a:xfrm>
          <a:prstGeom prst="rect">
            <a:avLst/>
          </a:prstGeom>
          <a:ln>
            <a:round/>
          </a:ln>
        </p:spPr>
      </p:pic>
      <p:sp>
        <p:nvSpPr>
          <p:cNvPr id="211" name="Shape 211"/>
          <p:cNvSpPr/>
          <p:nvPr/>
        </p:nvSpPr>
        <p:spPr>
          <a:xfrm>
            <a:off x="2224468" y="4135127"/>
            <a:ext cx="4415526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0">
              <a:defRPr sz="1800">
                <a:uFillTx/>
              </a:defRPr>
            </a:pPr>
            <a:r>
              <a:rPr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</a:t>
            </a:r>
            <a:r>
              <a:rPr lang="en-US" sz="16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ll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very large proteins: more than one fold</a:t>
            </a:r>
          </a:p>
        </p:txBody>
      </p:sp>
      <p:sp>
        <p:nvSpPr>
          <p:cNvPr id="212" name="Shape 212"/>
          <p:cNvSpPr/>
          <p:nvPr/>
        </p:nvSpPr>
        <p:spPr>
          <a:xfrm>
            <a:off x="2195829" y="4422257"/>
            <a:ext cx="499112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 </a:t>
            </a:r>
            <a:r>
              <a:rPr lang="en-US"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fold is often a continuous sequence of </a:t>
            </a:r>
            <a:r>
              <a:rPr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AA</a:t>
            </a:r>
          </a:p>
        </p:txBody>
      </p:sp>
      <p:sp>
        <p:nvSpPr>
          <p:cNvPr id="213" name="Shape 213"/>
          <p:cNvSpPr/>
          <p:nvPr/>
        </p:nvSpPr>
        <p:spPr>
          <a:xfrm>
            <a:off x="2373629" y="4790289"/>
            <a:ext cx="4749175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0">
              <a:defRPr sz="1800">
                <a:uFillTx/>
              </a:defRPr>
            </a:pPr>
            <a:r>
              <a:rPr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B</a:t>
            </a:r>
            <a:r>
              <a:rPr lang="en-US"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ut: a fold </a:t>
            </a:r>
            <a:r>
              <a:rPr lang="en-US" sz="1400" b="0" u="sng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can</a:t>
            </a:r>
            <a:r>
              <a:rPr lang="en-US"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form from non-continuous AA sequences</a:t>
            </a:r>
          </a:p>
        </p:txBody>
      </p:sp>
      <p:sp>
        <p:nvSpPr>
          <p:cNvPr id="214" name="Shape 214"/>
          <p:cNvSpPr/>
          <p:nvPr/>
        </p:nvSpPr>
        <p:spPr>
          <a:xfrm>
            <a:off x="1054471" y="5503907"/>
            <a:ext cx="3811444" cy="1077218"/>
          </a:xfrm>
          <a:prstGeom prst="rect">
            <a:avLst/>
          </a:prstGeom>
          <a:ln w="12700">
            <a:solidFill>
              <a:srgbClr val="85888D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40640" marR="497840" lvl="0" defTabSz="457200">
              <a:defRPr sz="1800">
                <a:uFillTx/>
              </a:defRPr>
            </a:pPr>
            <a:r>
              <a:rPr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C</a:t>
            </a:r>
            <a:r>
              <a:rPr lang="en-US"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onsidering </a:t>
            </a:r>
            <a:r>
              <a:rPr lang="en-US" sz="1400" b="0" u="sng" dirty="0">
                <a:latin typeface="Gill Sans" charset="0"/>
                <a:ea typeface="Gill Sans" charset="0"/>
                <a:cs typeface="Gill Sans" charset="0"/>
                <a:sym typeface="Helvetica"/>
              </a:rPr>
              <a:t>all life forms</a:t>
            </a:r>
            <a:r>
              <a:rPr lang="en-US"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:                                     </a:t>
            </a:r>
            <a:r>
              <a:rPr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A</a:t>
            </a:r>
            <a:r>
              <a:rPr lang="en-US"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ll</a:t>
            </a:r>
            <a:r>
              <a:rPr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 1400 </a:t>
            </a:r>
            <a:r>
              <a:rPr lang="en-US"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types of individual protein folds are found in all life forms!  </a:t>
            </a:r>
            <a:r>
              <a:rPr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A </a:t>
            </a:r>
            <a:r>
              <a:rPr lang="en-US"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major ”tool of evolution" is the </a:t>
            </a:r>
            <a:r>
              <a:rPr lang="en-US" sz="1400" b="0" u="sng" dirty="0">
                <a:latin typeface="Gill Sans" charset="0"/>
                <a:ea typeface="Gill Sans" charset="0"/>
                <a:cs typeface="Gill Sans" charset="0"/>
                <a:sym typeface="Helvetica"/>
              </a:rPr>
              <a:t>combining of folds </a:t>
            </a:r>
            <a:r>
              <a:rPr lang="en-US"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to make new protein capabilities and complexities.</a:t>
            </a:r>
          </a:p>
        </p:txBody>
      </p:sp>
      <p:sp>
        <p:nvSpPr>
          <p:cNvPr id="215" name="Shape 215"/>
          <p:cNvSpPr/>
          <p:nvPr/>
        </p:nvSpPr>
        <p:spPr>
          <a:xfrm flipV="1">
            <a:off x="4626546" y="276225"/>
            <a:ext cx="3606229" cy="8134"/>
          </a:xfrm>
          <a:prstGeom prst="line">
            <a:avLst/>
          </a:prstGeom>
          <a:ln w="19050">
            <a:solidFill>
              <a:srgbClr val="0365C0"/>
            </a:solidFill>
            <a:round/>
          </a:ln>
        </p:spPr>
        <p:txBody>
          <a:bodyPr lIns="0" tIns="0" rIns="0" bIns="0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21" name="Group 221"/>
          <p:cNvGrpSpPr/>
          <p:nvPr/>
        </p:nvGrpSpPr>
        <p:grpSpPr>
          <a:xfrm>
            <a:off x="-34053" y="1817989"/>
            <a:ext cx="3142912" cy="3023414"/>
            <a:chOff x="0" y="0"/>
            <a:chExt cx="3142911" cy="3023412"/>
          </a:xfrm>
        </p:grpSpPr>
        <p:grpSp>
          <p:nvGrpSpPr>
            <p:cNvPr id="219" name="Group 219"/>
            <p:cNvGrpSpPr/>
            <p:nvPr/>
          </p:nvGrpSpPr>
          <p:grpSpPr>
            <a:xfrm>
              <a:off x="1514229" y="1307205"/>
              <a:ext cx="897944" cy="1716208"/>
              <a:chOff x="0" y="0"/>
              <a:chExt cx="897943" cy="1716207"/>
            </a:xfrm>
          </p:grpSpPr>
          <p:sp>
            <p:nvSpPr>
              <p:cNvPr id="229" name="Shape 229"/>
              <p:cNvSpPr/>
              <p:nvPr/>
            </p:nvSpPr>
            <p:spPr>
              <a:xfrm>
                <a:off x="-1" y="880"/>
                <a:ext cx="897945" cy="1715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7308" h="21600" extrusionOk="0">
                    <a:moveTo>
                      <a:pt x="17308" y="21600"/>
                    </a:moveTo>
                    <a:cubicBezTo>
                      <a:pt x="70" y="17729"/>
                      <a:pt x="-4292" y="10529"/>
                      <a:pt x="4222" y="0"/>
                    </a:cubicBezTo>
                  </a:path>
                </a:pathLst>
              </a:custGeom>
              <a:noFill/>
              <a:ln w="28575" cap="flat">
                <a:solidFill>
                  <a:srgbClr val="C255D2"/>
                </a:solidFill>
                <a:prstDash val="solid"/>
                <a:round/>
              </a:ln>
              <a:effectLst/>
            </p:spPr>
            <p:txBody>
              <a:bodyPr/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7" name="Shape 217"/>
              <p:cNvSpPr/>
              <p:nvPr/>
            </p:nvSpPr>
            <p:spPr>
              <a:xfrm flipV="1">
                <a:off x="22822" y="-1"/>
                <a:ext cx="189340" cy="130372"/>
              </a:xfrm>
              <a:prstGeom prst="line">
                <a:avLst/>
              </a:prstGeom>
              <a:noFill/>
              <a:ln w="38100" cap="flat">
                <a:solidFill>
                  <a:srgbClr val="CD55C2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8" name="Shape 218"/>
              <p:cNvSpPr/>
              <p:nvPr/>
            </p:nvSpPr>
            <p:spPr>
              <a:xfrm>
                <a:off x="215531" y="3370"/>
                <a:ext cx="48026" cy="176316"/>
              </a:xfrm>
              <a:prstGeom prst="line">
                <a:avLst/>
              </a:prstGeom>
              <a:noFill/>
              <a:ln w="38100" cap="flat">
                <a:solidFill>
                  <a:srgbClr val="CD55C2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sp>
          <p:nvSpPr>
            <p:cNvPr id="220" name="Shape 220"/>
            <p:cNvSpPr/>
            <p:nvPr/>
          </p:nvSpPr>
          <p:spPr>
            <a:xfrm rot="21043376">
              <a:off x="69675" y="234853"/>
              <a:ext cx="3003561" cy="11081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38100" cap="flat">
              <a:solidFill>
                <a:srgbClr val="C962C4"/>
              </a:solidFill>
              <a:prstDash val="sysDot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22" name="Shape 222"/>
          <p:cNvSpPr/>
          <p:nvPr/>
        </p:nvSpPr>
        <p:spPr>
          <a:xfrm>
            <a:off x="5856888" y="5288464"/>
            <a:ext cx="3091169" cy="11798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/>
          <a:p>
            <a:pPr marL="40640" marR="497840" lvl="0" defTabSz="457200">
              <a:defRPr sz="1800">
                <a:uFillTx/>
              </a:defRPr>
            </a:pPr>
            <a:r>
              <a:rPr lang="en-US" sz="1400" b="0" u="sng" dirty="0">
                <a:latin typeface="Gill Sans" charset="0"/>
                <a:ea typeface="Gill Sans" charset="0"/>
                <a:cs typeface="Gill Sans" charset="0"/>
                <a:sym typeface="Helvetica"/>
              </a:rPr>
              <a:t>Definition</a:t>
            </a:r>
            <a:r>
              <a:rPr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: E</a:t>
            </a:r>
            <a:r>
              <a:rPr lang="en-US"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ntire path of a </a:t>
            </a:r>
            <a:r>
              <a:rPr lang="en-US" sz="1400" b="0" u="sng" dirty="0">
                <a:latin typeface="Gill Sans" charset="0"/>
                <a:ea typeface="Gill Sans" charset="0"/>
                <a:cs typeface="Gill Sans" charset="0"/>
                <a:sym typeface="Helvetica"/>
              </a:rPr>
              <a:t>single polypeptide chain</a:t>
            </a:r>
            <a:r>
              <a:rPr lang="en-US" sz="1400" b="0" dirty="0">
                <a:latin typeface="Gill Sans" charset="0"/>
                <a:ea typeface="Gill Sans" charset="0"/>
                <a:cs typeface="Gill Sans" charset="0"/>
                <a:sym typeface="Helvetica"/>
              </a:rPr>
              <a:t>, including all folds (and all sidechain conformations), is the </a:t>
            </a:r>
            <a:r>
              <a:rPr lang="en-US" sz="140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  <a:sym typeface="Helvetica"/>
              </a:rPr>
              <a:t>tertiary structure</a:t>
            </a:r>
            <a:r>
              <a:rPr sz="140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  <a:sym typeface="Helvetica"/>
              </a:rPr>
              <a:t>, III</a:t>
            </a:r>
          </a:p>
        </p:txBody>
      </p:sp>
      <p:sp>
        <p:nvSpPr>
          <p:cNvPr id="228" name="Shape 228"/>
          <p:cNvSpPr/>
          <p:nvPr/>
        </p:nvSpPr>
        <p:spPr>
          <a:xfrm>
            <a:off x="4140062" y="3366470"/>
            <a:ext cx="584338" cy="523876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34054" y="696686"/>
            <a:ext cx="3238176" cy="458997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65914" y="696686"/>
            <a:ext cx="3597852" cy="478971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B7F30F-38B5-764C-B764-237CD4D1DFB0}"/>
              </a:ext>
            </a:extLst>
          </p:cNvPr>
          <p:cNvSpPr/>
          <p:nvPr/>
        </p:nvSpPr>
        <p:spPr>
          <a:xfrm>
            <a:off x="835515" y="579169"/>
            <a:ext cx="42750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0" dirty="0">
                <a:latin typeface="Gill Sans" panose="020B0502020104020203" pitchFamily="34" charset="-79"/>
                <a:ea typeface="Gill Sans" charset="0"/>
                <a:cs typeface="Gill Sans" panose="020B0502020104020203" pitchFamily="34" charset="-79"/>
              </a:rPr>
              <a:t>Has 3 different folds                                   Why: bind pyruvate &amp; ATP, and is regulated</a:t>
            </a:r>
            <a:endParaRPr lang="en-US" sz="1600" b="0" dirty="0"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82020D-8500-8742-95FF-907B9C4B499C}"/>
              </a:ext>
            </a:extLst>
          </p:cNvPr>
          <p:cNvSpPr/>
          <p:nvPr/>
        </p:nvSpPr>
        <p:spPr>
          <a:xfrm>
            <a:off x="4814000" y="579169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0" dirty="0">
                <a:latin typeface="Gill Sans" panose="020B0502020104020203" pitchFamily="34" charset="-79"/>
                <a:ea typeface="Gill Sans" charset="0"/>
                <a:cs typeface="Gill Sans" panose="020B0502020104020203" pitchFamily="34" charset="-79"/>
              </a:rPr>
              <a:t>Has 4 different folds                                                            Why: Copy viral RNA into dsDNA; degrade RNA</a:t>
            </a:r>
            <a:endParaRPr lang="en-US" sz="1600" b="0" dirty="0"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15C9DD-E5C9-1D4A-8BD7-513C83330E50}"/>
              </a:ext>
            </a:extLst>
          </p:cNvPr>
          <p:cNvSpPr/>
          <p:nvPr/>
        </p:nvSpPr>
        <p:spPr>
          <a:xfrm rot="4653143">
            <a:off x="387350" y="1098998"/>
            <a:ext cx="285750" cy="275777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F72257-0FCD-9A4C-B90A-715FD17BF92C}"/>
              </a:ext>
            </a:extLst>
          </p:cNvPr>
          <p:cNvCxnSpPr/>
          <p:nvPr/>
        </p:nvCxnSpPr>
        <p:spPr>
          <a:xfrm>
            <a:off x="923731" y="579169"/>
            <a:ext cx="1380930" cy="0"/>
          </a:xfrm>
          <a:prstGeom prst="line">
            <a:avLst/>
          </a:prstGeom>
          <a:noFill/>
          <a:ln w="28575" cap="flat">
            <a:solidFill>
              <a:srgbClr val="FB97FF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CA01622-3806-834F-A3F0-0CDC9FF2110A}"/>
              </a:ext>
            </a:extLst>
          </p:cNvPr>
          <p:cNvCxnSpPr>
            <a:cxnSpLocks/>
          </p:cNvCxnSpPr>
          <p:nvPr/>
        </p:nvCxnSpPr>
        <p:spPr>
          <a:xfrm>
            <a:off x="6322313" y="579169"/>
            <a:ext cx="2141453" cy="0"/>
          </a:xfrm>
          <a:prstGeom prst="line">
            <a:avLst/>
          </a:prstGeom>
          <a:noFill/>
          <a:ln w="28575" cap="flat">
            <a:solidFill>
              <a:srgbClr val="FB97FF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4580583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 animBg="1" advAuto="0"/>
      <p:bldP spid="203" grpId="0" animBg="1" advAuto="0"/>
      <p:bldP spid="206" grpId="0" animBg="1" advAuto="0"/>
      <p:bldP spid="211" grpId="0" animBg="1" advAuto="0"/>
      <p:bldP spid="212" grpId="0" animBg="1" advAuto="0"/>
      <p:bldP spid="213" grpId="0" animBg="1" advAuto="0"/>
      <p:bldP spid="214" grpId="0" animBg="1" advAuto="0"/>
      <p:bldP spid="221" grpId="0" animBg="1" advAuto="0"/>
      <p:bldP spid="2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3932237"/>
            <a:ext cx="2279650" cy="269716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5791200" y="304800"/>
            <a:ext cx="3276600" cy="29368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image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2438400" y="381000"/>
            <a:ext cx="2535238" cy="3200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image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170113" cy="3352800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Shape 235"/>
          <p:cNvSpPr>
            <a:spLocks noGrp="1"/>
          </p:cNvSpPr>
          <p:nvPr>
            <p:ph type="title"/>
          </p:nvPr>
        </p:nvSpPr>
        <p:spPr>
          <a:xfrm>
            <a:off x="-66676" y="-17621"/>
            <a:ext cx="9312276" cy="3810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lang="en-US" sz="220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Repeated folds can occur within a single polypeptide chain</a:t>
            </a:r>
            <a:endParaRPr sz="2200" dirty="0">
              <a:uFill>
                <a:solidFill/>
              </a:uFill>
              <a:latin typeface="Gill Sans" charset="0"/>
              <a:ea typeface="Gill Sans" charset="0"/>
              <a:cs typeface="Gill Sans" charset="0"/>
              <a:sym typeface="Helvetica"/>
            </a:endParaRPr>
          </a:p>
        </p:txBody>
      </p:sp>
      <p:sp>
        <p:nvSpPr>
          <p:cNvPr id="236" name="Shape 236"/>
          <p:cNvSpPr/>
          <p:nvPr/>
        </p:nvSpPr>
        <p:spPr>
          <a:xfrm>
            <a:off x="0" y="2819400"/>
            <a:ext cx="22225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C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omplement control protein fold </a:t>
            </a: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(C)</a:t>
            </a:r>
          </a:p>
        </p:txBody>
      </p:sp>
      <p:sp>
        <p:nvSpPr>
          <p:cNvPr id="237" name="Shape 237"/>
          <p:cNvSpPr/>
          <p:nvPr/>
        </p:nvSpPr>
        <p:spPr>
          <a:xfrm>
            <a:off x="2209800" y="3048000"/>
            <a:ext cx="2146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mmunoglobulin fold </a:t>
            </a: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(I)</a:t>
            </a:r>
          </a:p>
        </p:txBody>
      </p:sp>
      <p:sp>
        <p:nvSpPr>
          <p:cNvPr id="238" name="Shape 238"/>
          <p:cNvSpPr/>
          <p:nvPr/>
        </p:nvSpPr>
        <p:spPr>
          <a:xfrm>
            <a:off x="6858000" y="1981200"/>
            <a:ext cx="2298701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F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ibronectin</a:t>
            </a: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              </a:t>
            </a: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ype I fold </a:t>
            </a: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(F1)</a:t>
            </a:r>
          </a:p>
        </p:txBody>
      </p:sp>
      <p:sp>
        <p:nvSpPr>
          <p:cNvPr id="239" name="Shape 239"/>
          <p:cNvSpPr/>
          <p:nvPr/>
        </p:nvSpPr>
        <p:spPr>
          <a:xfrm>
            <a:off x="0" y="6276975"/>
            <a:ext cx="2146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G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rowth factor fold </a:t>
            </a: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(G)</a:t>
            </a:r>
          </a:p>
        </p:txBody>
      </p:sp>
      <p:sp>
        <p:nvSpPr>
          <p:cNvPr id="240" name="Shape 240"/>
          <p:cNvSpPr/>
          <p:nvPr/>
        </p:nvSpPr>
        <p:spPr>
          <a:xfrm>
            <a:off x="6337300" y="3733800"/>
            <a:ext cx="2908300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1100"/>
              </a:spcBef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M</a:t>
            </a:r>
            <a:r>
              <a:rPr lang="en-US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any proteins: polypeptide chain has repeating runs of </a:t>
            </a:r>
            <a:r>
              <a:rPr lang="en-US"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same</a:t>
            </a:r>
            <a:r>
              <a:rPr lang="en-US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fold</a:t>
            </a:r>
          </a:p>
        </p:txBody>
      </p:sp>
      <p:pic>
        <p:nvPicPr>
          <p:cNvPr id="241" name="image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2286000" y="3886200"/>
            <a:ext cx="3886200" cy="2430463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Shape 242"/>
          <p:cNvSpPr/>
          <p:nvPr/>
        </p:nvSpPr>
        <p:spPr>
          <a:xfrm>
            <a:off x="2590800" y="5867400"/>
            <a:ext cx="28321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K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ringle fold </a:t>
            </a: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(K)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2D9F95-15AF-6B43-8A5E-386905CAE716}"/>
              </a:ext>
            </a:extLst>
          </p:cNvPr>
          <p:cNvCxnSpPr/>
          <p:nvPr/>
        </p:nvCxnSpPr>
        <p:spPr>
          <a:xfrm>
            <a:off x="5234473" y="304800"/>
            <a:ext cx="2640564" cy="0"/>
          </a:xfrm>
          <a:prstGeom prst="line">
            <a:avLst/>
          </a:prstGeom>
          <a:noFill/>
          <a:ln w="28575" cap="flat">
            <a:solidFill>
              <a:schemeClr val="tx1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01473825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roup 246"/>
          <p:cNvGrpSpPr/>
          <p:nvPr/>
        </p:nvGrpSpPr>
        <p:grpSpPr>
          <a:xfrm>
            <a:off x="76200" y="6400799"/>
            <a:ext cx="4343400" cy="417672"/>
            <a:chOff x="0" y="0"/>
            <a:chExt cx="4343400" cy="417671"/>
          </a:xfrm>
        </p:grpSpPr>
        <p:sp>
          <p:nvSpPr>
            <p:cNvPr id="244" name="Shape 244"/>
            <p:cNvSpPr/>
            <p:nvPr/>
          </p:nvSpPr>
          <p:spPr>
            <a:xfrm rot="5400000">
              <a:off x="2095500" y="-2095500"/>
              <a:ext cx="152400" cy="4343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45" name="Shape 245"/>
            <p:cNvSpPr/>
            <p:nvPr/>
          </p:nvSpPr>
          <p:spPr>
            <a:xfrm>
              <a:off x="990600" y="171450"/>
              <a:ext cx="27559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B92FC2"/>
                </a:buClr>
                <a:buFont typeface="Helvetica"/>
                <a:defRPr sz="1600" b="1">
                  <a:solidFill>
                    <a:srgbClr val="B92FC2"/>
                  </a:solidFill>
                  <a:uFill>
                    <a:solidFill>
                      <a:srgbClr val="B92FC2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4 </a:t>
              </a:r>
              <a:r>
                <a:rPr lang="en-US" sz="1600" b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aqueous proteins</a:t>
              </a:r>
            </a:p>
          </p:txBody>
        </p:sp>
      </p:grpSp>
      <p:grpSp>
        <p:nvGrpSpPr>
          <p:cNvPr id="249" name="Group 249"/>
          <p:cNvGrpSpPr/>
          <p:nvPr/>
        </p:nvGrpSpPr>
        <p:grpSpPr>
          <a:xfrm>
            <a:off x="4959966" y="6347608"/>
            <a:ext cx="5729204" cy="464513"/>
            <a:chOff x="387966" y="-59270"/>
            <a:chExt cx="5729204" cy="464512"/>
          </a:xfrm>
        </p:grpSpPr>
        <p:sp>
          <p:nvSpPr>
            <p:cNvPr id="247" name="Shape 247"/>
            <p:cNvSpPr/>
            <p:nvPr/>
          </p:nvSpPr>
          <p:spPr>
            <a:xfrm rot="5400000">
              <a:off x="2338209" y="-2009513"/>
              <a:ext cx="266701" cy="416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96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15635" y="10800"/>
                    <a:pt x="21600" y="10800"/>
                  </a:cubicBezTo>
                  <a:cubicBezTo>
                    <a:pt x="1563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5965" y="21600"/>
                    <a:pt x="0" y="21600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48" name="Shape 248"/>
            <p:cNvSpPr/>
            <p:nvPr/>
          </p:nvSpPr>
          <p:spPr>
            <a:xfrm>
              <a:off x="541870" y="159021"/>
              <a:ext cx="55753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B92FC2"/>
                </a:buClr>
                <a:buFont typeface="Helvetica"/>
                <a:defRPr sz="1600" b="1">
                  <a:solidFill>
                    <a:srgbClr val="B92FC2"/>
                  </a:solidFill>
                  <a:uFill>
                    <a:solidFill>
                      <a:srgbClr val="B92FC2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lang="en-US" sz="1600" b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or</a:t>
              </a:r>
              <a:r>
                <a:rPr sz="1600" b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          3 </a:t>
              </a:r>
              <a:r>
                <a:rPr lang="en-US" sz="1600" b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proteins in the membrane</a:t>
              </a:r>
            </a:p>
          </p:txBody>
        </p:sp>
      </p:grpSp>
      <p:pic>
        <p:nvPicPr>
          <p:cNvPr id="250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2438400" y="2698750"/>
            <a:ext cx="730250" cy="3321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1143000" y="2540000"/>
            <a:ext cx="922338" cy="3505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image.pdf"/>
          <p:cNvPicPr/>
          <p:nvPr/>
        </p:nvPicPr>
        <p:blipFill>
          <a:blip r:embed="rId5"/>
          <a:stretch>
            <a:fillRect/>
          </a:stretch>
        </p:blipFill>
        <p:spPr>
          <a:xfrm>
            <a:off x="3589337" y="2817812"/>
            <a:ext cx="601663" cy="32146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.pdf"/>
          <p:cNvPicPr/>
          <p:nvPr/>
        </p:nvPicPr>
        <p:blipFill>
          <a:blip r:embed="rId6"/>
          <a:stretch>
            <a:fillRect/>
          </a:stretch>
        </p:blipFill>
        <p:spPr>
          <a:xfrm>
            <a:off x="5307012" y="3529012"/>
            <a:ext cx="852488" cy="25923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image.pdf"/>
          <p:cNvPicPr/>
          <p:nvPr/>
        </p:nvPicPr>
        <p:blipFill>
          <a:blip r:embed="rId7"/>
          <a:stretch>
            <a:fillRect/>
          </a:stretch>
        </p:blipFill>
        <p:spPr>
          <a:xfrm>
            <a:off x="6477000" y="4038600"/>
            <a:ext cx="1228725" cy="2120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image.pdf"/>
          <p:cNvPicPr/>
          <p:nvPr/>
        </p:nvPicPr>
        <p:blipFill>
          <a:blip r:embed="rId8"/>
          <a:stretch>
            <a:fillRect/>
          </a:stretch>
        </p:blipFill>
        <p:spPr>
          <a:xfrm>
            <a:off x="8001000" y="4286250"/>
            <a:ext cx="969963" cy="1873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" name="image.pdf"/>
          <p:cNvPicPr/>
          <p:nvPr/>
        </p:nvPicPr>
        <p:blipFill>
          <a:blip r:embed="rId9"/>
          <a:stretch>
            <a:fillRect/>
          </a:stretch>
        </p:blipFill>
        <p:spPr>
          <a:xfrm>
            <a:off x="218077" y="44880"/>
            <a:ext cx="690563" cy="6057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7" name="image.pdf"/>
          <p:cNvPicPr/>
          <p:nvPr/>
        </p:nvPicPr>
        <p:blipFill>
          <a:blip r:embed="rId10"/>
          <a:stretch>
            <a:fillRect/>
          </a:stretch>
        </p:blipFill>
        <p:spPr>
          <a:xfrm>
            <a:off x="6561137" y="457200"/>
            <a:ext cx="366713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image.pdf"/>
          <p:cNvPicPr/>
          <p:nvPr/>
        </p:nvPicPr>
        <p:blipFill>
          <a:blip r:embed="rId11"/>
          <a:stretch>
            <a:fillRect/>
          </a:stretch>
        </p:blipFill>
        <p:spPr>
          <a:xfrm>
            <a:off x="6594475" y="914400"/>
            <a:ext cx="298450" cy="307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image.pdf"/>
          <p:cNvPicPr/>
          <p:nvPr/>
        </p:nvPicPr>
        <p:blipFill>
          <a:blip r:embed="rId12"/>
          <a:stretch>
            <a:fillRect/>
          </a:stretch>
        </p:blipFill>
        <p:spPr>
          <a:xfrm>
            <a:off x="6553200" y="1295400"/>
            <a:ext cx="382588" cy="3714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image.pdf"/>
          <p:cNvPicPr/>
          <p:nvPr/>
        </p:nvPicPr>
        <p:blipFill>
          <a:blip r:embed="rId13"/>
          <a:stretch>
            <a:fillRect/>
          </a:stretch>
        </p:blipFill>
        <p:spPr>
          <a:xfrm>
            <a:off x="6591300" y="1765300"/>
            <a:ext cx="304800" cy="252413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image.pdf"/>
          <p:cNvPicPr/>
          <p:nvPr/>
        </p:nvPicPr>
        <p:blipFill>
          <a:blip r:embed="rId14"/>
          <a:stretch>
            <a:fillRect/>
          </a:stretch>
        </p:blipFill>
        <p:spPr>
          <a:xfrm>
            <a:off x="6657975" y="2057400"/>
            <a:ext cx="234950" cy="476250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Shape 262"/>
          <p:cNvSpPr/>
          <p:nvPr/>
        </p:nvSpPr>
        <p:spPr>
          <a:xfrm>
            <a:off x="5194300" y="5537200"/>
            <a:ext cx="74613" cy="3619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ln>
            <a:solidFill/>
            <a:round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63" name="Shape 263"/>
          <p:cNvSpPr/>
          <p:nvPr/>
        </p:nvSpPr>
        <p:spPr>
          <a:xfrm>
            <a:off x="4414837" y="5641231"/>
            <a:ext cx="11938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Font typeface="Helvetica"/>
              <a:defRPr sz="1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B</a:t>
            </a:r>
            <a:r>
              <a:rPr lang="en-US"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iomembrane</a:t>
            </a:r>
          </a:p>
        </p:txBody>
      </p:sp>
      <p:sp>
        <p:nvSpPr>
          <p:cNvPr id="264" name="Shape 264"/>
          <p:cNvSpPr/>
          <p:nvPr/>
        </p:nvSpPr>
        <p:spPr>
          <a:xfrm>
            <a:off x="211675" y="6070599"/>
            <a:ext cx="85513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Font typeface="Helvetica"/>
              <a:defRPr sz="1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F</a:t>
            </a:r>
            <a:r>
              <a:rPr lang="en-US"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ibronectin</a:t>
            </a:r>
          </a:p>
        </p:txBody>
      </p:sp>
      <p:sp>
        <p:nvSpPr>
          <p:cNvPr id="265" name="Shape 265"/>
          <p:cNvSpPr/>
          <p:nvPr/>
        </p:nvSpPr>
        <p:spPr>
          <a:xfrm>
            <a:off x="1274237" y="6070600"/>
            <a:ext cx="113188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Font typeface="Helvetica"/>
              <a:defRPr sz="1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B</a:t>
            </a:r>
            <a:r>
              <a:rPr lang="en-US"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lood clotting factor </a:t>
            </a:r>
            <a:r>
              <a: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XII</a:t>
            </a:r>
          </a:p>
        </p:txBody>
      </p:sp>
      <p:sp>
        <p:nvSpPr>
          <p:cNvPr id="266" name="Shape 266"/>
          <p:cNvSpPr/>
          <p:nvPr/>
        </p:nvSpPr>
        <p:spPr>
          <a:xfrm>
            <a:off x="2235200" y="6070600"/>
            <a:ext cx="135413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Font typeface="Helvetica"/>
              <a:defRPr sz="1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B</a:t>
            </a:r>
            <a:r>
              <a:rPr lang="en-US"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lood clotting factors </a:t>
            </a:r>
            <a:r>
              <a: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VII, IX, &amp; X</a:t>
            </a:r>
          </a:p>
        </p:txBody>
      </p:sp>
      <p:sp>
        <p:nvSpPr>
          <p:cNvPr id="267" name="Shape 267"/>
          <p:cNvSpPr/>
          <p:nvPr/>
        </p:nvSpPr>
        <p:spPr>
          <a:xfrm>
            <a:off x="3644900" y="6070600"/>
            <a:ext cx="9054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Font typeface="Helvetica"/>
              <a:defRPr sz="1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C</a:t>
            </a:r>
            <a:r>
              <a:rPr lang="en-US"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omplement protein </a:t>
            </a:r>
            <a:r>
              <a: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2</a:t>
            </a:r>
          </a:p>
        </p:txBody>
      </p:sp>
      <p:sp>
        <p:nvSpPr>
          <p:cNvPr id="268" name="Shape 268"/>
          <p:cNvSpPr/>
          <p:nvPr/>
        </p:nvSpPr>
        <p:spPr>
          <a:xfrm>
            <a:off x="5378450" y="6070600"/>
            <a:ext cx="12922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Font typeface="Helvetica"/>
              <a:defRPr sz="1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N-CAM, </a:t>
            </a:r>
            <a:r>
              <a:rPr lang="en-US"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 cell adhesion protein</a:t>
            </a:r>
          </a:p>
        </p:txBody>
      </p:sp>
      <p:sp>
        <p:nvSpPr>
          <p:cNvPr id="269" name="Shape 269"/>
          <p:cNvSpPr/>
          <p:nvPr/>
        </p:nvSpPr>
        <p:spPr>
          <a:xfrm>
            <a:off x="6698721" y="6079065"/>
            <a:ext cx="120226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Font typeface="Helvetica"/>
              <a:defRPr sz="1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nterleukin-2 receptor protein</a:t>
            </a:r>
          </a:p>
        </p:txBody>
      </p:sp>
      <p:sp>
        <p:nvSpPr>
          <p:cNvPr id="270" name="Shape 270"/>
          <p:cNvSpPr/>
          <p:nvPr/>
        </p:nvSpPr>
        <p:spPr>
          <a:xfrm>
            <a:off x="7805737" y="6070600"/>
            <a:ext cx="146050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Font typeface="Helvetica"/>
              <a:defRPr sz="1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latelet-derived growth factor receptor</a:t>
            </a:r>
          </a:p>
        </p:txBody>
      </p:sp>
      <p:sp>
        <p:nvSpPr>
          <p:cNvPr id="271" name="Shape 271"/>
          <p:cNvSpPr/>
          <p:nvPr/>
        </p:nvSpPr>
        <p:spPr>
          <a:xfrm>
            <a:off x="1014552" y="-38145"/>
            <a:ext cx="637902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200"/>
              </a:spcBef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E</a:t>
            </a:r>
            <a:r>
              <a:rPr lang="en-US" sz="22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xamples of “multi-fold” proteins  (schematic pics)</a:t>
            </a:r>
          </a:p>
        </p:txBody>
      </p:sp>
      <p:sp>
        <p:nvSpPr>
          <p:cNvPr id="272" name="Shape 272"/>
          <p:cNvSpPr/>
          <p:nvPr/>
        </p:nvSpPr>
        <p:spPr>
          <a:xfrm>
            <a:off x="762000" y="853444"/>
            <a:ext cx="1765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sz="1600"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600"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ibronectin</a:t>
            </a: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</a:p>
        </p:txBody>
      </p:sp>
      <p:sp>
        <p:nvSpPr>
          <p:cNvPr id="273" name="Shape 273"/>
          <p:cNvSpPr/>
          <p:nvPr/>
        </p:nvSpPr>
        <p:spPr>
          <a:xfrm>
            <a:off x="762000" y="1158244"/>
            <a:ext cx="2984501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B92FC2"/>
              </a:buClr>
              <a:buFont typeface="Helvetica"/>
              <a:defRPr sz="1600" b="1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nteracts with cell surface and extracellular matrix</a:t>
            </a:r>
          </a:p>
        </p:txBody>
      </p:sp>
      <p:sp>
        <p:nvSpPr>
          <p:cNvPr id="274" name="Shape 274"/>
          <p:cNvSpPr/>
          <p:nvPr/>
        </p:nvSpPr>
        <p:spPr>
          <a:xfrm>
            <a:off x="3810000" y="853443"/>
            <a:ext cx="2171700" cy="738664"/>
          </a:xfrm>
          <a:prstGeom prst="rect">
            <a:avLst/>
          </a:prstGeom>
          <a:ln>
            <a:solidFill>
              <a:srgbClr val="1E31E3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1E31E3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hese 7 proteins are </a:t>
            </a:r>
            <a:r>
              <a:rPr lang="en-US" sz="1600" b="0" u="sng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single chains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with some repeated folds – WHY???</a:t>
            </a:r>
          </a:p>
        </p:txBody>
      </p:sp>
      <p:sp>
        <p:nvSpPr>
          <p:cNvPr id="275" name="Shape 275"/>
          <p:cNvSpPr/>
          <p:nvPr/>
        </p:nvSpPr>
        <p:spPr>
          <a:xfrm>
            <a:off x="6684962" y="2590800"/>
            <a:ext cx="209551" cy="1284288"/>
          </a:xfrm>
          <a:prstGeom prst="rect">
            <a:avLst/>
          </a:prstGeom>
          <a:ln w="12700">
            <a:solidFill/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82" name="Group 282"/>
          <p:cNvGrpSpPr/>
          <p:nvPr/>
        </p:nvGrpSpPr>
        <p:grpSpPr>
          <a:xfrm>
            <a:off x="7010400" y="520700"/>
            <a:ext cx="2070100" cy="2698651"/>
            <a:chOff x="0" y="0"/>
            <a:chExt cx="2070100" cy="2698650"/>
          </a:xfrm>
        </p:grpSpPr>
        <p:sp>
          <p:nvSpPr>
            <p:cNvPr id="276" name="Shape 276"/>
            <p:cNvSpPr/>
            <p:nvPr/>
          </p:nvSpPr>
          <p:spPr>
            <a:xfrm>
              <a:off x="0" y="0"/>
              <a:ext cx="1993900" cy="153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600"/>
                </a:spcBef>
                <a:buClr>
                  <a:srgbClr val="000000"/>
                </a:buClr>
                <a:buFont typeface="Helvetica"/>
                <a:defRPr sz="1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0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F</a:t>
              </a:r>
              <a:r>
                <a:rPr lang="en-US" sz="1000" b="0" dirty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ibronectin folds</a:t>
              </a:r>
            </a:p>
          </p:txBody>
        </p:sp>
        <p:sp>
          <p:nvSpPr>
            <p:cNvPr id="277" name="Shape 277"/>
            <p:cNvSpPr/>
            <p:nvPr/>
          </p:nvSpPr>
          <p:spPr>
            <a:xfrm>
              <a:off x="0" y="417512"/>
              <a:ext cx="2070100" cy="153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600"/>
                </a:spcBef>
                <a:buClr>
                  <a:srgbClr val="000000"/>
                </a:buClr>
                <a:buFont typeface="Helvetica"/>
                <a:defRPr sz="1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0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G</a:t>
              </a:r>
              <a:r>
                <a:rPr lang="en-US" sz="10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rowth factor fold</a:t>
              </a:r>
            </a:p>
          </p:txBody>
        </p:sp>
        <p:sp>
          <p:nvSpPr>
            <p:cNvPr id="278" name="Shape 278"/>
            <p:cNvSpPr/>
            <p:nvPr/>
          </p:nvSpPr>
          <p:spPr>
            <a:xfrm>
              <a:off x="0" y="850900"/>
              <a:ext cx="1993900" cy="153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600"/>
                </a:spcBef>
                <a:buClr>
                  <a:srgbClr val="000000"/>
                </a:buClr>
                <a:buFont typeface="Helvetica"/>
                <a:defRPr sz="1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0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K</a:t>
              </a:r>
              <a:r>
                <a:rPr lang="en-US" sz="10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ringle fold</a:t>
              </a:r>
            </a:p>
          </p:txBody>
        </p:sp>
        <p:sp>
          <p:nvSpPr>
            <p:cNvPr id="279" name="Shape 279"/>
            <p:cNvSpPr/>
            <p:nvPr/>
          </p:nvSpPr>
          <p:spPr>
            <a:xfrm>
              <a:off x="0" y="1200150"/>
              <a:ext cx="1993900" cy="153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600"/>
                </a:spcBef>
                <a:buClr>
                  <a:srgbClr val="000000"/>
                </a:buClr>
                <a:buFont typeface="Helvetica"/>
                <a:defRPr sz="1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0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C</a:t>
              </a:r>
              <a:r>
                <a:rPr lang="en-US" sz="10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omplement control protein fold</a:t>
              </a:r>
              <a:endParaRPr sz="10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80" name="Shape 280"/>
            <p:cNvSpPr/>
            <p:nvPr/>
          </p:nvSpPr>
          <p:spPr>
            <a:xfrm>
              <a:off x="0" y="1689100"/>
              <a:ext cx="2070100" cy="153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600"/>
                </a:spcBef>
                <a:buClr>
                  <a:srgbClr val="000000"/>
                </a:buClr>
                <a:buFont typeface="Helvetica"/>
                <a:defRPr sz="1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0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I</a:t>
              </a:r>
              <a:r>
                <a:rPr lang="en-US" sz="10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mmunoglobulin fold</a:t>
              </a:r>
            </a:p>
          </p:txBody>
        </p:sp>
        <p:sp>
          <p:nvSpPr>
            <p:cNvPr id="281" name="Shape 281"/>
            <p:cNvSpPr/>
            <p:nvPr/>
          </p:nvSpPr>
          <p:spPr>
            <a:xfrm>
              <a:off x="0" y="2544762"/>
              <a:ext cx="1765300" cy="153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600"/>
                </a:spcBef>
                <a:buClr>
                  <a:srgbClr val="000000"/>
                </a:buClr>
                <a:buFont typeface="Helvetica"/>
                <a:defRPr sz="10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uFillTx/>
                </a:defRPr>
              </a:pPr>
              <a:r>
                <a:rPr sz="10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O</a:t>
              </a:r>
              <a:r>
                <a:rPr lang="en-US" sz="10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ther parts of the protein</a:t>
              </a:r>
            </a:p>
          </p:txBody>
        </p:sp>
      </p:grpSp>
      <p:sp>
        <p:nvSpPr>
          <p:cNvPr id="283" name="Shape 283"/>
          <p:cNvSpPr/>
          <p:nvPr/>
        </p:nvSpPr>
        <p:spPr>
          <a:xfrm>
            <a:off x="6510337" y="280943"/>
            <a:ext cx="2397126" cy="3732213"/>
          </a:xfrm>
          <a:prstGeom prst="rect">
            <a:avLst/>
          </a:prstGeom>
          <a:ln>
            <a:solidFill>
              <a:srgbClr val="184AFF"/>
            </a:solidFill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84" name="Shape 284"/>
          <p:cNvSpPr/>
          <p:nvPr/>
        </p:nvSpPr>
        <p:spPr>
          <a:xfrm>
            <a:off x="7062523" y="253434"/>
            <a:ext cx="171026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184AFF"/>
              </a:buClr>
              <a:buFont typeface="Helvetica"/>
              <a:defRPr sz="1400" b="1">
                <a:solidFill>
                  <a:srgbClr val="184AFF"/>
                </a:solidFill>
                <a:uFill>
                  <a:solidFill>
                    <a:srgbClr val="184A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F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olds shown: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FEFB9-61C8-6044-824F-EAA9AF7C8045}"/>
              </a:ext>
            </a:extLst>
          </p:cNvPr>
          <p:cNvSpPr txBox="1"/>
          <p:nvPr/>
        </p:nvSpPr>
        <p:spPr>
          <a:xfrm>
            <a:off x="1946321" y="289143"/>
            <a:ext cx="4683034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rtl="0" latinLnBrk="1" hangingPunct="0"/>
            <a:r>
              <a:rPr lang="en-US" b="0" dirty="0">
                <a:latin typeface="Gill Sans" charset="0"/>
                <a:ea typeface="Gill Sans" charset="0"/>
                <a:cs typeface="Gill Sans" charset="0"/>
              </a:rPr>
              <a:t>Each a single polypeptide chain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E02BD-5A67-7541-A3FE-793A17283A5F}"/>
              </a:ext>
            </a:extLst>
          </p:cNvPr>
          <p:cNvSpPr txBox="1"/>
          <p:nvPr/>
        </p:nvSpPr>
        <p:spPr>
          <a:xfrm>
            <a:off x="1720089" y="1672050"/>
            <a:ext cx="4780476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l" rtl="0" latinLnBrk="1" hangingPunct="0"/>
            <a:r>
              <a:rPr lang="en-US" sz="14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Tune specificity and affinity for targets: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  <a:p>
            <a:pPr marL="326389" marR="40639" indent="-28575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Individual repeats may have distinct binding properties</a:t>
            </a:r>
          </a:p>
          <a:p>
            <a:pPr marL="326389" marR="40639" indent="-28575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b="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Repeat distance may provide spatial requirement</a:t>
            </a:r>
          </a:p>
          <a:p>
            <a:pPr marL="326389" marR="40639" indent="-28575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rPr>
              <a:t>Target might have multiple recognition motifs!</a:t>
            </a:r>
          </a:p>
        </p:txBody>
      </p:sp>
    </p:spTree>
    <p:extLst>
      <p:ext uri="{BB962C8B-B14F-4D97-AF65-F5344CB8AC3E}">
        <p14:creationId xmlns:p14="http://schemas.microsoft.com/office/powerpoint/2010/main" val="106284705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" grpId="0" advAuto="0"/>
      <p:bldP spid="249" grpId="0" animBg="1" advAuto="0"/>
      <p:bldP spid="272" grpId="0" animBg="1" advAuto="0"/>
      <p:bldP spid="273" grpId="0" animBg="1" advAuto="0"/>
      <p:bldP spid="274" grpId="0" animBg="1" advAuto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/>
          <p:nvPr/>
        </p:nvSpPr>
        <p:spPr>
          <a:xfrm>
            <a:off x="6553200" y="457200"/>
            <a:ext cx="27559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100"/>
              </a:spcBef>
              <a:buClr>
                <a:srgbClr val="000000"/>
              </a:buClr>
              <a:buFont typeface="Helvetica"/>
              <a:defRPr sz="1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b="0">
                <a:uFillTx/>
              </a:defRPr>
            </a:pPr>
            <a:r>
              <a:rPr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mmunoglobulin</a:t>
            </a:r>
            <a:r>
              <a:rPr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G</a:t>
            </a:r>
          </a:p>
        </p:txBody>
      </p:sp>
      <p:sp>
        <p:nvSpPr>
          <p:cNvPr id="287" name="Shape 287"/>
          <p:cNvSpPr/>
          <p:nvPr/>
        </p:nvSpPr>
        <p:spPr>
          <a:xfrm>
            <a:off x="21772" y="270935"/>
            <a:ext cx="9004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B92FC2"/>
              </a:buClr>
              <a:buFont typeface="Helvetica"/>
              <a:defRPr sz="1600" b="1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J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argon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A 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“subunit” 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= O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ne polypeptide chain</a:t>
            </a:r>
          </a:p>
        </p:txBody>
      </p:sp>
      <p:grpSp>
        <p:nvGrpSpPr>
          <p:cNvPr id="290" name="Group 290"/>
          <p:cNvGrpSpPr/>
          <p:nvPr/>
        </p:nvGrpSpPr>
        <p:grpSpPr>
          <a:xfrm>
            <a:off x="-76200" y="3716337"/>
            <a:ext cx="6489702" cy="889001"/>
            <a:chOff x="0" y="0"/>
            <a:chExt cx="6489701" cy="889000"/>
          </a:xfrm>
        </p:grpSpPr>
        <p:sp>
          <p:nvSpPr>
            <p:cNvPr id="288" name="Shape 288"/>
            <p:cNvSpPr/>
            <p:nvPr/>
          </p:nvSpPr>
          <p:spPr>
            <a:xfrm>
              <a:off x="0" y="0"/>
              <a:ext cx="6489701" cy="889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spcBef>
                  <a:spcPts val="900"/>
                </a:spcBef>
                <a:buClr>
                  <a:srgbClr val="000000"/>
                </a:buClr>
                <a:buFont typeface="Helvetica"/>
                <a:defRPr sz="1800">
                  <a:uFillTx/>
                </a:defRPr>
              </a:pPr>
              <a:r>
                <a:rPr sz="1600" b="0">
                  <a:solidFill>
                    <a:schemeClr val="tx1"/>
                  </a:solidFill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         </a:t>
              </a:r>
              <a:r>
                <a:rPr sz="1600" b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G</a:t>
              </a:r>
              <a:r>
                <a:rPr lang="en-US" sz="1600" b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ood steric and chemical </a:t>
              </a:r>
              <a:r>
                <a:rPr lang="en-US" sz="2000" b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Chalkboard"/>
                </a:rPr>
                <a:t>“fit of surfaces”</a:t>
              </a:r>
              <a:r>
                <a:rPr lang="en-US" sz="1600" b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  <a:sym typeface="Helvetica"/>
                </a:rPr>
                <a:t>: </a:t>
              </a:r>
            </a:p>
          </p:txBody>
        </p:sp>
        <p:sp>
          <p:nvSpPr>
            <p:cNvPr id="289" name="Shape 289"/>
            <p:cNvSpPr/>
            <p:nvPr/>
          </p:nvSpPr>
          <p:spPr>
            <a:xfrm flipV="1">
              <a:off x="177799" y="191889"/>
              <a:ext cx="351035" cy="199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291" name="Shape 291"/>
          <p:cNvSpPr/>
          <p:nvPr/>
        </p:nvSpPr>
        <p:spPr>
          <a:xfrm>
            <a:off x="326580" y="4386942"/>
            <a:ext cx="50419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B92FC2"/>
              </a:buClr>
              <a:buSzPct val="100000"/>
              <a:buFont typeface="Helvetica"/>
              <a:buChar char="•"/>
              <a:defRPr sz="1600" b="1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I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on-pair and 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H-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bond partners match up;</a:t>
            </a:r>
          </a:p>
        </p:txBody>
      </p:sp>
      <p:sp>
        <p:nvSpPr>
          <p:cNvPr id="292" name="Shape 292"/>
          <p:cNvSpPr/>
          <p:nvPr/>
        </p:nvSpPr>
        <p:spPr>
          <a:xfrm>
            <a:off x="326580" y="4717142"/>
            <a:ext cx="61087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B92FC2"/>
              </a:buClr>
              <a:buSzPct val="100000"/>
              <a:buFont typeface="Helvetica"/>
              <a:buChar char="•"/>
              <a:defRPr sz="1600" b="1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S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ometimes, disulfide bonds between subunits</a:t>
            </a:r>
          </a:p>
        </p:txBody>
      </p:sp>
      <p:sp>
        <p:nvSpPr>
          <p:cNvPr id="293" name="Shape 293"/>
          <p:cNvSpPr/>
          <p:nvPr/>
        </p:nvSpPr>
        <p:spPr>
          <a:xfrm>
            <a:off x="0" y="5143500"/>
            <a:ext cx="36703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1100"/>
              </a:spcBef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</a:t>
            </a:r>
            <a:r>
              <a:rPr lang="en-US"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xamples of </a:t>
            </a:r>
            <a:r>
              <a:rPr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IV</a:t>
            </a:r>
            <a:r>
              <a:rPr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</a:t>
            </a:r>
          </a:p>
        </p:txBody>
      </p:sp>
      <p:sp>
        <p:nvSpPr>
          <p:cNvPr id="294" name="Shape 294"/>
          <p:cNvSpPr/>
          <p:nvPr/>
        </p:nvSpPr>
        <p:spPr>
          <a:xfrm>
            <a:off x="0" y="5448300"/>
            <a:ext cx="38989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B92FC2"/>
              </a:buClr>
              <a:buSzPct val="100000"/>
              <a:buFont typeface="Helvetica"/>
              <a:buChar char="•"/>
              <a:defRPr sz="1600" b="1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T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ypical protein in a cell!</a:t>
            </a:r>
          </a:p>
        </p:txBody>
      </p:sp>
      <p:sp>
        <p:nvSpPr>
          <p:cNvPr id="295" name="Shape 295"/>
          <p:cNvSpPr/>
          <p:nvPr/>
        </p:nvSpPr>
        <p:spPr>
          <a:xfrm>
            <a:off x="0" y="5676900"/>
            <a:ext cx="4432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B92FC2"/>
              </a:buClr>
              <a:buSzPct val="100000"/>
              <a:buFont typeface="Helvetica"/>
              <a:buChar char="•"/>
              <a:defRPr sz="1600" b="1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R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ibosome, 30 - 40 subunits</a:t>
            </a:r>
          </a:p>
        </p:txBody>
      </p:sp>
      <p:sp>
        <p:nvSpPr>
          <p:cNvPr id="296" name="Shape 296"/>
          <p:cNvSpPr/>
          <p:nvPr/>
        </p:nvSpPr>
        <p:spPr>
          <a:xfrm>
            <a:off x="-1" y="5930900"/>
            <a:ext cx="458470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B92FC2"/>
              </a:buClr>
              <a:buSzPct val="100000"/>
              <a:buFont typeface="Helvetica"/>
              <a:buChar char="•"/>
              <a:defRPr sz="1600" b="1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V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iruses, can have 100s of subunits</a:t>
            </a:r>
          </a:p>
        </p:txBody>
      </p:sp>
      <p:sp>
        <p:nvSpPr>
          <p:cNvPr id="297" name="Shape 297"/>
          <p:cNvSpPr/>
          <p:nvPr/>
        </p:nvSpPr>
        <p:spPr>
          <a:xfrm>
            <a:off x="0" y="6172200"/>
            <a:ext cx="4813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40640">
              <a:spcBef>
                <a:spcPts val="900"/>
              </a:spcBef>
              <a:buClr>
                <a:srgbClr val="B92FC2"/>
              </a:buClr>
              <a:buSzPct val="100000"/>
              <a:buFont typeface="Helvetica"/>
              <a:buChar char="•"/>
              <a:defRPr sz="1600" b="1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buClr>
                <a:schemeClr val="tx1"/>
              </a:buClr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M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uscle filaments, histones, many enz.</a:t>
            </a:r>
          </a:p>
        </p:txBody>
      </p:sp>
      <p:sp>
        <p:nvSpPr>
          <p:cNvPr id="298" name="Shape 298"/>
          <p:cNvSpPr/>
          <p:nvPr/>
        </p:nvSpPr>
        <p:spPr>
          <a:xfrm>
            <a:off x="5257800" y="5143500"/>
            <a:ext cx="32893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100"/>
              </a:spcBef>
              <a:buClr>
                <a:srgbClr val="B92FC2"/>
              </a:buClr>
              <a:buFont typeface="Helvetica"/>
              <a:defRPr sz="1800" b="1" u="sng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b="0" u="none">
                <a:solidFill>
                  <a:srgbClr val="000000"/>
                </a:solidFill>
                <a:uFillTx/>
              </a:defRPr>
            </a:pPr>
            <a:r>
              <a:rPr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lang="en-US"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ignificance of </a:t>
            </a:r>
            <a:r>
              <a:rPr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IV:</a:t>
            </a:r>
          </a:p>
        </p:txBody>
      </p:sp>
      <p:sp>
        <p:nvSpPr>
          <p:cNvPr id="299" name="Shape 299"/>
          <p:cNvSpPr/>
          <p:nvPr/>
        </p:nvSpPr>
        <p:spPr>
          <a:xfrm>
            <a:off x="5257800" y="5422900"/>
            <a:ext cx="3836988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B92FC2"/>
              </a:buClr>
              <a:buFont typeface="Helvetica"/>
              <a:defRPr sz="1600" b="1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1. N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eed many components for complex tasks, e.g. ribosome</a:t>
            </a:r>
          </a:p>
        </p:txBody>
      </p:sp>
      <p:sp>
        <p:nvSpPr>
          <p:cNvPr id="300" name="Shape 300"/>
          <p:cNvSpPr/>
          <p:nvPr/>
        </p:nvSpPr>
        <p:spPr>
          <a:xfrm>
            <a:off x="5257800" y="5956300"/>
            <a:ext cx="3836988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2. IV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structure can switch between 2 forms!  Key to protein regulation</a:t>
            </a:r>
          </a:p>
        </p:txBody>
      </p:sp>
      <p:sp>
        <p:nvSpPr>
          <p:cNvPr id="301" name="Shape 301"/>
          <p:cNvSpPr>
            <a:spLocks noGrp="1"/>
          </p:cNvSpPr>
          <p:nvPr>
            <p:ph type="title"/>
          </p:nvPr>
        </p:nvSpPr>
        <p:spPr>
          <a:xfrm>
            <a:off x="685800" y="-110068"/>
            <a:ext cx="7772400" cy="4572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sz="2200" u="sng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S</a:t>
            </a:r>
            <a:r>
              <a:rPr lang="en-US" sz="2200" u="sng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table</a:t>
            </a:r>
            <a:r>
              <a:rPr lang="en-US" sz="22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quaternary structure</a:t>
            </a:r>
            <a:r>
              <a:rPr sz="220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, IV</a:t>
            </a:r>
          </a:p>
        </p:txBody>
      </p:sp>
      <p:grpSp>
        <p:nvGrpSpPr>
          <p:cNvPr id="304" name="Group 304"/>
          <p:cNvGrpSpPr/>
          <p:nvPr/>
        </p:nvGrpSpPr>
        <p:grpSpPr>
          <a:xfrm>
            <a:off x="326580" y="4082142"/>
            <a:ext cx="9309100" cy="246221"/>
            <a:chOff x="0" y="0"/>
            <a:chExt cx="9309100" cy="246221"/>
          </a:xfrm>
        </p:grpSpPr>
        <p:sp>
          <p:nvSpPr>
            <p:cNvPr id="302" name="Shape 302"/>
            <p:cNvSpPr/>
            <p:nvPr/>
          </p:nvSpPr>
          <p:spPr>
            <a:xfrm>
              <a:off x="0" y="0"/>
              <a:ext cx="93091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marL="40640">
                <a:spcBef>
                  <a:spcPts val="900"/>
                </a:spcBef>
                <a:buClr>
                  <a:srgbClr val="B92FC2"/>
                </a:buClr>
                <a:buSzPct val="100000"/>
                <a:buFont typeface="Helvetica"/>
                <a:buChar char="•"/>
                <a:defRPr sz="1600" b="1">
                  <a:solidFill>
                    <a:srgbClr val="B92FC2"/>
                  </a:solidFill>
                  <a:uFill>
                    <a:solidFill>
                      <a:srgbClr val="B92FC2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buClr>
                  <a:schemeClr val="tx1"/>
                </a:buClr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S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urface nonpolar patches match up         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H</a:t>
              </a:r>
              <a:r>
                <a:rPr lang="en-US" sz="16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ydrophobic interaction at work</a:t>
              </a:r>
              <a:r>
                <a:rPr sz="1600" b="0" dirty="0">
                  <a:solidFill>
                    <a:schemeClr val="tx1"/>
                  </a:solidFill>
                  <a:uFill>
                    <a:solidFill>
                      <a:srgbClr val="B92FC2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!   </a:t>
              </a:r>
            </a:p>
          </p:txBody>
        </p:sp>
        <p:sp>
          <p:nvSpPr>
            <p:cNvPr id="303" name="Shape 303"/>
            <p:cNvSpPr/>
            <p:nvPr/>
          </p:nvSpPr>
          <p:spPr>
            <a:xfrm flipV="1">
              <a:off x="3138055" y="150063"/>
              <a:ext cx="414237" cy="0"/>
            </a:xfrm>
            <a:prstGeom prst="line">
              <a:avLst/>
            </a:prstGeom>
            <a:noFill/>
            <a:ln w="28575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buClr>
                  <a:schemeClr val="tx1"/>
                </a:buClr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307" name="Shape 307"/>
          <p:cNvSpPr/>
          <p:nvPr/>
        </p:nvSpPr>
        <p:spPr>
          <a:xfrm>
            <a:off x="3219452" y="713773"/>
            <a:ext cx="77470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1000"/>
              </a:spcBef>
              <a:buClr>
                <a:srgbClr val="B92FC2"/>
              </a:buClr>
              <a:buFont typeface="Symbol"/>
              <a:defRPr sz="1800">
                <a:uFillTx/>
              </a:defRPr>
            </a:pPr>
            <a:r>
              <a:rPr sz="20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sz="2100" b="0" baseline="-14999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  <a:r>
              <a:rPr sz="20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  <a:r>
              <a:rPr sz="2100" b="0" baseline="-14999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</a:p>
        </p:txBody>
      </p:sp>
      <p:sp>
        <p:nvSpPr>
          <p:cNvPr id="308" name="Shape 308"/>
          <p:cNvSpPr/>
          <p:nvPr/>
        </p:nvSpPr>
        <p:spPr>
          <a:xfrm>
            <a:off x="0" y="508002"/>
            <a:ext cx="626110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B92FC2"/>
              </a:buClr>
              <a:buFont typeface="Helvetica"/>
              <a:defRPr sz="1600" b="1">
                <a:solidFill>
                  <a:srgbClr val="B92FC2"/>
                </a:solidFill>
                <a:uFill>
                  <a:solidFill>
                    <a:srgbClr val="B92FC2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D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efinition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IV 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means having more than one subunit</a:t>
            </a:r>
            <a:endParaRPr sz="1600" b="0">
              <a:solidFill>
                <a:schemeClr val="tx1"/>
              </a:solidFill>
              <a:uFill>
                <a:solidFill>
                  <a:srgbClr val="B92FC2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pic>
        <p:nvPicPr>
          <p:cNvPr id="309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-55563" y="785812"/>
            <a:ext cx="2747392" cy="2501918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Shape 311"/>
          <p:cNvSpPr/>
          <p:nvPr/>
        </p:nvSpPr>
        <p:spPr>
          <a:xfrm>
            <a:off x="2292350" y="1058218"/>
            <a:ext cx="20701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100"/>
              </a:spcBef>
              <a:buClr>
                <a:srgbClr val="000000"/>
              </a:buClr>
              <a:buFont typeface="Helvetica"/>
              <a:defRPr sz="18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b="0">
                <a:uFillTx/>
              </a:defRPr>
            </a:pPr>
            <a:r>
              <a:rPr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</a:t>
            </a:r>
            <a:r>
              <a:rPr lang="en-US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emoglobin</a:t>
            </a:r>
          </a:p>
        </p:txBody>
      </p:sp>
      <p:pic>
        <p:nvPicPr>
          <p:cNvPr id="312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5856270" y="1006867"/>
            <a:ext cx="3363930" cy="2761858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Shape 313"/>
          <p:cNvSpPr/>
          <p:nvPr/>
        </p:nvSpPr>
        <p:spPr>
          <a:xfrm>
            <a:off x="7655031" y="762550"/>
            <a:ext cx="6985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</a:t>
            </a:r>
            <a:r>
              <a:rPr sz="2100" b="0" baseline="-14999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</a:t>
            </a:r>
            <a:r>
              <a:rPr sz="2100" b="0" baseline="-14999">
                <a:solidFill>
                  <a:schemeClr val="tx1"/>
                </a:solidFill>
                <a:uFill>
                  <a:solidFill>
                    <a:srgbClr val="B92FC2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</a:p>
        </p:txBody>
      </p:sp>
      <p:sp>
        <p:nvSpPr>
          <p:cNvPr id="314" name="Shape 314"/>
          <p:cNvSpPr/>
          <p:nvPr/>
        </p:nvSpPr>
        <p:spPr>
          <a:xfrm>
            <a:off x="2768030" y="1447800"/>
            <a:ext cx="3289300" cy="1538883"/>
          </a:xfrm>
          <a:prstGeom prst="rect">
            <a:avLst/>
          </a:prstGeom>
          <a:ln>
            <a:solidFill>
              <a:srgbClr val="B92FC2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ote</a:t>
            </a: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</a:t>
            </a:r>
            <a:r>
              <a:rPr sz="1600"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F</a:t>
            </a:r>
            <a:r>
              <a:rPr lang="en-US" sz="1600"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ew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rules for signifying each subunit</a:t>
            </a: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!  </a:t>
            </a:r>
            <a:r>
              <a:rPr sz="20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Bradley Hand ITC TT-Bold"/>
              </a:rPr>
              <a:t>G</a:t>
            </a:r>
            <a:r>
              <a:rPr lang="en-US" sz="20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Bradley Hand ITC TT-Bold"/>
              </a:rPr>
              <a:t>reek alphabet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</a:t>
            </a: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OK, lower case or UPPER CASE LETTERS OK.  B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ut same symbol means same subunit in that protein</a:t>
            </a: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, e.g. </a:t>
            </a: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α</a:t>
            </a:r>
            <a:r>
              <a:rPr sz="2100" b="0" baseline="-14999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Symbol"/>
              </a:rPr>
              <a:t>β</a:t>
            </a:r>
            <a:r>
              <a:rPr sz="2100" b="0" baseline="-14999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or a</a:t>
            </a:r>
            <a:r>
              <a:rPr sz="2100" b="0" baseline="-14999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b</a:t>
            </a:r>
            <a:r>
              <a:rPr sz="2100" b="0" baseline="-14999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or H</a:t>
            </a:r>
            <a:r>
              <a:rPr sz="2100" b="0" baseline="-14999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  <a:r>
              <a:rPr sz="1600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L</a:t>
            </a:r>
            <a:r>
              <a:rPr sz="2100" b="0" baseline="-14999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2</a:t>
            </a:r>
          </a:p>
        </p:txBody>
      </p:sp>
      <p:sp>
        <p:nvSpPr>
          <p:cNvPr id="315" name="Shape 315"/>
          <p:cNvSpPr/>
          <p:nvPr/>
        </p:nvSpPr>
        <p:spPr>
          <a:xfrm>
            <a:off x="6851606" y="804411"/>
            <a:ext cx="803425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3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4 </a:t>
            </a:r>
            <a:r>
              <a:rPr lang="en-US" sz="13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subunits:</a:t>
            </a:r>
          </a:p>
        </p:txBody>
      </p:sp>
      <p:sp>
        <p:nvSpPr>
          <p:cNvPr id="316" name="Shape 316"/>
          <p:cNvSpPr/>
          <p:nvPr/>
        </p:nvSpPr>
        <p:spPr>
          <a:xfrm>
            <a:off x="-25398" y="3429000"/>
            <a:ext cx="64897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1100"/>
              </a:spcBef>
              <a:buClr>
                <a:srgbClr val="B92FC2"/>
              </a:buClr>
              <a:buFont typeface="Helvetica"/>
              <a:defRPr sz="1800">
                <a:uFillTx/>
              </a:defRPr>
            </a:pPr>
            <a:r>
              <a:rPr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</a:t>
            </a:r>
            <a:r>
              <a:rPr lang="en-US" b="0" u="sng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n general</a:t>
            </a:r>
            <a:r>
              <a:rPr lang="en-US"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, what holds chains together in </a:t>
            </a:r>
            <a:r>
              <a:rPr b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IV?</a:t>
            </a:r>
          </a:p>
        </p:txBody>
      </p:sp>
      <p:sp>
        <p:nvSpPr>
          <p:cNvPr id="31" name="Shape 315"/>
          <p:cNvSpPr/>
          <p:nvPr/>
        </p:nvSpPr>
        <p:spPr>
          <a:xfrm>
            <a:off x="2442341" y="793771"/>
            <a:ext cx="803425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3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4 </a:t>
            </a:r>
            <a:r>
              <a:rPr lang="en-US" sz="13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subunits: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CD5A0E-104C-6D4A-A1B9-317E4E756211}"/>
              </a:ext>
            </a:extLst>
          </p:cNvPr>
          <p:cNvCxnSpPr/>
          <p:nvPr/>
        </p:nvCxnSpPr>
        <p:spPr>
          <a:xfrm>
            <a:off x="2691829" y="3974841"/>
            <a:ext cx="1497616" cy="0"/>
          </a:xfrm>
          <a:prstGeom prst="line">
            <a:avLst/>
          </a:prstGeom>
          <a:noFill/>
          <a:ln w="28575" cap="flat">
            <a:solidFill>
              <a:srgbClr val="1855FF"/>
            </a:solidFill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7894684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" grpId="0" advAuto="0"/>
      <p:bldP spid="291" grpId="0" animBg="1" advAuto="0"/>
      <p:bldP spid="292" grpId="0" animBg="1" advAuto="0"/>
      <p:bldP spid="293" grpId="0" animBg="1" advAuto="0"/>
      <p:bldP spid="294" grpId="0" animBg="1" advAuto="0"/>
      <p:bldP spid="295" grpId="0" animBg="1" advAuto="0"/>
      <p:bldP spid="296" grpId="0" animBg="1" advAuto="0"/>
      <p:bldP spid="297" grpId="0" animBg="1" advAuto="0"/>
      <p:bldP spid="298" grpId="0" animBg="1" advAuto="0"/>
      <p:bldP spid="299" grpId="0" animBg="1" advAuto="0"/>
      <p:bldP spid="300" grpId="0" animBg="1" advAuto="0"/>
      <p:bldP spid="307" grpId="0" animBg="1" advAuto="0"/>
      <p:bldP spid="313" grpId="0" animBg="1" advAuto="0"/>
      <p:bldP spid="314" grpId="0" animBg="1" advAuto="0"/>
      <p:bldP spid="316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3822700" y="1752600"/>
            <a:ext cx="3048000" cy="2278063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Shape 319"/>
          <p:cNvSpPr/>
          <p:nvPr/>
        </p:nvSpPr>
        <p:spPr>
          <a:xfrm>
            <a:off x="5791200" y="1617404"/>
            <a:ext cx="3175000" cy="430887"/>
          </a:xfrm>
          <a:prstGeom prst="rect">
            <a:avLst/>
          </a:prstGeom>
          <a:ln>
            <a:solidFill/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his complex of 5 proteins assembles as the 1st step to send “insulin signal”</a:t>
            </a:r>
          </a:p>
        </p:txBody>
      </p:sp>
      <p:sp>
        <p:nvSpPr>
          <p:cNvPr id="320" name="Shape 320"/>
          <p:cNvSpPr/>
          <p:nvPr/>
        </p:nvSpPr>
        <p:spPr>
          <a:xfrm>
            <a:off x="-1" y="265112"/>
            <a:ext cx="9156702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lang="en-US" sz="16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ubunits are called “binding/interaction domains” or "scaffold proteins"</a:t>
            </a:r>
          </a:p>
        </p:txBody>
      </p:sp>
      <p:sp>
        <p:nvSpPr>
          <p:cNvPr id="321" name="Shape 321"/>
          <p:cNvSpPr/>
          <p:nvPr/>
        </p:nvSpPr>
        <p:spPr>
          <a:xfrm>
            <a:off x="0" y="806450"/>
            <a:ext cx="9293606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8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4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J</a:t>
            </a:r>
            <a:r>
              <a:rPr lang="en-US" sz="1400" b="0" u="sng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argon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: 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B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inding/interaction domains = scaffold proteins:  </a:t>
            </a: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B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ind with another molecule, but only when a signal is received, i.e. self-assembled IV structure, but transient.</a:t>
            </a:r>
          </a:p>
        </p:txBody>
      </p:sp>
      <p:pic>
        <p:nvPicPr>
          <p:cNvPr id="322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1879600"/>
            <a:ext cx="836613" cy="620713"/>
          </a:xfrm>
          <a:prstGeom prst="rect">
            <a:avLst/>
          </a:prstGeom>
          <a:ln w="12700">
            <a:miter lim="400000"/>
          </a:ln>
        </p:spPr>
      </p:pic>
      <p:pic>
        <p:nvPicPr>
          <p:cNvPr id="323" name="image.pdf"/>
          <p:cNvPicPr/>
          <p:nvPr/>
        </p:nvPicPr>
        <p:blipFill>
          <a:blip r:embed="rId5"/>
          <a:stretch>
            <a:fillRect/>
          </a:stretch>
        </p:blipFill>
        <p:spPr>
          <a:xfrm>
            <a:off x="304800" y="2819400"/>
            <a:ext cx="685800" cy="617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" name="image.pdf"/>
          <p:cNvPicPr/>
          <p:nvPr/>
        </p:nvPicPr>
        <p:blipFill>
          <a:blip r:embed="rId6"/>
          <a:stretch>
            <a:fillRect/>
          </a:stretch>
        </p:blipFill>
        <p:spPr>
          <a:xfrm>
            <a:off x="1752600" y="2184400"/>
            <a:ext cx="695325" cy="6699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" name="image.pdf"/>
          <p:cNvPicPr/>
          <p:nvPr/>
        </p:nvPicPr>
        <p:blipFill>
          <a:blip r:embed="rId7"/>
          <a:stretch>
            <a:fillRect/>
          </a:stretch>
        </p:blipFill>
        <p:spPr>
          <a:xfrm>
            <a:off x="1447800" y="3048000"/>
            <a:ext cx="839788" cy="7524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image.pdf"/>
          <p:cNvPicPr/>
          <p:nvPr/>
        </p:nvPicPr>
        <p:blipFill>
          <a:blip r:embed="rId8"/>
          <a:stretch>
            <a:fillRect/>
          </a:stretch>
        </p:blipFill>
        <p:spPr>
          <a:xfrm>
            <a:off x="1295400" y="1270000"/>
            <a:ext cx="814388" cy="581025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Shape 330"/>
          <p:cNvSpPr/>
          <p:nvPr/>
        </p:nvSpPr>
        <p:spPr>
          <a:xfrm>
            <a:off x="2374900" y="4610100"/>
            <a:ext cx="711200" cy="431800"/>
          </a:xfrm>
          <a:prstGeom prst="rect">
            <a:avLst/>
          </a:prstGeom>
          <a:solidFill>
            <a:srgbClr val="FFFFFF"/>
          </a:solidFill>
          <a:ln>
            <a:miter lim="400000"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31" name="Shape 331"/>
          <p:cNvSpPr/>
          <p:nvPr/>
        </p:nvSpPr>
        <p:spPr>
          <a:xfrm>
            <a:off x="-1" y="4038600"/>
            <a:ext cx="9144001" cy="1588"/>
          </a:xfrm>
          <a:prstGeom prst="line">
            <a:avLst/>
          </a:prstGeom>
          <a:ln w="19050">
            <a:solidFill/>
            <a:prstDash val="sysDot"/>
            <a:round/>
          </a:ln>
        </p:spPr>
        <p:txBody>
          <a:bodyPr lIns="0" tIns="0" rIns="0" bIns="0"/>
          <a:lstStyle/>
          <a:p>
            <a:pPr marL="0" marR="0" lvl="0" defTabSz="457200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36" name="Shape 336"/>
          <p:cNvSpPr/>
          <p:nvPr/>
        </p:nvSpPr>
        <p:spPr>
          <a:xfrm rot="1860000">
            <a:off x="3583138" y="1924944"/>
            <a:ext cx="3733801" cy="1647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ln w="19050" cap="rnd">
            <a:solidFill/>
            <a:prstDash val="sysDot"/>
            <a:round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37" name="Shape 337"/>
          <p:cNvSpPr/>
          <p:nvPr/>
        </p:nvSpPr>
        <p:spPr>
          <a:xfrm>
            <a:off x="-1" y="533400"/>
            <a:ext cx="9156701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ransient</a:t>
            </a:r>
            <a:r>
              <a:rPr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IV </a:t>
            </a:r>
            <a:r>
              <a:rPr lang="en-US"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structures evolved to "fall apart" when no longer needed!</a:t>
            </a:r>
          </a:p>
        </p:txBody>
      </p:sp>
      <p:grpSp>
        <p:nvGrpSpPr>
          <p:cNvPr id="340" name="Group 340"/>
          <p:cNvGrpSpPr/>
          <p:nvPr/>
        </p:nvGrpSpPr>
        <p:grpSpPr>
          <a:xfrm>
            <a:off x="9918" y="1286932"/>
            <a:ext cx="532784" cy="312738"/>
            <a:chOff x="-42335" y="-8468"/>
            <a:chExt cx="532783" cy="312738"/>
          </a:xfrm>
        </p:grpSpPr>
        <p:sp>
          <p:nvSpPr>
            <p:cNvPr id="338" name="Shape 338"/>
            <p:cNvSpPr/>
            <p:nvPr/>
          </p:nvSpPr>
          <p:spPr>
            <a:xfrm>
              <a:off x="20548" y="0"/>
              <a:ext cx="469900" cy="2769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100"/>
                </a:spcBef>
                <a:buClr>
                  <a:srgbClr val="000000"/>
                </a:buClr>
                <a:buFont typeface="Helvetica"/>
                <a:defRPr sz="18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b="0">
                  <a:uFillTx/>
                </a:defRPr>
              </a:pPr>
              <a:r>
                <a:rPr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1</a:t>
              </a:r>
            </a:p>
          </p:txBody>
        </p:sp>
        <p:sp>
          <p:nvSpPr>
            <p:cNvPr id="339" name="Shape 339"/>
            <p:cNvSpPr/>
            <p:nvPr/>
          </p:nvSpPr>
          <p:spPr>
            <a:xfrm>
              <a:off x="-42335" y="-8468"/>
              <a:ext cx="322263" cy="312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343" name="Group 343"/>
          <p:cNvGrpSpPr/>
          <p:nvPr/>
        </p:nvGrpSpPr>
        <p:grpSpPr>
          <a:xfrm>
            <a:off x="890" y="3992497"/>
            <a:ext cx="543058" cy="312739"/>
            <a:chOff x="-42335" y="-1"/>
            <a:chExt cx="543057" cy="312738"/>
          </a:xfrm>
        </p:grpSpPr>
        <p:sp>
          <p:nvSpPr>
            <p:cNvPr id="341" name="Shape 341"/>
            <p:cNvSpPr/>
            <p:nvPr/>
          </p:nvSpPr>
          <p:spPr>
            <a:xfrm>
              <a:off x="30822" y="10274"/>
              <a:ext cx="469900" cy="276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1100"/>
                </a:spcBef>
                <a:buClr>
                  <a:srgbClr val="000000"/>
                </a:buClr>
                <a:buFont typeface="Helvetica"/>
                <a:defRPr sz="18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b="0">
                  <a:uFillTx/>
                </a:defRPr>
              </a:pPr>
              <a:r>
                <a:rPr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rPr>
                <a:t>2</a:t>
              </a:r>
            </a:p>
          </p:txBody>
        </p:sp>
        <p:sp>
          <p:nvSpPr>
            <p:cNvPr id="342" name="Shape 342"/>
            <p:cNvSpPr/>
            <p:nvPr/>
          </p:nvSpPr>
          <p:spPr>
            <a:xfrm>
              <a:off x="-42335" y="-1"/>
              <a:ext cx="322263" cy="312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pic>
        <p:nvPicPr>
          <p:cNvPr id="344" name="image.pdf"/>
          <p:cNvPicPr/>
          <p:nvPr/>
        </p:nvPicPr>
        <p:blipFill>
          <a:blip r:embed="rId9"/>
          <a:stretch>
            <a:fillRect/>
          </a:stretch>
        </p:blipFill>
        <p:spPr>
          <a:xfrm>
            <a:off x="3175" y="4413250"/>
            <a:ext cx="7697788" cy="2425701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Shape 345"/>
          <p:cNvSpPr/>
          <p:nvPr/>
        </p:nvSpPr>
        <p:spPr>
          <a:xfrm>
            <a:off x="7505700" y="4056062"/>
            <a:ext cx="1545833" cy="861774"/>
          </a:xfrm>
          <a:prstGeom prst="rect">
            <a:avLst/>
          </a:prstGeom>
          <a:ln>
            <a:solidFill/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C</a:t>
            </a:r>
            <a:r>
              <a:rPr lang="en-US"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omplex of 5 proteins assembles as first step to send “asthma signal”</a:t>
            </a:r>
          </a:p>
        </p:txBody>
      </p:sp>
      <p:sp>
        <p:nvSpPr>
          <p:cNvPr id="346" name="Shape 346"/>
          <p:cNvSpPr/>
          <p:nvPr/>
        </p:nvSpPr>
        <p:spPr>
          <a:xfrm>
            <a:off x="2001837" y="4403725"/>
            <a:ext cx="612776" cy="298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ln w="19050">
            <a:solidFill>
              <a:srgbClr val="000000">
                <a:alpha val="50999"/>
              </a:srgbClr>
            </a:solidFill>
            <a:prstDash val="dash"/>
            <a:round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47" name="Shape 347"/>
          <p:cNvSpPr/>
          <p:nvPr/>
        </p:nvSpPr>
        <p:spPr>
          <a:xfrm rot="20220000">
            <a:off x="5708961" y="4521224"/>
            <a:ext cx="2025652" cy="2438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ln w="19050" cap="rnd">
            <a:solidFill/>
            <a:prstDash val="sysDot"/>
            <a:round/>
          </a:ln>
        </p:spPr>
        <p:txBody>
          <a:bodyPr lIns="0" tIns="0" rIns="0" bIns="0" anchor="ctr"/>
          <a:lstStyle/>
          <a:p>
            <a:pPr lvl="0"/>
            <a:endParaRPr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48" name="Shape 348"/>
          <p:cNvSpPr/>
          <p:nvPr/>
        </p:nvSpPr>
        <p:spPr>
          <a:xfrm>
            <a:off x="330592" y="4058424"/>
            <a:ext cx="70231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art of innate immune system</a:t>
            </a:r>
            <a:r>
              <a:rPr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; S</a:t>
            </a:r>
            <a:r>
              <a:rPr lang="en-US" sz="1400" b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tart of immune or inflammatory response to destroy "invaders"</a:t>
            </a:r>
          </a:p>
        </p:txBody>
      </p:sp>
      <p:sp>
        <p:nvSpPr>
          <p:cNvPr id="350" name="Shape 350"/>
          <p:cNvSpPr/>
          <p:nvPr/>
        </p:nvSpPr>
        <p:spPr>
          <a:xfrm>
            <a:off x="3073006" y="965404"/>
            <a:ext cx="4254380" cy="31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W</a:t>
            </a: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e do not mean, “an enzyme binding its substrate”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8467" y="-102792"/>
            <a:ext cx="9172839" cy="44114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2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Times Roman"/>
              </a:rPr>
              <a:t>Different IV:</a:t>
            </a:r>
            <a:r>
              <a:rPr kumimoji="0" lang="en-US" sz="2200" b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Times Roman"/>
              </a:rPr>
              <a:t> Transient quaternary structure</a:t>
            </a:r>
            <a:endParaRPr kumimoji="0" lang="en-US" sz="22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Gill Sans" charset="0"/>
              <a:ea typeface="Gill Sans" charset="0"/>
              <a:cs typeface="Gill Sans" charset="0"/>
              <a:sym typeface="Times Roman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524517" y="2260600"/>
            <a:ext cx="1270000" cy="838200"/>
            <a:chOff x="2524517" y="2260600"/>
            <a:chExt cx="1270000" cy="838200"/>
          </a:xfrm>
        </p:grpSpPr>
        <p:grpSp>
          <p:nvGrpSpPr>
            <p:cNvPr id="329" name="Group 329"/>
            <p:cNvGrpSpPr/>
            <p:nvPr/>
          </p:nvGrpSpPr>
          <p:grpSpPr>
            <a:xfrm>
              <a:off x="2524517" y="2260600"/>
              <a:ext cx="1270000" cy="838200"/>
              <a:chOff x="44842" y="0"/>
              <a:chExt cx="1270000" cy="838200"/>
            </a:xfrm>
          </p:grpSpPr>
          <p:sp>
            <p:nvSpPr>
              <p:cNvPr id="327" name="Shape 327"/>
              <p:cNvSpPr/>
              <p:nvPr/>
            </p:nvSpPr>
            <p:spPr>
              <a:xfrm>
                <a:off x="76200" y="0"/>
                <a:ext cx="1139825" cy="838200"/>
              </a:xfrm>
              <a:prstGeom prst="rightArrow">
                <a:avLst>
                  <a:gd name="adj1" fmla="val 50000"/>
                  <a:gd name="adj2" fmla="val 33996"/>
                </a:avLst>
              </a:prstGeom>
              <a:noFill/>
              <a:ln w="1905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/>
                <a:endParaRPr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328" name="Shape 328"/>
              <p:cNvSpPr/>
              <p:nvPr/>
            </p:nvSpPr>
            <p:spPr>
              <a:xfrm>
                <a:off x="44842" y="287998"/>
                <a:ext cx="1270000" cy="1384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spcBef>
                    <a:spcPts val="500"/>
                  </a:spcBef>
                  <a:buClr>
                    <a:srgbClr val="000000"/>
                  </a:buClr>
                  <a:buFont typeface="Helvetica"/>
                  <a:defRPr sz="800" b="1">
                    <a:latin typeface="Helvetica"/>
                    <a:ea typeface="Helvetica"/>
                    <a:cs typeface="Helvetica"/>
                    <a:sym typeface="Helvetica"/>
                  </a:defRPr>
                </a:lvl1pPr>
              </a:lstStyle>
              <a:p>
                <a:pPr lvl="0">
                  <a:defRPr sz="1800" b="0">
                    <a:uFillTx/>
                  </a:defRPr>
                </a:pPr>
                <a:r>
                  <a:rPr sz="9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P</a:t>
                </a:r>
                <a:r>
                  <a:rPr lang="en-US" sz="9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hosphorylation of </a:t>
                </a:r>
                <a:r>
                  <a:rPr sz="900" b="0">
                    <a:uFill>
                      <a:solidFill/>
                    </a:uFill>
                    <a:latin typeface="Gill Sans" charset="0"/>
                    <a:ea typeface="Gill Sans" charset="0"/>
                    <a:cs typeface="Gill Sans" charset="0"/>
                  </a:rPr>
                  <a:t>IRS</a:t>
                </a:r>
                <a:endParaRPr lang="en-US" sz="900" b="0">
                  <a:uFill>
                    <a:solidFill/>
                  </a:uFill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sp>
          <p:nvSpPr>
            <p:cNvPr id="349" name="Shape 349"/>
            <p:cNvSpPr/>
            <p:nvPr/>
          </p:nvSpPr>
          <p:spPr>
            <a:xfrm flipH="1" flipV="1">
              <a:off x="2874409" y="2746568"/>
              <a:ext cx="160772" cy="1166"/>
            </a:xfrm>
            <a:prstGeom prst="line">
              <a:avLst/>
            </a:prstGeom>
            <a:ln w="15875">
              <a:solidFill/>
              <a:round/>
              <a:headEnd type="triangle"/>
            </a:ln>
          </p:spPr>
          <p:txBody>
            <a:bodyPr lIns="0" tIns="0" rIns="0" bIns="0"/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2909895" y="2625900"/>
              <a:ext cx="7123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 b="0">
                  <a:uFillTx/>
                </a:defRPr>
              </a:pPr>
              <a:r>
                <a:rPr lang="en-US" sz="900" b="0">
                  <a:latin typeface="Gill Sans" charset="0"/>
                  <a:ea typeface="Gill Sans" charset="0"/>
                  <a:cs typeface="Gill Sans" charset="0"/>
                </a:rPr>
                <a:t>Assembly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2480109" y="2626739"/>
            <a:ext cx="50558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>
                <a:latin typeface="Gill Sans" charset="0"/>
                <a:ea typeface="Gill Sans" charset="0"/>
                <a:cs typeface="Gill Sans" charset="0"/>
              </a:rPr>
              <a:t>Then</a:t>
            </a:r>
          </a:p>
        </p:txBody>
      </p:sp>
      <p:sp>
        <p:nvSpPr>
          <p:cNvPr id="6" name="Triangle 5"/>
          <p:cNvSpPr/>
          <p:nvPr/>
        </p:nvSpPr>
        <p:spPr>
          <a:xfrm>
            <a:off x="3944711" y="6089196"/>
            <a:ext cx="152400" cy="111580"/>
          </a:xfrm>
          <a:prstGeom prst="triangle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36" name="Triangle 35"/>
          <p:cNvSpPr/>
          <p:nvPr/>
        </p:nvSpPr>
        <p:spPr>
          <a:xfrm>
            <a:off x="6708775" y="6041571"/>
            <a:ext cx="152400" cy="111580"/>
          </a:xfrm>
          <a:prstGeom prst="triangle">
            <a:avLst/>
          </a:prstGeom>
          <a:solidFill>
            <a:schemeClr val="bg1"/>
          </a:solidFill>
          <a:ln w="9525" cap="flat">
            <a:noFill/>
            <a:prstDash val="solid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37" name="Shape 319">
            <a:extLst>
              <a:ext uri="{FF2B5EF4-FFF2-40B4-BE49-F238E27FC236}">
                <a16:creationId xmlns:a16="http://schemas.microsoft.com/office/drawing/2014/main" id="{7C8DAA22-FD7C-EA4E-BC84-D304527CD7EF}"/>
              </a:ext>
            </a:extLst>
          </p:cNvPr>
          <p:cNvSpPr/>
          <p:nvPr/>
        </p:nvSpPr>
        <p:spPr>
          <a:xfrm>
            <a:off x="7118939" y="2268152"/>
            <a:ext cx="1493550" cy="430887"/>
          </a:xfrm>
          <a:prstGeom prst="rect">
            <a:avLst/>
          </a:prstGeom>
          <a:ln>
            <a:solidFill/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Raf-1 is mutated in many cancers</a:t>
            </a:r>
          </a:p>
        </p:txBody>
      </p:sp>
      <p:sp>
        <p:nvSpPr>
          <p:cNvPr id="38" name="Shape 319">
            <a:extLst>
              <a:ext uri="{FF2B5EF4-FFF2-40B4-BE49-F238E27FC236}">
                <a16:creationId xmlns:a16="http://schemas.microsoft.com/office/drawing/2014/main" id="{901B6579-EB0C-7947-BDCE-F94F2674B678}"/>
              </a:ext>
            </a:extLst>
          </p:cNvPr>
          <p:cNvSpPr/>
          <p:nvPr/>
        </p:nvSpPr>
        <p:spPr>
          <a:xfrm>
            <a:off x="1911361" y="5294095"/>
            <a:ext cx="1493550" cy="430887"/>
          </a:xfrm>
          <a:prstGeom prst="rect">
            <a:avLst/>
          </a:prstGeom>
          <a:ln>
            <a:solidFill/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Cytosolic part of receptor changes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99069-6A05-5047-898A-B3CCD43ECBB6}"/>
              </a:ext>
            </a:extLst>
          </p:cNvPr>
          <p:cNvSpPr txBox="1"/>
          <p:nvPr/>
        </p:nvSpPr>
        <p:spPr>
          <a:xfrm>
            <a:off x="132927" y="5500022"/>
            <a:ext cx="819550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  <a:sym typeface="Helvetica"/>
              </a:rPr>
              <a:t>cytosol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10EAC9-22FC-2145-9FB2-0DEC95F0E8FC}"/>
              </a:ext>
            </a:extLst>
          </p:cNvPr>
          <p:cNvSpPr txBox="1"/>
          <p:nvPr/>
        </p:nvSpPr>
        <p:spPr>
          <a:xfrm>
            <a:off x="174817" y="4441746"/>
            <a:ext cx="81955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Gill Sans" panose="020B0502020104020203" pitchFamily="34" charset="-79"/>
                <a:cs typeface="Gill Sans" panose="020B0502020104020203" pitchFamily="34" charset="-79"/>
              </a:rPr>
              <a:t>outside of cell</a:t>
            </a:r>
            <a:endParaRPr kumimoji="0" lang="en-US" sz="1400" b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>
                <a:solidFill>
                  <a:srgbClr val="000000"/>
                </a:solidFill>
              </a:uFill>
              <a:latin typeface="Gill Sans" panose="020B0502020104020203" pitchFamily="34" charset="-79"/>
              <a:cs typeface="Gill Sans" panose="020B0502020104020203" pitchFamily="34" charset="-79"/>
              <a:sym typeface="Helvetica"/>
            </a:endParaRPr>
          </a:p>
        </p:txBody>
      </p:sp>
      <p:sp>
        <p:nvSpPr>
          <p:cNvPr id="42" name="Shape 319">
            <a:extLst>
              <a:ext uri="{FF2B5EF4-FFF2-40B4-BE49-F238E27FC236}">
                <a16:creationId xmlns:a16="http://schemas.microsoft.com/office/drawing/2014/main" id="{9FE2F116-37DC-1740-9135-8B01369C0A51}"/>
              </a:ext>
            </a:extLst>
          </p:cNvPr>
          <p:cNvSpPr/>
          <p:nvPr/>
        </p:nvSpPr>
        <p:spPr>
          <a:xfrm>
            <a:off x="7740699" y="5724982"/>
            <a:ext cx="1380533" cy="646331"/>
          </a:xfrm>
          <a:prstGeom prst="rect">
            <a:avLst/>
          </a:prstGeom>
          <a:ln>
            <a:solidFill/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Active TRAF6 regulates immune response</a:t>
            </a:r>
          </a:p>
        </p:txBody>
      </p:sp>
      <p:sp>
        <p:nvSpPr>
          <p:cNvPr id="43" name="Shape 319">
            <a:extLst>
              <a:ext uri="{FF2B5EF4-FFF2-40B4-BE49-F238E27FC236}">
                <a16:creationId xmlns:a16="http://schemas.microsoft.com/office/drawing/2014/main" id="{DD1CA17A-6A96-0D49-B598-485644E2DF0E}"/>
              </a:ext>
            </a:extLst>
          </p:cNvPr>
          <p:cNvSpPr/>
          <p:nvPr/>
        </p:nvSpPr>
        <p:spPr>
          <a:xfrm>
            <a:off x="7700963" y="5041900"/>
            <a:ext cx="1380533" cy="430887"/>
          </a:xfrm>
          <a:prstGeom prst="rect">
            <a:avLst/>
          </a:prstGeom>
          <a:ln>
            <a:solidFill/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Font typeface="Helvetica"/>
              <a:defRPr sz="14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lang="en-US" sz="1400" b="0" dirty="0"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IRAK-1 and IRAK-4: kinases</a:t>
            </a:r>
          </a:p>
        </p:txBody>
      </p:sp>
    </p:spTree>
    <p:extLst>
      <p:ext uri="{BB962C8B-B14F-4D97-AF65-F5344CB8AC3E}">
        <p14:creationId xmlns:p14="http://schemas.microsoft.com/office/powerpoint/2010/main" val="305374354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" grpId="0" animBg="1" advAuto="0"/>
      <p:bldP spid="345" grpId="0" animBg="1" advAuto="0"/>
      <p:bldP spid="347" grpId="0" animBg="1" advAuto="0"/>
      <p:bldP spid="348" grpId="0" animBg="1" advAuto="0"/>
      <p:bldP spid="350" grpId="0" animBg="1" advAuto="0"/>
      <p:bldP spid="37" grpId="0" animBg="1" advAuto="0"/>
      <p:bldP spid="38" grpId="0" animBg="1" advAuto="0"/>
      <p:bldP spid="42" grpId="0" animBg="1" advAuto="0"/>
      <p:bldP spid="43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352"/>
          <p:cNvSpPr/>
          <p:nvPr/>
        </p:nvSpPr>
        <p:spPr>
          <a:xfrm>
            <a:off x="0" y="0"/>
            <a:ext cx="91567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200"/>
              </a:spcBef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24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W</a:t>
            </a:r>
            <a:r>
              <a:rPr lang="en-US" sz="24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hat are these binding/interaction domains all about?!</a:t>
            </a:r>
          </a:p>
        </p:txBody>
      </p:sp>
      <p:pic>
        <p:nvPicPr>
          <p:cNvPr id="353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4467225" y="495300"/>
            <a:ext cx="4664075" cy="6324600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Shape 354"/>
          <p:cNvSpPr/>
          <p:nvPr/>
        </p:nvSpPr>
        <p:spPr>
          <a:xfrm>
            <a:off x="381000" y="601662"/>
            <a:ext cx="34417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84AFF"/>
              </a:buClr>
              <a:buFont typeface="Helvetica"/>
              <a:defRPr sz="1600" b="1">
                <a:solidFill>
                  <a:srgbClr val="184AFF"/>
                </a:solidFill>
                <a:uFill>
                  <a:solidFill>
                    <a:srgbClr val="184A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nterconnections</a:t>
            </a:r>
            <a:r>
              <a:rPr sz="1600" b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!</a:t>
            </a:r>
          </a:p>
        </p:txBody>
      </p:sp>
      <p:grpSp>
        <p:nvGrpSpPr>
          <p:cNvPr id="357" name="Group 357"/>
          <p:cNvGrpSpPr/>
          <p:nvPr/>
        </p:nvGrpSpPr>
        <p:grpSpPr>
          <a:xfrm>
            <a:off x="381000" y="533400"/>
            <a:ext cx="3964900" cy="6324600"/>
            <a:chOff x="0" y="0"/>
            <a:chExt cx="3964900" cy="6324600"/>
          </a:xfrm>
        </p:grpSpPr>
        <p:sp>
          <p:nvSpPr>
            <p:cNvPr id="355" name="Shape 355"/>
            <p:cNvSpPr/>
            <p:nvPr/>
          </p:nvSpPr>
          <p:spPr>
            <a:xfrm>
              <a:off x="3736300" y="0"/>
              <a:ext cx="228600" cy="6324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5635" y="0"/>
                    <a:pt x="10800" y="806"/>
                    <a:pt x="10800" y="1800"/>
                  </a:cubicBezTo>
                  <a:lnTo>
                    <a:pt x="10800" y="9000"/>
                  </a:lnTo>
                  <a:cubicBezTo>
                    <a:pt x="10800" y="9994"/>
                    <a:pt x="5965" y="10800"/>
                    <a:pt x="0" y="10800"/>
                  </a:cubicBezTo>
                  <a:cubicBezTo>
                    <a:pt x="5965" y="10800"/>
                    <a:pt x="10800" y="11606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15635" y="21600"/>
                    <a:pt x="21600" y="21600"/>
                  </a:cubicBezTo>
                </a:path>
              </a:pathLst>
            </a:custGeom>
            <a:noFill/>
            <a:ln w="28575" cap="flat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56" name="Shape 356"/>
            <p:cNvSpPr/>
            <p:nvPr/>
          </p:nvSpPr>
          <p:spPr>
            <a:xfrm>
              <a:off x="0" y="457200"/>
              <a:ext cx="3746500" cy="7386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184AFF"/>
                </a:buClr>
                <a:buFont typeface="Helvetica"/>
                <a:defRPr sz="1600" b="1">
                  <a:solidFill>
                    <a:srgbClr val="184AFF"/>
                  </a:solidFill>
                  <a:uFill>
                    <a:solidFill>
                      <a:srgbClr val="184AFF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>
                  <a:solidFill>
                    <a:schemeClr val="tx1"/>
                  </a:solidFill>
                  <a:uFill>
                    <a:solidFill>
                      <a:srgbClr val="184A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 ~ 5000 </a:t>
              </a:r>
              <a:r>
                <a:rPr lang="en-US" sz="1600" b="0">
                  <a:solidFill>
                    <a:schemeClr val="tx1"/>
                  </a:solidFill>
                  <a:uFill>
                    <a:solidFill>
                      <a:srgbClr val="184A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reactions in a cell must be coordinated with each other;  turned on/off at exactly the right times</a:t>
              </a:r>
            </a:p>
          </p:txBody>
        </p:sp>
      </p:grpSp>
      <p:sp>
        <p:nvSpPr>
          <p:cNvPr id="358" name="Shape 358"/>
          <p:cNvSpPr/>
          <p:nvPr/>
        </p:nvSpPr>
        <p:spPr>
          <a:xfrm>
            <a:off x="381000" y="2659062"/>
            <a:ext cx="3670300" cy="153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184AFF"/>
              </a:buClr>
              <a:buFont typeface="Helvetica"/>
              <a:defRPr sz="1600" b="1">
                <a:solidFill>
                  <a:srgbClr val="184AFF"/>
                </a:solidFill>
                <a:uFill>
                  <a:solidFill>
                    <a:srgbClr val="184A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B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inding/interaction domains (scaffold proteins) are one main way to </a:t>
            </a:r>
            <a:r>
              <a:rPr lang="en-US" sz="1600" b="0" dirty="0">
                <a:solidFill>
                  <a:srgbClr val="1855FF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connect these reactions</a:t>
            </a:r>
            <a:r>
              <a:rPr sz="1600" b="0" dirty="0">
                <a:solidFill>
                  <a:srgbClr val="1855FF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: </a:t>
            </a:r>
            <a:r>
              <a:rPr lang="en-US" b="0" dirty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                                       </a:t>
            </a:r>
            <a:r>
              <a:rPr lang="en-US" b="0" dirty="0" err="1">
                <a:solidFill>
                  <a:schemeClr val="bg1"/>
                </a:solidFill>
                <a:latin typeface="Gill Sans" charset="0"/>
                <a:ea typeface="Gill Sans" charset="0"/>
                <a:cs typeface="Gill Sans" charset="0"/>
              </a:rPr>
              <a:t>xx</a:t>
            </a:r>
            <a:r>
              <a:rPr lang="en-US" sz="1600" b="0" dirty="0" err="1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to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each other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;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                                      </a:t>
            </a:r>
            <a:r>
              <a:rPr lang="en-US" sz="1600" b="0" dirty="0" err="1">
                <a:solidFill>
                  <a:schemeClr val="bg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xx</a:t>
            </a:r>
            <a:r>
              <a:rPr lang="en-US" sz="1600" b="0" dirty="0" err="1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to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"signals”;                                           </a:t>
            </a:r>
            <a:r>
              <a:rPr lang="en-US" sz="1600" b="0" dirty="0" err="1">
                <a:solidFill>
                  <a:schemeClr val="bg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xx</a:t>
            </a:r>
            <a:r>
              <a:rPr lang="en-US" sz="1600" b="0" dirty="0" err="1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to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184A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DNA &amp; RNA</a:t>
            </a:r>
          </a:p>
        </p:txBody>
      </p:sp>
    </p:spTree>
    <p:extLst>
      <p:ext uri="{BB962C8B-B14F-4D97-AF65-F5344CB8AC3E}">
        <p14:creationId xmlns:p14="http://schemas.microsoft.com/office/powerpoint/2010/main" val="1807007820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" grpId="0" animBg="1" advAuto="0"/>
      <p:bldP spid="357" grpId="0" advAuto="0"/>
      <p:bldP spid="358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3837710" y="1658937"/>
            <a:ext cx="973138" cy="979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image.pdf"/>
          <p:cNvPicPr/>
          <p:nvPr/>
        </p:nvPicPr>
        <p:blipFill>
          <a:blip r:embed="rId4"/>
          <a:stretch>
            <a:fillRect/>
          </a:stretch>
        </p:blipFill>
        <p:spPr>
          <a:xfrm>
            <a:off x="3948835" y="2782887"/>
            <a:ext cx="973138" cy="8604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3" name="image.pdf"/>
          <p:cNvPicPr/>
          <p:nvPr/>
        </p:nvPicPr>
        <p:blipFill>
          <a:blip r:embed="rId5"/>
          <a:stretch>
            <a:fillRect/>
          </a:stretch>
        </p:blipFill>
        <p:spPr>
          <a:xfrm>
            <a:off x="-76200" y="685800"/>
            <a:ext cx="1022351" cy="7270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64" name="image.pdf"/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1676400"/>
            <a:ext cx="971550" cy="912813"/>
          </a:xfrm>
          <a:prstGeom prst="rect">
            <a:avLst/>
          </a:prstGeom>
          <a:ln w="12700">
            <a:miter lim="400000"/>
          </a:ln>
        </p:spPr>
      </p:pic>
      <p:pic>
        <p:nvPicPr>
          <p:cNvPr id="365" name="image.pdf"/>
          <p:cNvPicPr/>
          <p:nvPr/>
        </p:nvPicPr>
        <p:blipFill>
          <a:blip r:embed="rId7"/>
          <a:stretch>
            <a:fillRect/>
          </a:stretch>
        </p:blipFill>
        <p:spPr>
          <a:xfrm>
            <a:off x="-76200" y="2851150"/>
            <a:ext cx="1233488" cy="1633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66" name="image.pdf"/>
          <p:cNvPicPr/>
          <p:nvPr/>
        </p:nvPicPr>
        <p:blipFill>
          <a:blip r:embed="rId8"/>
          <a:stretch>
            <a:fillRect/>
          </a:stretch>
        </p:blipFill>
        <p:spPr>
          <a:xfrm>
            <a:off x="-42863" y="4800600"/>
            <a:ext cx="1273176" cy="893763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Shape 367"/>
          <p:cNvSpPr/>
          <p:nvPr/>
        </p:nvSpPr>
        <p:spPr>
          <a:xfrm>
            <a:off x="4773345" y="859220"/>
            <a:ext cx="233045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hosphorylated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tyrosine</a:t>
            </a:r>
          </a:p>
        </p:txBody>
      </p:sp>
      <p:sp>
        <p:nvSpPr>
          <p:cNvPr id="368" name="Shape 368"/>
          <p:cNvSpPr/>
          <p:nvPr/>
        </p:nvSpPr>
        <p:spPr>
          <a:xfrm>
            <a:off x="4738970" y="1989080"/>
            <a:ext cx="281463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hosphorylated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serine</a:t>
            </a:r>
          </a:p>
        </p:txBody>
      </p:sp>
      <p:sp>
        <p:nvSpPr>
          <p:cNvPr id="369" name="Shape 369"/>
          <p:cNvSpPr/>
          <p:nvPr/>
        </p:nvSpPr>
        <p:spPr>
          <a:xfrm>
            <a:off x="4675910" y="3082132"/>
            <a:ext cx="3518941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he</a:t>
            </a: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AA </a:t>
            </a:r>
            <a:r>
              <a:rPr lang="en-US"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sequence</a:t>
            </a: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, P</a:t>
            </a:r>
            <a:r>
              <a:rPr lang="en-US"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</a:t>
            </a: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-P</a:t>
            </a:r>
            <a:r>
              <a:rPr lang="en-US"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</a:t>
            </a: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-ANY-ANY</a:t>
            </a:r>
          </a:p>
        </p:txBody>
      </p:sp>
      <p:sp>
        <p:nvSpPr>
          <p:cNvPr id="370" name="Shape 370"/>
          <p:cNvSpPr/>
          <p:nvPr/>
        </p:nvSpPr>
        <p:spPr>
          <a:xfrm>
            <a:off x="882025" y="797290"/>
            <a:ext cx="2867015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he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AA 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sequences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P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-ANY-ANY-P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ro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 or </a:t>
            </a:r>
            <a:r>
              <a:rPr sz="1600" b="0" dirty="0" err="1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600" b="0" dirty="0" err="1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rg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-ANY-ANY-L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ys</a:t>
            </a:r>
          </a:p>
        </p:txBody>
      </p:sp>
      <p:sp>
        <p:nvSpPr>
          <p:cNvPr id="371" name="Shape 371"/>
          <p:cNvSpPr/>
          <p:nvPr/>
        </p:nvSpPr>
        <p:spPr>
          <a:xfrm>
            <a:off x="942350" y="1960562"/>
            <a:ext cx="1384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RNA</a:t>
            </a:r>
          </a:p>
        </p:txBody>
      </p:sp>
      <p:sp>
        <p:nvSpPr>
          <p:cNvPr id="372" name="Shape 372"/>
          <p:cNvSpPr/>
          <p:nvPr/>
        </p:nvSpPr>
        <p:spPr>
          <a:xfrm>
            <a:off x="990600" y="3316010"/>
            <a:ext cx="2439988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E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ach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PDZ 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domain can bind another 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PDZ 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domain</a:t>
            </a:r>
          </a:p>
        </p:txBody>
      </p:sp>
      <p:sp>
        <p:nvSpPr>
          <p:cNvPr id="373" name="Shape 373"/>
          <p:cNvSpPr/>
          <p:nvPr/>
        </p:nvSpPr>
        <p:spPr>
          <a:xfrm>
            <a:off x="1157288" y="5023961"/>
            <a:ext cx="35941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 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phosphate at the 3-position of the headgroup of a membrane phospholipid</a:t>
            </a:r>
          </a:p>
        </p:txBody>
      </p:sp>
      <p:sp>
        <p:nvSpPr>
          <p:cNvPr id="374" name="Shape 374"/>
          <p:cNvSpPr/>
          <p:nvPr/>
        </p:nvSpPr>
        <p:spPr>
          <a:xfrm>
            <a:off x="990600" y="333053"/>
            <a:ext cx="7129943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bbreviated descriptions below of binding specificity and domain symbols/cartoons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:</a:t>
            </a:r>
          </a:p>
        </p:txBody>
      </p:sp>
      <p:sp>
        <p:nvSpPr>
          <p:cNvPr id="375" name="Shape 375"/>
          <p:cNvSpPr/>
          <p:nvPr/>
        </p:nvSpPr>
        <p:spPr>
          <a:xfrm>
            <a:off x="5516380" y="4900850"/>
            <a:ext cx="3453784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900"/>
              </a:spcBef>
              <a:buClr>
                <a:srgbClr val="2A4EFF"/>
              </a:buClr>
              <a:buFont typeface="Helvetica"/>
              <a:defRPr sz="1600" b="1">
                <a:solidFill>
                  <a:srgbClr val="2A4EFF"/>
                </a:solidFill>
                <a:uFill>
                  <a:solidFill>
                    <a:srgbClr val="2A4E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>
                <a:solidFill>
                  <a:schemeClr val="tx1"/>
                </a:solidFill>
                <a:uFill>
                  <a:solidFill>
                    <a:srgbClr val="2A4E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B</a:t>
            </a:r>
            <a:r>
              <a:rPr lang="en-US" sz="1600" b="0">
                <a:solidFill>
                  <a:schemeClr val="tx1"/>
                </a:solidFill>
                <a:uFill>
                  <a:solidFill>
                    <a:srgbClr val="2A4E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ut: these domains bind "target" weakly!</a:t>
            </a:r>
          </a:p>
        </p:txBody>
      </p:sp>
      <p:sp>
        <p:nvSpPr>
          <p:cNvPr id="376" name="Shape 376"/>
          <p:cNvSpPr/>
          <p:nvPr/>
        </p:nvSpPr>
        <p:spPr>
          <a:xfrm>
            <a:off x="5876925" y="5222875"/>
            <a:ext cx="3004608" cy="984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lvl="0">
              <a:buClr>
                <a:srgbClr val="2A4EFF"/>
              </a:buClr>
              <a:buFont typeface="Helvetica"/>
              <a:defRPr sz="180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2A4E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W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2A4E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hy weakly?! 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2A4E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B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2A4E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ecause: first a signal is transmitted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2A4E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;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2A4E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2A4E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oon it must disappear, i.e. the </a:t>
            </a:r>
            <a:r>
              <a:rPr sz="1600" b="0" dirty="0">
                <a:solidFill>
                  <a:schemeClr val="tx1"/>
                </a:solidFill>
                <a:uFill>
                  <a:solidFill>
                    <a:srgbClr val="2A4E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IV </a:t>
            </a:r>
            <a:r>
              <a:rPr lang="en-US" sz="1600" b="0" dirty="0">
                <a:solidFill>
                  <a:schemeClr val="tx1"/>
                </a:solidFill>
                <a:uFill>
                  <a:solidFill>
                    <a:srgbClr val="2A4EFF"/>
                  </a:solidFill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complex forms, then it must fall apart</a:t>
            </a:r>
          </a:p>
        </p:txBody>
      </p:sp>
      <p:grpSp>
        <p:nvGrpSpPr>
          <p:cNvPr id="379" name="Group 379"/>
          <p:cNvGrpSpPr/>
          <p:nvPr/>
        </p:nvGrpSpPr>
        <p:grpSpPr>
          <a:xfrm>
            <a:off x="3913910" y="609600"/>
            <a:ext cx="879475" cy="885825"/>
            <a:chOff x="0" y="0"/>
            <a:chExt cx="879475" cy="885825"/>
          </a:xfrm>
        </p:grpSpPr>
        <p:pic>
          <p:nvPicPr>
            <p:cNvPr id="377" name="image.pdf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879475" cy="8858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8" name="Shape 378"/>
            <p:cNvSpPr/>
            <p:nvPr/>
          </p:nvSpPr>
          <p:spPr>
            <a:xfrm>
              <a:off x="522287" y="631825"/>
              <a:ext cx="127001" cy="1588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pic>
        <p:nvPicPr>
          <p:cNvPr id="380" name="image.pdf"/>
          <p:cNvPicPr/>
          <p:nvPr/>
        </p:nvPicPr>
        <p:blipFill>
          <a:blip r:embed="rId10"/>
          <a:stretch>
            <a:fillRect/>
          </a:stretch>
        </p:blipFill>
        <p:spPr>
          <a:xfrm>
            <a:off x="3913910" y="3787775"/>
            <a:ext cx="1062038" cy="671513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Shape 381"/>
          <p:cNvSpPr/>
          <p:nvPr/>
        </p:nvSpPr>
        <p:spPr>
          <a:xfrm>
            <a:off x="4933202" y="3859920"/>
            <a:ext cx="2149476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0000"/>
              </a:buClr>
              <a:buFont typeface="Helvetica"/>
              <a:defRPr sz="1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 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terminal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V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al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or I</a:t>
            </a:r>
            <a:r>
              <a:rPr lang="en-US"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le plus preceding</a:t>
            </a:r>
            <a:r>
              <a:rPr sz="1600" b="0" dirty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 4-5 AA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" y="-86772"/>
            <a:ext cx="9091534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0639" marR="40639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Times Roman"/>
              </a:rPr>
              <a:t>Binding/interaction domains: What do</a:t>
            </a:r>
            <a:r>
              <a:rPr kumimoji="0" lang="en-US" sz="2400" b="0" u="none" strike="noStrike" cap="none" spc="0" normalizeH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Times Roman"/>
              </a:rPr>
              <a:t> they bind?  </a:t>
            </a:r>
            <a:r>
              <a:rPr kumimoji="0" lang="en-US" sz="1800" b="0" u="none" strike="noStrike" cap="none" spc="0" normalizeH="0">
                <a:ln>
                  <a:noFill/>
                </a:ln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Gill Sans" charset="0"/>
                <a:ea typeface="Gill Sans" charset="0"/>
                <a:cs typeface="Gill Sans" charset="0"/>
                <a:sym typeface="Times Roman"/>
              </a:rPr>
              <a:t>A few examples</a:t>
            </a:r>
            <a:endParaRPr kumimoji="0" lang="en-US" sz="2400" b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Gill Sans" charset="0"/>
              <a:ea typeface="Gill Sans" charset="0"/>
              <a:cs typeface="Gill Sans" charset="0"/>
              <a:sym typeface="Times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361360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" grpId="0" animBg="1" advAuto="0"/>
      <p:bldP spid="375" grpId="0" animBg="1" advAuto="0"/>
      <p:bldP spid="376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581400" y="447675"/>
            <a:ext cx="1951038" cy="20669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84" name="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3098800" y="2459037"/>
            <a:ext cx="1296988" cy="2087563"/>
          </a:xfrm>
          <a:prstGeom prst="rect">
            <a:avLst/>
          </a:prstGeom>
          <a:ln w="12700">
            <a:miter lim="400000"/>
          </a:ln>
        </p:spPr>
      </p:pic>
      <p:pic>
        <p:nvPicPr>
          <p:cNvPr id="385" name="image.pdf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2705100"/>
            <a:ext cx="1079500" cy="168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" name="image.pdf"/>
          <p:cNvPicPr/>
          <p:nvPr/>
        </p:nvPicPr>
        <p:blipFill>
          <a:blip r:embed="rId6"/>
          <a:stretch>
            <a:fillRect/>
          </a:stretch>
        </p:blipFill>
        <p:spPr>
          <a:xfrm>
            <a:off x="76200" y="5537200"/>
            <a:ext cx="1081088" cy="1143000"/>
          </a:xfrm>
          <a:prstGeom prst="rect">
            <a:avLst/>
          </a:prstGeom>
          <a:ln w="12700">
            <a:miter lim="400000"/>
          </a:ln>
        </p:spPr>
      </p:pic>
      <p:sp>
        <p:nvSpPr>
          <p:cNvPr id="387" name="Shape 387"/>
          <p:cNvSpPr/>
          <p:nvPr/>
        </p:nvSpPr>
        <p:spPr>
          <a:xfrm>
            <a:off x="-96838" y="-57150"/>
            <a:ext cx="933450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200"/>
              </a:spcBef>
              <a:buClr>
                <a:srgbClr val="000000"/>
              </a:buClr>
              <a:buFont typeface="Helvetica"/>
              <a:defRPr sz="2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uFillTx/>
              </a:defRPr>
            </a:pPr>
            <a:r>
              <a:rPr lang="en-US" sz="2400"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rPr>
              <a:t>K</a:t>
            </a:r>
            <a:r>
              <a:rPr lang="en-US" sz="24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eep in mind the meaning of the interaction domain cartoons</a:t>
            </a:r>
            <a:endParaRPr sz="2400" b="0">
              <a:solidFill>
                <a:schemeClr val="tx1"/>
              </a:solidFill>
              <a:uFill>
                <a:solidFill/>
              </a:uFill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391" name="Group 391"/>
          <p:cNvGrpSpPr/>
          <p:nvPr/>
        </p:nvGrpSpPr>
        <p:grpSpPr>
          <a:xfrm>
            <a:off x="0" y="1019175"/>
            <a:ext cx="2705100" cy="1419225"/>
            <a:chOff x="0" y="0"/>
            <a:chExt cx="2705100" cy="1419225"/>
          </a:xfrm>
        </p:grpSpPr>
        <p:pic>
          <p:nvPicPr>
            <p:cNvPr id="388" name="image.pdf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0" y="471487"/>
              <a:ext cx="1143000" cy="9477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9" name="Shape 389"/>
            <p:cNvSpPr/>
            <p:nvPr/>
          </p:nvSpPr>
          <p:spPr>
            <a:xfrm flipV="1">
              <a:off x="990600" y="266700"/>
              <a:ext cx="609600" cy="381000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90" name="Shape 390"/>
            <p:cNvSpPr/>
            <p:nvPr/>
          </p:nvSpPr>
          <p:spPr>
            <a:xfrm>
              <a:off x="1092200" y="0"/>
              <a:ext cx="1612900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spcBef>
                  <a:spcPts val="900"/>
                </a:spcBef>
                <a:buClr>
                  <a:srgbClr val="009400"/>
                </a:buClr>
                <a:buFont typeface="Helvetica"/>
                <a:defRPr sz="1600" b="1">
                  <a:solidFill>
                    <a:srgbClr val="009400"/>
                  </a:solidFill>
                  <a:uFill>
                    <a:solidFill>
                      <a:srgbClr val="009400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600" b="0">
                  <a:solidFill>
                    <a:schemeClr val="tx1"/>
                  </a:solidFill>
                  <a:uFill>
                    <a:solidFill>
                      <a:srgbClr val="009400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Pro-X-X-Pro</a:t>
              </a:r>
            </a:p>
          </p:txBody>
        </p:sp>
      </p:grpSp>
      <p:sp>
        <p:nvSpPr>
          <p:cNvPr id="392" name="Shape 392"/>
          <p:cNvSpPr/>
          <p:nvPr/>
        </p:nvSpPr>
        <p:spPr>
          <a:xfrm flipV="1">
            <a:off x="609600" y="5232400"/>
            <a:ext cx="1588" cy="304800"/>
          </a:xfrm>
          <a:prstGeom prst="line">
            <a:avLst/>
          </a:prstGeom>
          <a:ln w="28575">
            <a:solidFill/>
            <a:round/>
            <a:tailEnd type="triangle"/>
          </a:ln>
        </p:spPr>
        <p:txBody>
          <a:bodyPr lIns="0" tIns="0" rIns="0" bIns="0"/>
          <a:lstStyle/>
          <a:p>
            <a:pPr marL="0" marR="0" lvl="0" defTabSz="457200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93" name="Shape 393"/>
          <p:cNvSpPr/>
          <p:nvPr/>
        </p:nvSpPr>
        <p:spPr>
          <a:xfrm>
            <a:off x="386690" y="4953000"/>
            <a:ext cx="1003300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900"/>
              </a:spcBef>
              <a:buClr>
                <a:srgbClr val="009400"/>
              </a:buClr>
              <a:buFont typeface="Helvetica"/>
              <a:defRPr sz="1600" b="1">
                <a:solidFill>
                  <a:srgbClr val="009400"/>
                </a:solidFill>
                <a:uFill>
                  <a:solidFill>
                    <a:srgbClr val="0094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600" b="0" dirty="0">
                <a:solidFill>
                  <a:schemeClr val="tx1"/>
                </a:solidFill>
                <a:uFill>
                  <a:solidFill>
                    <a:srgbClr val="009400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RNA</a:t>
            </a:r>
          </a:p>
        </p:txBody>
      </p:sp>
      <p:sp>
        <p:nvSpPr>
          <p:cNvPr id="394" name="Shape 394"/>
          <p:cNvSpPr/>
          <p:nvPr/>
        </p:nvSpPr>
        <p:spPr>
          <a:xfrm>
            <a:off x="2197100" y="1538287"/>
            <a:ext cx="698500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900"/>
              </a:spcBef>
              <a:buClr>
                <a:srgbClr val="000000"/>
              </a:buClr>
              <a:buFont typeface="Helvetica"/>
              <a:defRPr sz="4800">
                <a:latin typeface="Symbol"/>
                <a:ea typeface="Symbol"/>
                <a:cs typeface="Symbol"/>
                <a:sym typeface="Symbol"/>
              </a:defRPr>
            </a:lvl1pPr>
          </a:lstStyle>
          <a:p>
            <a:pPr lvl="0">
              <a:defRPr sz="1800">
                <a:uFillTx/>
              </a:defRPr>
            </a:pPr>
            <a:r>
              <a:rPr sz="4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≡</a:t>
            </a:r>
          </a:p>
        </p:txBody>
      </p:sp>
      <p:sp>
        <p:nvSpPr>
          <p:cNvPr id="395" name="Shape 395"/>
          <p:cNvSpPr/>
          <p:nvPr/>
        </p:nvSpPr>
        <p:spPr>
          <a:xfrm>
            <a:off x="2197100" y="3049587"/>
            <a:ext cx="698500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900"/>
              </a:spcBef>
              <a:buClr>
                <a:srgbClr val="000000"/>
              </a:buClr>
              <a:buFont typeface="Helvetica"/>
              <a:defRPr sz="4800">
                <a:latin typeface="Symbol"/>
                <a:ea typeface="Symbol"/>
                <a:cs typeface="Symbol"/>
                <a:sym typeface="Symbol"/>
              </a:defRPr>
            </a:lvl1pPr>
          </a:lstStyle>
          <a:p>
            <a:pPr lvl="0">
              <a:defRPr sz="1800">
                <a:uFillTx/>
              </a:defRPr>
            </a:pPr>
            <a:r>
              <a:rPr sz="4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≡</a:t>
            </a:r>
          </a:p>
        </p:txBody>
      </p:sp>
      <p:sp>
        <p:nvSpPr>
          <p:cNvPr id="396" name="Shape 396"/>
          <p:cNvSpPr/>
          <p:nvPr/>
        </p:nvSpPr>
        <p:spPr>
          <a:xfrm>
            <a:off x="2197100" y="5703887"/>
            <a:ext cx="698500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900"/>
              </a:spcBef>
              <a:buClr>
                <a:srgbClr val="000000"/>
              </a:buClr>
              <a:buFont typeface="Helvetica"/>
              <a:defRPr sz="4800">
                <a:latin typeface="Symbol"/>
                <a:ea typeface="Symbol"/>
                <a:cs typeface="Symbol"/>
                <a:sym typeface="Symbol"/>
              </a:defRPr>
            </a:lvl1pPr>
          </a:lstStyle>
          <a:p>
            <a:pPr lvl="0">
              <a:defRPr sz="1800">
                <a:uFillTx/>
              </a:defRPr>
            </a:pPr>
            <a:r>
              <a:rPr sz="48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</a:rPr>
              <a:t>≡</a:t>
            </a:r>
          </a:p>
        </p:txBody>
      </p:sp>
      <p:sp>
        <p:nvSpPr>
          <p:cNvPr id="397" name="Shape 397"/>
          <p:cNvSpPr/>
          <p:nvPr/>
        </p:nvSpPr>
        <p:spPr>
          <a:xfrm>
            <a:off x="2857500" y="1651000"/>
            <a:ext cx="137160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C33FF"/>
              </a:buClr>
              <a:buFont typeface="Helvetica"/>
              <a:defRPr sz="1400" b="1">
                <a:solidFill>
                  <a:srgbClr val="0C33FF"/>
                </a:solidFill>
                <a:uFill>
                  <a:solidFill>
                    <a:srgbClr val="0C33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Csk 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protein</a:t>
            </a:r>
            <a:r>
              <a:rPr sz="1400" b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SH3 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domain</a:t>
            </a:r>
          </a:p>
        </p:txBody>
      </p:sp>
      <p:sp>
        <p:nvSpPr>
          <p:cNvPr id="398" name="Shape 398"/>
          <p:cNvSpPr/>
          <p:nvPr/>
        </p:nvSpPr>
        <p:spPr>
          <a:xfrm>
            <a:off x="5329745" y="1466265"/>
            <a:ext cx="15367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9400"/>
              </a:buClr>
              <a:buFont typeface="Helvetica"/>
              <a:defRPr sz="1400" b="1">
                <a:solidFill>
                  <a:srgbClr val="009400"/>
                </a:solidFill>
                <a:uFill>
                  <a:solidFill>
                    <a:srgbClr val="0094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>
                <a:solidFill>
                  <a:schemeClr val="tx1"/>
                </a:solidFill>
                <a:uFill>
                  <a:solidFill>
                    <a:srgbClr val="009400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P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09400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roline-rich peptide</a:t>
            </a:r>
          </a:p>
        </p:txBody>
      </p:sp>
      <p:sp>
        <p:nvSpPr>
          <p:cNvPr id="399" name="Shape 399"/>
          <p:cNvSpPr/>
          <p:nvPr/>
        </p:nvSpPr>
        <p:spPr>
          <a:xfrm>
            <a:off x="4254500" y="2786062"/>
            <a:ext cx="27432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C33FF"/>
              </a:buClr>
              <a:buFont typeface="Helvetica"/>
              <a:defRPr sz="1400" b="1">
                <a:solidFill>
                  <a:srgbClr val="0C33FF"/>
                </a:solidFill>
                <a:uFill>
                  <a:solidFill>
                    <a:srgbClr val="0C33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 dirty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yntrophin</a:t>
            </a:r>
            <a:r>
              <a:rPr sz="1400" b="0" dirty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PDZ 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domain</a:t>
            </a:r>
          </a:p>
        </p:txBody>
      </p:sp>
      <p:sp>
        <p:nvSpPr>
          <p:cNvPr id="400" name="Shape 400"/>
          <p:cNvSpPr/>
          <p:nvPr/>
        </p:nvSpPr>
        <p:spPr>
          <a:xfrm>
            <a:off x="4253250" y="3929062"/>
            <a:ext cx="26797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9400"/>
              </a:buClr>
              <a:buFont typeface="Helvetica"/>
              <a:defRPr sz="1400" b="1">
                <a:solidFill>
                  <a:srgbClr val="009400"/>
                </a:solidFill>
                <a:uFill>
                  <a:solidFill>
                    <a:srgbClr val="0094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>
                <a:solidFill>
                  <a:schemeClr val="tx1"/>
                </a:solidFill>
                <a:uFill>
                  <a:solidFill>
                    <a:srgbClr val="009400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nNOS PDZ 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09400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domain</a:t>
            </a:r>
          </a:p>
        </p:txBody>
      </p:sp>
      <p:pic>
        <p:nvPicPr>
          <p:cNvPr id="401" name="image.pdf"/>
          <p:cNvPicPr/>
          <p:nvPr/>
        </p:nvPicPr>
        <p:blipFill>
          <a:blip r:embed="rId8"/>
          <a:stretch>
            <a:fillRect/>
          </a:stretch>
        </p:blipFill>
        <p:spPr>
          <a:xfrm>
            <a:off x="3200400" y="5203825"/>
            <a:ext cx="2922588" cy="1654175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Shape 402"/>
          <p:cNvSpPr/>
          <p:nvPr/>
        </p:nvSpPr>
        <p:spPr>
          <a:xfrm>
            <a:off x="5867400" y="6019800"/>
            <a:ext cx="16129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C33FF"/>
              </a:buClr>
              <a:buFont typeface="Helvetica"/>
              <a:defRPr sz="1400" b="1">
                <a:solidFill>
                  <a:srgbClr val="0C33FF"/>
                </a:solidFill>
                <a:uFill>
                  <a:solidFill>
                    <a:srgbClr val="0C33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PUM </a:t>
            </a:r>
            <a:r>
              <a:rPr lang="en-US" sz="1400" b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repeats</a:t>
            </a:r>
          </a:p>
        </p:txBody>
      </p:sp>
      <p:sp>
        <p:nvSpPr>
          <p:cNvPr id="403" name="Shape 403"/>
          <p:cNvSpPr/>
          <p:nvPr/>
        </p:nvSpPr>
        <p:spPr>
          <a:xfrm>
            <a:off x="4381500" y="5549900"/>
            <a:ext cx="9271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9400"/>
              </a:buClr>
              <a:buFont typeface="Helvetica"/>
              <a:defRPr sz="1400" b="1">
                <a:solidFill>
                  <a:srgbClr val="009400"/>
                </a:solidFill>
                <a:uFill>
                  <a:solidFill>
                    <a:srgbClr val="0094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sz="1400" b="0">
                <a:solidFill>
                  <a:schemeClr val="tx1"/>
                </a:solidFill>
                <a:uFill>
                  <a:solidFill>
                    <a:srgbClr val="009400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RNA</a:t>
            </a:r>
          </a:p>
        </p:txBody>
      </p:sp>
      <p:sp>
        <p:nvSpPr>
          <p:cNvPr id="404" name="Shape 404"/>
          <p:cNvSpPr/>
          <p:nvPr/>
        </p:nvSpPr>
        <p:spPr>
          <a:xfrm>
            <a:off x="-16931" y="381000"/>
            <a:ext cx="231140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400" b="0" u="sng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C</a:t>
            </a:r>
            <a:r>
              <a:rPr lang="en-US" sz="1400" b="0" u="sng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artoon symbol</a:t>
            </a:r>
            <a:r>
              <a:rPr lang="en-US" sz="14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of domain binding to its target:</a:t>
            </a:r>
          </a:p>
        </p:txBody>
      </p:sp>
      <p:sp>
        <p:nvSpPr>
          <p:cNvPr id="405" name="Shape 405"/>
          <p:cNvSpPr/>
          <p:nvPr/>
        </p:nvSpPr>
        <p:spPr>
          <a:xfrm>
            <a:off x="3251200" y="355600"/>
            <a:ext cx="334010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0">
              <a:spcBef>
                <a:spcPts val="900"/>
              </a:spcBef>
              <a:buClr>
                <a:srgbClr val="000000"/>
              </a:buClr>
              <a:buFont typeface="Helvetica"/>
              <a:defRPr sz="1800">
                <a:uFillTx/>
              </a:defRPr>
            </a:pPr>
            <a:r>
              <a:rPr sz="1400" b="0" u="sng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T</a:t>
            </a:r>
            <a:r>
              <a:rPr lang="en-US" sz="1400" b="0" u="sng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he more realistic pic</a:t>
            </a:r>
            <a:r>
              <a:rPr lang="en-US" sz="1400" b="0">
                <a:solidFill>
                  <a:schemeClr val="tx1"/>
                </a:solidFill>
                <a:uFill>
                  <a:solidFill/>
                </a:uFill>
                <a:latin typeface="Gill Sans" charset="0"/>
                <a:ea typeface="Gill Sans" charset="0"/>
                <a:cs typeface="Gill Sans" charset="0"/>
                <a:sym typeface="Helvetica"/>
              </a:rPr>
              <a:t> of domain binding to its target:</a:t>
            </a:r>
          </a:p>
        </p:txBody>
      </p:sp>
      <p:grpSp>
        <p:nvGrpSpPr>
          <p:cNvPr id="408" name="Group 408"/>
          <p:cNvGrpSpPr/>
          <p:nvPr/>
        </p:nvGrpSpPr>
        <p:grpSpPr>
          <a:xfrm>
            <a:off x="5910261" y="6339590"/>
            <a:ext cx="2053360" cy="215444"/>
            <a:chOff x="-25401" y="14990"/>
            <a:chExt cx="2053359" cy="215444"/>
          </a:xfrm>
        </p:grpSpPr>
        <p:sp>
          <p:nvSpPr>
            <p:cNvPr id="406" name="Shape 406"/>
            <p:cNvSpPr/>
            <p:nvPr/>
          </p:nvSpPr>
          <p:spPr>
            <a:xfrm>
              <a:off x="161742" y="14990"/>
              <a:ext cx="1866216" cy="215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spcBef>
                  <a:spcPts val="800"/>
                </a:spcBef>
                <a:buClr>
                  <a:srgbClr val="0C33FF"/>
                </a:buClr>
                <a:buFont typeface="Helvetica"/>
                <a:defRPr sz="1400" b="1">
                  <a:solidFill>
                    <a:srgbClr val="0C33FF"/>
                  </a:solidFill>
                  <a:uFill>
                    <a:solidFill>
                      <a:srgbClr val="0C33FF"/>
                    </a:solidFill>
                  </a:u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  <a:uFillTx/>
                </a:defRPr>
              </a:pPr>
              <a:r>
                <a:rPr sz="1400" b="0">
                  <a:solidFill>
                    <a:schemeClr val="tx1"/>
                  </a:solidFill>
                  <a:uFill>
                    <a:solidFill>
                      <a:srgbClr val="0C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A </a:t>
              </a:r>
              <a:r>
                <a:rPr lang="en-US" sz="1400" b="0">
                  <a:solidFill>
                    <a:schemeClr val="tx1"/>
                  </a:solidFill>
                  <a:uFill>
                    <a:solidFill>
                      <a:srgbClr val="0C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repeated-fold protein</a:t>
              </a:r>
              <a:r>
                <a:rPr sz="1400" b="0">
                  <a:solidFill>
                    <a:schemeClr val="tx1"/>
                  </a:solidFill>
                  <a:uFill>
                    <a:solidFill>
                      <a:srgbClr val="0C33FF"/>
                    </a:solidFill>
                  </a:uFill>
                  <a:latin typeface="Gill Sans" charset="0"/>
                  <a:ea typeface="Gill Sans" charset="0"/>
                  <a:cs typeface="Gill Sans" charset="0"/>
                </a:rPr>
                <a:t>!</a:t>
              </a:r>
            </a:p>
          </p:txBody>
        </p:sp>
        <p:sp>
          <p:nvSpPr>
            <p:cNvPr id="407" name="Shape 407"/>
            <p:cNvSpPr/>
            <p:nvPr/>
          </p:nvSpPr>
          <p:spPr>
            <a:xfrm>
              <a:off x="-25401" y="126999"/>
              <a:ext cx="215900" cy="1588"/>
            </a:xfrm>
            <a:prstGeom prst="line">
              <a:avLst/>
            </a:prstGeom>
            <a:noFill/>
            <a:ln w="19050" cap="flat">
              <a:solidFill>
                <a:srgbClr val="182BCF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defTabSz="457200">
                <a:defRPr sz="12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b="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pic>
        <p:nvPicPr>
          <p:cNvPr id="409" name="image.pdf"/>
          <p:cNvPicPr/>
          <p:nvPr/>
        </p:nvPicPr>
        <p:blipFill>
          <a:blip r:embed="rId9"/>
          <a:stretch>
            <a:fillRect/>
          </a:stretch>
        </p:blipFill>
        <p:spPr>
          <a:xfrm>
            <a:off x="50800" y="1511300"/>
            <a:ext cx="1022351" cy="727075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image.pdf"/>
          <p:cNvPicPr/>
          <p:nvPr/>
        </p:nvPicPr>
        <p:blipFill>
          <a:blip r:embed="rId10"/>
          <a:stretch>
            <a:fillRect/>
          </a:stretch>
        </p:blipFill>
        <p:spPr>
          <a:xfrm>
            <a:off x="-76200" y="2711450"/>
            <a:ext cx="1233488" cy="1633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image.pdf"/>
          <p:cNvPicPr/>
          <p:nvPr/>
        </p:nvPicPr>
        <p:blipFill>
          <a:blip r:embed="rId11"/>
          <a:stretch>
            <a:fillRect/>
          </a:stretch>
        </p:blipFill>
        <p:spPr>
          <a:xfrm>
            <a:off x="114300" y="5486400"/>
            <a:ext cx="971550" cy="912813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Shape 412"/>
          <p:cNvSpPr/>
          <p:nvPr/>
        </p:nvSpPr>
        <p:spPr>
          <a:xfrm>
            <a:off x="-50800" y="3327400"/>
            <a:ext cx="787400" cy="368300"/>
          </a:xfrm>
          <a:prstGeom prst="rect">
            <a:avLst/>
          </a:prstGeom>
          <a:solidFill>
            <a:srgbClr val="FFFFFF"/>
          </a:solidFill>
          <a:ln>
            <a:solidFill>
              <a:srgbClr val="000000">
                <a:alpha val="0"/>
              </a:srgbClr>
            </a:solidFill>
            <a:round/>
          </a:ln>
        </p:spPr>
        <p:txBody>
          <a:bodyPr lIns="0" tIns="0" rIns="0" bIns="0" anchor="ctr"/>
          <a:lstStyle/>
          <a:p>
            <a:pPr lvl="0"/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13" name="Shape 413"/>
          <p:cNvSpPr/>
          <p:nvPr/>
        </p:nvSpPr>
        <p:spPr>
          <a:xfrm flipH="1" flipV="1">
            <a:off x="480536" y="3312517"/>
            <a:ext cx="2065" cy="395883"/>
          </a:xfrm>
          <a:prstGeom prst="line">
            <a:avLst/>
          </a:prstGeom>
          <a:ln w="19050">
            <a:solidFill/>
            <a:round/>
            <a:headEnd type="triangle"/>
          </a:ln>
        </p:spPr>
        <p:txBody>
          <a:bodyPr lIns="0" tIns="0" rIns="0" bIns="0"/>
          <a:lstStyle/>
          <a:p>
            <a:pPr marL="0" marR="0" lvl="0" defTabSz="457200">
              <a:defRPr sz="1200"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b="0">
              <a:solidFill>
                <a:schemeClr val="tx1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3" name="Shape 399"/>
          <p:cNvSpPr/>
          <p:nvPr/>
        </p:nvSpPr>
        <p:spPr>
          <a:xfrm>
            <a:off x="6097404" y="2786062"/>
            <a:ext cx="27432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C33FF"/>
              </a:buClr>
              <a:buFont typeface="Helvetica"/>
              <a:defRPr sz="1400" b="1">
                <a:solidFill>
                  <a:srgbClr val="0C33FF"/>
                </a:solidFill>
                <a:uFill>
                  <a:solidFill>
                    <a:srgbClr val="0C33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(a skeletal muscle protein)</a:t>
            </a:r>
          </a:p>
        </p:txBody>
      </p:sp>
      <p:sp>
        <p:nvSpPr>
          <p:cNvPr id="34" name="Shape 399"/>
          <p:cNvSpPr/>
          <p:nvPr/>
        </p:nvSpPr>
        <p:spPr>
          <a:xfrm>
            <a:off x="5815373" y="3926535"/>
            <a:ext cx="27432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C33FF"/>
              </a:buClr>
              <a:buFont typeface="Helvetica"/>
              <a:defRPr sz="1400" b="1">
                <a:solidFill>
                  <a:srgbClr val="0C33FF"/>
                </a:solidFill>
                <a:uFill>
                  <a:solidFill>
                    <a:srgbClr val="0C33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A protein that catalyzes </a:t>
            </a:r>
            <a:r>
              <a:rPr lang="en-US" sz="1400" b="0" dirty="0" err="1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syn</a:t>
            </a:r>
            <a:r>
              <a:rPr lang="en-US" sz="1400" b="0" dirty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 of NO</a:t>
            </a:r>
          </a:p>
        </p:txBody>
      </p:sp>
      <p:sp>
        <p:nvSpPr>
          <p:cNvPr id="35" name="Shape 399"/>
          <p:cNvSpPr/>
          <p:nvPr/>
        </p:nvSpPr>
        <p:spPr>
          <a:xfrm>
            <a:off x="6907624" y="6019800"/>
            <a:ext cx="274320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C33FF"/>
              </a:buClr>
              <a:buFont typeface="Helvetica"/>
              <a:defRPr sz="1400" b="1">
                <a:solidFill>
                  <a:srgbClr val="0C33FF"/>
                </a:solidFill>
                <a:uFill>
                  <a:solidFill>
                    <a:srgbClr val="0C33FF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  <a:uFillTx/>
              </a:defRPr>
            </a:pPr>
            <a:r>
              <a:rPr lang="en-US" sz="1400" b="0">
                <a:solidFill>
                  <a:schemeClr val="tx1"/>
                </a:solidFill>
                <a:uFill>
                  <a:solidFill>
                    <a:srgbClr val="0C33FF"/>
                  </a:solidFill>
                </a:uFill>
                <a:latin typeface="Gill Sans" charset="0"/>
                <a:ea typeface="Gill Sans" charset="0"/>
                <a:cs typeface="Gill Sans" charset="0"/>
              </a:rPr>
              <a:t>Translation repression</a:t>
            </a:r>
            <a:endParaRPr lang="en-US" sz="1400" b="0" dirty="0">
              <a:solidFill>
                <a:schemeClr val="tx1"/>
              </a:solidFill>
              <a:uFill>
                <a:solidFill>
                  <a:srgbClr val="0C33FF"/>
                </a:solidFill>
              </a:uFill>
              <a:latin typeface="Gill Sans" charset="0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00542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" grpId="0" advAuto="0"/>
      <p:bldP spid="33" grpId="0" animBg="1"/>
      <p:bldP spid="34" grpId="0" animBg="1"/>
      <p:bldP spid="35" grpId="0" animBg="1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6E6E9"/>
        </a:solidFill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Times Roman"/>
        <a:ea typeface="Times Roman"/>
        <a:cs typeface="Times Roman"/>
      </a:majorFont>
      <a:minorFont>
        <a:latin typeface="Times Roman"/>
        <a:ea typeface="Times Roman"/>
        <a:cs typeface="Times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6E6E9"/>
        </a:solidFill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9525" cap="flat">
          <a:solidFill>
            <a:srgbClr val="000000"/>
          </a:solidFill>
          <a:prstDash val="solid"/>
          <a:round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52924</TotalTime>
  <Words>3010</Words>
  <Application>Microsoft Macintosh PowerPoint</Application>
  <PresentationFormat>On-screen Show (4:3)</PresentationFormat>
  <Paragraphs>332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ArialMT</vt:lpstr>
      <vt:lpstr>Gill Sans</vt:lpstr>
      <vt:lpstr>Gill Sans MT</vt:lpstr>
      <vt:lpstr>Gill Sans Regular</vt:lpstr>
      <vt:lpstr>GillSans</vt:lpstr>
      <vt:lpstr>Helvetica</vt:lpstr>
      <vt:lpstr>Lucida Grande</vt:lpstr>
      <vt:lpstr>Symbol</vt:lpstr>
      <vt:lpstr>Wingdings 2</vt:lpstr>
      <vt:lpstr>White</vt:lpstr>
      <vt:lpstr>PowerPoint Presentation</vt:lpstr>
      <vt:lpstr>PowerPoint Presentation</vt:lpstr>
      <vt:lpstr>PowerPoint Presentation</vt:lpstr>
      <vt:lpstr>Fold Patterns Drawn in 2D</vt:lpstr>
      <vt:lpstr>“Special” secondary structure: Collagen</vt:lpstr>
      <vt:lpstr>PowerPoint Presentation</vt:lpstr>
      <vt:lpstr>How does this crosslink form?</vt:lpstr>
      <vt:lpstr>New topic: what is a stable protein fold?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Repeated folds can occur within a single polypeptide chain</vt:lpstr>
      <vt:lpstr>PowerPoint Presentation</vt:lpstr>
      <vt:lpstr>Stable quaternary structure, IV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Linda K. Nicholson</cp:lastModifiedBy>
  <cp:revision>182</cp:revision>
  <dcterms:modified xsi:type="dcterms:W3CDTF">2025-09-12T13:27:39Z</dcterms:modified>
</cp:coreProperties>
</file>