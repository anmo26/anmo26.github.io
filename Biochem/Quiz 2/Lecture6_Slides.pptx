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 ContentType="image/tif"/>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96" r:id="rId2"/>
    <p:sldId id="310" r:id="rId3"/>
    <p:sldId id="304" r:id="rId4"/>
    <p:sldId id="315" r:id="rId5"/>
    <p:sldId id="317" r:id="rId6"/>
    <p:sldId id="297" r:id="rId7"/>
    <p:sldId id="298" r:id="rId8"/>
    <p:sldId id="299" r:id="rId9"/>
    <p:sldId id="325" r:id="rId10"/>
    <p:sldId id="300" r:id="rId11"/>
    <p:sldId id="318" r:id="rId12"/>
    <p:sldId id="307" r:id="rId13"/>
    <p:sldId id="257" r:id="rId14"/>
    <p:sldId id="258" r:id="rId15"/>
    <p:sldId id="308" r:id="rId16"/>
    <p:sldId id="311" r:id="rId17"/>
    <p:sldId id="319" r:id="rId18"/>
  </p:sldIdLst>
  <p:sldSz cx="9144000" cy="6858000" type="screen4x3"/>
  <p:notesSz cx="6858000" cy="9144000"/>
  <p:defaultTextStyle>
    <a:lvl1pPr marL="40639" marR="40639">
      <a:defRPr sz="2000" b="1">
        <a:uFill>
          <a:solidFill/>
        </a:uFill>
        <a:latin typeface="Helvetica"/>
        <a:ea typeface="Helvetica"/>
        <a:cs typeface="Helvetica"/>
        <a:sym typeface="Helvetica"/>
      </a:defRPr>
    </a:lvl1pPr>
    <a:lvl2pPr marL="40639" marR="40639" indent="342900">
      <a:defRPr sz="2000" b="1">
        <a:uFill>
          <a:solidFill/>
        </a:uFill>
        <a:latin typeface="Helvetica"/>
        <a:ea typeface="Helvetica"/>
        <a:cs typeface="Helvetica"/>
        <a:sym typeface="Helvetica"/>
      </a:defRPr>
    </a:lvl2pPr>
    <a:lvl3pPr marL="40639" marR="40639" indent="685800">
      <a:defRPr sz="2000" b="1">
        <a:uFill>
          <a:solidFill/>
        </a:uFill>
        <a:latin typeface="Helvetica"/>
        <a:ea typeface="Helvetica"/>
        <a:cs typeface="Helvetica"/>
        <a:sym typeface="Helvetica"/>
      </a:defRPr>
    </a:lvl3pPr>
    <a:lvl4pPr marL="40639" marR="40639" indent="1028700">
      <a:defRPr sz="2000" b="1">
        <a:uFill>
          <a:solidFill/>
        </a:uFill>
        <a:latin typeface="Helvetica"/>
        <a:ea typeface="Helvetica"/>
        <a:cs typeface="Helvetica"/>
        <a:sym typeface="Helvetica"/>
      </a:defRPr>
    </a:lvl4pPr>
    <a:lvl5pPr marL="40639" marR="40639" indent="1371600">
      <a:defRPr sz="2000" b="1">
        <a:uFill>
          <a:solidFill/>
        </a:uFill>
        <a:latin typeface="Helvetica"/>
        <a:ea typeface="Helvetica"/>
        <a:cs typeface="Helvetica"/>
        <a:sym typeface="Helvetica"/>
      </a:defRPr>
    </a:lvl5pPr>
    <a:lvl6pPr marL="40639" marR="40639" indent="1714500">
      <a:defRPr sz="2000" b="1">
        <a:uFill>
          <a:solidFill/>
        </a:uFill>
        <a:latin typeface="Helvetica"/>
        <a:ea typeface="Helvetica"/>
        <a:cs typeface="Helvetica"/>
        <a:sym typeface="Helvetica"/>
      </a:defRPr>
    </a:lvl6pPr>
    <a:lvl7pPr marL="40639" marR="40639" indent="2057400">
      <a:defRPr sz="2000" b="1">
        <a:uFill>
          <a:solidFill/>
        </a:uFill>
        <a:latin typeface="Helvetica"/>
        <a:ea typeface="Helvetica"/>
        <a:cs typeface="Helvetica"/>
        <a:sym typeface="Helvetica"/>
      </a:defRPr>
    </a:lvl7pPr>
    <a:lvl8pPr marL="40639" marR="40639" indent="2400300">
      <a:defRPr sz="2000" b="1">
        <a:uFill>
          <a:solidFill/>
        </a:uFill>
        <a:latin typeface="Helvetica"/>
        <a:ea typeface="Helvetica"/>
        <a:cs typeface="Helvetica"/>
        <a:sym typeface="Helvetica"/>
      </a:defRPr>
    </a:lvl8pPr>
    <a:lvl9pPr marL="40639" marR="40639" indent="2743200">
      <a:defRPr sz="2000" b="1">
        <a:uFill>
          <a:solidFill/>
        </a:uFill>
        <a:latin typeface="Helvetica"/>
        <a:ea typeface="Helvetica"/>
        <a:cs typeface="Helvetica"/>
        <a:sym typeface="Helvetica"/>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37F8"/>
    <a:srgbClr val="0541E0"/>
    <a:srgbClr val="74E6E4"/>
    <a:srgbClr val="1855FF"/>
    <a:srgbClr val="E6F2F7"/>
    <a:srgbClr val="E1EDF1"/>
    <a:srgbClr val="DAE6E8"/>
    <a:srgbClr val="CDE7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Ref idx="minor">
          <a:srgbClr val="000000"/>
        </a:fontRef>
        <a:srgbClr val="000000"/>
      </a:tcTxStyle>
      <a:tcStyle>
        <a:tcBdr>
          <a:left>
            <a:ln w="28575"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8575"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lastRow>
    <a:fir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8575"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000000">
              <a:alpha val="25000"/>
            </a:srgbClr>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Light"/>
          <a:ea typeface="Helvetica Light"/>
          <a:cs typeface="Helvetica Light"/>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Light"/>
          <a:ea typeface="Helvetica Light"/>
          <a:cs typeface="Helvetica Light"/>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00882B"/>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365C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52"/>
    <p:restoredTop sz="97267" autoAdjust="0"/>
  </p:normalViewPr>
  <p:slideViewPr>
    <p:cSldViewPr snapToGrid="0" snapToObjects="1">
      <p:cViewPr varScale="1">
        <p:scale>
          <a:sx n="109" d="100"/>
          <a:sy n="109" d="100"/>
        </p:scale>
        <p:origin x="1528" y="184"/>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Shape 13"/>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14" name="Shape 14"/>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2005861389"/>
      </p:ext>
    </p:extLst>
  </p:cSld>
  <p:clrMap bg1="lt1" tx1="dk1" bg2="lt2" tx2="dk2" accent1="accent1" accent2="accent2" accent3="accent3" accent4="accent4" accent5="accent5" accent6="accent6" hlink="hlink" folHlink="folHlink"/>
  <p:notesStyle>
    <a:lvl1pPr defTabSz="584200">
      <a:defRPr sz="2200">
        <a:latin typeface="Lucida Grande"/>
        <a:ea typeface="Lucida Grande"/>
        <a:cs typeface="Lucida Grande"/>
        <a:sym typeface="Lucida Grande"/>
      </a:defRPr>
    </a:lvl1pPr>
    <a:lvl2pPr indent="228600" defTabSz="584200">
      <a:defRPr sz="2200">
        <a:latin typeface="Lucida Grande"/>
        <a:ea typeface="Lucida Grande"/>
        <a:cs typeface="Lucida Grande"/>
        <a:sym typeface="Lucida Grande"/>
      </a:defRPr>
    </a:lvl2pPr>
    <a:lvl3pPr indent="457200" defTabSz="584200">
      <a:defRPr sz="2200">
        <a:latin typeface="Lucida Grande"/>
        <a:ea typeface="Lucida Grande"/>
        <a:cs typeface="Lucida Grande"/>
        <a:sym typeface="Lucida Grande"/>
      </a:defRPr>
    </a:lvl3pPr>
    <a:lvl4pPr indent="685800" defTabSz="584200">
      <a:defRPr sz="2200">
        <a:latin typeface="Lucida Grande"/>
        <a:ea typeface="Lucida Grande"/>
        <a:cs typeface="Lucida Grande"/>
        <a:sym typeface="Lucida Grande"/>
      </a:defRPr>
    </a:lvl4pPr>
    <a:lvl5pPr indent="914400" defTabSz="584200">
      <a:defRPr sz="2200">
        <a:latin typeface="Lucida Grande"/>
        <a:ea typeface="Lucida Grande"/>
        <a:cs typeface="Lucida Grande"/>
        <a:sym typeface="Lucida Grande"/>
      </a:defRPr>
    </a:lvl5pPr>
    <a:lvl6pPr indent="1143000" defTabSz="584200">
      <a:defRPr sz="2200">
        <a:latin typeface="Lucida Grande"/>
        <a:ea typeface="Lucida Grande"/>
        <a:cs typeface="Lucida Grande"/>
        <a:sym typeface="Lucida Grande"/>
      </a:defRPr>
    </a:lvl6pPr>
    <a:lvl7pPr indent="1371600" defTabSz="584200">
      <a:defRPr sz="2200">
        <a:latin typeface="Lucida Grande"/>
        <a:ea typeface="Lucida Grande"/>
        <a:cs typeface="Lucida Grande"/>
        <a:sym typeface="Lucida Grande"/>
      </a:defRPr>
    </a:lvl7pPr>
    <a:lvl8pPr indent="1600200" defTabSz="584200">
      <a:defRPr sz="2200">
        <a:latin typeface="Lucida Grande"/>
        <a:ea typeface="Lucida Grande"/>
        <a:cs typeface="Lucida Grande"/>
        <a:sym typeface="Lucida Grande"/>
      </a:defRPr>
    </a:lvl8pPr>
    <a:lvl9pPr indent="1828800" defTabSz="58420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3349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15667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07408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p:cNvSpPr>
          <p:nvPr>
            <p:ph type="sldImg"/>
          </p:nvPr>
        </p:nvSpPr>
        <p:spPr>
          <a:ln/>
        </p:spPr>
      </p:sp>
      <p:sp>
        <p:nvSpPr>
          <p:cNvPr id="103427"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a:ea typeface="ＭＳ Ｐゴシック" charset="0"/>
                <a:cs typeface="ＭＳ Ｐゴシック" charset="0"/>
              </a:rPr>
              <a:t>Let’s start with some basics first.  Let’s consider a generic peptide bond</a:t>
            </a:r>
            <a:r>
              <a:rPr lang="en-US" baseline="0" dirty="0">
                <a:ea typeface="ＭＳ Ｐゴシック" charset="0"/>
                <a:cs typeface="ＭＳ Ｐゴシック" charset="0"/>
              </a:rPr>
              <a:t> </a:t>
            </a:r>
            <a:r>
              <a:rPr lang="en-US" dirty="0">
                <a:ea typeface="ＭＳ Ｐゴシック" charset="0"/>
                <a:cs typeface="ＭＳ Ｐゴシック" charset="0"/>
              </a:rPr>
              <a:t>between any two adjacent amino acids in a protein. This peptide bond is </a:t>
            </a:r>
            <a:r>
              <a:rPr lang="en-US" baseline="0" dirty="0">
                <a:ea typeface="ＭＳ Ｐゴシック" charset="0"/>
                <a:cs typeface="ＭＳ Ｐゴシック" charset="0"/>
              </a:rPr>
              <a:t>in the trans isomer state </a:t>
            </a:r>
            <a:r>
              <a:rPr lang="en-US" dirty="0">
                <a:ea typeface="ＭＳ Ｐゴシック" charset="0"/>
                <a:cs typeface="ＭＳ Ｐゴシック" charset="0"/>
              </a:rPr>
              <a:t>for</a:t>
            </a:r>
            <a:r>
              <a:rPr lang="en-US" baseline="0" dirty="0">
                <a:ea typeface="ＭＳ Ｐゴシック" charset="0"/>
                <a:cs typeface="ＭＳ Ｐゴシック" charset="0"/>
              </a:rPr>
              <a:t> all non-Pro amino acids because the cis isomer is much higher in energy than the trans, due to the less favorable interactions in the cis conformation.  When the downstream amino acid is </a:t>
            </a:r>
            <a:r>
              <a:rPr lang="en-US" dirty="0" err="1">
                <a:ea typeface="ＭＳ Ｐゴシック" charset="0"/>
                <a:cs typeface="ＭＳ Ｐゴシック" charset="0"/>
              </a:rPr>
              <a:t>Proline</a:t>
            </a:r>
            <a:r>
              <a:rPr lang="en-US" dirty="0">
                <a:ea typeface="ＭＳ Ｐゴシック" charset="0"/>
                <a:cs typeface="ＭＳ Ｐゴシック" charset="0"/>
              </a:rPr>
              <a:t>,</a:t>
            </a:r>
            <a:r>
              <a:rPr lang="en-US" baseline="0" dirty="0">
                <a:ea typeface="ＭＳ Ｐゴシック" charset="0"/>
                <a:cs typeface="ＭＳ Ｐゴシック" charset="0"/>
              </a:rPr>
              <a:t> </a:t>
            </a:r>
            <a:r>
              <a:rPr lang="en-US" dirty="0">
                <a:ea typeface="ＭＳ Ｐゴシック" charset="0"/>
                <a:cs typeface="ＭＳ Ｐゴシック" charset="0"/>
              </a:rPr>
              <a:t>the peptide bond can adopt either cis or trans states because in either state, the delta CH2 group and the alpha carbon yield very similar steric constraints. Consequently, the relative energies of cis and trans states are much closer together for </a:t>
            </a:r>
            <a:r>
              <a:rPr lang="en-US" dirty="0" err="1">
                <a:ea typeface="ＭＳ Ｐゴシック" charset="0"/>
                <a:cs typeface="ＭＳ Ｐゴシック" charset="0"/>
              </a:rPr>
              <a:t>Proline</a:t>
            </a:r>
            <a:r>
              <a:rPr lang="en-US" dirty="0">
                <a:ea typeface="ＭＳ Ｐゴシック" charset="0"/>
                <a:cs typeface="ＭＳ Ｐゴシック" charset="0"/>
              </a:rPr>
              <a:t> than for all other amino acids.</a:t>
            </a:r>
          </a:p>
        </p:txBody>
      </p:sp>
      <p:sp>
        <p:nvSpPr>
          <p:cNvPr id="103428"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9300">
                <a:solidFill>
                  <a:schemeClr val="tx1"/>
                </a:solidFill>
                <a:latin typeface="Arial" charset="0"/>
                <a:ea typeface="ＭＳ Ｐゴシック" charset="0"/>
                <a:cs typeface="ＭＳ Ｐゴシック" charset="0"/>
              </a:defRPr>
            </a:lvl1pPr>
            <a:lvl2pPr marL="36873430" indent="-36428986" eaLnBrk="0" hangingPunct="0">
              <a:defRPr sz="9300">
                <a:solidFill>
                  <a:schemeClr val="tx1"/>
                </a:solidFill>
                <a:latin typeface="Arial" charset="0"/>
                <a:ea typeface="ＭＳ Ｐゴシック" charset="0"/>
              </a:defRPr>
            </a:lvl2pPr>
            <a:lvl3pPr eaLnBrk="0" hangingPunct="0">
              <a:defRPr sz="9300">
                <a:solidFill>
                  <a:schemeClr val="tx1"/>
                </a:solidFill>
                <a:latin typeface="Arial" charset="0"/>
                <a:ea typeface="ＭＳ Ｐゴシック" charset="0"/>
              </a:defRPr>
            </a:lvl3pPr>
            <a:lvl4pPr eaLnBrk="0" hangingPunct="0">
              <a:defRPr sz="9300">
                <a:solidFill>
                  <a:schemeClr val="tx1"/>
                </a:solidFill>
                <a:latin typeface="Arial" charset="0"/>
                <a:ea typeface="ＭＳ Ｐゴシック" charset="0"/>
              </a:defRPr>
            </a:lvl4pPr>
            <a:lvl5pPr eaLnBrk="0" hangingPunct="0">
              <a:defRPr sz="9300">
                <a:solidFill>
                  <a:schemeClr val="tx1"/>
                </a:solidFill>
                <a:latin typeface="Arial" charset="0"/>
                <a:ea typeface="ＭＳ Ｐゴシック" charset="0"/>
              </a:defRPr>
            </a:lvl5pPr>
            <a:lvl6pPr marL="444444" eaLnBrk="0" fontAlgn="base" hangingPunct="0">
              <a:spcBef>
                <a:spcPct val="0"/>
              </a:spcBef>
              <a:spcAft>
                <a:spcPct val="0"/>
              </a:spcAft>
              <a:defRPr sz="9300">
                <a:solidFill>
                  <a:schemeClr val="tx1"/>
                </a:solidFill>
                <a:latin typeface="Arial" charset="0"/>
                <a:ea typeface="ＭＳ Ｐゴシック" charset="0"/>
              </a:defRPr>
            </a:lvl6pPr>
            <a:lvl7pPr marL="888888" eaLnBrk="0" fontAlgn="base" hangingPunct="0">
              <a:spcBef>
                <a:spcPct val="0"/>
              </a:spcBef>
              <a:spcAft>
                <a:spcPct val="0"/>
              </a:spcAft>
              <a:defRPr sz="9300">
                <a:solidFill>
                  <a:schemeClr val="tx1"/>
                </a:solidFill>
                <a:latin typeface="Arial" charset="0"/>
                <a:ea typeface="ＭＳ Ｐゴシック" charset="0"/>
              </a:defRPr>
            </a:lvl7pPr>
            <a:lvl8pPr marL="1333332" eaLnBrk="0" fontAlgn="base" hangingPunct="0">
              <a:spcBef>
                <a:spcPct val="0"/>
              </a:spcBef>
              <a:spcAft>
                <a:spcPct val="0"/>
              </a:spcAft>
              <a:defRPr sz="9300">
                <a:solidFill>
                  <a:schemeClr val="tx1"/>
                </a:solidFill>
                <a:latin typeface="Arial" charset="0"/>
                <a:ea typeface="ＭＳ Ｐゴシック" charset="0"/>
              </a:defRPr>
            </a:lvl8pPr>
            <a:lvl9pPr marL="1777776" eaLnBrk="0" fontAlgn="base" hangingPunct="0">
              <a:spcBef>
                <a:spcPct val="0"/>
              </a:spcBef>
              <a:spcAft>
                <a:spcPct val="0"/>
              </a:spcAft>
              <a:defRPr sz="9300">
                <a:solidFill>
                  <a:schemeClr val="tx1"/>
                </a:solidFill>
                <a:latin typeface="Arial" charset="0"/>
                <a:ea typeface="ＭＳ Ｐゴシック" charset="0"/>
              </a:defRPr>
            </a:lvl9pPr>
          </a:lstStyle>
          <a:p>
            <a:pPr eaLnBrk="1" hangingPunct="1"/>
            <a:fld id="{CEF34616-CAE0-7745-AFC2-BC9A5D8232A8}" type="slidenum">
              <a:rPr lang="en-US" sz="1200">
                <a:solidFill>
                  <a:srgbClr val="000000"/>
                </a:solidFill>
              </a:rPr>
              <a:pPr eaLnBrk="1" hangingPunct="1"/>
              <a:t>13</a:t>
            </a:fld>
            <a:endParaRPr lang="en-US" sz="1200">
              <a:solidFill>
                <a:srgbClr val="000000"/>
              </a:solidFill>
            </a:endParaRPr>
          </a:p>
        </p:txBody>
      </p:sp>
    </p:spTree>
    <p:extLst>
      <p:ext uri="{BB962C8B-B14F-4D97-AF65-F5344CB8AC3E}">
        <p14:creationId xmlns:p14="http://schemas.microsoft.com/office/powerpoint/2010/main" val="1715151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p:cNvSpPr>
          <p:nvPr>
            <p:ph type="sldImg"/>
          </p:nvPr>
        </p:nvSpPr>
        <p:spPr>
          <a:ln/>
        </p:spPr>
      </p:sp>
      <p:sp>
        <p:nvSpPr>
          <p:cNvPr id="105475"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a:ea typeface="ＭＳ Ｐゴシック" charset="0"/>
                <a:cs typeface="ＭＳ Ｐゴシック" charset="0"/>
              </a:rPr>
              <a:t>Here</a:t>
            </a:r>
            <a:r>
              <a:rPr lang="en-US" baseline="0" dirty="0">
                <a:ea typeface="ＭＳ Ｐゴシック" charset="0"/>
                <a:cs typeface="ＭＳ Ｐゴシック" charset="0"/>
              </a:rPr>
              <a:t> is w</a:t>
            </a:r>
            <a:r>
              <a:rPr lang="en-US" dirty="0">
                <a:ea typeface="ＭＳ Ｐゴシック" charset="0"/>
                <a:cs typeface="ＭＳ Ｐゴシック" charset="0"/>
              </a:rPr>
              <a:t>hat this looks like on an energy diagram.  For</a:t>
            </a:r>
            <a:r>
              <a:rPr lang="en-US" baseline="0" dirty="0">
                <a:ea typeface="ＭＳ Ｐゴシック" charset="0"/>
                <a:cs typeface="ＭＳ Ｐゴシック" charset="0"/>
              </a:rPr>
              <a:t> all amino acid residues except </a:t>
            </a:r>
            <a:r>
              <a:rPr lang="en-US" baseline="0" dirty="0" err="1">
                <a:ea typeface="ＭＳ Ｐゴシック" charset="0"/>
                <a:cs typeface="ＭＳ Ｐゴシック" charset="0"/>
              </a:rPr>
              <a:t>proline</a:t>
            </a:r>
            <a:r>
              <a:rPr lang="en-US" baseline="0" dirty="0">
                <a:ea typeface="ＭＳ Ｐゴシック" charset="0"/>
                <a:cs typeface="ＭＳ Ｐゴシック" charset="0"/>
              </a:rPr>
              <a:t>, the trans state of the preceding peptide bond is much lower in energy than the cis, and we have a large difference in standard Gibbs free energy between cis and trans, which gives us effectively 100% trans population.  For </a:t>
            </a:r>
            <a:r>
              <a:rPr lang="en-US" baseline="0" dirty="0" err="1">
                <a:ea typeface="ＭＳ Ｐゴシック" charset="0"/>
                <a:cs typeface="ＭＳ Ｐゴシック" charset="0"/>
              </a:rPr>
              <a:t>proline</a:t>
            </a:r>
            <a:r>
              <a:rPr lang="en-US" baseline="0" dirty="0">
                <a:ea typeface="ＭＳ Ｐゴシック" charset="0"/>
                <a:cs typeface="ＭＳ Ｐゴシック" charset="0"/>
              </a:rPr>
              <a:t>, the trans and cis states are much closer in energy, and the population of cis can be as high as about 50 percent in </a:t>
            </a:r>
            <a:r>
              <a:rPr lang="en-US" baseline="0" dirty="0" err="1">
                <a:ea typeface="ＭＳ Ｐゴシック" charset="0"/>
                <a:cs typeface="ＭＳ Ｐゴシック" charset="0"/>
              </a:rPr>
              <a:t>conformationally</a:t>
            </a:r>
            <a:r>
              <a:rPr lang="en-US" baseline="0" dirty="0">
                <a:ea typeface="ＭＳ Ｐゴシック" charset="0"/>
                <a:cs typeface="ＭＳ Ｐゴシック" charset="0"/>
              </a:rPr>
              <a:t> unconstrained parts of proteins such as loops and tails or small peptides; when X is tryptophan or another aromatic amino acid, this gives rise to the higher cis populations. </a:t>
            </a:r>
          </a:p>
          <a:p>
            <a:endParaRPr lang="en-US" baseline="0" dirty="0">
              <a:ea typeface="ＭＳ Ｐゴシック" charset="0"/>
              <a:cs typeface="ＭＳ Ｐゴシック" charset="0"/>
            </a:endParaRPr>
          </a:p>
          <a:p>
            <a:r>
              <a:rPr lang="en-US" dirty="0">
                <a:ea typeface="ＭＳ Ｐゴシック" charset="0"/>
                <a:cs typeface="ＭＳ Ｐゴシック" charset="0"/>
              </a:rPr>
              <a:t>Importantly, the activation barrier for transition from trans to cis states is high (typically on the order of 14-24 kcal/</a:t>
            </a:r>
            <a:r>
              <a:rPr lang="en-US" dirty="0" err="1">
                <a:ea typeface="ＭＳ Ｐゴシック" charset="0"/>
                <a:cs typeface="ＭＳ Ｐゴシック" charset="0"/>
              </a:rPr>
              <a:t>mol</a:t>
            </a:r>
            <a:r>
              <a:rPr lang="en-US" dirty="0">
                <a:ea typeface="ＭＳ Ｐゴシック" charset="0"/>
                <a:cs typeface="ＭＳ Ｐゴシック" charset="0"/>
              </a:rPr>
              <a:t>), so that exchange between them is slow (with a time constant on the order of several minutes). </a:t>
            </a:r>
            <a:r>
              <a:rPr lang="en-US" dirty="0" err="1">
                <a:ea typeface="ＭＳ Ｐゴシック" charset="0"/>
                <a:cs typeface="ＭＳ Ｐゴシック" charset="0"/>
              </a:rPr>
              <a:t>Peptidyl</a:t>
            </a:r>
            <a:r>
              <a:rPr lang="en-US" dirty="0">
                <a:ea typeface="ＭＳ Ｐゴシック" charset="0"/>
                <a:cs typeface="ＭＳ Ｐゴシック" charset="0"/>
              </a:rPr>
              <a:t> </a:t>
            </a:r>
            <a:r>
              <a:rPr lang="en-US" dirty="0" err="1">
                <a:ea typeface="ＭＳ Ｐゴシック" charset="0"/>
                <a:cs typeface="ＭＳ Ｐゴシック" charset="0"/>
              </a:rPr>
              <a:t>prolyl</a:t>
            </a:r>
            <a:r>
              <a:rPr lang="en-US" dirty="0">
                <a:ea typeface="ＭＳ Ｐゴシック" charset="0"/>
                <a:cs typeface="ＭＳ Ｐゴシック" charset="0"/>
              </a:rPr>
              <a:t> isomerase enzymes accelerate this exchange by lowering the transition state barrier, bringing exchange time constants into the seconds-to-milliseconds timeframe of biological processes.  </a:t>
            </a:r>
          </a:p>
          <a:p>
            <a:endParaRPr lang="en-US" dirty="0">
              <a:ea typeface="ＭＳ Ｐゴシック" charset="0"/>
              <a:cs typeface="ＭＳ Ｐゴシック" charset="0"/>
            </a:endParaRPr>
          </a:p>
          <a:p>
            <a:r>
              <a:rPr lang="en-US" dirty="0">
                <a:ea typeface="ＭＳ Ｐゴシック" charset="0"/>
                <a:cs typeface="ＭＳ Ｐゴシック" charset="0"/>
              </a:rPr>
              <a:t>It is very important to note that a classical enzyme such as an isomerase does NOT change the equilibrium free energy difference between cis and trans states, i.e.</a:t>
            </a:r>
            <a:r>
              <a:rPr lang="en-US" baseline="0" dirty="0">
                <a:ea typeface="ＭＳ Ｐゴシック" charset="0"/>
                <a:cs typeface="ＭＳ Ｐゴシック" charset="0"/>
              </a:rPr>
              <a:t> the cis/trans ratio of the free substrate is not changed IF WE ARE AT EQUILIBRIUM.  A classical enzyme can only ACCELERATE the achievement of equilibrium when the system is perturbed.  </a:t>
            </a:r>
          </a:p>
          <a:p>
            <a:endParaRPr lang="en-US" baseline="0" dirty="0">
              <a:ea typeface="ＭＳ Ｐゴシック" charset="0"/>
              <a:cs typeface="ＭＳ Ｐゴシック" charset="0"/>
            </a:endParaRPr>
          </a:p>
          <a:p>
            <a:r>
              <a:rPr lang="en-US" dirty="0">
                <a:ea typeface="ＭＳ Ｐゴシック" charset="0"/>
                <a:cs typeface="ＭＳ Ｐゴシック" charset="0"/>
              </a:rPr>
              <a:t> </a:t>
            </a:r>
          </a:p>
        </p:txBody>
      </p:sp>
      <p:sp>
        <p:nvSpPr>
          <p:cNvPr id="105476"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9300">
                <a:solidFill>
                  <a:schemeClr val="tx1"/>
                </a:solidFill>
                <a:latin typeface="Arial" charset="0"/>
                <a:ea typeface="ＭＳ Ｐゴシック" charset="0"/>
                <a:cs typeface="ＭＳ Ｐゴシック" charset="0"/>
              </a:defRPr>
            </a:lvl1pPr>
            <a:lvl2pPr marL="36873430" indent="-36428986" eaLnBrk="0" hangingPunct="0">
              <a:defRPr sz="9300">
                <a:solidFill>
                  <a:schemeClr val="tx1"/>
                </a:solidFill>
                <a:latin typeface="Arial" charset="0"/>
                <a:ea typeface="ＭＳ Ｐゴシック" charset="0"/>
              </a:defRPr>
            </a:lvl2pPr>
            <a:lvl3pPr eaLnBrk="0" hangingPunct="0">
              <a:defRPr sz="9300">
                <a:solidFill>
                  <a:schemeClr val="tx1"/>
                </a:solidFill>
                <a:latin typeface="Arial" charset="0"/>
                <a:ea typeface="ＭＳ Ｐゴシック" charset="0"/>
              </a:defRPr>
            </a:lvl3pPr>
            <a:lvl4pPr eaLnBrk="0" hangingPunct="0">
              <a:defRPr sz="9300">
                <a:solidFill>
                  <a:schemeClr val="tx1"/>
                </a:solidFill>
                <a:latin typeface="Arial" charset="0"/>
                <a:ea typeface="ＭＳ Ｐゴシック" charset="0"/>
              </a:defRPr>
            </a:lvl4pPr>
            <a:lvl5pPr eaLnBrk="0" hangingPunct="0">
              <a:defRPr sz="9300">
                <a:solidFill>
                  <a:schemeClr val="tx1"/>
                </a:solidFill>
                <a:latin typeface="Arial" charset="0"/>
                <a:ea typeface="ＭＳ Ｐゴシック" charset="0"/>
              </a:defRPr>
            </a:lvl5pPr>
            <a:lvl6pPr marL="444444" eaLnBrk="0" fontAlgn="base" hangingPunct="0">
              <a:spcBef>
                <a:spcPct val="0"/>
              </a:spcBef>
              <a:spcAft>
                <a:spcPct val="0"/>
              </a:spcAft>
              <a:defRPr sz="9300">
                <a:solidFill>
                  <a:schemeClr val="tx1"/>
                </a:solidFill>
                <a:latin typeface="Arial" charset="0"/>
                <a:ea typeface="ＭＳ Ｐゴシック" charset="0"/>
              </a:defRPr>
            </a:lvl6pPr>
            <a:lvl7pPr marL="888888" eaLnBrk="0" fontAlgn="base" hangingPunct="0">
              <a:spcBef>
                <a:spcPct val="0"/>
              </a:spcBef>
              <a:spcAft>
                <a:spcPct val="0"/>
              </a:spcAft>
              <a:defRPr sz="9300">
                <a:solidFill>
                  <a:schemeClr val="tx1"/>
                </a:solidFill>
                <a:latin typeface="Arial" charset="0"/>
                <a:ea typeface="ＭＳ Ｐゴシック" charset="0"/>
              </a:defRPr>
            </a:lvl7pPr>
            <a:lvl8pPr marL="1333332" eaLnBrk="0" fontAlgn="base" hangingPunct="0">
              <a:spcBef>
                <a:spcPct val="0"/>
              </a:spcBef>
              <a:spcAft>
                <a:spcPct val="0"/>
              </a:spcAft>
              <a:defRPr sz="9300">
                <a:solidFill>
                  <a:schemeClr val="tx1"/>
                </a:solidFill>
                <a:latin typeface="Arial" charset="0"/>
                <a:ea typeface="ＭＳ Ｐゴシック" charset="0"/>
              </a:defRPr>
            </a:lvl8pPr>
            <a:lvl9pPr marL="1777776" eaLnBrk="0" fontAlgn="base" hangingPunct="0">
              <a:spcBef>
                <a:spcPct val="0"/>
              </a:spcBef>
              <a:spcAft>
                <a:spcPct val="0"/>
              </a:spcAft>
              <a:defRPr sz="9300">
                <a:solidFill>
                  <a:schemeClr val="tx1"/>
                </a:solidFill>
                <a:latin typeface="Arial" charset="0"/>
                <a:ea typeface="ＭＳ Ｐゴシック" charset="0"/>
              </a:defRPr>
            </a:lvl9pPr>
          </a:lstStyle>
          <a:p>
            <a:pPr eaLnBrk="1" hangingPunct="1"/>
            <a:fld id="{342ACD5C-E830-524B-82EB-1D740E534FB8}" type="slidenum">
              <a:rPr lang="en-US" sz="1200">
                <a:solidFill>
                  <a:srgbClr val="000000"/>
                </a:solidFill>
              </a:rPr>
              <a:pPr eaLnBrk="1" hangingPunct="1"/>
              <a:t>14</a:t>
            </a:fld>
            <a:endParaRPr lang="en-US" sz="1200">
              <a:solidFill>
                <a:srgbClr val="000000"/>
              </a:solidFill>
            </a:endParaRPr>
          </a:p>
        </p:txBody>
      </p:sp>
    </p:spTree>
    <p:extLst>
      <p:ext uri="{BB962C8B-B14F-4D97-AF65-F5344CB8AC3E}">
        <p14:creationId xmlns:p14="http://schemas.microsoft.com/office/powerpoint/2010/main" val="664137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2674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0" name="Shape 10"/>
          <p:cNvSpPr>
            <a:spLocks noGrp="1"/>
          </p:cNvSpPr>
          <p:nvPr>
            <p:ph type="title"/>
          </p:nvPr>
        </p:nvSpPr>
        <p:spPr>
          <a:prstGeom prst="rect">
            <a:avLst/>
          </a:prstGeom>
        </p:spPr>
        <p:txBody>
          <a:bodyPr lIns="0" tIns="0" rIns="0" bIns="0"/>
          <a:lstStyle>
            <a:lvl1pPr>
              <a:defRPr b="0" i="0">
                <a:latin typeface="Gill Sans Regular" charset="0"/>
                <a:ea typeface="Gill Sans Regular" charset="0"/>
                <a:cs typeface="Gill Sans Regular" charset="0"/>
                <a:sym typeface="Helvetica"/>
              </a:defRPr>
            </a:lvl1pPr>
          </a:lstStyle>
          <a:p>
            <a:pPr lvl="0">
              <a:defRPr sz="1800">
                <a:uFillTx/>
              </a:defRPr>
            </a:pPr>
            <a:r>
              <a:rPr sz="4400" dirty="0">
                <a:uFill>
                  <a:solidFill/>
                </a:uFill>
              </a:rPr>
              <a:t>Title Text</a:t>
            </a:r>
          </a:p>
        </p:txBody>
      </p:sp>
      <p:sp>
        <p:nvSpPr>
          <p:cNvPr id="11" name="Shape 11"/>
          <p:cNvSpPr>
            <a:spLocks noGrp="1"/>
          </p:cNvSpPr>
          <p:nvPr>
            <p:ph type="body" idx="1"/>
          </p:nvPr>
        </p:nvSpPr>
        <p:spPr>
          <a:prstGeom prst="rect">
            <a:avLst/>
          </a:prstGeom>
        </p:spPr>
        <p:txBody>
          <a:bodyPr/>
          <a:lstStyle>
            <a:lvl1pPr>
              <a:defRPr b="0" i="0">
                <a:latin typeface="Gill Sans Regular" charset="0"/>
                <a:ea typeface="Gill Sans Regular" charset="0"/>
                <a:cs typeface="Gill Sans Regular" charset="0"/>
                <a:sym typeface="Helvetica"/>
              </a:defRPr>
            </a:lvl1pPr>
            <a:lvl2pPr marL="783590" indent="-285750">
              <a:spcBef>
                <a:spcPts val="600"/>
              </a:spcBef>
              <a:buChar char="–"/>
              <a:defRPr sz="2800" b="0" i="0">
                <a:latin typeface="Gill Sans Regular" charset="0"/>
                <a:ea typeface="Gill Sans Regular" charset="0"/>
                <a:cs typeface="Gill Sans Regular" charset="0"/>
                <a:sym typeface="Helvetica"/>
              </a:defRPr>
            </a:lvl2pPr>
            <a:lvl3pPr marL="1183639" indent="-228600">
              <a:spcBef>
                <a:spcPts val="500"/>
              </a:spcBef>
              <a:defRPr sz="2400" b="0" i="0">
                <a:latin typeface="Gill Sans Regular" charset="0"/>
                <a:ea typeface="Gill Sans Regular" charset="0"/>
                <a:cs typeface="Gill Sans Regular" charset="0"/>
                <a:sym typeface="Helvetica"/>
              </a:defRPr>
            </a:lvl3pPr>
            <a:lvl4pPr marL="1640839" indent="-228600">
              <a:spcBef>
                <a:spcPts val="400"/>
              </a:spcBef>
              <a:buChar char="–"/>
              <a:defRPr sz="2000" b="0" i="0">
                <a:latin typeface="Gill Sans Regular" charset="0"/>
                <a:ea typeface="Gill Sans Regular" charset="0"/>
                <a:cs typeface="Gill Sans Regular" charset="0"/>
                <a:sym typeface="Helvetica"/>
              </a:defRPr>
            </a:lvl4pPr>
            <a:lvl5pPr marL="2098039" indent="-228600">
              <a:spcBef>
                <a:spcPts val="400"/>
              </a:spcBef>
              <a:buChar char="»"/>
              <a:defRPr sz="2000" b="0" i="0">
                <a:latin typeface="Gill Sans Regular" charset="0"/>
                <a:ea typeface="Gill Sans Regular" charset="0"/>
                <a:cs typeface="Gill Sans Regular" charset="0"/>
                <a:sym typeface="Helvetica"/>
              </a:defRPr>
            </a:lvl5pPr>
          </a:lstStyle>
          <a:p>
            <a:pPr lvl="0">
              <a:defRPr sz="1800">
                <a:uFillTx/>
              </a:defRPr>
            </a:pPr>
            <a:r>
              <a:rPr sz="3200" dirty="0">
                <a:uFill>
                  <a:solidFill/>
                </a:uFill>
              </a:rPr>
              <a:t>Body Level One</a:t>
            </a:r>
          </a:p>
          <a:p>
            <a:pPr lvl="1">
              <a:defRPr sz="1800">
                <a:uFillTx/>
              </a:defRPr>
            </a:pPr>
            <a:r>
              <a:rPr sz="2800" dirty="0">
                <a:uFill>
                  <a:solidFill/>
                </a:uFill>
              </a:rPr>
              <a:t>Body Level Two</a:t>
            </a:r>
          </a:p>
          <a:p>
            <a:pPr lvl="2">
              <a:defRPr sz="1800">
                <a:uFillTx/>
              </a:defRPr>
            </a:pPr>
            <a:r>
              <a:rPr sz="2400" dirty="0">
                <a:uFill>
                  <a:solidFill/>
                </a:uFill>
              </a:rPr>
              <a:t>Body Level Three</a:t>
            </a:r>
          </a:p>
          <a:p>
            <a:pPr lvl="3">
              <a:defRPr sz="1800">
                <a:uFillTx/>
              </a:defRPr>
            </a:pPr>
            <a:r>
              <a:rPr sz="2000" dirty="0">
                <a:uFill>
                  <a:solidFill/>
                </a:uFill>
              </a:rPr>
              <a:t>Body Level Four</a:t>
            </a:r>
          </a:p>
          <a:p>
            <a:pPr lvl="4">
              <a:defRPr sz="1800">
                <a:uFillTx/>
              </a:defRPr>
            </a:pPr>
            <a:r>
              <a:rPr sz="2000" dirty="0">
                <a:uFill>
                  <a:solidFill/>
                </a:uFill>
              </a:rPr>
              <a:t>Body Level Five</a:t>
            </a:r>
          </a:p>
        </p:txBody>
      </p:sp>
      <p:sp>
        <p:nvSpPr>
          <p:cNvPr id="12" name="Shape 12"/>
          <p:cNvSpPr>
            <a:spLocks noGrp="1"/>
          </p:cNvSpPr>
          <p:nvPr>
            <p:ph type="sldNum" sz="quarter" idx="2"/>
          </p:nvPr>
        </p:nvSpPr>
        <p:spPr>
          <a:xfrm>
            <a:off x="7397497" y="6248400"/>
            <a:ext cx="216406" cy="215444"/>
          </a:xfrm>
          <a:prstGeom prst="rect">
            <a:avLst/>
          </a:prstGeom>
        </p:spPr>
        <p:txBody>
          <a:bodyPr/>
          <a:lstStyle>
            <a:lvl1pPr>
              <a:defRPr b="0" i="0">
                <a:latin typeface="Gill Sans Regular" charset="0"/>
                <a:ea typeface="Gill Sans Regular" charset="0"/>
                <a:cs typeface="Gill Sans Regular" charset="0"/>
                <a:sym typeface="Helvetica"/>
              </a:defRPr>
            </a:lvl1pPr>
          </a:lstStyle>
          <a:p>
            <a:fld id="{86CB4B4D-7CA3-9044-876B-883B54F8677D}" type="slidenum">
              <a:rPr lang="uk-UA" smtClean="0"/>
              <a:pPr/>
              <a:t>‹#›</a:t>
            </a:fld>
            <a:endParaRPr lang="uk-UA" dirty="0"/>
          </a:p>
        </p:txBody>
      </p:sp>
    </p:spTree>
  </p:cSld>
  <p:clrMapOvr>
    <a:masterClrMapping/>
  </p:clrMapOvr>
  <p:transition spd="med" advClick="0" advTm="0"/>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A595AB-5C02-BC42-A0F7-F9C01EF3386A}" type="datetimeFigureOut">
              <a:rPr lang="en-US" smtClean="0"/>
              <a:t>8/22/24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C77C14-452C-544F-9BD3-E215F296356E}" type="slidenum">
              <a:rPr lang="en-US" smtClean="0"/>
              <a:t>‹#›</a:t>
            </a:fld>
            <a:endParaRPr lang="en-US"/>
          </a:p>
        </p:txBody>
      </p:sp>
    </p:spTree>
    <p:extLst>
      <p:ext uri="{BB962C8B-B14F-4D97-AF65-F5344CB8AC3E}">
        <p14:creationId xmlns:p14="http://schemas.microsoft.com/office/powerpoint/2010/main" val="270784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6A595AB-5C02-BC42-A0F7-F9C01EF3386A}" type="datetimeFigureOut">
              <a:rPr lang="en-US" smtClean="0"/>
              <a:t>8/22/24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C77C14-452C-544F-9BD3-E215F296356E}" type="slidenum">
              <a:rPr lang="en-US" smtClean="0"/>
              <a:t>‹#›</a:t>
            </a:fld>
            <a:endParaRPr lang="en-US"/>
          </a:p>
        </p:txBody>
      </p:sp>
    </p:spTree>
    <p:extLst>
      <p:ext uri="{BB962C8B-B14F-4D97-AF65-F5344CB8AC3E}">
        <p14:creationId xmlns:p14="http://schemas.microsoft.com/office/powerpoint/2010/main" val="51382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2"/>
          <p:cNvSpPr>
            <a:spLocks noGrp="1"/>
          </p:cNvSpPr>
          <p:nvPr>
            <p:ph type="title"/>
          </p:nvPr>
        </p:nvSpPr>
        <p:spPr>
          <a:xfrm>
            <a:off x="685800" y="381000"/>
            <a:ext cx="7772400" cy="16002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lstStyle/>
          <a:p>
            <a:pPr lvl="0">
              <a:defRPr sz="1800">
                <a:uFillTx/>
              </a:defRPr>
            </a:pPr>
            <a:r>
              <a:rPr sz="4400">
                <a:uFill>
                  <a:solidFill/>
                </a:uFill>
              </a:rPr>
              <a:t>Title Text</a:t>
            </a:r>
          </a:p>
        </p:txBody>
      </p:sp>
      <p:sp>
        <p:nvSpPr>
          <p:cNvPr id="3" name="Shape 3"/>
          <p:cNvSpPr>
            <a:spLocks noGrp="1"/>
          </p:cNvSpPr>
          <p:nvPr>
            <p:ph type="body" idx="1"/>
          </p:nvPr>
        </p:nvSpPr>
        <p:spPr>
          <a:xfrm>
            <a:off x="685800" y="1981200"/>
            <a:ext cx="7772400" cy="48768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2pPr marL="783590" indent="-285750">
              <a:spcBef>
                <a:spcPts val="600"/>
              </a:spcBef>
              <a:buChar char="–"/>
              <a:defRPr sz="2800"/>
            </a:lvl2pPr>
            <a:lvl3pPr marL="1183639" indent="-228600">
              <a:spcBef>
                <a:spcPts val="500"/>
              </a:spcBef>
              <a:defRPr sz="2400"/>
            </a:lvl3pPr>
            <a:lvl4pPr marL="1640839" indent="-228600">
              <a:spcBef>
                <a:spcPts val="400"/>
              </a:spcBef>
              <a:buChar char="–"/>
              <a:defRPr sz="2000"/>
            </a:lvl4pPr>
            <a:lvl5pPr marL="2098039" indent="-228600">
              <a:spcBef>
                <a:spcPts val="400"/>
              </a:spcBef>
              <a:buChar char="»"/>
              <a:defRPr sz="2000"/>
            </a:lvl5pPr>
          </a:lstStyle>
          <a:p>
            <a:pPr lvl="0">
              <a:defRPr sz="1800">
                <a:uFillTx/>
              </a:defRPr>
            </a:pPr>
            <a:r>
              <a:rPr sz="3200">
                <a:uFill>
                  <a:solidFill/>
                </a:uFill>
              </a:rPr>
              <a:t>Body Level One</a:t>
            </a:r>
          </a:p>
          <a:p>
            <a:pPr lvl="1">
              <a:defRPr sz="1800">
                <a:uFillTx/>
              </a:defRPr>
            </a:pPr>
            <a:r>
              <a:rPr sz="2800">
                <a:uFill>
                  <a:solidFill/>
                </a:uFill>
              </a:rPr>
              <a:t>Body Level Two</a:t>
            </a:r>
          </a:p>
          <a:p>
            <a:pPr lvl="2">
              <a:defRPr sz="1800">
                <a:uFillTx/>
              </a:defRPr>
            </a:pPr>
            <a:r>
              <a:rPr sz="2400">
                <a:uFill>
                  <a:solidFill/>
                </a:uFill>
              </a:rPr>
              <a:t>Body Level Three</a:t>
            </a:r>
          </a:p>
          <a:p>
            <a:pPr lvl="3">
              <a:defRPr sz="1800">
                <a:uFillTx/>
              </a:defRPr>
            </a:pPr>
            <a:r>
              <a:rPr sz="2000">
                <a:uFill>
                  <a:solidFill/>
                </a:uFill>
              </a:rPr>
              <a:t>Body Level Four</a:t>
            </a:r>
          </a:p>
          <a:p>
            <a:pPr lvl="4">
              <a:defRPr sz="1800">
                <a:uFillTx/>
              </a:defRPr>
            </a:pPr>
            <a:r>
              <a:rPr sz="2000">
                <a:uFill>
                  <a:solidFill/>
                </a:uFill>
              </a:rPr>
              <a:t>Body Level Five</a:t>
            </a:r>
          </a:p>
        </p:txBody>
      </p:sp>
      <p:sp>
        <p:nvSpPr>
          <p:cNvPr id="4" name="Shape 4"/>
          <p:cNvSpPr>
            <a:spLocks noGrp="1"/>
          </p:cNvSpPr>
          <p:nvPr>
            <p:ph type="sldNum" sz="quarter" idx="2"/>
          </p:nvPr>
        </p:nvSpPr>
        <p:spPr>
          <a:xfrm>
            <a:off x="7359650" y="6248400"/>
            <a:ext cx="292100" cy="330200"/>
          </a:xfrm>
          <a:prstGeom prst="rect">
            <a:avLst/>
          </a:prstGeom>
          <a:ln w="12700">
            <a:miter lim="400000"/>
          </a:ln>
        </p:spPr>
        <p:txBody>
          <a:bodyPr wrap="none" lIns="0" tIns="0" rIns="0" bIns="0">
            <a:spAutoFit/>
          </a:bodyPr>
          <a:lstStyle>
            <a:lvl1pPr marL="0" marR="0" algn="ctr" defTabSz="584200">
              <a:defRPr sz="1400" b="0">
                <a:latin typeface="+mn-lt"/>
                <a:ea typeface="+mn-ea"/>
                <a:cs typeface="+mn-cs"/>
                <a:sym typeface="Times Roman"/>
              </a:defRPr>
            </a:lvl1pPr>
          </a:lstStyle>
          <a:p>
            <a:pPr lvl="0"/>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Lst>
  <p:transition spd="med"/>
  <p:txStyles>
    <p:titleStyle>
      <a:lvl1pPr marL="40639" marR="40639" algn="ctr">
        <a:defRPr sz="4400">
          <a:uFill>
            <a:solidFill/>
          </a:uFill>
          <a:latin typeface="+mn-lt"/>
          <a:ea typeface="+mn-ea"/>
          <a:cs typeface="+mn-cs"/>
          <a:sym typeface="Times Roman"/>
        </a:defRPr>
      </a:lvl1pPr>
      <a:lvl2pPr marL="40639" marR="40639" indent="228600" algn="ctr">
        <a:defRPr sz="4400">
          <a:uFill>
            <a:solidFill/>
          </a:uFill>
          <a:latin typeface="+mn-lt"/>
          <a:ea typeface="+mn-ea"/>
          <a:cs typeface="+mn-cs"/>
          <a:sym typeface="Times Roman"/>
        </a:defRPr>
      </a:lvl2pPr>
      <a:lvl3pPr marL="40639" marR="40639" indent="457200" algn="ctr">
        <a:defRPr sz="4400">
          <a:uFill>
            <a:solidFill/>
          </a:uFill>
          <a:latin typeface="+mn-lt"/>
          <a:ea typeface="+mn-ea"/>
          <a:cs typeface="+mn-cs"/>
          <a:sym typeface="Times Roman"/>
        </a:defRPr>
      </a:lvl3pPr>
      <a:lvl4pPr marL="40639" marR="40639" indent="685800" algn="ctr">
        <a:defRPr sz="4400">
          <a:uFill>
            <a:solidFill/>
          </a:uFill>
          <a:latin typeface="+mn-lt"/>
          <a:ea typeface="+mn-ea"/>
          <a:cs typeface="+mn-cs"/>
          <a:sym typeface="Times Roman"/>
        </a:defRPr>
      </a:lvl4pPr>
      <a:lvl5pPr marL="40639" marR="40639" indent="914400" algn="ctr">
        <a:defRPr sz="4400">
          <a:uFill>
            <a:solidFill/>
          </a:uFill>
          <a:latin typeface="+mn-lt"/>
          <a:ea typeface="+mn-ea"/>
          <a:cs typeface="+mn-cs"/>
          <a:sym typeface="Times Roman"/>
        </a:defRPr>
      </a:lvl5pPr>
      <a:lvl6pPr marL="40639" marR="40639" indent="1143000" algn="ctr">
        <a:defRPr sz="4400">
          <a:uFill>
            <a:solidFill/>
          </a:uFill>
          <a:latin typeface="+mn-lt"/>
          <a:ea typeface="+mn-ea"/>
          <a:cs typeface="+mn-cs"/>
          <a:sym typeface="Times Roman"/>
        </a:defRPr>
      </a:lvl6pPr>
      <a:lvl7pPr marL="40639" marR="40639" indent="1371600" algn="ctr">
        <a:defRPr sz="4400">
          <a:uFill>
            <a:solidFill/>
          </a:uFill>
          <a:latin typeface="+mn-lt"/>
          <a:ea typeface="+mn-ea"/>
          <a:cs typeface="+mn-cs"/>
          <a:sym typeface="Times Roman"/>
        </a:defRPr>
      </a:lvl7pPr>
      <a:lvl8pPr marL="40639" marR="40639" indent="1600200" algn="ctr">
        <a:defRPr sz="4400">
          <a:uFill>
            <a:solidFill/>
          </a:uFill>
          <a:latin typeface="+mn-lt"/>
          <a:ea typeface="+mn-ea"/>
          <a:cs typeface="+mn-cs"/>
          <a:sym typeface="Times Roman"/>
        </a:defRPr>
      </a:lvl8pPr>
      <a:lvl9pPr marL="40639" marR="40639" indent="1828800" algn="ctr">
        <a:defRPr sz="4400">
          <a:uFill>
            <a:solidFill/>
          </a:uFill>
          <a:latin typeface="+mn-lt"/>
          <a:ea typeface="+mn-ea"/>
          <a:cs typeface="+mn-cs"/>
          <a:sym typeface="Times Roman"/>
        </a:defRPr>
      </a:lvl9pPr>
    </p:titleStyle>
    <p:bodyStyle>
      <a:lvl1pPr marL="383540" marR="40639" indent="-342900">
        <a:spcBef>
          <a:spcPts val="700"/>
        </a:spcBef>
        <a:buSzPct val="100000"/>
        <a:buChar char="•"/>
        <a:defRPr sz="3200">
          <a:uFill>
            <a:solidFill/>
          </a:uFill>
          <a:latin typeface="+mn-lt"/>
          <a:ea typeface="+mn-ea"/>
          <a:cs typeface="+mn-cs"/>
          <a:sym typeface="Times Roman"/>
        </a:defRPr>
      </a:lvl1pPr>
      <a:lvl2pPr marL="824411" marR="40639" indent="-326571">
        <a:spcBef>
          <a:spcPts val="700"/>
        </a:spcBef>
        <a:buSzPct val="100000"/>
        <a:buChar char="•"/>
        <a:defRPr sz="3200">
          <a:uFill>
            <a:solidFill/>
          </a:uFill>
          <a:latin typeface="+mn-lt"/>
          <a:ea typeface="+mn-ea"/>
          <a:cs typeface="+mn-cs"/>
          <a:sym typeface="Times Roman"/>
        </a:defRPr>
      </a:lvl2pPr>
      <a:lvl3pPr marL="1259839" marR="40639" indent="-304800">
        <a:spcBef>
          <a:spcPts val="700"/>
        </a:spcBef>
        <a:buSzPct val="100000"/>
        <a:buChar char="•"/>
        <a:defRPr sz="3200">
          <a:uFill>
            <a:solidFill/>
          </a:uFill>
          <a:latin typeface="+mn-lt"/>
          <a:ea typeface="+mn-ea"/>
          <a:cs typeface="+mn-cs"/>
          <a:sym typeface="Times Roman"/>
        </a:defRPr>
      </a:lvl3pPr>
      <a:lvl4pPr marL="1778000" marR="40639" indent="-365760">
        <a:spcBef>
          <a:spcPts val="700"/>
        </a:spcBef>
        <a:buSzPct val="100000"/>
        <a:buChar char="•"/>
        <a:defRPr sz="3200">
          <a:uFill>
            <a:solidFill/>
          </a:uFill>
          <a:latin typeface="+mn-lt"/>
          <a:ea typeface="+mn-ea"/>
          <a:cs typeface="+mn-cs"/>
          <a:sym typeface="Times Roman"/>
        </a:defRPr>
      </a:lvl4pPr>
      <a:lvl5pPr marL="2235200" marR="40639" indent="-365760">
        <a:spcBef>
          <a:spcPts val="700"/>
        </a:spcBef>
        <a:buSzPct val="100000"/>
        <a:buChar char="•"/>
        <a:defRPr sz="3200">
          <a:uFill>
            <a:solidFill/>
          </a:uFill>
          <a:latin typeface="+mn-lt"/>
          <a:ea typeface="+mn-ea"/>
          <a:cs typeface="+mn-cs"/>
          <a:sym typeface="Times Roman"/>
        </a:defRPr>
      </a:lvl5pPr>
      <a:lvl6pPr marL="2235200" marR="40639" indent="-365760">
        <a:spcBef>
          <a:spcPts val="700"/>
        </a:spcBef>
        <a:buSzPct val="100000"/>
        <a:buChar char="•"/>
        <a:defRPr sz="3200">
          <a:uFill>
            <a:solidFill/>
          </a:uFill>
          <a:latin typeface="+mn-lt"/>
          <a:ea typeface="+mn-ea"/>
          <a:cs typeface="+mn-cs"/>
          <a:sym typeface="Times Roman"/>
        </a:defRPr>
      </a:lvl6pPr>
      <a:lvl7pPr marL="2235200" marR="40639" indent="-365760">
        <a:spcBef>
          <a:spcPts val="700"/>
        </a:spcBef>
        <a:buSzPct val="100000"/>
        <a:buChar char="•"/>
        <a:defRPr sz="3200">
          <a:uFill>
            <a:solidFill/>
          </a:uFill>
          <a:latin typeface="+mn-lt"/>
          <a:ea typeface="+mn-ea"/>
          <a:cs typeface="+mn-cs"/>
          <a:sym typeface="Times Roman"/>
        </a:defRPr>
      </a:lvl7pPr>
      <a:lvl8pPr marL="2235200" marR="40639" indent="-365760">
        <a:spcBef>
          <a:spcPts val="700"/>
        </a:spcBef>
        <a:buSzPct val="100000"/>
        <a:buChar char="•"/>
        <a:defRPr sz="3200">
          <a:uFill>
            <a:solidFill/>
          </a:uFill>
          <a:latin typeface="+mn-lt"/>
          <a:ea typeface="+mn-ea"/>
          <a:cs typeface="+mn-cs"/>
          <a:sym typeface="Times Roman"/>
        </a:defRPr>
      </a:lvl8pPr>
      <a:lvl9pPr marL="2235200" marR="40639" indent="-365760">
        <a:spcBef>
          <a:spcPts val="700"/>
        </a:spcBef>
        <a:buSzPct val="100000"/>
        <a:buChar char="•"/>
        <a:defRPr sz="3200">
          <a:uFill>
            <a:solidFill/>
          </a:uFill>
          <a:latin typeface="+mn-lt"/>
          <a:ea typeface="+mn-ea"/>
          <a:cs typeface="+mn-cs"/>
          <a:sym typeface="Times Roman"/>
        </a:defRPr>
      </a:lvl9pPr>
    </p:bodyStyle>
    <p:otherStyle>
      <a:lvl1pPr algn="ctr" defTabSz="584200">
        <a:defRPr sz="1400">
          <a:solidFill>
            <a:schemeClr val="tx1"/>
          </a:solidFill>
          <a:uFill>
            <a:solidFill/>
          </a:uFill>
          <a:latin typeface="+mn-lt"/>
          <a:ea typeface="+mn-ea"/>
          <a:cs typeface="+mn-cs"/>
          <a:sym typeface="Times Roman"/>
        </a:defRPr>
      </a:lvl1pPr>
      <a:lvl2pPr indent="228600" algn="ctr" defTabSz="584200">
        <a:defRPr sz="1400">
          <a:solidFill>
            <a:schemeClr val="tx1"/>
          </a:solidFill>
          <a:uFill>
            <a:solidFill/>
          </a:uFill>
          <a:latin typeface="+mn-lt"/>
          <a:ea typeface="+mn-ea"/>
          <a:cs typeface="+mn-cs"/>
          <a:sym typeface="Times Roman"/>
        </a:defRPr>
      </a:lvl2pPr>
      <a:lvl3pPr indent="457200" algn="ctr" defTabSz="584200">
        <a:defRPr sz="1400">
          <a:solidFill>
            <a:schemeClr val="tx1"/>
          </a:solidFill>
          <a:uFill>
            <a:solidFill/>
          </a:uFill>
          <a:latin typeface="+mn-lt"/>
          <a:ea typeface="+mn-ea"/>
          <a:cs typeface="+mn-cs"/>
          <a:sym typeface="Times Roman"/>
        </a:defRPr>
      </a:lvl3pPr>
      <a:lvl4pPr indent="685800" algn="ctr" defTabSz="584200">
        <a:defRPr sz="1400">
          <a:solidFill>
            <a:schemeClr val="tx1"/>
          </a:solidFill>
          <a:uFill>
            <a:solidFill/>
          </a:uFill>
          <a:latin typeface="+mn-lt"/>
          <a:ea typeface="+mn-ea"/>
          <a:cs typeface="+mn-cs"/>
          <a:sym typeface="Times Roman"/>
        </a:defRPr>
      </a:lvl4pPr>
      <a:lvl5pPr indent="914400" algn="ctr" defTabSz="584200">
        <a:defRPr sz="1400">
          <a:solidFill>
            <a:schemeClr val="tx1"/>
          </a:solidFill>
          <a:uFill>
            <a:solidFill/>
          </a:uFill>
          <a:latin typeface="+mn-lt"/>
          <a:ea typeface="+mn-ea"/>
          <a:cs typeface="+mn-cs"/>
          <a:sym typeface="Times Roman"/>
        </a:defRPr>
      </a:lvl5pPr>
      <a:lvl6pPr indent="1143000" algn="ctr" defTabSz="584200">
        <a:defRPr sz="1400">
          <a:solidFill>
            <a:schemeClr val="tx1"/>
          </a:solidFill>
          <a:uFill>
            <a:solidFill/>
          </a:uFill>
          <a:latin typeface="+mn-lt"/>
          <a:ea typeface="+mn-ea"/>
          <a:cs typeface="+mn-cs"/>
          <a:sym typeface="Times Roman"/>
        </a:defRPr>
      </a:lvl6pPr>
      <a:lvl7pPr indent="1371600" algn="ctr" defTabSz="584200">
        <a:defRPr sz="1400">
          <a:solidFill>
            <a:schemeClr val="tx1"/>
          </a:solidFill>
          <a:uFill>
            <a:solidFill/>
          </a:uFill>
          <a:latin typeface="+mn-lt"/>
          <a:ea typeface="+mn-ea"/>
          <a:cs typeface="+mn-cs"/>
          <a:sym typeface="Times Roman"/>
        </a:defRPr>
      </a:lvl7pPr>
      <a:lvl8pPr indent="1600200" algn="ctr" defTabSz="584200">
        <a:defRPr sz="1400">
          <a:solidFill>
            <a:schemeClr val="tx1"/>
          </a:solidFill>
          <a:uFill>
            <a:solidFill/>
          </a:uFill>
          <a:latin typeface="+mn-lt"/>
          <a:ea typeface="+mn-ea"/>
          <a:cs typeface="+mn-cs"/>
          <a:sym typeface="Times Roman"/>
        </a:defRPr>
      </a:lvl8pPr>
      <a:lvl9pPr indent="1828800" algn="ctr" defTabSz="584200">
        <a:defRPr sz="1400">
          <a:solidFill>
            <a:schemeClr val="tx1"/>
          </a:solidFill>
          <a:uFill>
            <a:solidFill/>
          </a:uFill>
          <a:latin typeface="+mn-lt"/>
          <a:ea typeface="+mn-ea"/>
          <a:cs typeface="+mn-cs"/>
          <a:sym typeface="Times Roman"/>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tiff"/><Relationship Id="rId5" Type="http://schemas.openxmlformats.org/officeDocument/2006/relationships/image" Target="../media/image4.png"/><Relationship Id="rId10" Type="http://schemas.openxmlformats.org/officeDocument/2006/relationships/image" Target="../media/image9.tiff"/><Relationship Id="rId4" Type="http://schemas.openxmlformats.org/officeDocument/2006/relationships/image" Target="../media/image3.png"/><Relationship Id="rId9"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tiff"/></Relationships>
</file>

<file path=ppt/slides/_rels/slide4.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gif"/><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tif"/><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5" Type="http://schemas.openxmlformats.org/officeDocument/2006/relationships/image" Target="../media/image24.tiff"/><Relationship Id="rId4" Type="http://schemas.openxmlformats.org/officeDocument/2006/relationships/image" Target="../media/image23.tiff"/></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1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5.tif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31.png"/><Relationship Id="rId4" Type="http://schemas.openxmlformats.org/officeDocument/2006/relationships/image" Target="../media/image42.png"/><Relationship Id="rId9" Type="http://schemas.openxmlformats.org/officeDocument/2006/relationships/image" Target="../media/image47.png"/></Relationships>
</file>

<file path=ppt/slides/_rels/slide1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561887"/>
            <a:ext cx="9144000" cy="77970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ctr" defTabSz="914400" rtl="0" fontAlgn="auto" latinLnBrk="1" hangingPunct="0">
              <a:lnSpc>
                <a:spcPct val="100000"/>
              </a:lnSpc>
              <a:spcBef>
                <a:spcPts val="0"/>
              </a:spcBef>
              <a:spcAft>
                <a:spcPts val="0"/>
              </a:spcAft>
              <a:buClrTx/>
              <a:buSzTx/>
              <a:buFontTx/>
              <a:buNone/>
              <a:tabLst/>
            </a:pPr>
            <a:r>
              <a:rPr kumimoji="0" lang="en-US" sz="4400" b="0" u="none" strike="noStrike" cap="none" spc="0" normalizeH="0" baseline="0" dirty="0">
                <a:ln>
                  <a:noFill/>
                </a:ln>
                <a:solidFill>
                  <a:srgbClr val="000000"/>
                </a:solidFill>
                <a:effectLst/>
                <a:uFill>
                  <a:solidFill>
                    <a:srgbClr val="000000"/>
                  </a:solidFill>
                </a:uFill>
                <a:latin typeface="Gill Sans" charset="0"/>
                <a:ea typeface="Gill Sans" charset="0"/>
                <a:cs typeface="Gill Sans" charset="0"/>
                <a:sym typeface="Helvetica"/>
              </a:rPr>
              <a:t>Lecture 6</a:t>
            </a:r>
          </a:p>
        </p:txBody>
      </p:sp>
      <p:sp>
        <p:nvSpPr>
          <p:cNvPr id="3" name="Rectangle 1">
            <a:extLst>
              <a:ext uri="{FF2B5EF4-FFF2-40B4-BE49-F238E27FC236}">
                <a16:creationId xmlns:a16="http://schemas.microsoft.com/office/drawing/2014/main" id="{CA094BB4-0C1B-D131-0B5F-77A4C0EE9523}"/>
              </a:ext>
            </a:extLst>
          </p:cNvPr>
          <p:cNvSpPr>
            <a:spLocks noChangeArrowheads="1"/>
          </p:cNvSpPr>
          <p:nvPr/>
        </p:nvSpPr>
        <p:spPr bwMode="auto">
          <a:xfrm>
            <a:off x="213756" y="1786835"/>
            <a:ext cx="8930244" cy="49244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tabLst/>
            </a:pPr>
            <a:r>
              <a:rPr lang="en-US" altLang="en-US" dirty="0">
                <a:solidFill>
                  <a:schemeClr val="tx1"/>
                </a:solidFill>
                <a:latin typeface="GillSans" panose="020B0A02020104020203" pitchFamily="34" charset="77"/>
              </a:rPr>
              <a:t>Learning Outcomes:</a:t>
            </a:r>
          </a:p>
          <a:p>
            <a:pPr marL="0" marR="0" lvl="0" algn="l" defTabSz="914400" rtl="0" eaLnBrk="0" fontAlgn="base" latinLnBrk="0" hangingPunct="0">
              <a:lnSpc>
                <a:spcPct val="100000"/>
              </a:lnSpc>
              <a:spcBef>
                <a:spcPct val="0"/>
              </a:spcBef>
              <a:spcAft>
                <a:spcPct val="0"/>
              </a:spcAft>
              <a:buClrTx/>
              <a:buSzTx/>
              <a:tabLst/>
            </a:pPr>
            <a:endParaRPr lang="en-US" altLang="en-US" sz="1600" b="0" dirty="0">
              <a:solidFill>
                <a:schemeClr val="tx1"/>
              </a:solidFill>
              <a:latin typeface="GillSans" panose="020B0A02020104020203" pitchFamily="34" charset="77"/>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b="0" dirty="0">
                <a:solidFill>
                  <a:schemeClr val="tx1"/>
                </a:solidFill>
                <a:latin typeface="GillSans" panose="020B0A02020104020203" pitchFamily="34" charset="77"/>
              </a:rPr>
              <a:t>D</a:t>
            </a:r>
            <a:r>
              <a:rPr kumimoji="0" lang="en-US" altLang="en-US" sz="1600" b="0" i="0" u="none" strike="noStrike" cap="none" normalizeH="0" baseline="0" dirty="0">
                <a:ln>
                  <a:noFill/>
                </a:ln>
                <a:solidFill>
                  <a:schemeClr val="tx1"/>
                </a:solidFill>
                <a:effectLst/>
                <a:latin typeface="GillSans" panose="020B0A02020104020203" pitchFamily="34" charset="77"/>
              </a:rPr>
              <a:t>raw the 6 atoms in the peptide plane. </a:t>
            </a:r>
            <a:endParaRPr kumimoji="0" lang="en-US" altLang="en-US" sz="800" b="0" i="0" u="none" strike="noStrike" cap="none" normalizeH="0" baseline="0" dirty="0">
              <a:ln>
                <a:noFill/>
              </a:ln>
              <a:solidFill>
                <a:schemeClr val="tx1"/>
              </a:solidFill>
              <a:effectLst/>
            </a:endParaRPr>
          </a:p>
          <a:p>
            <a:pPr marL="285750" marR="0" indent="-285750" algn="l" rtl="0" eaLnBrk="0" fontAlgn="base" hangingPunct="0">
              <a:spcBef>
                <a:spcPct val="0"/>
              </a:spcBef>
              <a:spcAft>
                <a:spcPct val="0"/>
              </a:spcAft>
              <a:buFont typeface="Arial" panose="020B0604020202020204" pitchFamily="34" charset="0"/>
              <a:buChar char="•"/>
            </a:pPr>
            <a:r>
              <a:rPr kumimoji="0" lang="en-US" altLang="en-US" sz="1600" b="0" i="0" u="none" strike="noStrike" kern="0" cap="none" spc="0" normalizeH="0" baseline="0" noProof="0" dirty="0">
                <a:ln>
                  <a:noFill/>
                </a:ln>
                <a:solidFill>
                  <a:srgbClr val="000000"/>
                </a:solidFill>
                <a:effectLst/>
                <a:uLnTx/>
                <a:uFill>
                  <a:solidFill/>
                </a:uFill>
                <a:latin typeface="GillSans" panose="020B0A02020104020203" pitchFamily="34" charset="77"/>
                <a:sym typeface="Helvetica"/>
              </a:rPr>
              <a:t>Apply the Boltzmann Distribution equation to calculate the probability of a conformation of known energy relative to the ground state. </a:t>
            </a:r>
          </a:p>
          <a:p>
            <a:pPr marL="285750" marR="0" indent="-285750" algn="l" rtl="0" eaLnBrk="0" fontAlgn="base" hangingPunct="0">
              <a:spcBef>
                <a:spcPct val="0"/>
              </a:spcBef>
              <a:spcAft>
                <a:spcPct val="0"/>
              </a:spcAft>
              <a:buFont typeface="Arial" panose="020B0604020202020204" pitchFamily="34" charset="0"/>
              <a:buChar char="•"/>
            </a:pPr>
            <a:r>
              <a:rPr lang="en-US" altLang="en-US" sz="1600" b="0" dirty="0">
                <a:solidFill>
                  <a:srgbClr val="000000"/>
                </a:solidFill>
                <a:latin typeface="GillSans" panose="020B0A02020104020203" pitchFamily="34" charset="77"/>
              </a:rPr>
              <a:t>Identify bonds corresponding to backbone torsion angles phi, psi and omega</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b="0" dirty="0">
              <a:solidFill>
                <a:schemeClr val="tx1"/>
              </a:solidFill>
              <a:latin typeface="GillSans" panose="020B0A02020104020203" pitchFamily="34" charset="77"/>
            </a:endParaRPr>
          </a:p>
          <a:p>
            <a:pPr marL="0" marR="0" lvl="0" algn="l" defTabSz="914400" rtl="0" eaLnBrk="0" fontAlgn="base" latinLnBrk="0" hangingPunct="0">
              <a:lnSpc>
                <a:spcPct val="100000"/>
              </a:lnSpc>
              <a:spcBef>
                <a:spcPct val="0"/>
              </a:spcBef>
              <a:spcAft>
                <a:spcPct val="0"/>
              </a:spcAft>
              <a:buClrTx/>
              <a:buSzTx/>
              <a:tabLst/>
            </a:pPr>
            <a:r>
              <a:rPr lang="en-US" altLang="en-US" sz="1600" b="0" dirty="0">
                <a:solidFill>
                  <a:schemeClr val="tx1"/>
                </a:solidFill>
                <a:latin typeface="GillSans" panose="020B0A02020104020203" pitchFamily="34" charset="77"/>
              </a:rPr>
              <a:t>The </a:t>
            </a:r>
            <a:r>
              <a:rPr kumimoji="0" lang="en-US" altLang="en-US" sz="1600" b="0" i="0" u="none" strike="noStrike" cap="none" normalizeH="0" baseline="0" dirty="0">
                <a:ln>
                  <a:noFill/>
                </a:ln>
                <a:solidFill>
                  <a:schemeClr val="tx1"/>
                </a:solidFill>
                <a:effectLst/>
                <a:latin typeface="GillSans" panose="020B0A02020104020203" pitchFamily="34" charset="77"/>
              </a:rPr>
              <a:t>Ramachandran Plot </a:t>
            </a:r>
            <a:endParaRPr kumimoji="0" lang="en-US" altLang="en-US" sz="800" b="0" i="0" u="none" strike="noStrike" cap="none" normalizeH="0" baseline="0" dirty="0">
              <a:ln>
                <a:noFill/>
              </a:ln>
              <a:solidFill>
                <a:schemeClr val="tx1"/>
              </a:solidFill>
              <a:effectLst/>
            </a:endParaRPr>
          </a:p>
          <a:p>
            <a:pPr marL="285750" marR="0" lvl="3" indent="-285750" algn="l" rtl="0" eaLnBrk="0" fontAlgn="base" hangingPunct="0">
              <a:spcBef>
                <a:spcPct val="0"/>
              </a:spcBef>
              <a:spcAft>
                <a:spcPct val="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illSans" panose="020B0A02020104020203" pitchFamily="34" charset="77"/>
              </a:rPr>
              <a:t>Explain what information is displayed in the Ramachandran Plot </a:t>
            </a:r>
          </a:p>
          <a:p>
            <a:pPr marL="285750" marR="0" lvl="3" indent="-285750" algn="l" rtl="0" eaLnBrk="0" fontAlgn="base" hangingPunct="0">
              <a:spcBef>
                <a:spcPct val="0"/>
              </a:spcBef>
              <a:spcAft>
                <a:spcPct val="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illSans" panose="020B0A02020104020203" pitchFamily="34" charset="77"/>
              </a:rPr>
              <a:t>Locate the allowed regions for </a:t>
            </a:r>
            <a:r>
              <a:rPr kumimoji="0" lang="en-US" altLang="en-US" sz="1600" b="0" i="0" u="none" strike="noStrike" cap="none" normalizeH="0" baseline="0" dirty="0" err="1">
                <a:ln>
                  <a:noFill/>
                </a:ln>
                <a:solidFill>
                  <a:schemeClr val="tx1"/>
                </a:solidFill>
                <a:effectLst/>
                <a:latin typeface="GillSans" panose="020B0A02020104020203" pitchFamily="34" charset="77"/>
              </a:rPr>
              <a:t>Gly</a:t>
            </a:r>
            <a:r>
              <a:rPr kumimoji="0" lang="en-US" altLang="en-US" sz="1600" b="0" i="0" u="none" strike="noStrike" cap="none" normalizeH="0" baseline="0" dirty="0">
                <a:ln>
                  <a:noFill/>
                </a:ln>
                <a:solidFill>
                  <a:schemeClr val="tx1"/>
                </a:solidFill>
                <a:effectLst/>
                <a:latin typeface="GillSans" panose="020B0A02020104020203" pitchFamily="34" charset="77"/>
              </a:rPr>
              <a:t> and for Pro vs. for all other AA </a:t>
            </a:r>
            <a:endParaRPr kumimoji="0" lang="en-US" altLang="en-US" sz="1600" b="0" i="0" u="none" strike="noStrike" cap="none" normalizeH="0" baseline="0" dirty="0">
              <a:ln>
                <a:noFill/>
              </a:ln>
              <a:solidFill>
                <a:schemeClr val="tx1"/>
              </a:solidFill>
              <a:effectLst/>
              <a:latin typeface="ArialMT"/>
            </a:endParaRPr>
          </a:p>
          <a:p>
            <a:pPr marL="285750" marR="0" lvl="3" indent="-285750" algn="l" rtl="0" eaLnBrk="0" fontAlgn="base" hangingPunct="0">
              <a:spcBef>
                <a:spcPct val="0"/>
              </a:spcBef>
              <a:spcAft>
                <a:spcPct val="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illSans" panose="020B0A02020104020203" pitchFamily="34" charset="77"/>
              </a:rPr>
              <a:t>Draw the general regions corresponding to alpha-helix and beta-sheet </a:t>
            </a:r>
          </a:p>
          <a:p>
            <a:pPr marL="285750" marR="0" lvl="3" indent="-285750" algn="l" rtl="0" eaLnBrk="0" fontAlgn="base" hangingPunct="0">
              <a:spcBef>
                <a:spcPct val="0"/>
              </a:spcBef>
              <a:spcAft>
                <a:spcPct val="0"/>
              </a:spcAft>
              <a:buFont typeface="Arial" panose="020B0604020202020204" pitchFamily="34" charset="0"/>
              <a:buChar char="•"/>
            </a:pPr>
            <a:r>
              <a:rPr lang="en-US" altLang="en-US" sz="1600" b="0" dirty="0">
                <a:solidFill>
                  <a:schemeClr val="tx1"/>
                </a:solidFill>
                <a:latin typeface="GillSans" panose="020B0A02020104020203" pitchFamily="34" charset="77"/>
              </a:rPr>
              <a:t>Understand the </a:t>
            </a:r>
            <a:r>
              <a:rPr kumimoji="0" lang="en-US" altLang="en-US" sz="1600" b="0" i="0" u="none" strike="noStrike" cap="none" normalizeH="0" baseline="0" dirty="0">
                <a:ln>
                  <a:noFill/>
                </a:ln>
                <a:solidFill>
                  <a:schemeClr val="tx1"/>
                </a:solidFill>
                <a:effectLst/>
                <a:latin typeface="GillSans" panose="020B0A02020104020203" pitchFamily="34" charset="77"/>
              </a:rPr>
              <a:t>meaning of calculated </a:t>
            </a:r>
            <a:r>
              <a:rPr kumimoji="0" lang="en-US" altLang="en-US" sz="1600" b="0" i="0" u="none" strike="noStrike" cap="none" normalizeH="0" baseline="0" dirty="0" err="1">
                <a:ln>
                  <a:noFill/>
                </a:ln>
                <a:solidFill>
                  <a:schemeClr val="tx1"/>
                </a:solidFill>
                <a:effectLst/>
                <a:latin typeface="GillSans" panose="020B0A02020104020203" pitchFamily="34" charset="77"/>
              </a:rPr>
              <a:t>vs.“real</a:t>
            </a:r>
            <a:r>
              <a:rPr kumimoji="0" lang="en-US" altLang="en-US" sz="1600" b="0" i="0" u="none" strike="noStrike" cap="none" normalizeH="0" baseline="0" dirty="0">
                <a:ln>
                  <a:noFill/>
                </a:ln>
                <a:solidFill>
                  <a:schemeClr val="tx1"/>
                </a:solidFill>
                <a:effectLst/>
                <a:latin typeface="GillSans" panose="020B0A02020104020203" pitchFamily="34" charset="77"/>
              </a:rPr>
              <a:t> protein” Ramachandran Plot</a:t>
            </a:r>
          </a:p>
          <a:p>
            <a:pPr marL="285750" marR="0" lvl="3" indent="-285750" algn="l" rtl="0" eaLnBrk="0" fontAlgn="base" hangingPunct="0">
              <a:spcBef>
                <a:spcPct val="0"/>
              </a:spcBef>
              <a:spcAft>
                <a:spcPct val="0"/>
              </a:spcAft>
              <a:buFont typeface="Arial" panose="020B0604020202020204" pitchFamily="34" charset="0"/>
              <a:buChar char="•"/>
            </a:pPr>
            <a:r>
              <a:rPr lang="en-US" altLang="en-US" sz="1600" b="0" dirty="0">
                <a:solidFill>
                  <a:schemeClr val="tx1"/>
                </a:solidFill>
                <a:latin typeface="GillSans" panose="020B0A02020104020203" pitchFamily="34" charset="77"/>
              </a:rPr>
              <a:t>Explain why the </a:t>
            </a:r>
            <a:r>
              <a:rPr kumimoji="0" lang="en-US" altLang="en-US" sz="1600" b="0" i="0" u="none" strike="noStrike" cap="none" normalizeH="0" baseline="0" dirty="0">
                <a:ln>
                  <a:noFill/>
                </a:ln>
                <a:solidFill>
                  <a:schemeClr val="tx1"/>
                </a:solidFill>
                <a:effectLst/>
                <a:latin typeface="GillSans" panose="020B0A02020104020203" pitchFamily="34" charset="77"/>
              </a:rPr>
              <a:t>Ramachandran Plots for folded and unfolded proteins look similar! </a:t>
            </a:r>
            <a:endParaRPr kumimoji="0" lang="en-US" altLang="en-US" sz="1600" b="0" i="0" u="none" strike="noStrike" cap="none" normalizeH="0" baseline="0" dirty="0">
              <a:ln>
                <a:noFill/>
              </a:ln>
              <a:solidFill>
                <a:schemeClr val="tx1"/>
              </a:solidFill>
              <a:effectLst/>
              <a:latin typeface="ArialMT"/>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
                <a:solidFill/>
              </a:uFill>
              <a:latin typeface="GillSans" panose="020B0A02020104020203" pitchFamily="34" charset="77"/>
              <a:sym typeface="Helvetica"/>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
                  <a:solidFill/>
                </a:uFill>
                <a:latin typeface="GillSans" panose="020B0A02020104020203" pitchFamily="34" charset="77"/>
                <a:sym typeface="Helvetica"/>
              </a:rPr>
              <a:t>Secondary structures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600" b="0" i="0" u="none" strike="noStrike" kern="0" cap="none" spc="0" normalizeH="0" baseline="0" noProof="0" dirty="0">
                <a:ln>
                  <a:noFill/>
                </a:ln>
                <a:solidFill>
                  <a:srgbClr val="000000"/>
                </a:solidFill>
                <a:effectLst/>
                <a:uLnTx/>
                <a:uFill>
                  <a:solidFill/>
                </a:uFill>
                <a:latin typeface="GillSans" panose="020B0A02020104020203" pitchFamily="34" charset="77"/>
                <a:sym typeface="Helvetica"/>
              </a:rPr>
              <a:t>Identify and draw cis and trans isomers of the peptide bond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600" b="0" i="0" u="none" strike="noStrike" kern="0" cap="none" spc="0" normalizeH="0" baseline="0" noProof="0" dirty="0">
                <a:ln>
                  <a:noFill/>
                </a:ln>
                <a:solidFill>
                  <a:srgbClr val="000000"/>
                </a:solidFill>
                <a:effectLst/>
                <a:uLnTx/>
                <a:uFill>
                  <a:solidFill/>
                </a:uFill>
                <a:latin typeface="GillSans" panose="020B0A02020104020203" pitchFamily="34" charset="77"/>
                <a:sym typeface="Helvetica"/>
              </a:rPr>
              <a:t>Draw and recognize the backbone hydrogen bonding and key features of the alpha-helix</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600" b="0" i="0" u="none" strike="noStrike" kern="0" cap="none" spc="0" normalizeH="0" baseline="0" noProof="0" dirty="0">
                <a:ln>
                  <a:noFill/>
                </a:ln>
                <a:solidFill>
                  <a:srgbClr val="000000"/>
                </a:solidFill>
                <a:effectLst/>
                <a:uLnTx/>
                <a:uFill>
                  <a:solidFill/>
                </a:uFill>
                <a:latin typeface="GillSans" panose="020B0A02020104020203" pitchFamily="34" charset="77"/>
                <a:sym typeface="Helvetica"/>
              </a:rPr>
              <a:t>Draw and recognize the backbone hydrogen bonding and key features of the beta-sheet</a:t>
            </a:r>
            <a:br>
              <a:rPr kumimoji="0" lang="en-US" altLang="en-US" sz="1600" b="0" i="0" u="none" strike="noStrike" kern="0" cap="none" spc="0" normalizeH="0" baseline="0" noProof="0" dirty="0">
                <a:ln>
                  <a:noFill/>
                </a:ln>
                <a:solidFill>
                  <a:srgbClr val="000000"/>
                </a:solidFill>
                <a:effectLst/>
                <a:uLnTx/>
                <a:uFill>
                  <a:solidFill/>
                </a:uFill>
                <a:latin typeface="GillSans" panose="020B0A02020104020203" pitchFamily="34" charset="77"/>
                <a:sym typeface="Helvetica"/>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6" name="Picture 2" descr="page1image60113280">
            <a:extLst>
              <a:ext uri="{FF2B5EF4-FFF2-40B4-BE49-F238E27FC236}">
                <a16:creationId xmlns:a16="http://schemas.microsoft.com/office/drawing/2014/main" id="{567E068C-AAA7-E6C2-AEAD-83566E128F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3525940"/>
            <a:ext cx="9652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3640462"/>
      </p:ext>
    </p:extLst>
  </p:cSld>
  <p:clrMapOvr>
    <a:masterClrMapping/>
  </p:clrMapOvr>
  <p:transition spd="med" advClick="0" advTm="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Shape 364"/>
          <p:cNvSpPr/>
          <p:nvPr/>
        </p:nvSpPr>
        <p:spPr>
          <a:xfrm>
            <a:off x="0" y="-93573"/>
            <a:ext cx="9156700" cy="441146"/>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lgn="ctr">
              <a:buClr>
                <a:srgbClr val="000000"/>
              </a:buClr>
              <a:buFont typeface="Helvetica"/>
              <a:defRPr sz="2000" b="1">
                <a:latin typeface="Helvetica"/>
                <a:ea typeface="Helvetica"/>
                <a:cs typeface="Helvetica"/>
                <a:sym typeface="Helvetica"/>
              </a:defRPr>
            </a:lvl1pPr>
          </a:lstStyle>
          <a:p>
            <a:pPr lvl="0">
              <a:defRPr sz="1800" b="0">
                <a:uFillTx/>
              </a:defRPr>
            </a:pPr>
            <a:r>
              <a:rPr sz="2200" b="0" dirty="0">
                <a:solidFill>
                  <a:schemeClr val="tx1"/>
                </a:solidFill>
                <a:uFill>
                  <a:solidFill/>
                </a:uFill>
                <a:latin typeface="Gill Sans" charset="0"/>
                <a:ea typeface="Gill Sans" charset="0"/>
                <a:cs typeface="Gill Sans" charset="0"/>
              </a:rPr>
              <a:t>D</a:t>
            </a:r>
            <a:r>
              <a:rPr lang="en-US" sz="2200" b="0" dirty="0">
                <a:solidFill>
                  <a:schemeClr val="tx1"/>
                </a:solidFill>
                <a:uFill>
                  <a:solidFill/>
                </a:uFill>
                <a:latin typeface="Gill Sans" charset="0"/>
                <a:ea typeface="Gill Sans" charset="0"/>
                <a:cs typeface="Gill Sans" charset="0"/>
              </a:rPr>
              <a:t>ifferent type of construction rule: peptide bond constraints</a:t>
            </a:r>
          </a:p>
        </p:txBody>
      </p:sp>
      <p:pic>
        <p:nvPicPr>
          <p:cNvPr id="365" name="image.pdf"/>
          <p:cNvPicPr/>
          <p:nvPr/>
        </p:nvPicPr>
        <p:blipFill>
          <a:blip r:embed="rId3"/>
          <a:stretch>
            <a:fillRect/>
          </a:stretch>
        </p:blipFill>
        <p:spPr>
          <a:xfrm>
            <a:off x="3429000" y="609600"/>
            <a:ext cx="2971800" cy="1049338"/>
          </a:xfrm>
          <a:prstGeom prst="rect">
            <a:avLst/>
          </a:prstGeom>
          <a:ln w="12700">
            <a:miter lim="400000"/>
          </a:ln>
        </p:spPr>
      </p:pic>
      <p:pic>
        <p:nvPicPr>
          <p:cNvPr id="367" name="image.pdf"/>
          <p:cNvPicPr/>
          <p:nvPr/>
        </p:nvPicPr>
        <p:blipFill>
          <a:blip r:embed="rId4"/>
          <a:stretch>
            <a:fillRect/>
          </a:stretch>
        </p:blipFill>
        <p:spPr>
          <a:xfrm>
            <a:off x="76200" y="482600"/>
            <a:ext cx="3048000" cy="1016000"/>
          </a:xfrm>
          <a:prstGeom prst="rect">
            <a:avLst/>
          </a:prstGeom>
          <a:ln w="12700">
            <a:miter lim="400000"/>
          </a:ln>
        </p:spPr>
      </p:pic>
      <p:pic>
        <p:nvPicPr>
          <p:cNvPr id="368" name="image.pdf"/>
          <p:cNvPicPr/>
          <p:nvPr/>
        </p:nvPicPr>
        <p:blipFill>
          <a:blip r:embed="rId5"/>
          <a:stretch>
            <a:fillRect/>
          </a:stretch>
        </p:blipFill>
        <p:spPr>
          <a:xfrm>
            <a:off x="6392862" y="838200"/>
            <a:ext cx="2903538" cy="2544763"/>
          </a:xfrm>
          <a:prstGeom prst="rect">
            <a:avLst/>
          </a:prstGeom>
          <a:ln w="12700">
            <a:miter lim="400000"/>
          </a:ln>
        </p:spPr>
      </p:pic>
      <p:sp>
        <p:nvSpPr>
          <p:cNvPr id="369" name="Shape 369"/>
          <p:cNvSpPr/>
          <p:nvPr/>
        </p:nvSpPr>
        <p:spPr>
          <a:xfrm flipV="1">
            <a:off x="3037752" y="1084184"/>
            <a:ext cx="506269" cy="2219"/>
          </a:xfrm>
          <a:prstGeom prst="line">
            <a:avLst/>
          </a:prstGeom>
          <a:ln w="28575">
            <a:solidFill/>
            <a:round/>
            <a:headEnd type="triangle"/>
            <a:tailEnd type="triangle"/>
          </a:ln>
        </p:spPr>
        <p:txBody>
          <a:bodyPr lIns="0" tIns="0" rIns="0" bIns="0"/>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sp>
        <p:nvSpPr>
          <p:cNvPr id="370" name="Shape 370"/>
          <p:cNvSpPr/>
          <p:nvPr/>
        </p:nvSpPr>
        <p:spPr>
          <a:xfrm>
            <a:off x="35425" y="3671316"/>
            <a:ext cx="38989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900"/>
              </a:spcBef>
              <a:buClr>
                <a:srgbClr val="000000"/>
              </a:buClr>
              <a:buFont typeface="Helvetica"/>
              <a:defRPr sz="1800">
                <a:uFillTx/>
              </a:defRPr>
            </a:pPr>
            <a:r>
              <a:rPr sz="1600" b="0" dirty="0">
                <a:solidFill>
                  <a:schemeClr val="tx1"/>
                </a:solidFill>
                <a:uFill>
                  <a:solidFill/>
                </a:uFill>
                <a:latin typeface="Gill Sans" charset="0"/>
                <a:ea typeface="Gill Sans" charset="0"/>
                <a:cs typeface="Gill Sans" charset="0"/>
                <a:sym typeface="Helvetica"/>
              </a:rPr>
              <a:t>A</a:t>
            </a:r>
            <a:r>
              <a:rPr lang="en-US" sz="1600" b="0" dirty="0">
                <a:solidFill>
                  <a:schemeClr val="tx1"/>
                </a:solidFill>
                <a:uFill>
                  <a:solidFill/>
                </a:uFill>
                <a:latin typeface="Gill Sans" charset="0"/>
                <a:ea typeface="Gill Sans" charset="0"/>
                <a:cs typeface="Gill Sans" charset="0"/>
                <a:sym typeface="Helvetica"/>
              </a:rPr>
              <a:t>bove images: </a:t>
            </a:r>
            <a:r>
              <a:rPr lang="en-US" sz="1600" b="0" u="sng" dirty="0">
                <a:solidFill>
                  <a:schemeClr val="tx1"/>
                </a:solidFill>
                <a:uFill>
                  <a:solidFill/>
                </a:uFill>
                <a:latin typeface="Gill Sans" charset="0"/>
                <a:ea typeface="Gill Sans" charset="0"/>
                <a:cs typeface="Gill Sans" charset="0"/>
                <a:sym typeface="Helvetica"/>
              </a:rPr>
              <a:t>ground state</a:t>
            </a:r>
            <a:r>
              <a:rPr lang="en-US" sz="1600" b="0" dirty="0">
                <a:solidFill>
                  <a:schemeClr val="tx1"/>
                </a:solidFill>
                <a:uFill>
                  <a:solidFill/>
                </a:uFill>
                <a:latin typeface="Gill Sans" charset="0"/>
                <a:ea typeface="Gill Sans" charset="0"/>
                <a:cs typeface="Gill Sans" charset="0"/>
                <a:sym typeface="Helvetica"/>
              </a:rPr>
              <a:t>.  </a:t>
            </a:r>
            <a:endParaRPr sz="1600" b="0" dirty="0">
              <a:solidFill>
                <a:schemeClr val="tx1"/>
              </a:solidFill>
              <a:uFill>
                <a:solidFill/>
              </a:uFill>
              <a:latin typeface="Gill Sans" charset="0"/>
              <a:ea typeface="Gill Sans" charset="0"/>
              <a:cs typeface="Gill Sans" charset="0"/>
              <a:sym typeface="Helvetica"/>
            </a:endParaRPr>
          </a:p>
        </p:txBody>
      </p:sp>
      <p:sp>
        <p:nvSpPr>
          <p:cNvPr id="371" name="Shape 371"/>
          <p:cNvSpPr/>
          <p:nvPr/>
        </p:nvSpPr>
        <p:spPr>
          <a:xfrm>
            <a:off x="76200" y="5838825"/>
            <a:ext cx="6718300" cy="851515"/>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800"/>
              </a:spcBef>
              <a:buClr>
                <a:srgbClr val="000000"/>
              </a:buClr>
              <a:buFont typeface="Helvetica"/>
              <a:defRPr sz="1800">
                <a:uFillTx/>
              </a:defRPr>
            </a:pPr>
            <a:r>
              <a:rPr sz="1400" b="0" dirty="0">
                <a:solidFill>
                  <a:schemeClr val="tx1"/>
                </a:solidFill>
                <a:uFill>
                  <a:solidFill/>
                </a:uFill>
                <a:latin typeface="Gill Sans" charset="0"/>
                <a:ea typeface="Gill Sans" charset="0"/>
                <a:cs typeface="Gill Sans" charset="0"/>
                <a:sym typeface="Helvetica"/>
              </a:rPr>
              <a:t>R</a:t>
            </a:r>
            <a:r>
              <a:rPr lang="en-US" sz="1400" b="0" dirty="0">
                <a:solidFill>
                  <a:schemeClr val="tx1"/>
                </a:solidFill>
                <a:uFill>
                  <a:solidFill/>
                </a:uFill>
                <a:latin typeface="Gill Sans" charset="0"/>
                <a:ea typeface="Gill Sans" charset="0"/>
                <a:cs typeface="Gill Sans" charset="0"/>
                <a:sym typeface="Helvetica"/>
              </a:rPr>
              <a:t>otation of 12 degrees around peptide partial double bond</a:t>
            </a:r>
          </a:p>
          <a:p>
            <a:pPr lvl="0">
              <a:spcBef>
                <a:spcPts val="800"/>
              </a:spcBef>
              <a:buClr>
                <a:srgbClr val="000000"/>
              </a:buClr>
              <a:buFont typeface="Helvetica"/>
              <a:defRPr sz="1800">
                <a:uFillTx/>
              </a:defRPr>
            </a:pPr>
            <a:r>
              <a:rPr sz="1400" b="0" dirty="0">
                <a:solidFill>
                  <a:schemeClr val="tx1"/>
                </a:solidFill>
                <a:uFill>
                  <a:solidFill/>
                </a:uFill>
                <a:latin typeface="Gill Sans" charset="0"/>
                <a:ea typeface="Gill Sans" charset="0"/>
                <a:cs typeface="Gill Sans" charset="0"/>
                <a:sym typeface="Helvetica"/>
              </a:rPr>
              <a:t>5 </a:t>
            </a:r>
            <a:r>
              <a:rPr lang="en-US" sz="1400" b="0" dirty="0">
                <a:solidFill>
                  <a:schemeClr val="tx1"/>
                </a:solidFill>
                <a:uFill>
                  <a:solidFill/>
                </a:uFill>
                <a:latin typeface="Gill Sans" charset="0"/>
                <a:ea typeface="Gill Sans" charset="0"/>
                <a:cs typeface="Gill Sans" charset="0"/>
                <a:sym typeface="Helvetica"/>
              </a:rPr>
              <a:t>degree bending of the other bond angles shown above                                   </a:t>
            </a:r>
            <a:endParaRPr sz="1400" b="0" dirty="0">
              <a:solidFill>
                <a:schemeClr val="tx1"/>
              </a:solidFill>
              <a:uFill>
                <a:solidFill/>
              </a:uFill>
              <a:latin typeface="Gill Sans" charset="0"/>
              <a:ea typeface="Gill Sans" charset="0"/>
              <a:cs typeface="Gill Sans" charset="0"/>
              <a:sym typeface="Helvetica"/>
            </a:endParaRPr>
          </a:p>
          <a:p>
            <a:pPr lvl="0">
              <a:spcBef>
                <a:spcPts val="800"/>
              </a:spcBef>
              <a:buClr>
                <a:srgbClr val="000000"/>
              </a:buClr>
              <a:buFont typeface="Helvetica"/>
              <a:defRPr sz="1800">
                <a:uFillTx/>
              </a:defRPr>
            </a:pPr>
            <a:r>
              <a:rPr sz="1400" b="0" dirty="0">
                <a:solidFill>
                  <a:schemeClr val="tx1"/>
                </a:solidFill>
                <a:uFill>
                  <a:solidFill/>
                </a:uFill>
                <a:latin typeface="Gill Sans" charset="0"/>
                <a:ea typeface="Gill Sans" charset="0"/>
                <a:cs typeface="Gill Sans" charset="0"/>
                <a:sym typeface="Helvetica"/>
              </a:rPr>
              <a:t>0.05 A</a:t>
            </a:r>
            <a:r>
              <a:rPr lang="en-US" sz="1400" b="0" dirty="0">
                <a:solidFill>
                  <a:schemeClr val="tx1"/>
                </a:solidFill>
                <a:uFill>
                  <a:solidFill/>
                </a:uFill>
                <a:latin typeface="Gill Sans" charset="0"/>
                <a:ea typeface="Gill Sans" charset="0"/>
                <a:cs typeface="Gill Sans" charset="0"/>
                <a:sym typeface="Helvetica"/>
              </a:rPr>
              <a:t>ngstrom change in bond length</a:t>
            </a:r>
          </a:p>
        </p:txBody>
      </p:sp>
      <p:pic>
        <p:nvPicPr>
          <p:cNvPr id="372" name="image.png"/>
          <p:cNvPicPr/>
          <p:nvPr/>
        </p:nvPicPr>
        <p:blipFill>
          <a:blip r:embed="rId6"/>
          <a:stretch>
            <a:fillRect/>
          </a:stretch>
        </p:blipFill>
        <p:spPr>
          <a:xfrm>
            <a:off x="2286000" y="762000"/>
            <a:ext cx="873125" cy="577850"/>
          </a:xfrm>
          <a:prstGeom prst="rect">
            <a:avLst/>
          </a:prstGeom>
          <a:ln w="12700">
            <a:miter lim="400000"/>
          </a:ln>
        </p:spPr>
      </p:pic>
      <p:pic>
        <p:nvPicPr>
          <p:cNvPr id="373" name="image.png"/>
          <p:cNvPicPr/>
          <p:nvPr/>
        </p:nvPicPr>
        <p:blipFill>
          <a:blip r:embed="rId7"/>
          <a:stretch>
            <a:fillRect/>
          </a:stretch>
        </p:blipFill>
        <p:spPr>
          <a:xfrm>
            <a:off x="3429000" y="709612"/>
            <a:ext cx="990600" cy="676276"/>
          </a:xfrm>
          <a:prstGeom prst="rect">
            <a:avLst/>
          </a:prstGeom>
          <a:ln w="12700">
            <a:miter lim="400000"/>
          </a:ln>
        </p:spPr>
      </p:pic>
      <p:pic>
        <p:nvPicPr>
          <p:cNvPr id="374" name="image.png"/>
          <p:cNvPicPr/>
          <p:nvPr/>
        </p:nvPicPr>
        <p:blipFill>
          <a:blip r:embed="rId8"/>
          <a:stretch>
            <a:fillRect/>
          </a:stretch>
        </p:blipFill>
        <p:spPr>
          <a:xfrm>
            <a:off x="0" y="2082800"/>
            <a:ext cx="1447800" cy="969963"/>
          </a:xfrm>
          <a:prstGeom prst="rect">
            <a:avLst/>
          </a:prstGeom>
          <a:ln w="12700">
            <a:miter lim="400000"/>
          </a:ln>
        </p:spPr>
      </p:pic>
      <p:sp>
        <p:nvSpPr>
          <p:cNvPr id="375" name="Shape 375"/>
          <p:cNvSpPr/>
          <p:nvPr/>
        </p:nvSpPr>
        <p:spPr>
          <a:xfrm>
            <a:off x="3124200" y="990600"/>
            <a:ext cx="381000" cy="228600"/>
          </a:xfrm>
          <a:prstGeom prst="rect">
            <a:avLst/>
          </a:prstGeom>
          <a:solidFill>
            <a:srgbClr val="FFFFFF"/>
          </a:solidFill>
          <a:ln w="19050">
            <a:miter lim="400000"/>
          </a:ln>
        </p:spPr>
        <p:txBody>
          <a:bodyPr lIns="0" tIns="0" rIns="0" bIns="0" anchor="ctr"/>
          <a:lstStyle/>
          <a:p>
            <a:pPr lvl="0"/>
            <a:endParaRPr b="0">
              <a:solidFill>
                <a:schemeClr val="tx1"/>
              </a:solidFill>
              <a:latin typeface="Gill Sans" charset="0"/>
              <a:ea typeface="Gill Sans" charset="0"/>
              <a:cs typeface="Gill Sans" charset="0"/>
            </a:endParaRPr>
          </a:p>
        </p:txBody>
      </p:sp>
      <p:sp>
        <p:nvSpPr>
          <p:cNvPr id="376" name="Shape 376"/>
          <p:cNvSpPr/>
          <p:nvPr/>
        </p:nvSpPr>
        <p:spPr>
          <a:xfrm>
            <a:off x="3124200" y="1047750"/>
            <a:ext cx="381000" cy="1588"/>
          </a:xfrm>
          <a:prstGeom prst="line">
            <a:avLst/>
          </a:prstGeom>
          <a:ln>
            <a:solidFill/>
            <a:round/>
            <a:headEnd type="triangle"/>
            <a:tailEnd type="triangle"/>
          </a:ln>
        </p:spPr>
        <p:txBody>
          <a:bodyPr lIns="0" tIns="0" rIns="0" bIns="0"/>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sp>
        <p:nvSpPr>
          <p:cNvPr id="378" name="Shape 378"/>
          <p:cNvSpPr/>
          <p:nvPr/>
        </p:nvSpPr>
        <p:spPr>
          <a:xfrm>
            <a:off x="1778094" y="5479439"/>
            <a:ext cx="2603500" cy="276999"/>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1100"/>
              </a:spcBef>
              <a:buClr>
                <a:srgbClr val="0E33FF"/>
              </a:buClr>
              <a:buFont typeface="Helvetica"/>
              <a:defRPr sz="1800">
                <a:uFillTx/>
              </a:defRPr>
            </a:pPr>
            <a:r>
              <a:rPr b="0" dirty="0">
                <a:solidFill>
                  <a:schemeClr val="tx1"/>
                </a:solidFill>
                <a:uFill>
                  <a:solidFill>
                    <a:srgbClr val="0E33FF"/>
                  </a:solidFill>
                </a:uFill>
                <a:latin typeface="Gill Sans" charset="0"/>
                <a:ea typeface="Gill Sans" charset="0"/>
                <a:cs typeface="Gill Sans" charset="0"/>
                <a:sym typeface="Helvetica"/>
              </a:rPr>
              <a:t>= e</a:t>
            </a:r>
            <a:r>
              <a:rPr sz="2400" b="0" baseline="25999" dirty="0">
                <a:solidFill>
                  <a:schemeClr val="tx1"/>
                </a:solidFill>
                <a:uFill>
                  <a:solidFill>
                    <a:srgbClr val="0E33FF"/>
                  </a:solidFill>
                </a:uFill>
                <a:latin typeface="Gill Sans" charset="0"/>
                <a:ea typeface="Gill Sans" charset="0"/>
                <a:cs typeface="Gill Sans" charset="0"/>
                <a:sym typeface="Helvetica"/>
              </a:rPr>
              <a:t>-x/</a:t>
            </a:r>
            <a:r>
              <a:rPr sz="2400" b="0" baseline="25999" dirty="0">
                <a:solidFill>
                  <a:srgbClr val="FF0000"/>
                </a:solidFill>
                <a:uFill>
                  <a:solidFill>
                    <a:srgbClr val="0E33FF"/>
                  </a:solidFill>
                </a:uFill>
                <a:latin typeface="Gill Sans" charset="0"/>
                <a:ea typeface="Gill Sans" charset="0"/>
                <a:cs typeface="Gill Sans" charset="0"/>
                <a:sym typeface="Helvetica"/>
              </a:rPr>
              <a:t>2.57kJ</a:t>
            </a:r>
            <a:r>
              <a:rPr lang="en-US" sz="2400" b="0" baseline="25999" dirty="0">
                <a:solidFill>
                  <a:srgbClr val="FF0000"/>
                </a:solidFill>
                <a:uFill>
                  <a:solidFill>
                    <a:srgbClr val="0E33FF"/>
                  </a:solidFill>
                </a:uFill>
                <a:latin typeface="Gill Sans" charset="0"/>
                <a:ea typeface="Gill Sans" charset="0"/>
                <a:cs typeface="Gill Sans" charset="0"/>
                <a:sym typeface="Helvetica"/>
              </a:rPr>
              <a:t>/</a:t>
            </a:r>
            <a:r>
              <a:rPr sz="2400" b="0" baseline="25999" dirty="0">
                <a:solidFill>
                  <a:srgbClr val="FF0000"/>
                </a:solidFill>
                <a:uFill>
                  <a:solidFill>
                    <a:srgbClr val="0E33FF"/>
                  </a:solidFill>
                </a:uFill>
                <a:latin typeface="Gill Sans" charset="0"/>
                <a:ea typeface="Gill Sans" charset="0"/>
                <a:cs typeface="Gill Sans" charset="0"/>
                <a:sym typeface="Helvetica"/>
              </a:rPr>
              <a:t>mole</a:t>
            </a:r>
            <a:endParaRPr sz="2000" b="0" baseline="30000" dirty="0">
              <a:solidFill>
                <a:srgbClr val="FF0000"/>
              </a:solidFill>
              <a:uFill>
                <a:solidFill>
                  <a:srgbClr val="0E33FF"/>
                </a:solidFill>
              </a:uFill>
              <a:latin typeface="Gill Sans" charset="0"/>
              <a:ea typeface="Gill Sans" charset="0"/>
              <a:cs typeface="Gill Sans" charset="0"/>
              <a:sym typeface="Helvetica"/>
            </a:endParaRPr>
          </a:p>
        </p:txBody>
      </p:sp>
      <p:sp>
        <p:nvSpPr>
          <p:cNvPr id="383" name="Shape 383"/>
          <p:cNvSpPr/>
          <p:nvPr/>
        </p:nvSpPr>
        <p:spPr>
          <a:xfrm>
            <a:off x="4576545" y="6145400"/>
            <a:ext cx="2287010" cy="21544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lvl="0">
              <a:spcBef>
                <a:spcPts val="800"/>
              </a:spcBef>
              <a:buClr>
                <a:srgbClr val="0E33FF"/>
              </a:buClr>
              <a:buFont typeface="Helvetica"/>
              <a:defRPr sz="1800">
                <a:uFillTx/>
              </a:defRPr>
            </a:pPr>
            <a:r>
              <a:rPr lang="en-US" sz="1400" b="0" dirty="0">
                <a:solidFill>
                  <a:schemeClr val="tx1"/>
                </a:solidFill>
                <a:uFill>
                  <a:solidFill>
                    <a:srgbClr val="0E33FF"/>
                  </a:solidFill>
                </a:uFill>
                <a:latin typeface="Gill Sans" charset="0"/>
                <a:ea typeface="Gill Sans" charset="0"/>
                <a:cs typeface="Gill Sans" charset="0"/>
                <a:sym typeface="Helvetica"/>
              </a:rPr>
              <a:t>Examples of </a:t>
            </a:r>
            <a:r>
              <a:rPr sz="1400" b="0" dirty="0">
                <a:solidFill>
                  <a:schemeClr val="tx1"/>
                </a:solidFill>
                <a:uFill>
                  <a:solidFill>
                    <a:srgbClr val="0E33FF"/>
                  </a:solidFill>
                </a:uFill>
                <a:latin typeface="Gill Sans" charset="0"/>
                <a:ea typeface="Gill Sans" charset="0"/>
                <a:cs typeface="Gill Sans" charset="0"/>
                <a:sym typeface="Helvetica"/>
              </a:rPr>
              <a:t>~ 4kJmol</a:t>
            </a:r>
            <a:r>
              <a:rPr sz="1400" b="0" baseline="29999" dirty="0">
                <a:solidFill>
                  <a:schemeClr val="tx1"/>
                </a:solidFill>
                <a:uFill>
                  <a:solidFill>
                    <a:srgbClr val="0E33FF"/>
                  </a:solidFill>
                </a:uFill>
                <a:latin typeface="Gill Sans" charset="0"/>
                <a:ea typeface="Gill Sans" charset="0"/>
                <a:cs typeface="Gill Sans" charset="0"/>
                <a:sym typeface="Helvetica"/>
              </a:rPr>
              <a:t>-1</a:t>
            </a:r>
            <a:r>
              <a:rPr lang="en-US" sz="1400" b="0" dirty="0">
                <a:solidFill>
                  <a:schemeClr val="tx1"/>
                </a:solidFill>
                <a:uFill>
                  <a:solidFill>
                    <a:srgbClr val="0E33FF"/>
                  </a:solidFill>
                </a:uFill>
                <a:latin typeface="Gill Sans" charset="0"/>
                <a:ea typeface="Gill Sans" charset="0"/>
                <a:cs typeface="Gill Sans" charset="0"/>
              </a:rPr>
              <a:t> cost</a:t>
            </a:r>
            <a:r>
              <a:rPr sz="1400" b="0" dirty="0">
                <a:solidFill>
                  <a:schemeClr val="tx1"/>
                </a:solidFill>
                <a:uFill>
                  <a:solidFill>
                    <a:srgbClr val="0E33FF"/>
                  </a:solidFill>
                </a:uFill>
                <a:latin typeface="Gill Sans" charset="0"/>
                <a:ea typeface="Gill Sans" charset="0"/>
                <a:cs typeface="Gill Sans" charset="0"/>
                <a:sym typeface="Helvetica"/>
              </a:rPr>
              <a:t> </a:t>
            </a:r>
          </a:p>
        </p:txBody>
      </p:sp>
      <p:grpSp>
        <p:nvGrpSpPr>
          <p:cNvPr id="388" name="Group 388"/>
          <p:cNvGrpSpPr/>
          <p:nvPr/>
        </p:nvGrpSpPr>
        <p:grpSpPr>
          <a:xfrm>
            <a:off x="1953541" y="378266"/>
            <a:ext cx="2605255" cy="1082709"/>
            <a:chOff x="175542" y="175066"/>
            <a:chExt cx="2605253" cy="1082709"/>
          </a:xfrm>
        </p:grpSpPr>
        <p:sp>
          <p:nvSpPr>
            <p:cNvPr id="384" name="Shape 384"/>
            <p:cNvSpPr/>
            <p:nvPr/>
          </p:nvSpPr>
          <p:spPr>
            <a:xfrm>
              <a:off x="1320800" y="1054100"/>
              <a:ext cx="276225" cy="203675"/>
            </a:xfrm>
            <a:custGeom>
              <a:avLst/>
              <a:gdLst/>
              <a:ahLst/>
              <a:cxnLst>
                <a:cxn ang="0">
                  <a:pos x="wd2" y="hd2"/>
                </a:cxn>
                <a:cxn ang="5400000">
                  <a:pos x="wd2" y="hd2"/>
                </a:cxn>
                <a:cxn ang="10800000">
                  <a:pos x="wd2" y="hd2"/>
                </a:cxn>
                <a:cxn ang="16200000">
                  <a:pos x="wd2" y="hd2"/>
                </a:cxn>
              </a:cxnLst>
              <a:rect l="0" t="0" r="r" b="b"/>
              <a:pathLst>
                <a:path w="19751" h="21600" extrusionOk="0">
                  <a:moveTo>
                    <a:pt x="0" y="0"/>
                  </a:moveTo>
                  <a:cubicBezTo>
                    <a:pt x="2460" y="2268"/>
                    <a:pt x="2921" y="3240"/>
                    <a:pt x="1230" y="6912"/>
                  </a:cubicBezTo>
                  <a:cubicBezTo>
                    <a:pt x="2460" y="7128"/>
                    <a:pt x="3690" y="7128"/>
                    <a:pt x="4920" y="7776"/>
                  </a:cubicBezTo>
                  <a:cubicBezTo>
                    <a:pt x="8456" y="9396"/>
                    <a:pt x="4996" y="10260"/>
                    <a:pt x="8609" y="8640"/>
                  </a:cubicBezTo>
                  <a:cubicBezTo>
                    <a:pt x="9609" y="8856"/>
                    <a:pt x="11146" y="8208"/>
                    <a:pt x="11684" y="9504"/>
                  </a:cubicBezTo>
                  <a:cubicBezTo>
                    <a:pt x="13144" y="12960"/>
                    <a:pt x="4228" y="17064"/>
                    <a:pt x="11069" y="14688"/>
                  </a:cubicBezTo>
                  <a:cubicBezTo>
                    <a:pt x="11684" y="14904"/>
                    <a:pt x="12453" y="14796"/>
                    <a:pt x="12914" y="15552"/>
                  </a:cubicBezTo>
                  <a:cubicBezTo>
                    <a:pt x="14836" y="18900"/>
                    <a:pt x="11761" y="20520"/>
                    <a:pt x="15374" y="17280"/>
                  </a:cubicBezTo>
                  <a:cubicBezTo>
                    <a:pt x="16373" y="17496"/>
                    <a:pt x="21600" y="17928"/>
                    <a:pt x="19063" y="21600"/>
                  </a:cubicBezTo>
                </a:path>
              </a:pathLst>
            </a:custGeom>
            <a:noFill/>
            <a:ln w="28575" cap="flat">
              <a:solidFill>
                <a:srgbClr val="FF2800"/>
              </a:solidFill>
              <a:prstDash val="solid"/>
              <a:round/>
            </a:ln>
            <a:effectLst/>
          </p:spPr>
          <p:txBody>
            <a:bodyPr wrap="square" lIns="0" tIns="0" rIns="0" bIns="0" numCol="1" anchor="ctr">
              <a:noAutofit/>
            </a:bodyPr>
            <a:lstStyle/>
            <a:p>
              <a:pPr lvl="0"/>
              <a:endParaRPr b="0">
                <a:solidFill>
                  <a:schemeClr val="tx1"/>
                </a:solidFill>
                <a:latin typeface="Gill Sans" charset="0"/>
                <a:ea typeface="Gill Sans" charset="0"/>
                <a:cs typeface="Gill Sans" charset="0"/>
              </a:endParaRPr>
            </a:p>
          </p:txBody>
        </p:sp>
        <p:sp>
          <p:nvSpPr>
            <p:cNvPr id="385" name="Shape 385"/>
            <p:cNvSpPr/>
            <p:nvPr/>
          </p:nvSpPr>
          <p:spPr>
            <a:xfrm>
              <a:off x="175542" y="175066"/>
              <a:ext cx="370557" cy="42818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0281" y="20961"/>
                    <a:pt x="19340" y="20090"/>
                    <a:pt x="18084" y="19510"/>
                  </a:cubicBezTo>
                  <a:cubicBezTo>
                    <a:pt x="17707" y="18523"/>
                    <a:pt x="17707" y="18174"/>
                    <a:pt x="18837" y="17884"/>
                  </a:cubicBezTo>
                  <a:cubicBezTo>
                    <a:pt x="19277" y="19103"/>
                    <a:pt x="18335" y="18813"/>
                    <a:pt x="17330" y="18581"/>
                  </a:cubicBezTo>
                  <a:cubicBezTo>
                    <a:pt x="15321" y="17187"/>
                    <a:pt x="12244" y="14748"/>
                    <a:pt x="14819" y="13006"/>
                  </a:cubicBezTo>
                  <a:cubicBezTo>
                    <a:pt x="15635" y="13239"/>
                    <a:pt x="16953" y="13645"/>
                    <a:pt x="15321" y="14168"/>
                  </a:cubicBezTo>
                  <a:cubicBezTo>
                    <a:pt x="12433" y="13819"/>
                    <a:pt x="10423" y="12310"/>
                    <a:pt x="9544" y="9755"/>
                  </a:cubicBezTo>
                  <a:cubicBezTo>
                    <a:pt x="9795" y="8710"/>
                    <a:pt x="9670" y="8187"/>
                    <a:pt x="10800" y="7897"/>
                  </a:cubicBezTo>
                  <a:cubicBezTo>
                    <a:pt x="14002" y="5632"/>
                    <a:pt x="11428" y="3832"/>
                    <a:pt x="9544" y="2090"/>
                  </a:cubicBezTo>
                  <a:cubicBezTo>
                    <a:pt x="8979" y="3600"/>
                    <a:pt x="9858" y="5284"/>
                    <a:pt x="8288" y="6271"/>
                  </a:cubicBezTo>
                  <a:cubicBezTo>
                    <a:pt x="6656" y="5748"/>
                    <a:pt x="6719" y="4355"/>
                    <a:pt x="6279" y="3019"/>
                  </a:cubicBezTo>
                  <a:cubicBezTo>
                    <a:pt x="5274" y="4819"/>
                    <a:pt x="6844" y="6039"/>
                    <a:pt x="4270" y="5574"/>
                  </a:cubicBezTo>
                  <a:cubicBezTo>
                    <a:pt x="4081" y="5110"/>
                    <a:pt x="3767" y="4645"/>
                    <a:pt x="3767" y="4181"/>
                  </a:cubicBezTo>
                  <a:cubicBezTo>
                    <a:pt x="3642" y="3252"/>
                    <a:pt x="3767" y="2265"/>
                    <a:pt x="3516" y="1394"/>
                  </a:cubicBezTo>
                  <a:cubicBezTo>
                    <a:pt x="3202" y="465"/>
                    <a:pt x="691" y="290"/>
                    <a:pt x="0" y="0"/>
                  </a:cubicBezTo>
                </a:path>
              </a:pathLst>
            </a:custGeom>
            <a:noFill/>
            <a:ln w="28575" cap="flat">
              <a:solidFill>
                <a:srgbClr val="FF2800"/>
              </a:solidFill>
              <a:prstDash val="solid"/>
              <a:round/>
            </a:ln>
            <a:effectLst/>
          </p:spPr>
          <p:txBody>
            <a:bodyPr wrap="square" lIns="0" tIns="0" rIns="0" bIns="0" numCol="1" anchor="ctr">
              <a:noAutofit/>
            </a:bodyPr>
            <a:lstStyle/>
            <a:p>
              <a:pPr lvl="0"/>
              <a:endParaRPr b="0">
                <a:solidFill>
                  <a:schemeClr val="tx1"/>
                </a:solidFill>
                <a:latin typeface="Gill Sans" charset="0"/>
                <a:ea typeface="Gill Sans" charset="0"/>
                <a:cs typeface="Gill Sans" charset="0"/>
              </a:endParaRPr>
            </a:p>
          </p:txBody>
        </p:sp>
        <p:sp>
          <p:nvSpPr>
            <p:cNvPr id="386" name="Shape 386"/>
            <p:cNvSpPr/>
            <p:nvPr/>
          </p:nvSpPr>
          <p:spPr>
            <a:xfrm>
              <a:off x="1356644" y="189414"/>
              <a:ext cx="370556" cy="40113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0281" y="20961"/>
                    <a:pt x="19340" y="20090"/>
                    <a:pt x="18084" y="19510"/>
                  </a:cubicBezTo>
                  <a:cubicBezTo>
                    <a:pt x="17707" y="18523"/>
                    <a:pt x="17707" y="18174"/>
                    <a:pt x="18837" y="17884"/>
                  </a:cubicBezTo>
                  <a:cubicBezTo>
                    <a:pt x="19277" y="19103"/>
                    <a:pt x="18335" y="18813"/>
                    <a:pt x="17330" y="18581"/>
                  </a:cubicBezTo>
                  <a:cubicBezTo>
                    <a:pt x="15321" y="17187"/>
                    <a:pt x="12244" y="14748"/>
                    <a:pt x="14819" y="13006"/>
                  </a:cubicBezTo>
                  <a:cubicBezTo>
                    <a:pt x="15635" y="13239"/>
                    <a:pt x="16953" y="13645"/>
                    <a:pt x="15321" y="14168"/>
                  </a:cubicBezTo>
                  <a:cubicBezTo>
                    <a:pt x="12433" y="13819"/>
                    <a:pt x="10423" y="12310"/>
                    <a:pt x="9544" y="9755"/>
                  </a:cubicBezTo>
                  <a:cubicBezTo>
                    <a:pt x="9795" y="8710"/>
                    <a:pt x="9670" y="8187"/>
                    <a:pt x="10800" y="7897"/>
                  </a:cubicBezTo>
                  <a:cubicBezTo>
                    <a:pt x="14002" y="5632"/>
                    <a:pt x="11428" y="3832"/>
                    <a:pt x="9544" y="2090"/>
                  </a:cubicBezTo>
                  <a:cubicBezTo>
                    <a:pt x="8979" y="3600"/>
                    <a:pt x="9858" y="5284"/>
                    <a:pt x="8288" y="6271"/>
                  </a:cubicBezTo>
                  <a:cubicBezTo>
                    <a:pt x="6656" y="5748"/>
                    <a:pt x="6719" y="4355"/>
                    <a:pt x="6279" y="3019"/>
                  </a:cubicBezTo>
                  <a:cubicBezTo>
                    <a:pt x="5274" y="4819"/>
                    <a:pt x="6844" y="6039"/>
                    <a:pt x="4270" y="5574"/>
                  </a:cubicBezTo>
                  <a:cubicBezTo>
                    <a:pt x="4081" y="5110"/>
                    <a:pt x="3767" y="4645"/>
                    <a:pt x="3767" y="4181"/>
                  </a:cubicBezTo>
                  <a:cubicBezTo>
                    <a:pt x="3642" y="3252"/>
                    <a:pt x="3767" y="2265"/>
                    <a:pt x="3516" y="1394"/>
                  </a:cubicBezTo>
                  <a:cubicBezTo>
                    <a:pt x="3202" y="465"/>
                    <a:pt x="691" y="290"/>
                    <a:pt x="0" y="0"/>
                  </a:cubicBezTo>
                </a:path>
              </a:pathLst>
            </a:custGeom>
            <a:noFill/>
            <a:ln w="28575" cap="flat">
              <a:solidFill>
                <a:srgbClr val="FF2800"/>
              </a:solidFill>
              <a:prstDash val="solid"/>
              <a:round/>
            </a:ln>
            <a:effectLst/>
          </p:spPr>
          <p:txBody>
            <a:bodyPr wrap="square" lIns="0" tIns="0" rIns="0" bIns="0" numCol="1" anchor="ctr">
              <a:noAutofit/>
            </a:bodyPr>
            <a:lstStyle/>
            <a:p>
              <a:pPr lvl="0"/>
              <a:endParaRPr b="0">
                <a:solidFill>
                  <a:schemeClr val="tx1"/>
                </a:solidFill>
                <a:latin typeface="Gill Sans" charset="0"/>
                <a:ea typeface="Gill Sans" charset="0"/>
                <a:cs typeface="Gill Sans" charset="0"/>
              </a:endParaRPr>
            </a:p>
          </p:txBody>
        </p:sp>
        <p:sp>
          <p:nvSpPr>
            <p:cNvPr id="387" name="Shape 387"/>
            <p:cNvSpPr/>
            <p:nvPr/>
          </p:nvSpPr>
          <p:spPr>
            <a:xfrm>
              <a:off x="2557463" y="1066800"/>
              <a:ext cx="223332" cy="173142"/>
            </a:xfrm>
            <a:custGeom>
              <a:avLst/>
              <a:gdLst/>
              <a:ahLst/>
              <a:cxnLst>
                <a:cxn ang="0">
                  <a:pos x="wd2" y="hd2"/>
                </a:cxn>
                <a:cxn ang="5400000">
                  <a:pos x="wd2" y="hd2"/>
                </a:cxn>
                <a:cxn ang="10800000">
                  <a:pos x="wd2" y="hd2"/>
                </a:cxn>
                <a:cxn ang="16200000">
                  <a:pos x="wd2" y="hd2"/>
                </a:cxn>
              </a:cxnLst>
              <a:rect l="0" t="0" r="r" b="b"/>
              <a:pathLst>
                <a:path w="19751" h="21600" extrusionOk="0">
                  <a:moveTo>
                    <a:pt x="0" y="0"/>
                  </a:moveTo>
                  <a:cubicBezTo>
                    <a:pt x="2460" y="2268"/>
                    <a:pt x="2921" y="3240"/>
                    <a:pt x="1230" y="6912"/>
                  </a:cubicBezTo>
                  <a:cubicBezTo>
                    <a:pt x="2460" y="7128"/>
                    <a:pt x="3690" y="7128"/>
                    <a:pt x="4920" y="7776"/>
                  </a:cubicBezTo>
                  <a:cubicBezTo>
                    <a:pt x="8456" y="9396"/>
                    <a:pt x="4996" y="10260"/>
                    <a:pt x="8609" y="8640"/>
                  </a:cubicBezTo>
                  <a:cubicBezTo>
                    <a:pt x="9609" y="8856"/>
                    <a:pt x="11146" y="8208"/>
                    <a:pt x="11684" y="9504"/>
                  </a:cubicBezTo>
                  <a:cubicBezTo>
                    <a:pt x="13144" y="12960"/>
                    <a:pt x="4228" y="17064"/>
                    <a:pt x="11069" y="14688"/>
                  </a:cubicBezTo>
                  <a:cubicBezTo>
                    <a:pt x="11684" y="14904"/>
                    <a:pt x="12453" y="14796"/>
                    <a:pt x="12914" y="15552"/>
                  </a:cubicBezTo>
                  <a:cubicBezTo>
                    <a:pt x="14836" y="18900"/>
                    <a:pt x="11761" y="20520"/>
                    <a:pt x="15374" y="17280"/>
                  </a:cubicBezTo>
                  <a:cubicBezTo>
                    <a:pt x="16373" y="17496"/>
                    <a:pt x="21600" y="17928"/>
                    <a:pt x="19063" y="21600"/>
                  </a:cubicBezTo>
                </a:path>
              </a:pathLst>
            </a:custGeom>
            <a:noFill/>
            <a:ln w="28575" cap="flat">
              <a:solidFill>
                <a:srgbClr val="FF2800"/>
              </a:solidFill>
              <a:prstDash val="solid"/>
              <a:round/>
            </a:ln>
            <a:effectLst/>
          </p:spPr>
          <p:txBody>
            <a:bodyPr wrap="square" lIns="0" tIns="0" rIns="0" bIns="0" numCol="1" anchor="ctr">
              <a:noAutofit/>
            </a:bodyPr>
            <a:lstStyle/>
            <a:p>
              <a:pPr lvl="0"/>
              <a:endParaRPr b="0">
                <a:solidFill>
                  <a:schemeClr val="tx1"/>
                </a:solidFill>
                <a:latin typeface="Gill Sans" charset="0"/>
                <a:ea typeface="Gill Sans" charset="0"/>
                <a:cs typeface="Gill Sans" charset="0"/>
              </a:endParaRPr>
            </a:p>
          </p:txBody>
        </p:sp>
      </p:grpSp>
      <p:sp>
        <p:nvSpPr>
          <p:cNvPr id="389" name="Shape 389"/>
          <p:cNvSpPr/>
          <p:nvPr/>
        </p:nvSpPr>
        <p:spPr>
          <a:xfrm>
            <a:off x="6454775" y="787400"/>
            <a:ext cx="2728913" cy="2540000"/>
          </a:xfrm>
          <a:prstGeom prst="rect">
            <a:avLst/>
          </a:prstGeom>
          <a:solidFill>
            <a:srgbClr val="FFFFFF"/>
          </a:solidFill>
          <a:ln w="19050">
            <a:miter lim="400000"/>
          </a:ln>
        </p:spPr>
        <p:txBody>
          <a:bodyPr lIns="0" tIns="0" rIns="0" bIns="0" anchor="ctr"/>
          <a:lstStyle/>
          <a:p>
            <a:pPr lvl="0"/>
            <a:endParaRPr b="0">
              <a:solidFill>
                <a:schemeClr val="tx1"/>
              </a:solidFill>
              <a:latin typeface="Gill Sans" charset="0"/>
              <a:ea typeface="Gill Sans" charset="0"/>
              <a:cs typeface="Gill Sans" charset="0"/>
            </a:endParaRPr>
          </a:p>
        </p:txBody>
      </p:sp>
      <p:sp>
        <p:nvSpPr>
          <p:cNvPr id="390" name="Shape 390"/>
          <p:cNvSpPr/>
          <p:nvPr/>
        </p:nvSpPr>
        <p:spPr>
          <a:xfrm>
            <a:off x="8280400" y="2740025"/>
            <a:ext cx="1165225" cy="744538"/>
          </a:xfrm>
          <a:prstGeom prst="rect">
            <a:avLst/>
          </a:prstGeom>
          <a:solidFill>
            <a:srgbClr val="FFFFFF"/>
          </a:solidFill>
          <a:ln w="19050">
            <a:miter lim="400000"/>
          </a:ln>
        </p:spPr>
        <p:txBody>
          <a:bodyPr lIns="0" tIns="0" rIns="0" bIns="0" anchor="ctr"/>
          <a:lstStyle/>
          <a:p>
            <a:pPr lvl="0"/>
            <a:endParaRPr b="0" dirty="0">
              <a:solidFill>
                <a:schemeClr val="tx1"/>
              </a:solidFill>
              <a:latin typeface="Gill Sans" charset="0"/>
              <a:ea typeface="Gill Sans" charset="0"/>
              <a:cs typeface="Gill Sans" charset="0"/>
            </a:endParaRPr>
          </a:p>
        </p:txBody>
      </p:sp>
      <p:sp>
        <p:nvSpPr>
          <p:cNvPr id="394" name="Shape 394"/>
          <p:cNvSpPr/>
          <p:nvPr/>
        </p:nvSpPr>
        <p:spPr>
          <a:xfrm>
            <a:off x="3134644" y="3099294"/>
            <a:ext cx="5157537" cy="49244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lvl="0">
              <a:spcBef>
                <a:spcPts val="800"/>
              </a:spcBef>
              <a:buClr>
                <a:srgbClr val="000000"/>
              </a:buClr>
              <a:buFont typeface="Helvetica"/>
              <a:defRPr sz="1800">
                <a:uFillTx/>
              </a:defRPr>
            </a:pPr>
            <a:r>
              <a:rPr sz="1400" b="0" dirty="0">
                <a:solidFill>
                  <a:schemeClr val="tx1"/>
                </a:solidFill>
                <a:uFill>
                  <a:solidFill/>
                </a:uFill>
                <a:latin typeface="Gill Sans" charset="0"/>
                <a:ea typeface="Gill Sans" charset="0"/>
                <a:cs typeface="Gill Sans" charset="0"/>
                <a:sym typeface="Helvetica"/>
              </a:rPr>
              <a:t>O</a:t>
            </a:r>
            <a:r>
              <a:rPr lang="en-US" sz="1400" b="0" dirty="0">
                <a:solidFill>
                  <a:schemeClr val="tx1"/>
                </a:solidFill>
                <a:uFill>
                  <a:solidFill/>
                </a:uFill>
                <a:latin typeface="Gill Sans" charset="0"/>
                <a:ea typeface="Gill Sans" charset="0"/>
                <a:cs typeface="Gill Sans" charset="0"/>
                <a:sym typeface="Helvetica"/>
              </a:rPr>
              <a:t>verlap of sp2 carbon, oxygen and nitrogen p orbitals: creates large volume for </a:t>
            </a:r>
            <a:r>
              <a:rPr b="0" dirty="0">
                <a:solidFill>
                  <a:schemeClr val="tx1"/>
                </a:solidFill>
                <a:uFill>
                  <a:solidFill/>
                </a:uFill>
                <a:latin typeface="Gill Sans" charset="0"/>
                <a:ea typeface="Gill Sans" charset="0"/>
                <a:cs typeface="Gill Sans" charset="0"/>
              </a:rPr>
              <a:t>e</a:t>
            </a:r>
            <a:r>
              <a:rPr sz="1400" b="0" dirty="0">
                <a:solidFill>
                  <a:schemeClr val="tx1"/>
                </a:solidFill>
                <a:uFill>
                  <a:solidFill/>
                </a:uFill>
                <a:latin typeface="Gill Sans" charset="0"/>
                <a:ea typeface="Gill Sans" charset="0"/>
                <a:cs typeface="Gill Sans" charset="0"/>
                <a:sym typeface="Helvetica"/>
              </a:rPr>
              <a:t> </a:t>
            </a:r>
            <a:r>
              <a:rPr lang="en-US" sz="1400" b="0" dirty="0">
                <a:solidFill>
                  <a:schemeClr val="tx1"/>
                </a:solidFill>
                <a:uFill>
                  <a:solidFill/>
                </a:uFill>
                <a:latin typeface="Gill Sans" charset="0"/>
                <a:ea typeface="Gill Sans" charset="0"/>
                <a:cs typeface="Gill Sans" charset="0"/>
                <a:sym typeface="Helvetica"/>
              </a:rPr>
              <a:t>cloud (entropy!!)</a:t>
            </a:r>
          </a:p>
        </p:txBody>
      </p:sp>
      <p:sp>
        <p:nvSpPr>
          <p:cNvPr id="395" name="Shape 395"/>
          <p:cNvSpPr/>
          <p:nvPr/>
        </p:nvSpPr>
        <p:spPr>
          <a:xfrm>
            <a:off x="41275" y="4895140"/>
            <a:ext cx="4252312" cy="49244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lvl="0">
              <a:spcBef>
                <a:spcPts val="900"/>
              </a:spcBef>
              <a:buClr>
                <a:srgbClr val="000000"/>
              </a:buClr>
              <a:buFont typeface="Helvetica"/>
              <a:defRPr sz="1800">
                <a:uFillTx/>
              </a:defRPr>
            </a:pPr>
            <a:r>
              <a:rPr sz="1600" b="0" dirty="0">
                <a:solidFill>
                  <a:schemeClr val="tx1"/>
                </a:solidFill>
                <a:uFill>
                  <a:solidFill/>
                </a:uFill>
                <a:latin typeface="Gill Sans" charset="0"/>
                <a:ea typeface="Gill Sans" charset="0"/>
                <a:cs typeface="Gill Sans" charset="0"/>
                <a:sym typeface="Helvetica"/>
              </a:rPr>
              <a:t>A</a:t>
            </a:r>
            <a:r>
              <a:rPr lang="en-US" sz="1600" b="0" dirty="0">
                <a:solidFill>
                  <a:schemeClr val="tx1"/>
                </a:solidFill>
                <a:uFill>
                  <a:solidFill/>
                </a:uFill>
                <a:latin typeface="Gill Sans" charset="0"/>
                <a:ea typeface="Gill Sans" charset="0"/>
                <a:cs typeface="Gill Sans" charset="0"/>
                <a:sym typeface="Helvetica"/>
              </a:rPr>
              <a:t>s an example, how large are energy costs </a:t>
            </a:r>
            <a:r>
              <a:rPr lang="en-US" sz="1600" b="0" dirty="0">
                <a:solidFill>
                  <a:schemeClr val="tx1"/>
                </a:solidFill>
                <a:uFill>
                  <a:solidFill>
                    <a:srgbClr val="E62C9A"/>
                  </a:solidFill>
                </a:uFill>
                <a:latin typeface="Gill Sans" charset="0"/>
                <a:ea typeface="Gill Sans" charset="0"/>
                <a:cs typeface="Gill Sans" charset="0"/>
                <a:sym typeface="Helvetica"/>
              </a:rPr>
              <a:t>beyond ground state</a:t>
            </a:r>
            <a:r>
              <a:rPr lang="en-US" sz="1600" b="0" dirty="0">
                <a:solidFill>
                  <a:schemeClr val="tx1"/>
                </a:solidFill>
                <a:uFill>
                  <a:solidFill/>
                </a:uFill>
                <a:latin typeface="Gill Sans" charset="0"/>
                <a:ea typeface="Gill Sans" charset="0"/>
                <a:cs typeface="Gill Sans" charset="0"/>
                <a:sym typeface="Helvetica"/>
              </a:rPr>
              <a:t> that occur 20% of the time?</a:t>
            </a:r>
            <a:r>
              <a:rPr lang="en-US" sz="1200" b="0" dirty="0">
                <a:solidFill>
                  <a:schemeClr val="tx1"/>
                </a:solidFill>
                <a:uFill>
                  <a:solidFill/>
                </a:uFill>
                <a:latin typeface="Gill Sans" charset="0"/>
                <a:ea typeface="Gill Sans" charset="0"/>
                <a:cs typeface="Gill Sans" charset="0"/>
                <a:sym typeface="Helvetica"/>
              </a:rPr>
              <a:t> </a:t>
            </a:r>
          </a:p>
        </p:txBody>
      </p:sp>
      <p:sp>
        <p:nvSpPr>
          <p:cNvPr id="396" name="Shape 396"/>
          <p:cNvSpPr/>
          <p:nvPr/>
        </p:nvSpPr>
        <p:spPr>
          <a:xfrm>
            <a:off x="2474428" y="3626274"/>
            <a:ext cx="6578600" cy="3077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900"/>
              </a:spcBef>
              <a:buClr>
                <a:srgbClr val="062ACD"/>
              </a:buClr>
              <a:buFont typeface="Helvetica"/>
              <a:defRPr sz="1800">
                <a:uFillTx/>
              </a:defRPr>
            </a:pPr>
            <a:r>
              <a:rPr lang="en-US" sz="1600" b="0" dirty="0">
                <a:solidFill>
                  <a:schemeClr val="tx1"/>
                </a:solidFill>
                <a:uFill>
                  <a:solidFill>
                    <a:srgbClr val="062ACD"/>
                  </a:solidFill>
                </a:uFill>
                <a:latin typeface="Gill Sans" charset="0"/>
                <a:ea typeface="Gill Sans" charset="0"/>
                <a:cs typeface="Gill Sans" charset="0"/>
              </a:rPr>
              <a:t>     </a:t>
            </a:r>
            <a:r>
              <a:rPr lang="en-US" sz="1600" b="0" dirty="0">
                <a:solidFill>
                  <a:schemeClr val="tx1"/>
                </a:solidFill>
                <a:uFill>
                  <a:solidFill>
                    <a:srgbClr val="062ACD"/>
                  </a:solidFill>
                </a:uFill>
                <a:latin typeface="Gill Sans" charset="0"/>
                <a:ea typeface="Gill Sans" charset="0"/>
                <a:cs typeface="Gill Sans" charset="0"/>
                <a:sym typeface="Helvetica"/>
              </a:rPr>
              <a:t>ground state </a:t>
            </a:r>
            <a:r>
              <a:rPr lang="en-US" sz="2000" b="0" dirty="0">
                <a:solidFill>
                  <a:schemeClr val="tx1"/>
                </a:solidFill>
                <a:uFill>
                  <a:solidFill>
                    <a:srgbClr val="062ACD"/>
                  </a:solidFill>
                </a:uFill>
                <a:latin typeface="Gill Sans" charset="0"/>
                <a:ea typeface="Gill Sans" charset="0"/>
                <a:cs typeface="Gill Sans" charset="0"/>
                <a:sym typeface="Symbol"/>
              </a:rPr>
              <a:t>≡</a:t>
            </a:r>
            <a:r>
              <a:rPr lang="en-US" sz="1600" b="0" dirty="0">
                <a:solidFill>
                  <a:schemeClr val="tx1"/>
                </a:solidFill>
                <a:uFill>
                  <a:solidFill>
                    <a:srgbClr val="062ACD"/>
                  </a:solidFill>
                </a:uFill>
                <a:latin typeface="Gill Sans" charset="0"/>
                <a:ea typeface="Gill Sans" charset="0"/>
                <a:cs typeface="Gill Sans" charset="0"/>
                <a:sym typeface="Helvetica"/>
              </a:rPr>
              <a:t> lowest energy state </a:t>
            </a:r>
            <a:r>
              <a:rPr lang="en-US" sz="1600" b="0" dirty="0">
                <a:solidFill>
                  <a:schemeClr val="tx1"/>
                </a:solidFill>
                <a:uFill>
                  <a:solidFill>
                    <a:srgbClr val="062ACD"/>
                  </a:solidFill>
                </a:uFill>
                <a:latin typeface="Gill Sans" charset="0"/>
                <a:ea typeface="Gill Sans" charset="0"/>
                <a:cs typeface="Gill Sans" charset="0"/>
                <a:sym typeface="Symbol"/>
              </a:rPr>
              <a:t>≡ most probable state</a:t>
            </a:r>
            <a:endParaRPr lang="en-US" sz="1600" b="0" dirty="0">
              <a:solidFill>
                <a:schemeClr val="tx1"/>
              </a:solidFill>
              <a:uFill>
                <a:solidFill>
                  <a:srgbClr val="062ACD"/>
                </a:solidFill>
              </a:uFill>
              <a:latin typeface="Gill Sans" charset="0"/>
              <a:ea typeface="Gill Sans" charset="0"/>
              <a:cs typeface="Gill Sans" charset="0"/>
              <a:sym typeface="Helvetica"/>
            </a:endParaRPr>
          </a:p>
        </p:txBody>
      </p:sp>
      <p:grpSp>
        <p:nvGrpSpPr>
          <p:cNvPr id="401" name="Group 401"/>
          <p:cNvGrpSpPr/>
          <p:nvPr/>
        </p:nvGrpSpPr>
        <p:grpSpPr>
          <a:xfrm>
            <a:off x="7033075" y="5170152"/>
            <a:ext cx="2304892" cy="1623356"/>
            <a:chOff x="-228830" y="0"/>
            <a:chExt cx="3721330" cy="2620963"/>
          </a:xfrm>
        </p:grpSpPr>
        <p:grpSp>
          <p:nvGrpSpPr>
            <p:cNvPr id="399" name="Group 399"/>
            <p:cNvGrpSpPr/>
            <p:nvPr/>
          </p:nvGrpSpPr>
          <p:grpSpPr>
            <a:xfrm>
              <a:off x="749300" y="0"/>
              <a:ext cx="2743200" cy="2620963"/>
              <a:chOff x="0" y="0"/>
              <a:chExt cx="2743200" cy="2620962"/>
            </a:xfrm>
          </p:grpSpPr>
          <p:sp>
            <p:nvSpPr>
              <p:cNvPr id="397" name="Shape 397"/>
              <p:cNvSpPr/>
              <p:nvPr/>
            </p:nvSpPr>
            <p:spPr>
              <a:xfrm>
                <a:off x="0" y="30162"/>
                <a:ext cx="2743200" cy="2590801"/>
              </a:xfrm>
              <a:prstGeom prst="rect">
                <a:avLst/>
              </a:prstGeom>
              <a:solidFill>
                <a:srgbClr val="FFFFFF"/>
              </a:solidFill>
              <a:ln w="19050" cap="flat">
                <a:noFill/>
                <a:miter lim="400000"/>
              </a:ln>
              <a:effectLst/>
            </p:spPr>
            <p:txBody>
              <a:bodyPr wrap="square" lIns="0" tIns="0" rIns="0" bIns="0" numCol="1" anchor="ctr">
                <a:noAutofit/>
              </a:bodyPr>
              <a:lstStyle/>
              <a:p>
                <a:pPr lvl="0"/>
                <a:endParaRPr b="0">
                  <a:solidFill>
                    <a:schemeClr val="tx1"/>
                  </a:solidFill>
                  <a:latin typeface="Gill Sans" charset="0"/>
                  <a:ea typeface="Gill Sans" charset="0"/>
                  <a:cs typeface="Gill Sans" charset="0"/>
                </a:endParaRPr>
              </a:p>
            </p:txBody>
          </p:sp>
          <p:pic>
            <p:nvPicPr>
              <p:cNvPr id="398" name="image.jpg"/>
              <p:cNvPicPr/>
              <p:nvPr/>
            </p:nvPicPr>
            <p:blipFill>
              <a:blip r:embed="rId9"/>
              <a:stretch>
                <a:fillRect/>
              </a:stretch>
            </p:blipFill>
            <p:spPr>
              <a:xfrm>
                <a:off x="373062" y="0"/>
                <a:ext cx="2141538" cy="2620963"/>
              </a:xfrm>
              <a:prstGeom prst="rect">
                <a:avLst/>
              </a:prstGeom>
              <a:ln w="12700" cap="flat">
                <a:noFill/>
                <a:miter lim="400000"/>
              </a:ln>
              <a:effectLst/>
            </p:spPr>
          </p:pic>
        </p:grpSp>
        <p:sp>
          <p:nvSpPr>
            <p:cNvPr id="400" name="Shape 400"/>
            <p:cNvSpPr/>
            <p:nvPr/>
          </p:nvSpPr>
          <p:spPr>
            <a:xfrm>
              <a:off x="-228830" y="2215507"/>
              <a:ext cx="2222500" cy="27699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1100"/>
                </a:spcBef>
                <a:buClr>
                  <a:srgbClr val="595959"/>
                </a:buClr>
                <a:buFont typeface="Helvetica"/>
                <a:defRPr sz="1800" b="1">
                  <a:solidFill>
                    <a:srgbClr val="595959"/>
                  </a:solidFill>
                  <a:uFill>
                    <a:solidFill>
                      <a:srgbClr val="595959"/>
                    </a:solidFill>
                  </a:uFill>
                  <a:latin typeface="Helvetica"/>
                  <a:ea typeface="Helvetica"/>
                  <a:cs typeface="Helvetica"/>
                  <a:sym typeface="Helvetica"/>
                </a:defRPr>
              </a:lvl1pPr>
            </a:lstStyle>
            <a:p>
              <a:pPr lvl="0">
                <a:defRPr b="0">
                  <a:solidFill>
                    <a:srgbClr val="000000"/>
                  </a:solidFill>
                  <a:uFillTx/>
                </a:defRPr>
              </a:pPr>
              <a:r>
                <a:rPr b="0" dirty="0">
                  <a:solidFill>
                    <a:schemeClr val="tx1"/>
                  </a:solidFill>
                  <a:uFill>
                    <a:solidFill>
                      <a:srgbClr val="595959"/>
                    </a:solidFill>
                  </a:uFill>
                  <a:latin typeface="Gill Sans" charset="0"/>
                  <a:ea typeface="Gill Sans" charset="0"/>
                  <a:cs typeface="Gill Sans" charset="0"/>
                </a:rPr>
                <a:t>B</a:t>
              </a:r>
              <a:r>
                <a:rPr lang="en-US" b="0" dirty="0">
                  <a:solidFill>
                    <a:schemeClr val="tx1"/>
                  </a:solidFill>
                  <a:uFill>
                    <a:solidFill>
                      <a:srgbClr val="595959"/>
                    </a:solidFill>
                  </a:uFill>
                  <a:latin typeface="Gill Sans" charset="0"/>
                  <a:ea typeface="Gill Sans" charset="0"/>
                  <a:cs typeface="Gill Sans" charset="0"/>
                </a:rPr>
                <a:t>oltzmann</a:t>
              </a:r>
            </a:p>
          </p:txBody>
        </p:sp>
      </p:grpSp>
      <p:grpSp>
        <p:nvGrpSpPr>
          <p:cNvPr id="405" name="Group 405"/>
          <p:cNvGrpSpPr/>
          <p:nvPr/>
        </p:nvGrpSpPr>
        <p:grpSpPr>
          <a:xfrm>
            <a:off x="4240437" y="3975100"/>
            <a:ext cx="4688667" cy="599535"/>
            <a:chOff x="354237" y="0"/>
            <a:chExt cx="4688666" cy="599535"/>
          </a:xfrm>
        </p:grpSpPr>
        <p:sp>
          <p:nvSpPr>
            <p:cNvPr id="402" name="Shape 402"/>
            <p:cNvSpPr/>
            <p:nvPr/>
          </p:nvSpPr>
          <p:spPr>
            <a:xfrm>
              <a:off x="354237" y="76315"/>
              <a:ext cx="3365500" cy="52322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buClr>
                  <a:srgbClr val="000000"/>
                </a:buClr>
                <a:buFont typeface="Helvetica"/>
                <a:defRPr sz="1600" b="1">
                  <a:latin typeface="Helvetica"/>
                  <a:ea typeface="Helvetica"/>
                  <a:cs typeface="Helvetica"/>
                  <a:sym typeface="Helvetica"/>
                </a:defRPr>
              </a:lvl1pPr>
            </a:lstStyle>
            <a:p>
              <a:pPr lvl="0">
                <a:defRPr sz="1800" b="0">
                  <a:uFillTx/>
                </a:defRPr>
              </a:pPr>
              <a:r>
                <a:rPr sz="1600" b="0" dirty="0">
                  <a:solidFill>
                    <a:schemeClr val="tx1"/>
                  </a:solidFill>
                  <a:uFill>
                    <a:solidFill/>
                  </a:uFill>
                  <a:latin typeface="Gill Sans" charset="0"/>
                  <a:ea typeface="Gill Sans" charset="0"/>
                  <a:cs typeface="Gill Sans" charset="0"/>
                </a:rPr>
                <a:t>P</a:t>
              </a:r>
              <a:r>
                <a:rPr lang="en-US" sz="1600" b="0" dirty="0">
                  <a:solidFill>
                    <a:schemeClr val="tx1"/>
                  </a:solidFill>
                  <a:uFill>
                    <a:solidFill/>
                  </a:uFill>
                  <a:latin typeface="Gill Sans" charset="0"/>
                  <a:ea typeface="Gill Sans" charset="0"/>
                  <a:cs typeface="Gill Sans" charset="0"/>
                </a:rPr>
                <a:t>robability of a deviation “costing” energy </a:t>
              </a:r>
              <a:r>
                <a:rPr lang="en-US" sz="1800" dirty="0">
                  <a:solidFill>
                    <a:srgbClr val="1855FF"/>
                  </a:solidFill>
                  <a:uFill>
                    <a:solidFill/>
                  </a:uFill>
                  <a:latin typeface="Gill Sans SemiBold" panose="020B0502020104020203" pitchFamily="34" charset="-79"/>
                  <a:ea typeface="Gill Sans" charset="0"/>
                  <a:cs typeface="Gill Sans SemiBold" panose="020B0502020104020203" pitchFamily="34" charset="-79"/>
                </a:rPr>
                <a:t>x</a:t>
              </a:r>
              <a:r>
                <a:rPr lang="en-US" sz="1600" b="0" dirty="0">
                  <a:solidFill>
                    <a:schemeClr val="tx1"/>
                  </a:solidFill>
                  <a:uFill>
                    <a:solidFill/>
                  </a:uFill>
                  <a:latin typeface="Gill Sans" charset="0"/>
                  <a:ea typeface="Gill Sans" charset="0"/>
                  <a:cs typeface="Gill Sans" charset="0"/>
                </a:rPr>
                <a:t> higher than ground state</a:t>
              </a:r>
            </a:p>
          </p:txBody>
        </p:sp>
        <p:sp>
          <p:nvSpPr>
            <p:cNvPr id="403" name="Shape 403"/>
            <p:cNvSpPr/>
            <p:nvPr/>
          </p:nvSpPr>
          <p:spPr>
            <a:xfrm>
              <a:off x="4151312" y="0"/>
              <a:ext cx="891591" cy="36933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p>
              <a:pPr lvl="0">
                <a:buClr>
                  <a:srgbClr val="DD33C5"/>
                </a:buClr>
                <a:buFont typeface="Helvetica"/>
                <a:defRPr sz="1800">
                  <a:uFillTx/>
                </a:defRPr>
              </a:pPr>
              <a:r>
                <a:rPr sz="2400" b="0" dirty="0">
                  <a:solidFill>
                    <a:schemeClr val="tx1"/>
                  </a:solidFill>
                  <a:uFill>
                    <a:solidFill>
                      <a:srgbClr val="DD33C5"/>
                    </a:solidFill>
                  </a:uFill>
                  <a:latin typeface="Gill Sans" charset="0"/>
                  <a:ea typeface="Gill Sans" charset="0"/>
                  <a:cs typeface="Gill Sans" charset="0"/>
                  <a:sym typeface="Helvetica"/>
                </a:rPr>
                <a:t>-</a:t>
              </a:r>
              <a:r>
                <a:rPr sz="900" b="0" dirty="0">
                  <a:solidFill>
                    <a:schemeClr val="tx1"/>
                  </a:solidFill>
                  <a:uFill>
                    <a:solidFill>
                      <a:srgbClr val="DD33C5"/>
                    </a:solidFill>
                  </a:uFill>
                  <a:latin typeface="Gill Sans" charset="0"/>
                  <a:ea typeface="Gill Sans" charset="0"/>
                  <a:cs typeface="Gill Sans" charset="0"/>
                  <a:sym typeface="Helvetica"/>
                </a:rPr>
                <a:t> </a:t>
              </a:r>
              <a:r>
                <a:rPr sz="2000" b="0" dirty="0">
                  <a:solidFill>
                    <a:schemeClr val="tx1"/>
                  </a:solidFill>
                  <a:uFill>
                    <a:solidFill>
                      <a:srgbClr val="DD33C5"/>
                    </a:solidFill>
                  </a:uFill>
                  <a:latin typeface="Gill Sans" charset="0"/>
                  <a:ea typeface="Gill Sans" charset="0"/>
                  <a:cs typeface="Gill Sans" charset="0"/>
                  <a:sym typeface="Helvetica"/>
                </a:rPr>
                <a:t>(</a:t>
              </a:r>
              <a:r>
                <a:rPr sz="2000" b="0" dirty="0">
                  <a:solidFill>
                    <a:srgbClr val="1855FF"/>
                  </a:solidFill>
                  <a:uFill>
                    <a:solidFill>
                      <a:srgbClr val="DD33C5"/>
                    </a:solidFill>
                  </a:uFill>
                  <a:latin typeface="Gill Sans" charset="0"/>
                  <a:ea typeface="Gill Sans" charset="0"/>
                  <a:cs typeface="Gill Sans" charset="0"/>
                  <a:sym typeface="Helvetica"/>
                </a:rPr>
                <a:t>x</a:t>
              </a:r>
              <a:r>
                <a:rPr sz="2000" b="0" dirty="0">
                  <a:solidFill>
                    <a:schemeClr val="tx1"/>
                  </a:solidFill>
                  <a:uFill>
                    <a:solidFill>
                      <a:srgbClr val="DD33C5"/>
                    </a:solidFill>
                  </a:uFill>
                  <a:latin typeface="Gill Sans" charset="0"/>
                  <a:ea typeface="Gill Sans" charset="0"/>
                  <a:cs typeface="Gill Sans" charset="0"/>
                  <a:sym typeface="Helvetica"/>
                </a:rPr>
                <a:t>)/RT</a:t>
              </a:r>
            </a:p>
          </p:txBody>
        </p:sp>
        <p:sp>
          <p:nvSpPr>
            <p:cNvPr id="404" name="Shape 404"/>
            <p:cNvSpPr/>
            <p:nvPr/>
          </p:nvSpPr>
          <p:spPr>
            <a:xfrm>
              <a:off x="3187700" y="152400"/>
              <a:ext cx="1000595" cy="36933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DD33C5"/>
                </a:buClr>
                <a:buFont typeface="Helvetica"/>
                <a:defRPr b="1">
                  <a:solidFill>
                    <a:srgbClr val="DD33C5"/>
                  </a:solidFill>
                  <a:uFill>
                    <a:solidFill>
                      <a:srgbClr val="DD33C5"/>
                    </a:solidFill>
                  </a:uFill>
                  <a:latin typeface="Helvetica"/>
                  <a:ea typeface="Helvetica"/>
                  <a:cs typeface="Helvetica"/>
                  <a:sym typeface="Helvetica"/>
                </a:defRPr>
              </a:lvl1pPr>
            </a:lstStyle>
            <a:p>
              <a:pPr lvl="0">
                <a:defRPr sz="1800" b="0">
                  <a:solidFill>
                    <a:srgbClr val="000000"/>
                  </a:solidFill>
                  <a:uFillTx/>
                </a:defRPr>
              </a:pPr>
              <a:r>
                <a:rPr sz="2400" b="0" dirty="0">
                  <a:solidFill>
                    <a:schemeClr val="tx1"/>
                  </a:solidFill>
                  <a:uFill>
                    <a:solidFill>
                      <a:srgbClr val="DD33C5"/>
                    </a:solidFill>
                  </a:uFill>
                  <a:latin typeface="Gill Sans" charset="0"/>
                  <a:ea typeface="Gill Sans" charset="0"/>
                  <a:cs typeface="Gill Sans" charset="0"/>
                </a:rPr>
                <a:t>= P = e</a:t>
              </a:r>
            </a:p>
          </p:txBody>
        </p:sp>
      </p:grpSp>
      <p:sp>
        <p:nvSpPr>
          <p:cNvPr id="406" name="Shape 406"/>
          <p:cNvSpPr/>
          <p:nvPr/>
        </p:nvSpPr>
        <p:spPr>
          <a:xfrm>
            <a:off x="48125" y="3969766"/>
            <a:ext cx="3252946" cy="49244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lvl="0">
              <a:spcBef>
                <a:spcPts val="900"/>
              </a:spcBef>
              <a:buClr>
                <a:srgbClr val="000000"/>
              </a:buClr>
              <a:buFont typeface="Helvetica"/>
              <a:defRPr sz="1800">
                <a:uFillTx/>
              </a:defRPr>
            </a:pPr>
            <a:r>
              <a:rPr sz="1600" b="0" dirty="0">
                <a:solidFill>
                  <a:schemeClr val="tx1"/>
                </a:solidFill>
                <a:uFill>
                  <a:solidFill/>
                </a:uFill>
                <a:latin typeface="Gill Sans" charset="0"/>
                <a:ea typeface="Gill Sans" charset="0"/>
                <a:cs typeface="Gill Sans" charset="0"/>
                <a:sym typeface="Helvetica"/>
              </a:rPr>
              <a:t>B</a:t>
            </a:r>
            <a:r>
              <a:rPr lang="en-US" sz="1600" b="0" dirty="0">
                <a:solidFill>
                  <a:schemeClr val="tx1"/>
                </a:solidFill>
                <a:uFill>
                  <a:solidFill/>
                </a:uFill>
                <a:latin typeface="Gill Sans" charset="0"/>
                <a:ea typeface="Gill Sans" charset="0"/>
                <a:cs typeface="Gill Sans" charset="0"/>
                <a:sym typeface="Helvetica"/>
              </a:rPr>
              <a:t>ut do proteins ever show any deviations from ground state?!</a:t>
            </a:r>
          </a:p>
        </p:txBody>
      </p:sp>
      <p:sp>
        <p:nvSpPr>
          <p:cNvPr id="2" name="TextBox 1"/>
          <p:cNvSpPr txBox="1"/>
          <p:nvPr/>
        </p:nvSpPr>
        <p:spPr>
          <a:xfrm>
            <a:off x="6296007" y="5446796"/>
            <a:ext cx="1480343" cy="37959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r>
              <a:rPr lang="en-US" sz="1800" b="0" dirty="0">
                <a:solidFill>
                  <a:schemeClr val="tx1"/>
                </a:solidFill>
                <a:uFill>
                  <a:solidFill>
                    <a:srgbClr val="0E33FF"/>
                  </a:solidFill>
                </a:uFill>
                <a:latin typeface="Gill Sans" charset="0"/>
                <a:ea typeface="Gill Sans" charset="0"/>
                <a:cs typeface="Gill Sans" charset="0"/>
                <a:sym typeface="Helvetica"/>
              </a:rPr>
              <a:t>x = 4kJmol</a:t>
            </a:r>
            <a:r>
              <a:rPr lang="en-US" sz="1800" b="0" baseline="30000" dirty="0">
                <a:solidFill>
                  <a:schemeClr val="tx1"/>
                </a:solidFill>
                <a:uFill>
                  <a:solidFill>
                    <a:srgbClr val="0E33FF"/>
                  </a:solidFill>
                </a:uFill>
                <a:latin typeface="Gill Sans" charset="0"/>
                <a:ea typeface="Gill Sans" charset="0"/>
                <a:cs typeface="Gill Sans" charset="0"/>
                <a:sym typeface="Helvetica"/>
              </a:rPr>
              <a:t>-1</a:t>
            </a:r>
            <a:endParaRPr kumimoji="0" lang="en-US" sz="1800" b="0" u="none" strike="noStrike" cap="none" spc="0" normalizeH="0" baseline="30000" dirty="0">
              <a:ln>
                <a:noFill/>
              </a:ln>
              <a:solidFill>
                <a:schemeClr val="tx1"/>
              </a:solidFill>
              <a:effectLst/>
              <a:uFill>
                <a:solidFill>
                  <a:srgbClr val="000000"/>
                </a:solidFill>
              </a:uFill>
              <a:latin typeface="Gill Sans" charset="0"/>
              <a:ea typeface="Gill Sans" charset="0"/>
              <a:cs typeface="Gill Sans" charset="0"/>
              <a:sym typeface="Times Roman"/>
            </a:endParaRPr>
          </a:p>
        </p:txBody>
      </p:sp>
      <p:sp>
        <p:nvSpPr>
          <p:cNvPr id="52" name="Shape 62"/>
          <p:cNvSpPr/>
          <p:nvPr/>
        </p:nvSpPr>
        <p:spPr>
          <a:xfrm>
            <a:off x="4427620" y="5871411"/>
            <a:ext cx="134755" cy="81634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965" y="0"/>
                  <a:pt x="10800" y="806"/>
                  <a:pt x="10800" y="1800"/>
                </a:cubicBezTo>
                <a:lnTo>
                  <a:pt x="10800" y="9000"/>
                </a:lnTo>
                <a:cubicBezTo>
                  <a:pt x="10800" y="9994"/>
                  <a:pt x="15635" y="10800"/>
                  <a:pt x="21600" y="10800"/>
                </a:cubicBezTo>
                <a:cubicBezTo>
                  <a:pt x="15635" y="10800"/>
                  <a:pt x="10800" y="11606"/>
                  <a:pt x="10800" y="12600"/>
                </a:cubicBezTo>
                <a:lnTo>
                  <a:pt x="10800" y="19800"/>
                </a:lnTo>
                <a:cubicBezTo>
                  <a:pt x="10800" y="20794"/>
                  <a:pt x="5965" y="21600"/>
                  <a:pt x="0" y="21600"/>
                </a:cubicBezTo>
              </a:path>
            </a:pathLst>
          </a:custGeom>
          <a:ln w="19050">
            <a:solidFill/>
            <a:round/>
          </a:ln>
        </p:spPr>
        <p:txBody>
          <a:bodyPr lIns="0" tIns="0" rIns="0" bIns="0" anchor="ctr"/>
          <a:lstStyle/>
          <a:p>
            <a:pPr lvl="0"/>
            <a:endParaRPr b="0">
              <a:solidFill>
                <a:schemeClr val="tx1"/>
              </a:solidFill>
              <a:latin typeface="Gill Sans" charset="0"/>
              <a:ea typeface="Gill Sans" charset="0"/>
              <a:cs typeface="Gill Sans" charset="0"/>
            </a:endParaRPr>
          </a:p>
        </p:txBody>
      </p:sp>
      <p:pic>
        <p:nvPicPr>
          <p:cNvPr id="3" name="Picture 2">
            <a:extLst>
              <a:ext uri="{FF2B5EF4-FFF2-40B4-BE49-F238E27FC236}">
                <a16:creationId xmlns:a16="http://schemas.microsoft.com/office/drawing/2014/main" id="{CE559E7B-2926-EC4E-B246-A8BD5CD711FF}"/>
              </a:ext>
            </a:extLst>
          </p:cNvPr>
          <p:cNvPicPr>
            <a:picLocks noChangeAspect="1"/>
          </p:cNvPicPr>
          <p:nvPr/>
        </p:nvPicPr>
        <p:blipFill>
          <a:blip r:embed="rId10"/>
          <a:stretch>
            <a:fillRect/>
          </a:stretch>
        </p:blipFill>
        <p:spPr>
          <a:xfrm>
            <a:off x="1338501" y="1592029"/>
            <a:ext cx="4165600" cy="1930400"/>
          </a:xfrm>
          <a:prstGeom prst="rect">
            <a:avLst/>
          </a:prstGeom>
        </p:spPr>
      </p:pic>
      <p:grpSp>
        <p:nvGrpSpPr>
          <p:cNvPr id="5" name="Group 4">
            <a:extLst>
              <a:ext uri="{FF2B5EF4-FFF2-40B4-BE49-F238E27FC236}">
                <a16:creationId xmlns:a16="http://schemas.microsoft.com/office/drawing/2014/main" id="{74FD9263-70D1-9B4B-9F31-5557898EE8B2}"/>
              </a:ext>
            </a:extLst>
          </p:cNvPr>
          <p:cNvGrpSpPr/>
          <p:nvPr/>
        </p:nvGrpSpPr>
        <p:grpSpPr>
          <a:xfrm>
            <a:off x="-74186" y="5475406"/>
            <a:ext cx="2639586" cy="338554"/>
            <a:chOff x="-74186" y="5475406"/>
            <a:chExt cx="2639586" cy="338554"/>
          </a:xfrm>
        </p:grpSpPr>
        <p:sp>
          <p:nvSpPr>
            <p:cNvPr id="377" name="Shape 377"/>
            <p:cNvSpPr/>
            <p:nvPr/>
          </p:nvSpPr>
          <p:spPr>
            <a:xfrm>
              <a:off x="571500" y="5500687"/>
              <a:ext cx="1993900" cy="276999"/>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1100"/>
                </a:spcBef>
                <a:buClr>
                  <a:srgbClr val="0E33FF"/>
                </a:buClr>
                <a:buFont typeface="Helvetica"/>
                <a:defRPr sz="1800">
                  <a:uFillTx/>
                </a:defRPr>
              </a:pPr>
              <a:r>
                <a:rPr b="0" dirty="0">
                  <a:solidFill>
                    <a:schemeClr val="tx1"/>
                  </a:solidFill>
                  <a:uFill>
                    <a:solidFill>
                      <a:srgbClr val="0E33FF"/>
                    </a:solidFill>
                  </a:uFill>
                  <a:latin typeface="Gill Sans" charset="0"/>
                  <a:ea typeface="Gill Sans" charset="0"/>
                  <a:cs typeface="Gill Sans" charset="0"/>
                  <a:sym typeface="Helvetica"/>
                </a:rPr>
                <a:t>0.2 = e</a:t>
              </a:r>
              <a:r>
                <a:rPr sz="2400" b="0" baseline="25999" dirty="0">
                  <a:solidFill>
                    <a:schemeClr val="tx1"/>
                  </a:solidFill>
                  <a:uFill>
                    <a:solidFill>
                      <a:srgbClr val="0E33FF"/>
                    </a:solidFill>
                  </a:uFill>
                  <a:latin typeface="Gill Sans" charset="0"/>
                  <a:ea typeface="Gill Sans" charset="0"/>
                  <a:cs typeface="Gill Sans" charset="0"/>
                  <a:sym typeface="Helvetica"/>
                </a:rPr>
                <a:t>-x/</a:t>
              </a:r>
              <a:r>
                <a:rPr sz="2400" b="0" baseline="25999" dirty="0">
                  <a:solidFill>
                    <a:srgbClr val="FF0000"/>
                  </a:solidFill>
                  <a:uFill>
                    <a:solidFill>
                      <a:srgbClr val="0E33FF"/>
                    </a:solidFill>
                  </a:uFill>
                  <a:latin typeface="Gill Sans" charset="0"/>
                  <a:ea typeface="Gill Sans" charset="0"/>
                  <a:cs typeface="Gill Sans" charset="0"/>
                  <a:sym typeface="Helvetica"/>
                </a:rPr>
                <a:t>RT</a:t>
              </a:r>
            </a:p>
          </p:txBody>
        </p:sp>
        <p:sp>
          <p:nvSpPr>
            <p:cNvPr id="4" name="Rectangle 3">
              <a:extLst>
                <a:ext uri="{FF2B5EF4-FFF2-40B4-BE49-F238E27FC236}">
                  <a16:creationId xmlns:a16="http://schemas.microsoft.com/office/drawing/2014/main" id="{7691EB99-3806-3242-A671-D23B6E6AC62D}"/>
                </a:ext>
              </a:extLst>
            </p:cNvPr>
            <p:cNvSpPr/>
            <p:nvPr/>
          </p:nvSpPr>
          <p:spPr>
            <a:xfrm>
              <a:off x="-74186" y="5475406"/>
              <a:ext cx="1210340" cy="338554"/>
            </a:xfrm>
            <a:prstGeom prst="rect">
              <a:avLst/>
            </a:prstGeom>
          </p:spPr>
          <p:txBody>
            <a:bodyPr wrap="square">
              <a:spAutoFit/>
            </a:bodyPr>
            <a:lstStyle/>
            <a:p>
              <a:r>
                <a:rPr lang="en-US" sz="1600" b="0" dirty="0">
                  <a:solidFill>
                    <a:schemeClr val="tx1"/>
                  </a:solidFill>
                  <a:uFill>
                    <a:solidFill>
                      <a:srgbClr val="0E33FF"/>
                    </a:solidFill>
                  </a:uFill>
                  <a:latin typeface="Gill Sans" charset="0"/>
                  <a:ea typeface="Gill Sans" charset="0"/>
                  <a:cs typeface="Gill Sans" charset="0"/>
                </a:rPr>
                <a:t>20% =</a:t>
              </a:r>
              <a:endParaRPr lang="en-US" sz="1600" dirty="0"/>
            </a:p>
          </p:txBody>
        </p:sp>
      </p:grpSp>
      <p:grpSp>
        <p:nvGrpSpPr>
          <p:cNvPr id="7" name="Group 6">
            <a:extLst>
              <a:ext uri="{FF2B5EF4-FFF2-40B4-BE49-F238E27FC236}">
                <a16:creationId xmlns:a16="http://schemas.microsoft.com/office/drawing/2014/main" id="{822FCC00-E3BD-C84E-8BAA-E476A9725965}"/>
              </a:ext>
            </a:extLst>
          </p:cNvPr>
          <p:cNvGrpSpPr/>
          <p:nvPr/>
        </p:nvGrpSpPr>
        <p:grpSpPr>
          <a:xfrm>
            <a:off x="3431538" y="5469993"/>
            <a:ext cx="2854160" cy="348813"/>
            <a:chOff x="3431538" y="5469993"/>
            <a:chExt cx="2854160" cy="348813"/>
          </a:xfrm>
        </p:grpSpPr>
        <p:sp>
          <p:nvSpPr>
            <p:cNvPr id="379" name="Shape 379"/>
            <p:cNvSpPr/>
            <p:nvPr/>
          </p:nvSpPr>
          <p:spPr>
            <a:xfrm>
              <a:off x="4230009" y="5500687"/>
              <a:ext cx="2055689" cy="276999"/>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lvl="0">
                <a:spcBef>
                  <a:spcPts val="1100"/>
                </a:spcBef>
                <a:buClr>
                  <a:srgbClr val="0E33FF"/>
                </a:buClr>
                <a:buFont typeface="Helvetica"/>
                <a:defRPr sz="1800">
                  <a:uFillTx/>
                </a:defRPr>
              </a:pPr>
              <a:r>
                <a:rPr b="0" dirty="0">
                  <a:solidFill>
                    <a:schemeClr val="tx1"/>
                  </a:solidFill>
                  <a:uFill>
                    <a:solidFill>
                      <a:srgbClr val="0E33FF"/>
                    </a:solidFill>
                  </a:uFill>
                  <a:latin typeface="Gill Sans" charset="0"/>
                  <a:ea typeface="Gill Sans" charset="0"/>
                  <a:cs typeface="Gill Sans" charset="0"/>
                  <a:sym typeface="Helvetica"/>
                </a:rPr>
                <a:t>-1.6 = -x/2.57kJmol</a:t>
              </a:r>
              <a:r>
                <a:rPr sz="2000" b="0" baseline="29999" dirty="0">
                  <a:solidFill>
                    <a:schemeClr val="tx1"/>
                  </a:solidFill>
                  <a:uFill>
                    <a:solidFill>
                      <a:srgbClr val="0E33FF"/>
                    </a:solidFill>
                  </a:uFill>
                  <a:latin typeface="Gill Sans" charset="0"/>
                  <a:ea typeface="Gill Sans" charset="0"/>
                  <a:cs typeface="Gill Sans" charset="0"/>
                  <a:sym typeface="Helvetica"/>
                </a:rPr>
                <a:t>-1</a:t>
              </a:r>
              <a:r>
                <a:rPr lang="en-US" sz="2400" b="0" baseline="29999" dirty="0">
                  <a:solidFill>
                    <a:schemeClr val="tx1"/>
                  </a:solidFill>
                  <a:uFill>
                    <a:solidFill>
                      <a:srgbClr val="0E33FF"/>
                    </a:solidFill>
                  </a:uFill>
                  <a:latin typeface="Gill Sans" charset="0"/>
                  <a:ea typeface="Gill Sans" charset="0"/>
                  <a:cs typeface="Gill Sans" charset="0"/>
                  <a:sym typeface="Helvetica"/>
                </a:rPr>
                <a:t> </a:t>
              </a:r>
              <a:endParaRPr sz="2400" b="0" baseline="29999" dirty="0">
                <a:solidFill>
                  <a:schemeClr val="tx1"/>
                </a:solidFill>
                <a:uFill>
                  <a:solidFill>
                    <a:srgbClr val="0E33FF"/>
                  </a:solidFill>
                </a:uFill>
                <a:latin typeface="Gill Sans" charset="0"/>
                <a:ea typeface="Gill Sans" charset="0"/>
                <a:cs typeface="Gill Sans" charset="0"/>
                <a:sym typeface="Helvetica"/>
              </a:endParaRPr>
            </a:p>
          </p:txBody>
        </p:sp>
        <p:sp>
          <p:nvSpPr>
            <p:cNvPr id="6" name="TextBox 5">
              <a:extLst>
                <a:ext uri="{FF2B5EF4-FFF2-40B4-BE49-F238E27FC236}">
                  <a16:creationId xmlns:a16="http://schemas.microsoft.com/office/drawing/2014/main" id="{BEBD025F-8F19-044A-BCAB-4A8ADBB96A13}"/>
                </a:ext>
              </a:extLst>
            </p:cNvPr>
            <p:cNvSpPr txBox="1"/>
            <p:nvPr/>
          </p:nvSpPr>
          <p:spPr>
            <a:xfrm>
              <a:off x="3431538" y="5469993"/>
              <a:ext cx="1825273" cy="3488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600" b="0" u="none" strike="noStrike" cap="none" spc="0" normalizeH="0" baseline="0" dirty="0">
                  <a:ln>
                    <a:noFill/>
                  </a:ln>
                  <a:solidFill>
                    <a:srgbClr val="000000"/>
                  </a:solidFill>
                  <a:effectLst/>
                  <a:uFill>
                    <a:solidFill>
                      <a:srgbClr val="000000"/>
                    </a:solidFill>
                  </a:uFill>
                  <a:latin typeface="Gill Sans" panose="020B0502020104020203" pitchFamily="34" charset="-79"/>
                  <a:cs typeface="Gill Sans" panose="020B0502020104020203" pitchFamily="34" charset="-79"/>
                  <a:sym typeface="Helvetica"/>
                </a:rPr>
                <a:t>ln(0.2) =</a:t>
              </a:r>
            </a:p>
          </p:txBody>
        </p:sp>
      </p:grpSp>
      <p:pic>
        <p:nvPicPr>
          <p:cNvPr id="54" name="Picture 53">
            <a:extLst>
              <a:ext uri="{FF2B5EF4-FFF2-40B4-BE49-F238E27FC236}">
                <a16:creationId xmlns:a16="http://schemas.microsoft.com/office/drawing/2014/main" id="{A47871AB-D02C-F640-8665-BF05C7542A21}"/>
              </a:ext>
            </a:extLst>
          </p:cNvPr>
          <p:cNvPicPr>
            <a:picLocks noChangeAspect="1"/>
          </p:cNvPicPr>
          <p:nvPr/>
        </p:nvPicPr>
        <p:blipFill>
          <a:blip r:embed="rId11"/>
          <a:stretch>
            <a:fillRect/>
          </a:stretch>
        </p:blipFill>
        <p:spPr>
          <a:xfrm>
            <a:off x="5983640" y="362864"/>
            <a:ext cx="3017520" cy="2718857"/>
          </a:xfrm>
          <a:prstGeom prst="rect">
            <a:avLst/>
          </a:prstGeom>
        </p:spPr>
      </p:pic>
      <p:sp>
        <p:nvSpPr>
          <p:cNvPr id="407" name="Shape 407"/>
          <p:cNvSpPr/>
          <p:nvPr/>
        </p:nvSpPr>
        <p:spPr>
          <a:xfrm>
            <a:off x="7410678" y="405411"/>
            <a:ext cx="1897063" cy="461665"/>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900"/>
              </a:spcBef>
              <a:buClr>
                <a:srgbClr val="062ACD"/>
              </a:buClr>
              <a:buFont typeface="Helvetica"/>
              <a:defRPr sz="1500" b="1">
                <a:solidFill>
                  <a:srgbClr val="062ACD"/>
                </a:solidFill>
                <a:uFill>
                  <a:solidFill>
                    <a:srgbClr val="062ACD"/>
                  </a:solidFill>
                </a:uFill>
                <a:latin typeface="Helvetica"/>
                <a:ea typeface="Helvetica"/>
                <a:cs typeface="Helvetica"/>
                <a:sym typeface="Helvetica"/>
              </a:defRPr>
            </a:lvl1pPr>
          </a:lstStyle>
          <a:p>
            <a:pPr lvl="0">
              <a:defRPr sz="1800" b="0">
                <a:solidFill>
                  <a:srgbClr val="000000"/>
                </a:solidFill>
                <a:uFillTx/>
              </a:defRPr>
            </a:pPr>
            <a:r>
              <a:rPr sz="1500" b="0" dirty="0">
                <a:solidFill>
                  <a:schemeClr val="tx1"/>
                </a:solidFill>
                <a:uFill>
                  <a:solidFill>
                    <a:srgbClr val="062ACD"/>
                  </a:solidFill>
                </a:uFill>
                <a:latin typeface="Gill Sans" charset="0"/>
                <a:ea typeface="Gill Sans" charset="0"/>
                <a:cs typeface="Gill Sans" charset="0"/>
              </a:rPr>
              <a:t>S</a:t>
            </a:r>
            <a:r>
              <a:rPr lang="en-US" sz="1500" b="0" dirty="0">
                <a:solidFill>
                  <a:schemeClr val="tx1"/>
                </a:solidFill>
                <a:uFill>
                  <a:solidFill>
                    <a:srgbClr val="062ACD"/>
                  </a:solidFill>
                </a:uFill>
                <a:latin typeface="Gill Sans" charset="0"/>
                <a:ea typeface="Gill Sans" charset="0"/>
                <a:cs typeface="Gill Sans" charset="0"/>
              </a:rPr>
              <a:t>pecific bond angles and lengths result</a:t>
            </a:r>
          </a:p>
        </p:txBody>
      </p:sp>
      <p:sp>
        <p:nvSpPr>
          <p:cNvPr id="8" name="TextBox 7">
            <a:extLst>
              <a:ext uri="{FF2B5EF4-FFF2-40B4-BE49-F238E27FC236}">
                <a16:creationId xmlns:a16="http://schemas.microsoft.com/office/drawing/2014/main" id="{902CF974-8761-7E4B-B693-30E760373FFF}"/>
              </a:ext>
            </a:extLst>
          </p:cNvPr>
          <p:cNvSpPr txBox="1"/>
          <p:nvPr/>
        </p:nvSpPr>
        <p:spPr>
          <a:xfrm>
            <a:off x="5464798" y="4552186"/>
            <a:ext cx="3586238"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ctr"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Boltzmann Distribution</a:t>
            </a:r>
          </a:p>
          <a:p>
            <a:pPr marL="40639" marR="40639" indent="0" algn="ctr" defTabSz="914400" rtl="0" fontAlgn="auto" latinLnBrk="1" hangingPunct="0">
              <a:lnSpc>
                <a:spcPct val="100000"/>
              </a:lnSpc>
              <a:spcBef>
                <a:spcPts val="0"/>
              </a:spcBef>
              <a:spcAft>
                <a:spcPts val="0"/>
              </a:spcAft>
              <a:buClrTx/>
              <a:buSzTx/>
              <a:buFontTx/>
              <a:buNone/>
              <a:tabLst/>
            </a:pPr>
            <a:r>
              <a:rPr lang="en-US" dirty="0">
                <a:solidFill>
                  <a:srgbClr val="FF0000"/>
                </a:solidFill>
                <a:uFill>
                  <a:solidFill>
                    <a:srgbClr val="000000"/>
                  </a:solidFill>
                </a:uFill>
              </a:rPr>
              <a:t>really important equation!!!</a:t>
            </a:r>
            <a:endParaRPr kumimoji="0" lang="en-US" sz="2000" b="1" i="0" u="none" strike="noStrike" cap="none" spc="0" normalizeH="0" baseline="0" dirty="0">
              <a:ln>
                <a:noFill/>
              </a:ln>
              <a:solidFill>
                <a:srgbClr val="FF0000"/>
              </a:solidFill>
              <a:effectLst/>
              <a:uFill>
                <a:solidFill>
                  <a:srgbClr val="000000"/>
                </a:solidFill>
              </a:uFill>
              <a:sym typeface="Helvetica"/>
            </a:endParaRPr>
          </a:p>
        </p:txBody>
      </p:sp>
      <p:sp>
        <p:nvSpPr>
          <p:cNvPr id="9" name="TextBox 8">
            <a:extLst>
              <a:ext uri="{FF2B5EF4-FFF2-40B4-BE49-F238E27FC236}">
                <a16:creationId xmlns:a16="http://schemas.microsoft.com/office/drawing/2014/main" id="{06982DA9-4A56-5C43-81EF-53F1BB5D8530}"/>
              </a:ext>
            </a:extLst>
          </p:cNvPr>
          <p:cNvSpPr txBox="1"/>
          <p:nvPr/>
        </p:nvSpPr>
        <p:spPr>
          <a:xfrm rot="21177529">
            <a:off x="2017068" y="2292387"/>
            <a:ext cx="2165978" cy="3488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FF0000"/>
                </a:solidFill>
                <a:effectLst/>
                <a:uFill>
                  <a:solidFill>
                    <a:srgbClr val="000000"/>
                  </a:solidFill>
                </a:uFill>
                <a:latin typeface="Helvetica"/>
                <a:ea typeface="Helvetica"/>
                <a:cs typeface="Helvetica"/>
                <a:sym typeface="Helvetica"/>
              </a:rPr>
              <a:t>Shared double bond</a:t>
            </a:r>
          </a:p>
        </p:txBody>
      </p:sp>
      <p:sp>
        <p:nvSpPr>
          <p:cNvPr id="11" name="TextBox 10">
            <a:extLst>
              <a:ext uri="{FF2B5EF4-FFF2-40B4-BE49-F238E27FC236}">
                <a16:creationId xmlns:a16="http://schemas.microsoft.com/office/drawing/2014/main" id="{8C6F863C-270B-E342-957F-24F0F7D22A9B}"/>
              </a:ext>
            </a:extLst>
          </p:cNvPr>
          <p:cNvSpPr txBox="1"/>
          <p:nvPr/>
        </p:nvSpPr>
        <p:spPr>
          <a:xfrm>
            <a:off x="4876515" y="2344935"/>
            <a:ext cx="2191626"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6 atoms in plane</a:t>
            </a:r>
          </a:p>
        </p:txBody>
      </p:sp>
      <p:grpSp>
        <p:nvGrpSpPr>
          <p:cNvPr id="14" name="Group 13">
            <a:extLst>
              <a:ext uri="{FF2B5EF4-FFF2-40B4-BE49-F238E27FC236}">
                <a16:creationId xmlns:a16="http://schemas.microsoft.com/office/drawing/2014/main" id="{CB70695C-54B5-F349-8D71-D8A05CCD052C}"/>
              </a:ext>
            </a:extLst>
          </p:cNvPr>
          <p:cNvGrpSpPr/>
          <p:nvPr/>
        </p:nvGrpSpPr>
        <p:grpSpPr>
          <a:xfrm>
            <a:off x="5643296" y="1397925"/>
            <a:ext cx="3407740" cy="667994"/>
            <a:chOff x="5643296" y="1397925"/>
            <a:chExt cx="3407740" cy="667994"/>
          </a:xfrm>
        </p:grpSpPr>
        <p:sp>
          <p:nvSpPr>
            <p:cNvPr id="56" name="TextBox 55">
              <a:extLst>
                <a:ext uri="{FF2B5EF4-FFF2-40B4-BE49-F238E27FC236}">
                  <a16:creationId xmlns:a16="http://schemas.microsoft.com/office/drawing/2014/main" id="{6F3209AB-3D41-3447-8312-FB052BD9FF69}"/>
                </a:ext>
              </a:extLst>
            </p:cNvPr>
            <p:cNvSpPr txBox="1"/>
            <p:nvPr/>
          </p:nvSpPr>
          <p:spPr>
            <a:xfrm>
              <a:off x="8366233" y="1640161"/>
              <a:ext cx="684803" cy="42575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050" b="1" i="0" u="none" strike="noStrike" cap="none" spc="0" normalizeH="0" baseline="0" dirty="0">
                  <a:ln>
                    <a:noFill/>
                  </a:ln>
                  <a:solidFill>
                    <a:srgbClr val="FF0000"/>
                  </a:solidFill>
                  <a:effectLst/>
                  <a:uFill>
                    <a:solidFill>
                      <a:srgbClr val="000000"/>
                    </a:solidFill>
                  </a:uFill>
                  <a:latin typeface="Helvetica"/>
                  <a:ea typeface="Helvetica"/>
                  <a:cs typeface="Helvetica"/>
                  <a:sym typeface="Helvetica"/>
                </a:rPr>
                <a:t>Free </a:t>
              </a:r>
            </a:p>
            <a:p>
              <a:pPr marL="40639" marR="40639" indent="0" algn="l" defTabSz="914400" rtl="0" fontAlgn="auto" latinLnBrk="1" hangingPunct="0">
                <a:lnSpc>
                  <a:spcPct val="100000"/>
                </a:lnSpc>
                <a:spcBef>
                  <a:spcPts val="0"/>
                </a:spcBef>
                <a:spcAft>
                  <a:spcPts val="0"/>
                </a:spcAft>
                <a:buClrTx/>
                <a:buSzTx/>
                <a:buFontTx/>
                <a:buNone/>
                <a:tabLst/>
              </a:pPr>
              <a:r>
                <a:rPr kumimoji="0" lang="en-US" sz="1050" b="1" i="0" u="none" strike="noStrike" cap="none" spc="0" normalizeH="0" baseline="0" dirty="0">
                  <a:ln>
                    <a:noFill/>
                  </a:ln>
                  <a:solidFill>
                    <a:srgbClr val="FF0000"/>
                  </a:solidFill>
                  <a:effectLst/>
                  <a:uFill>
                    <a:solidFill>
                      <a:srgbClr val="000000"/>
                    </a:solidFill>
                  </a:uFill>
                  <a:latin typeface="Helvetica"/>
                  <a:ea typeface="Helvetica"/>
                  <a:cs typeface="Helvetica"/>
                  <a:sym typeface="Helvetica"/>
                </a:rPr>
                <a:t>rotation</a:t>
              </a:r>
            </a:p>
          </p:txBody>
        </p:sp>
        <p:sp>
          <p:nvSpPr>
            <p:cNvPr id="57" name="TextBox 56">
              <a:extLst>
                <a:ext uri="{FF2B5EF4-FFF2-40B4-BE49-F238E27FC236}">
                  <a16:creationId xmlns:a16="http://schemas.microsoft.com/office/drawing/2014/main" id="{0D1E20AC-6B5E-234F-AACB-979211C65BBD}"/>
                </a:ext>
              </a:extLst>
            </p:cNvPr>
            <p:cNvSpPr txBox="1"/>
            <p:nvPr/>
          </p:nvSpPr>
          <p:spPr>
            <a:xfrm>
              <a:off x="5643296" y="1397925"/>
              <a:ext cx="1007007" cy="26417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050" b="1" i="0" u="none" strike="noStrike" cap="none" spc="0" normalizeH="0" baseline="0" dirty="0">
                  <a:ln>
                    <a:noFill/>
                  </a:ln>
                  <a:solidFill>
                    <a:srgbClr val="FF0000"/>
                  </a:solidFill>
                  <a:effectLst/>
                  <a:uFill>
                    <a:solidFill>
                      <a:srgbClr val="000000"/>
                    </a:solidFill>
                  </a:uFill>
                  <a:latin typeface="Helvetica"/>
                  <a:ea typeface="Helvetica"/>
                  <a:cs typeface="Helvetica"/>
                  <a:sym typeface="Helvetica"/>
                </a:rPr>
                <a:t>Free rotation</a:t>
              </a:r>
            </a:p>
          </p:txBody>
        </p:sp>
        <p:sp>
          <p:nvSpPr>
            <p:cNvPr id="12" name="Oval 11">
              <a:extLst>
                <a:ext uri="{FF2B5EF4-FFF2-40B4-BE49-F238E27FC236}">
                  <a16:creationId xmlns:a16="http://schemas.microsoft.com/office/drawing/2014/main" id="{0AEBC7D3-9792-494A-A5E4-75F559D51C6B}"/>
                </a:ext>
              </a:extLst>
            </p:cNvPr>
            <p:cNvSpPr/>
            <p:nvPr/>
          </p:nvSpPr>
          <p:spPr>
            <a:xfrm rot="20619814">
              <a:off x="8347865" y="1641014"/>
              <a:ext cx="54062" cy="192331"/>
            </a:xfrm>
            <a:prstGeom prst="ellipse">
              <a:avLst/>
            </a:prstGeom>
            <a:solidFill>
              <a:srgbClr val="FFFF00"/>
            </a:solidFill>
            <a:ln w="9525" cap="flat">
              <a:solidFill>
                <a:srgbClr val="FF0000"/>
              </a:solid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60" name="Oval 59">
              <a:extLst>
                <a:ext uri="{FF2B5EF4-FFF2-40B4-BE49-F238E27FC236}">
                  <a16:creationId xmlns:a16="http://schemas.microsoft.com/office/drawing/2014/main" id="{7AE6E18F-BBD2-E64F-A91C-779891D7A5CC}"/>
                </a:ext>
              </a:extLst>
            </p:cNvPr>
            <p:cNvSpPr/>
            <p:nvPr/>
          </p:nvSpPr>
          <p:spPr>
            <a:xfrm rot="20619814">
              <a:off x="6601425" y="1662804"/>
              <a:ext cx="50782" cy="203521"/>
            </a:xfrm>
            <a:prstGeom prst="ellipse">
              <a:avLst/>
            </a:prstGeom>
            <a:solidFill>
              <a:srgbClr val="FFFF00"/>
            </a:solidFill>
            <a:ln w="9525" cap="flat">
              <a:solidFill>
                <a:srgbClr val="FF0000"/>
              </a:solid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13" name="TextBox 12">
              <a:extLst>
                <a:ext uri="{FF2B5EF4-FFF2-40B4-BE49-F238E27FC236}">
                  <a16:creationId xmlns:a16="http://schemas.microsoft.com/office/drawing/2014/main" id="{271B3DDA-3AC8-6C4A-9B92-F2C58207397A}"/>
                </a:ext>
              </a:extLst>
            </p:cNvPr>
            <p:cNvSpPr txBox="1"/>
            <p:nvPr/>
          </p:nvSpPr>
          <p:spPr>
            <a:xfrm>
              <a:off x="7300736" y="1505091"/>
              <a:ext cx="356188"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FFFF00"/>
                  </a:solidFill>
                  <a:effectLst/>
                  <a:highlight>
                    <a:srgbClr val="FF0000"/>
                  </a:highlight>
                  <a:uFill>
                    <a:solidFill>
                      <a:srgbClr val="000000"/>
                    </a:solidFill>
                  </a:uFill>
                  <a:latin typeface="Helvetica"/>
                  <a:ea typeface="Helvetica"/>
                  <a:cs typeface="Helvetica"/>
                  <a:sym typeface="Helvetica"/>
                </a:rPr>
                <a:t>X</a:t>
              </a:r>
            </a:p>
          </p:txBody>
        </p:sp>
      </p:grpSp>
    </p:spTree>
    <p:extLst>
      <p:ext uri="{BB962C8B-B14F-4D97-AF65-F5344CB8AC3E}">
        <p14:creationId xmlns:p14="http://schemas.microsoft.com/office/powerpoint/2010/main" val="656944338"/>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40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37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39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40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39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40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p:tmAbs val="0"/>
                                  </p:iterate>
                                  <p:childTnLst>
                                    <p:set>
                                      <p:cBhvr>
                                        <p:cTn id="40" fill="hold"/>
                                        <p:tgtEl>
                                          <p:spTgt spid="40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iterate>
                                    <p:tmAbs val="0"/>
                                  </p:iterate>
                                  <p:childTnLst>
                                    <p:set>
                                      <p:cBhvr>
                                        <p:cTn id="44" fill="hold">
                                          <p:stCondLst>
                                            <p:cond delay="0"/>
                                          </p:stCondLst>
                                        </p:cTn>
                                        <p:tgtEl>
                                          <p:spTgt spid="40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iterate>
                                    <p:tmAbs val="0"/>
                                  </p:iterate>
                                  <p:childTnLst>
                                    <p:set>
                                      <p:cBhvr>
                                        <p:cTn id="56" fill="hold"/>
                                        <p:tgtEl>
                                          <p:spTgt spid="37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iterate>
                                    <p:tmAbs val="0"/>
                                  </p:iterate>
                                  <p:childTnLst>
                                    <p:set>
                                      <p:cBhvr>
                                        <p:cTn id="68" fill="hold"/>
                                        <p:tgtEl>
                                          <p:spTgt spid="37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2"/>
                                        </p:tgtEl>
                                        <p:attrNameLst>
                                          <p:attrName>style.visibility</p:attrName>
                                        </p:attrNameLst>
                                      </p:cBhvr>
                                      <p:to>
                                        <p:strVal val="visible"/>
                                      </p:to>
                                    </p:set>
                                  </p:childTnLst>
                                </p:cTn>
                              </p:par>
                              <p:par>
                                <p:cTn id="71" presetID="1" presetClass="entr" presetSubtype="0" fill="hold" grpId="0" nodeType="withEffect">
                                  <p:stCondLst>
                                    <p:cond delay="0"/>
                                  </p:stCondLst>
                                  <p:iterate>
                                    <p:tmAbs val="0"/>
                                  </p:iterate>
                                  <p:childTnLst>
                                    <p:set>
                                      <p:cBhvr>
                                        <p:cTn id="72" fill="hold"/>
                                        <p:tgtEl>
                                          <p:spTgt spid="3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 grpId="0" animBg="1" advAuto="0"/>
      <p:bldP spid="371" grpId="0" animBg="1" advAuto="0"/>
      <p:bldP spid="378" grpId="0" animBg="1" advAuto="0"/>
      <p:bldP spid="383" grpId="0" animBg="1" advAuto="0"/>
      <p:bldP spid="395" grpId="0" animBg="1" advAuto="0"/>
      <p:bldP spid="396" grpId="0" animBg="1" advAuto="0"/>
      <p:bldP spid="401" grpId="0" advAuto="0"/>
      <p:bldP spid="401" grpId="1" advAuto="0"/>
      <p:bldP spid="405" grpId="0" advAuto="0"/>
      <p:bldP spid="406" grpId="0" animBg="1" advAuto="0"/>
      <p:bldP spid="2" grpId="0"/>
      <p:bldP spid="52" grpId="0" animBg="1"/>
      <p:bldP spid="407" grpId="0" animBg="1" advAuto="0"/>
      <p:bldP spid="8" grpId="0"/>
      <p:bldP spid="9"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 name="Picture 95">
            <a:extLst>
              <a:ext uri="{FF2B5EF4-FFF2-40B4-BE49-F238E27FC236}">
                <a16:creationId xmlns:a16="http://schemas.microsoft.com/office/drawing/2014/main" id="{DB03F31C-CF3A-834C-A2DD-C619232510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62" y="453196"/>
            <a:ext cx="6948406" cy="2171377"/>
          </a:xfrm>
          <a:prstGeom prst="rect">
            <a:avLst/>
          </a:prstGeom>
        </p:spPr>
      </p:pic>
      <p:sp>
        <p:nvSpPr>
          <p:cNvPr id="128" name="Shape 128"/>
          <p:cNvSpPr/>
          <p:nvPr/>
        </p:nvSpPr>
        <p:spPr>
          <a:xfrm>
            <a:off x="219075" y="-52388"/>
            <a:ext cx="8470900" cy="404813"/>
          </a:xfrm>
          <a:prstGeom prst="rect">
            <a:avLst/>
          </a:prstGeom>
          <a:ln w="12700">
            <a:miter lim="400000"/>
          </a:ln>
          <a:extLst>
            <a:ext uri="{C572A759-6A51-4108-AA02-DFA0A04FC94B}">
              <ma14:wrappingTextBoxFlag xmlns="" xmlns:ma14="http://schemas.microsoft.com/office/mac/drawingml/2011/main" val="1"/>
            </a:ext>
          </a:extLst>
        </p:spPr>
        <p:txBody>
          <a:bodyPr lIns="50799" tIns="50799" rIns="50799" bIns="50799" anchor="ctr">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algn="ctr" eaLnBrk="1" hangingPunct="1">
              <a:buClr>
                <a:srgbClr val="000000"/>
              </a:buClr>
              <a:buFont typeface="Helvetica" charset="0"/>
              <a:buNone/>
            </a:pPr>
            <a:r>
              <a:rPr lang="en-US" altLang="en-US" sz="1900" b="0">
                <a:solidFill>
                  <a:srgbClr val="000000"/>
                </a:solidFill>
                <a:latin typeface="Gill Sans" charset="0"/>
                <a:ea typeface="Gill Sans" charset="0"/>
                <a:cs typeface="Gill Sans" charset="0"/>
              </a:rPr>
              <a:t>Peptide bond constraints plus finite size of atoms</a:t>
            </a:r>
          </a:p>
        </p:txBody>
      </p:sp>
      <p:sp>
        <p:nvSpPr>
          <p:cNvPr id="129" name="Shape 129"/>
          <p:cNvSpPr/>
          <p:nvPr/>
        </p:nvSpPr>
        <p:spPr>
          <a:xfrm>
            <a:off x="3674533" y="3635375"/>
            <a:ext cx="5469467" cy="348811"/>
          </a:xfrm>
          <a:prstGeom prst="rect">
            <a:avLst/>
          </a:prstGeom>
          <a:ln w="12700">
            <a:miter lim="400000"/>
          </a:ln>
          <a:extLst>
            <a:ext uri="{C572A759-6A51-4108-AA02-DFA0A04FC94B}">
              <ma14:wrappingTextBoxFlag xmlns="" xmlns:ma14="http://schemas.microsoft.com/office/mac/drawingml/2011/main" val="1"/>
            </a:ext>
          </a:extLst>
        </p:spPr>
        <p:txBody>
          <a:bodyPr wrap="square" lIns="50799" tIns="50799" rIns="50799" bIns="50799">
            <a:spAutoFit/>
          </a:bodyPr>
          <a:lstStyle>
            <a:lvl1pPr defTabSz="912813">
              <a:defRPr sz="2000" b="1">
                <a:solidFill>
                  <a:schemeClr val="tx1"/>
                </a:solidFill>
                <a:latin typeface="Helvetica" charset="0"/>
                <a:ea typeface="Helvetica" charset="0"/>
                <a:cs typeface="Helvetica" charset="0"/>
                <a:sym typeface="Helvetica" charset="0"/>
              </a:defRPr>
            </a:lvl1pPr>
            <a:lvl2pPr defTabSz="912813">
              <a:defRPr sz="2000" b="1">
                <a:solidFill>
                  <a:schemeClr val="tx1"/>
                </a:solidFill>
                <a:latin typeface="Helvetica" charset="0"/>
                <a:ea typeface="Helvetica" charset="0"/>
                <a:cs typeface="Helvetica" charset="0"/>
                <a:sym typeface="Helvetica" charset="0"/>
              </a:defRPr>
            </a:lvl2pPr>
            <a:lvl3pPr defTabSz="912813">
              <a:defRPr sz="2000" b="1">
                <a:solidFill>
                  <a:schemeClr val="tx1"/>
                </a:solidFill>
                <a:latin typeface="Helvetica" charset="0"/>
                <a:ea typeface="Helvetica" charset="0"/>
                <a:cs typeface="Helvetica" charset="0"/>
                <a:sym typeface="Helvetica" charset="0"/>
              </a:defRPr>
            </a:lvl3pPr>
            <a:lvl4pPr defTabSz="912813">
              <a:defRPr sz="2000" b="1">
                <a:solidFill>
                  <a:schemeClr val="tx1"/>
                </a:solidFill>
                <a:latin typeface="Helvetica" charset="0"/>
                <a:ea typeface="Helvetica" charset="0"/>
                <a:cs typeface="Helvetica" charset="0"/>
                <a:sym typeface="Helvetica" charset="0"/>
              </a:defRPr>
            </a:lvl4pPr>
            <a:lvl5pPr defTabSz="912813">
              <a:defRPr sz="2000" b="1">
                <a:solidFill>
                  <a:schemeClr val="tx1"/>
                </a:solidFill>
                <a:latin typeface="Helvetica" charset="0"/>
                <a:ea typeface="Helvetica" charset="0"/>
                <a:cs typeface="Helvetica" charset="0"/>
                <a:sym typeface="Helvetica" charset="0"/>
              </a:defRPr>
            </a:lvl5pPr>
            <a:lvl6pPr marL="4968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638"/>
              </a:spcBef>
              <a:buClr>
                <a:srgbClr val="000000"/>
              </a:buClr>
              <a:buFont typeface="Helvetica" charset="0"/>
              <a:buNone/>
            </a:pPr>
            <a:r>
              <a:rPr lang="en-US" altLang="en-US" sz="1600" b="0" dirty="0">
                <a:solidFill>
                  <a:srgbClr val="000000"/>
                </a:solidFill>
                <a:latin typeface="Gill Sans" charset="0"/>
                <a:ea typeface="Gill Sans" charset="0"/>
                <a:cs typeface="Gill Sans" charset="0"/>
              </a:rPr>
              <a:t> Do notice these single bonds that allow free rotation: </a:t>
            </a:r>
            <a:r>
              <a:rPr lang="en-US" altLang="en-US" sz="1600" b="0" dirty="0" err="1">
                <a:solidFill>
                  <a:srgbClr val="000000"/>
                </a:solidFill>
                <a:latin typeface="Gill Sans" charset="0"/>
                <a:ea typeface="Gill Sans" charset="0"/>
                <a:cs typeface="Gill Sans" charset="0"/>
                <a:sym typeface="Symbol" charset="2"/>
              </a:rPr>
              <a:t>Φ</a:t>
            </a:r>
            <a:r>
              <a:rPr lang="en-US" altLang="en-US" sz="1600" b="0" dirty="0">
                <a:solidFill>
                  <a:srgbClr val="000000"/>
                </a:solidFill>
                <a:latin typeface="Gill Sans" charset="0"/>
                <a:ea typeface="Gill Sans" charset="0"/>
                <a:cs typeface="Gill Sans" charset="0"/>
              </a:rPr>
              <a:t> and </a:t>
            </a:r>
            <a:r>
              <a:rPr lang="en-US" altLang="en-US" sz="1600" b="0" dirty="0" err="1">
                <a:solidFill>
                  <a:srgbClr val="000000"/>
                </a:solidFill>
                <a:latin typeface="Gill Sans" charset="0"/>
                <a:ea typeface="Gill Sans" charset="0"/>
                <a:cs typeface="Gill Sans" charset="0"/>
                <a:sym typeface="Symbol" charset="2"/>
              </a:rPr>
              <a:t>Ψ</a:t>
            </a:r>
            <a:endParaRPr lang="en-US" altLang="en-US" sz="1600" b="0" dirty="0">
              <a:solidFill>
                <a:srgbClr val="000000"/>
              </a:solidFill>
              <a:latin typeface="Gill Sans" charset="0"/>
              <a:ea typeface="Gill Sans" charset="0"/>
              <a:cs typeface="Gill Sans" charset="0"/>
              <a:sym typeface="Symbol" charset="2"/>
            </a:endParaRPr>
          </a:p>
        </p:txBody>
      </p:sp>
      <p:sp>
        <p:nvSpPr>
          <p:cNvPr id="130" name="Shape 130"/>
          <p:cNvSpPr/>
          <p:nvPr/>
        </p:nvSpPr>
        <p:spPr>
          <a:xfrm>
            <a:off x="3734856" y="4217455"/>
            <a:ext cx="4372281" cy="348811"/>
          </a:xfrm>
          <a:prstGeom prst="rect">
            <a:avLst/>
          </a:prstGeom>
          <a:ln w="12700">
            <a:miter lim="400000"/>
          </a:ln>
          <a:extLst>
            <a:ext uri="{C572A759-6A51-4108-AA02-DFA0A04FC94B}">
              <ma14:wrappingTextBoxFlag xmlns="" xmlns:ma14="http://schemas.microsoft.com/office/mac/drawingml/2011/main" val="1"/>
            </a:ext>
          </a:extLst>
        </p:spPr>
        <p:txBody>
          <a:bodyPr wrap="squar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900"/>
              </a:spcBef>
              <a:buClr>
                <a:srgbClr val="000000"/>
              </a:buClr>
              <a:buFont typeface="Helvetica" charset="0"/>
              <a:buNone/>
            </a:pPr>
            <a:r>
              <a:rPr lang="en-US" altLang="en-US" sz="1600" b="0" dirty="0">
                <a:solidFill>
                  <a:srgbClr val="000000"/>
                </a:solidFill>
                <a:latin typeface="Gill Sans" charset="0"/>
                <a:ea typeface="Gill Sans" charset="0"/>
                <a:cs typeface="Gill Sans" charset="0"/>
              </a:rPr>
              <a:t>But what happens during “free rotation”?</a:t>
            </a:r>
          </a:p>
        </p:txBody>
      </p:sp>
      <p:sp>
        <p:nvSpPr>
          <p:cNvPr id="131" name="Shape 131"/>
          <p:cNvSpPr/>
          <p:nvPr/>
        </p:nvSpPr>
        <p:spPr>
          <a:xfrm>
            <a:off x="3734856" y="4793190"/>
            <a:ext cx="3521075" cy="348811"/>
          </a:xfrm>
          <a:prstGeom prst="rect">
            <a:avLst/>
          </a:prstGeom>
          <a:ln w="12700">
            <a:miter lim="400000"/>
          </a:ln>
          <a:extLst>
            <a:ext uri="{C572A759-6A51-4108-AA02-DFA0A04FC94B}">
              <ma14:wrappingTextBoxFlag xmlns="" xmlns:ma14="http://schemas.microsoft.com/office/mac/drawingml/2011/main" val="1"/>
            </a:ext>
          </a:extLst>
        </p:spPr>
        <p:txBody>
          <a:bodyPr wrap="squar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900"/>
              </a:spcBef>
              <a:buClr>
                <a:srgbClr val="000000"/>
              </a:buClr>
              <a:buFont typeface="Helvetica" charset="0"/>
              <a:buNone/>
            </a:pPr>
            <a:r>
              <a:rPr lang="en-US" altLang="en-US" sz="1600" b="0" dirty="0">
                <a:solidFill>
                  <a:srgbClr val="000000"/>
                </a:solidFill>
                <a:latin typeface="Gill Sans" charset="0"/>
                <a:ea typeface="Gill Sans" charset="0"/>
                <a:cs typeface="Gill Sans" charset="0"/>
              </a:rPr>
              <a:t>Entire planes of 6 atoms rotate as units</a:t>
            </a:r>
          </a:p>
        </p:txBody>
      </p:sp>
      <p:sp>
        <p:nvSpPr>
          <p:cNvPr id="132" name="Shape 132"/>
          <p:cNvSpPr/>
          <p:nvPr/>
        </p:nvSpPr>
        <p:spPr>
          <a:xfrm>
            <a:off x="3734856" y="5355159"/>
            <a:ext cx="4765758" cy="595033"/>
          </a:xfrm>
          <a:prstGeom prst="rect">
            <a:avLst/>
          </a:prstGeom>
          <a:ln w="12700">
            <a:miter lim="400000"/>
          </a:ln>
          <a:extLst>
            <a:ext uri="{C572A759-6A51-4108-AA02-DFA0A04FC94B}">
              <ma14:wrappingTextBoxFlag xmlns="" xmlns:ma14="http://schemas.microsoft.com/office/mac/drawingml/2011/main" val="1"/>
            </a:ext>
          </a:extLst>
        </p:spPr>
        <p:txBody>
          <a:bodyPr wrap="square" lIns="50799" tIns="50799" rIns="50799" bIns="50799">
            <a:spAutoFit/>
          </a:bodyPr>
          <a:lstStyle>
            <a:lvl1pPr defTabSz="912813">
              <a:defRPr sz="2000" b="1">
                <a:solidFill>
                  <a:schemeClr val="tx1"/>
                </a:solidFill>
                <a:latin typeface="Helvetica" charset="0"/>
                <a:ea typeface="Helvetica" charset="0"/>
                <a:cs typeface="Helvetica" charset="0"/>
                <a:sym typeface="Helvetica" charset="0"/>
              </a:defRPr>
            </a:lvl1pPr>
            <a:lvl2pPr defTabSz="912813">
              <a:defRPr sz="2000" b="1">
                <a:solidFill>
                  <a:schemeClr val="tx1"/>
                </a:solidFill>
                <a:latin typeface="Helvetica" charset="0"/>
                <a:ea typeface="Helvetica" charset="0"/>
                <a:cs typeface="Helvetica" charset="0"/>
                <a:sym typeface="Helvetica" charset="0"/>
              </a:defRPr>
            </a:lvl2pPr>
            <a:lvl3pPr defTabSz="912813">
              <a:defRPr sz="2000" b="1">
                <a:solidFill>
                  <a:schemeClr val="tx1"/>
                </a:solidFill>
                <a:latin typeface="Helvetica" charset="0"/>
                <a:ea typeface="Helvetica" charset="0"/>
                <a:cs typeface="Helvetica" charset="0"/>
                <a:sym typeface="Helvetica" charset="0"/>
              </a:defRPr>
            </a:lvl3pPr>
            <a:lvl4pPr defTabSz="912813">
              <a:defRPr sz="2000" b="1">
                <a:solidFill>
                  <a:schemeClr val="tx1"/>
                </a:solidFill>
                <a:latin typeface="Helvetica" charset="0"/>
                <a:ea typeface="Helvetica" charset="0"/>
                <a:cs typeface="Helvetica" charset="0"/>
                <a:sym typeface="Helvetica" charset="0"/>
              </a:defRPr>
            </a:lvl4pPr>
            <a:lvl5pPr defTabSz="912813">
              <a:defRPr sz="2000" b="1">
                <a:solidFill>
                  <a:schemeClr val="tx1"/>
                </a:solidFill>
                <a:latin typeface="Helvetica" charset="0"/>
                <a:ea typeface="Helvetica" charset="0"/>
                <a:cs typeface="Helvetica" charset="0"/>
                <a:sym typeface="Helvetica" charset="0"/>
              </a:defRPr>
            </a:lvl5pPr>
            <a:lvl6pPr marL="4968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638"/>
              </a:spcBef>
              <a:buClr>
                <a:srgbClr val="000000"/>
              </a:buClr>
              <a:buFont typeface="Helvetica" charset="0"/>
              <a:buNone/>
            </a:pPr>
            <a:r>
              <a:rPr lang="en-US" altLang="en-US" sz="1600" b="0" dirty="0">
                <a:solidFill>
                  <a:srgbClr val="000000"/>
                </a:solidFill>
                <a:latin typeface="Gill Sans" charset="0"/>
                <a:ea typeface="Gill Sans" charset="0"/>
                <a:cs typeface="Gill Sans" charset="0"/>
              </a:rPr>
              <a:t>Many combinations of </a:t>
            </a:r>
            <a:r>
              <a:rPr lang="en-US" altLang="en-US" sz="1600" b="0" dirty="0" err="1">
                <a:solidFill>
                  <a:srgbClr val="000000"/>
                </a:solidFill>
                <a:latin typeface="Gill Sans" charset="0"/>
                <a:ea typeface="Gill Sans" charset="0"/>
                <a:cs typeface="Gill Sans" charset="0"/>
                <a:sym typeface="Symbol" charset="2"/>
              </a:rPr>
              <a:t>φ</a:t>
            </a:r>
            <a:r>
              <a:rPr lang="en-US" altLang="en-US" sz="1600" b="0" dirty="0">
                <a:solidFill>
                  <a:srgbClr val="000000"/>
                </a:solidFill>
                <a:latin typeface="Gill Sans" charset="0"/>
                <a:ea typeface="Gill Sans" charset="0"/>
                <a:cs typeface="Gill Sans" charset="0"/>
              </a:rPr>
              <a:t> and </a:t>
            </a:r>
            <a:r>
              <a:rPr lang="en-US" altLang="en-US" sz="1600" b="0" dirty="0" err="1">
                <a:solidFill>
                  <a:srgbClr val="000000"/>
                </a:solidFill>
                <a:latin typeface="Gill Sans" charset="0"/>
                <a:ea typeface="Gill Sans" charset="0"/>
                <a:cs typeface="Gill Sans" charset="0"/>
                <a:sym typeface="Symbol" charset="2"/>
              </a:rPr>
              <a:t>ψ</a:t>
            </a:r>
            <a:r>
              <a:rPr lang="en-US" altLang="en-US" sz="1600" b="0" dirty="0">
                <a:solidFill>
                  <a:srgbClr val="000000"/>
                </a:solidFill>
                <a:latin typeface="Gill Sans" charset="0"/>
                <a:ea typeface="Gill Sans" charset="0"/>
                <a:cs typeface="Gill Sans" charset="0"/>
                <a:sym typeface="Symbol" charset="2"/>
              </a:rPr>
              <a:t> </a:t>
            </a:r>
            <a:r>
              <a:rPr lang="en-US" altLang="en-US" sz="1600" b="0" dirty="0">
                <a:solidFill>
                  <a:srgbClr val="000000"/>
                </a:solidFill>
                <a:latin typeface="Gill Sans" charset="0"/>
                <a:ea typeface="Gill Sans" charset="0"/>
                <a:cs typeface="Gill Sans" charset="0"/>
              </a:rPr>
              <a:t>cannot occur because of </a:t>
            </a:r>
            <a:r>
              <a:rPr lang="en-US" altLang="en-US" sz="1600" dirty="0">
                <a:solidFill>
                  <a:srgbClr val="000000"/>
                </a:solidFill>
                <a:latin typeface="Gill Sans" charset="0"/>
                <a:ea typeface="Gill Sans" charset="0"/>
                <a:cs typeface="Gill Sans" charset="0"/>
              </a:rPr>
              <a:t>steric hindrance</a:t>
            </a:r>
            <a:r>
              <a:rPr lang="en-US" altLang="en-US" sz="1600" b="0" dirty="0">
                <a:solidFill>
                  <a:srgbClr val="000000"/>
                </a:solidFill>
                <a:latin typeface="Gill Sans" charset="0"/>
                <a:ea typeface="Gill Sans" charset="0"/>
                <a:cs typeface="Gill Sans" charset="0"/>
              </a:rPr>
              <a:t>!</a:t>
            </a:r>
            <a:r>
              <a:rPr lang="en-US" altLang="en-US" sz="1600" b="0" dirty="0">
                <a:solidFill>
                  <a:srgbClr val="1E31E3"/>
                </a:solidFill>
                <a:latin typeface="Gill Sans" charset="0"/>
                <a:ea typeface="Gill Sans" charset="0"/>
                <a:cs typeface="Gill Sans" charset="0"/>
              </a:rPr>
              <a:t> </a:t>
            </a:r>
          </a:p>
        </p:txBody>
      </p:sp>
      <p:sp>
        <p:nvSpPr>
          <p:cNvPr id="133" name="Shape 133"/>
          <p:cNvSpPr/>
          <p:nvPr/>
        </p:nvSpPr>
        <p:spPr>
          <a:xfrm>
            <a:off x="4454525" y="6112716"/>
            <a:ext cx="3521075" cy="595033"/>
          </a:xfrm>
          <a:prstGeom prst="rect">
            <a:avLst/>
          </a:prstGeom>
          <a:ln w="12700">
            <a:solidFill>
              <a:srgbClr val="0737F8"/>
            </a:solidFill>
            <a:miter lim="400000"/>
          </a:ln>
          <a:extLst>
            <a:ext uri="{C572A759-6A51-4108-AA02-DFA0A04FC94B}">
              <ma14:wrappingTextBoxFlag xmlns="" xmlns:ma14="http://schemas.microsoft.com/office/mac/drawingml/2011/main" val="1"/>
            </a:ext>
          </a:extLst>
        </p:spPr>
        <p:txBody>
          <a:bodyPr wrap="squar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buClr>
                <a:srgbClr val="000000"/>
              </a:buClr>
              <a:buFont typeface="Helvetica" charset="0"/>
              <a:buNone/>
            </a:pPr>
            <a:r>
              <a:rPr lang="en-US" altLang="en-US" sz="1600" b="0" dirty="0">
                <a:solidFill>
                  <a:srgbClr val="0541E0"/>
                </a:solidFill>
                <a:latin typeface="Gill Sans" charset="0"/>
                <a:ea typeface="Gill Sans" charset="0"/>
                <a:cs typeface="Gill Sans" charset="0"/>
              </a:rPr>
              <a:t>See the movie on our Canvas site:                     “Steric hindrance of a polypeptide”</a:t>
            </a:r>
          </a:p>
        </p:txBody>
      </p:sp>
      <p:pic>
        <p:nvPicPr>
          <p:cNvPr id="77831" name="image.png"/>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3611563"/>
            <a:ext cx="3505200" cy="324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35" name="Shape 135"/>
          <p:cNvSpPr/>
          <p:nvPr/>
        </p:nvSpPr>
        <p:spPr>
          <a:xfrm>
            <a:off x="2197100" y="5880100"/>
            <a:ext cx="317500" cy="341313"/>
          </a:xfrm>
          <a:prstGeom prst="rect">
            <a:avLst/>
          </a:prstGeom>
          <a:ln w="12700">
            <a:miter lim="400000"/>
          </a:ln>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100"/>
              </a:spcBef>
              <a:buClr>
                <a:srgbClr val="FFFFFF"/>
              </a:buClr>
              <a:buFont typeface="Symbol" charset="2"/>
              <a:buNone/>
            </a:pPr>
            <a:r>
              <a:rPr lang="en-US" altLang="en-US" sz="1500" b="0">
                <a:solidFill>
                  <a:srgbClr val="FFFFFF"/>
                </a:solidFill>
                <a:latin typeface="Gill Sans" charset="0"/>
                <a:ea typeface="Gill Sans" charset="0"/>
                <a:cs typeface="Gill Sans" charset="0"/>
                <a:sym typeface="Symbol" charset="2"/>
              </a:rPr>
              <a:t>α</a:t>
            </a:r>
          </a:p>
        </p:txBody>
      </p:sp>
      <p:sp>
        <p:nvSpPr>
          <p:cNvPr id="136" name="Shape 136"/>
          <p:cNvSpPr/>
          <p:nvPr/>
        </p:nvSpPr>
        <p:spPr>
          <a:xfrm>
            <a:off x="2743200" y="3683000"/>
            <a:ext cx="336550" cy="341313"/>
          </a:xfrm>
          <a:prstGeom prst="rect">
            <a:avLst/>
          </a:prstGeom>
          <a:ln w="12700">
            <a:miter lim="400000"/>
          </a:ln>
          <a:extLst>
            <a:ext uri="{C572A759-6A51-4108-AA02-DFA0A04FC94B}">
              <ma14:wrappingTextBoxFlag xmlns="" xmlns:ma14="http://schemas.microsoft.com/office/mac/drawingml/2011/main" val="1"/>
            </a:ext>
          </a:extLst>
        </p:spPr>
        <p:txBody>
          <a:bodyPr wrap="non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100"/>
              </a:spcBef>
              <a:buClr>
                <a:srgbClr val="FFFFFF"/>
              </a:buClr>
              <a:buFont typeface="Symbol" charset="2"/>
              <a:buNone/>
            </a:pPr>
            <a:r>
              <a:rPr lang="en-US" altLang="en-US" sz="1500" b="0" dirty="0">
                <a:solidFill>
                  <a:srgbClr val="FFFFFF"/>
                </a:solidFill>
                <a:latin typeface="Gill Sans" charset="0"/>
                <a:ea typeface="Gill Sans" charset="0"/>
                <a:cs typeface="Gill Sans" charset="0"/>
                <a:sym typeface="Symbol" charset="2"/>
              </a:rPr>
              <a:t>α</a:t>
            </a:r>
          </a:p>
        </p:txBody>
      </p:sp>
      <p:sp>
        <p:nvSpPr>
          <p:cNvPr id="137" name="Shape 137"/>
          <p:cNvSpPr/>
          <p:nvPr/>
        </p:nvSpPr>
        <p:spPr>
          <a:xfrm>
            <a:off x="292100" y="5803900"/>
            <a:ext cx="336550" cy="341313"/>
          </a:xfrm>
          <a:prstGeom prst="rect">
            <a:avLst/>
          </a:prstGeom>
          <a:ln w="12700">
            <a:miter lim="400000"/>
          </a:ln>
          <a:extLst>
            <a:ext uri="{C572A759-6A51-4108-AA02-DFA0A04FC94B}">
              <ma14:wrappingTextBoxFlag xmlns="" xmlns:ma14="http://schemas.microsoft.com/office/mac/drawingml/2011/main" val="1"/>
            </a:ext>
          </a:extLst>
        </p:spPr>
        <p:txBody>
          <a:bodyPr wrap="non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100"/>
              </a:spcBef>
              <a:buClr>
                <a:srgbClr val="FFFFFF"/>
              </a:buClr>
              <a:buFont typeface="Symbol" charset="2"/>
              <a:buNone/>
            </a:pPr>
            <a:r>
              <a:rPr lang="en-US" altLang="en-US" sz="1500" b="0">
                <a:solidFill>
                  <a:srgbClr val="FFFFFF"/>
                </a:solidFill>
                <a:latin typeface="Gill Sans" charset="0"/>
                <a:ea typeface="Gill Sans" charset="0"/>
                <a:cs typeface="Gill Sans" charset="0"/>
                <a:sym typeface="Symbol" charset="2"/>
              </a:rPr>
              <a:t>α</a:t>
            </a:r>
          </a:p>
        </p:txBody>
      </p:sp>
      <p:sp>
        <p:nvSpPr>
          <p:cNvPr id="138" name="Shape 138"/>
          <p:cNvSpPr/>
          <p:nvPr/>
        </p:nvSpPr>
        <p:spPr>
          <a:xfrm>
            <a:off x="1778000" y="6032500"/>
            <a:ext cx="546100" cy="341313"/>
          </a:xfrm>
          <a:prstGeom prst="rect">
            <a:avLst/>
          </a:prstGeom>
          <a:ln w="12700">
            <a:miter lim="400000"/>
          </a:ln>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300"/>
              </a:spcBef>
              <a:buClr>
                <a:srgbClr val="000000"/>
              </a:buClr>
              <a:buFont typeface="Helvetica" charset="0"/>
              <a:buNone/>
            </a:pPr>
            <a:r>
              <a:rPr lang="en-US" altLang="en-US" sz="1500" b="0">
                <a:solidFill>
                  <a:srgbClr val="000000"/>
                </a:solidFill>
                <a:latin typeface="Gill Sans" charset="0"/>
                <a:ea typeface="Gill Sans" charset="0"/>
                <a:cs typeface="Gill Sans" charset="0"/>
              </a:rPr>
              <a:t>N</a:t>
            </a:r>
          </a:p>
        </p:txBody>
      </p:sp>
      <p:sp>
        <p:nvSpPr>
          <p:cNvPr id="139" name="Shape 139"/>
          <p:cNvSpPr/>
          <p:nvPr/>
        </p:nvSpPr>
        <p:spPr>
          <a:xfrm>
            <a:off x="2451100" y="4457700"/>
            <a:ext cx="622300" cy="341313"/>
          </a:xfrm>
          <a:prstGeom prst="rect">
            <a:avLst/>
          </a:prstGeom>
          <a:ln w="12700">
            <a:miter lim="400000"/>
          </a:ln>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300"/>
              </a:spcBef>
              <a:buClr>
                <a:srgbClr val="000000"/>
              </a:buClr>
              <a:buFont typeface="Helvetica" charset="0"/>
              <a:buNone/>
            </a:pPr>
            <a:r>
              <a:rPr lang="en-US" altLang="en-US" sz="1500" b="0" dirty="0">
                <a:solidFill>
                  <a:srgbClr val="000000"/>
                </a:solidFill>
                <a:latin typeface="Gill Sans" charset="0"/>
                <a:ea typeface="Gill Sans" charset="0"/>
                <a:cs typeface="Gill Sans" charset="0"/>
              </a:rPr>
              <a:t>N</a:t>
            </a:r>
          </a:p>
        </p:txBody>
      </p:sp>
      <p:sp>
        <p:nvSpPr>
          <p:cNvPr id="140" name="Shape 140"/>
          <p:cNvSpPr/>
          <p:nvPr/>
        </p:nvSpPr>
        <p:spPr>
          <a:xfrm>
            <a:off x="762000" y="5092700"/>
            <a:ext cx="546100" cy="341313"/>
          </a:xfrm>
          <a:prstGeom prst="rect">
            <a:avLst/>
          </a:prstGeom>
          <a:ln w="12700">
            <a:miter lim="400000"/>
          </a:ln>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300"/>
              </a:spcBef>
              <a:buClr>
                <a:srgbClr val="FFFFFF"/>
              </a:buClr>
              <a:buFont typeface="Helvetica" charset="0"/>
              <a:buNone/>
            </a:pPr>
            <a:r>
              <a:rPr lang="en-US" altLang="en-US" sz="1500" b="0">
                <a:solidFill>
                  <a:srgbClr val="FFFFFF"/>
                </a:solidFill>
                <a:latin typeface="Gill Sans" charset="0"/>
                <a:ea typeface="Gill Sans" charset="0"/>
                <a:cs typeface="Gill Sans" charset="0"/>
              </a:rPr>
              <a:t>O</a:t>
            </a:r>
          </a:p>
        </p:txBody>
      </p:sp>
      <p:sp>
        <p:nvSpPr>
          <p:cNvPr id="141" name="Shape 141"/>
          <p:cNvSpPr/>
          <p:nvPr/>
        </p:nvSpPr>
        <p:spPr>
          <a:xfrm>
            <a:off x="3098800" y="4864100"/>
            <a:ext cx="546100" cy="341313"/>
          </a:xfrm>
          <a:prstGeom prst="rect">
            <a:avLst/>
          </a:prstGeom>
          <a:ln w="12700">
            <a:miter lim="400000"/>
          </a:ln>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300"/>
              </a:spcBef>
              <a:buClr>
                <a:srgbClr val="FFFFFF"/>
              </a:buClr>
              <a:buFont typeface="Helvetica" charset="0"/>
              <a:buNone/>
            </a:pPr>
            <a:r>
              <a:rPr lang="en-US" altLang="en-US" sz="1500" b="0">
                <a:solidFill>
                  <a:srgbClr val="FFFFFF"/>
                </a:solidFill>
                <a:latin typeface="Gill Sans" charset="0"/>
                <a:ea typeface="Gill Sans" charset="0"/>
                <a:cs typeface="Gill Sans" charset="0"/>
              </a:rPr>
              <a:t>O</a:t>
            </a:r>
          </a:p>
        </p:txBody>
      </p:sp>
      <p:sp>
        <p:nvSpPr>
          <p:cNvPr id="142" name="Shape 142"/>
          <p:cNvSpPr/>
          <p:nvPr/>
        </p:nvSpPr>
        <p:spPr>
          <a:xfrm>
            <a:off x="1955800" y="4572000"/>
            <a:ext cx="469900" cy="341313"/>
          </a:xfrm>
          <a:prstGeom prst="rect">
            <a:avLst/>
          </a:prstGeom>
          <a:ln w="12700">
            <a:miter lim="400000"/>
          </a:ln>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300"/>
              </a:spcBef>
              <a:buClr>
                <a:srgbClr val="000000"/>
              </a:buClr>
              <a:buFont typeface="Helvetica" charset="0"/>
              <a:buNone/>
            </a:pPr>
            <a:r>
              <a:rPr lang="en-US" altLang="en-US" sz="1500" b="0">
                <a:solidFill>
                  <a:srgbClr val="000000"/>
                </a:solidFill>
                <a:latin typeface="Gill Sans" charset="0"/>
                <a:ea typeface="Gill Sans" charset="0"/>
                <a:cs typeface="Gill Sans" charset="0"/>
              </a:rPr>
              <a:t>H</a:t>
            </a:r>
          </a:p>
        </p:txBody>
      </p:sp>
      <p:sp>
        <p:nvSpPr>
          <p:cNvPr id="143" name="Shape 143"/>
          <p:cNvSpPr/>
          <p:nvPr/>
        </p:nvSpPr>
        <p:spPr>
          <a:xfrm>
            <a:off x="1917700" y="6521450"/>
            <a:ext cx="546100" cy="341313"/>
          </a:xfrm>
          <a:prstGeom prst="rect">
            <a:avLst/>
          </a:prstGeom>
          <a:ln w="12700">
            <a:miter lim="400000"/>
          </a:ln>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300"/>
              </a:spcBef>
              <a:buClr>
                <a:srgbClr val="000000"/>
              </a:buClr>
              <a:buFont typeface="Helvetica" charset="0"/>
              <a:buNone/>
            </a:pPr>
            <a:r>
              <a:rPr lang="en-US" altLang="en-US" sz="1500" b="0">
                <a:solidFill>
                  <a:srgbClr val="000000"/>
                </a:solidFill>
                <a:latin typeface="Gill Sans" charset="0"/>
                <a:ea typeface="Gill Sans" charset="0"/>
                <a:cs typeface="Gill Sans" charset="0"/>
              </a:rPr>
              <a:t>H</a:t>
            </a:r>
          </a:p>
        </p:txBody>
      </p:sp>
      <p:sp>
        <p:nvSpPr>
          <p:cNvPr id="144" name="Shape 144"/>
          <p:cNvSpPr/>
          <p:nvPr/>
        </p:nvSpPr>
        <p:spPr>
          <a:xfrm>
            <a:off x="2679700" y="6311900"/>
            <a:ext cx="622300" cy="341313"/>
          </a:xfrm>
          <a:prstGeom prst="rect">
            <a:avLst/>
          </a:prstGeom>
          <a:ln w="12700">
            <a:miter lim="400000"/>
          </a:ln>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300"/>
              </a:spcBef>
              <a:buClr>
                <a:srgbClr val="000000"/>
              </a:buClr>
              <a:buFont typeface="Helvetica" charset="0"/>
              <a:buNone/>
            </a:pPr>
            <a:r>
              <a:rPr lang="en-US" altLang="en-US" sz="1500" b="0">
                <a:solidFill>
                  <a:srgbClr val="000000"/>
                </a:solidFill>
                <a:latin typeface="Gill Sans" charset="0"/>
                <a:ea typeface="Gill Sans" charset="0"/>
                <a:cs typeface="Gill Sans" charset="0"/>
              </a:rPr>
              <a:t>R</a:t>
            </a:r>
          </a:p>
        </p:txBody>
      </p:sp>
      <p:grpSp>
        <p:nvGrpSpPr>
          <p:cNvPr id="77842" name="Group 157"/>
          <p:cNvGrpSpPr>
            <a:grpSpLocks/>
          </p:cNvGrpSpPr>
          <p:nvPr/>
        </p:nvGrpSpPr>
        <p:grpSpPr bwMode="auto">
          <a:xfrm>
            <a:off x="190500" y="3657600"/>
            <a:ext cx="3632200" cy="3205163"/>
            <a:chOff x="0" y="0"/>
            <a:chExt cx="5165796" cy="4557538"/>
          </a:xfrm>
        </p:grpSpPr>
        <p:sp>
          <p:nvSpPr>
            <p:cNvPr id="145" name="Shape 145"/>
            <p:cNvSpPr/>
            <p:nvPr/>
          </p:nvSpPr>
          <p:spPr>
            <a:xfrm>
              <a:off x="3197014" y="3142195"/>
              <a:ext cx="559929" cy="4853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300"/>
                </a:spcBef>
                <a:buClr>
                  <a:srgbClr val="000000"/>
                </a:buClr>
                <a:buFont typeface="Helvetica" charset="0"/>
                <a:buNone/>
              </a:pPr>
              <a:r>
                <a:rPr lang="en-US" altLang="en-US" sz="1500" b="0">
                  <a:solidFill>
                    <a:srgbClr val="000000"/>
                  </a:solidFill>
                  <a:latin typeface="Gill Sans" charset="0"/>
                  <a:ea typeface="Gill Sans" charset="0"/>
                  <a:cs typeface="Gill Sans" charset="0"/>
                </a:rPr>
                <a:t>i</a:t>
              </a:r>
            </a:p>
          </p:txBody>
        </p:sp>
        <p:sp>
          <p:nvSpPr>
            <p:cNvPr id="146" name="Shape 146"/>
            <p:cNvSpPr/>
            <p:nvPr/>
          </p:nvSpPr>
          <p:spPr>
            <a:xfrm>
              <a:off x="2591929" y="3494338"/>
              <a:ext cx="372534" cy="4853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300"/>
                </a:spcBef>
                <a:buClr>
                  <a:srgbClr val="000000"/>
                </a:buClr>
                <a:buFont typeface="Helvetica" charset="0"/>
                <a:buNone/>
              </a:pPr>
              <a:r>
                <a:rPr lang="en-US" altLang="en-US" sz="1500" b="0">
                  <a:solidFill>
                    <a:srgbClr val="000000"/>
                  </a:solidFill>
                  <a:latin typeface="Gill Sans" charset="0"/>
                  <a:ea typeface="Gill Sans" charset="0"/>
                  <a:cs typeface="Gill Sans" charset="0"/>
                </a:rPr>
                <a:t>i</a:t>
              </a:r>
            </a:p>
          </p:txBody>
        </p:sp>
        <p:sp>
          <p:nvSpPr>
            <p:cNvPr id="147" name="Shape 147"/>
            <p:cNvSpPr/>
            <p:nvPr/>
          </p:nvSpPr>
          <p:spPr>
            <a:xfrm>
              <a:off x="2763520" y="4072213"/>
              <a:ext cx="372534" cy="4853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300"/>
                </a:spcBef>
                <a:buClr>
                  <a:srgbClr val="000000"/>
                </a:buClr>
                <a:buFont typeface="Helvetica" charset="0"/>
                <a:buNone/>
              </a:pPr>
              <a:r>
                <a:rPr lang="en-US" altLang="en-US" sz="1500" b="0">
                  <a:solidFill>
                    <a:srgbClr val="000000"/>
                  </a:solidFill>
                  <a:latin typeface="Gill Sans" charset="0"/>
                  <a:ea typeface="Gill Sans" charset="0"/>
                  <a:cs typeface="Gill Sans" charset="0"/>
                </a:rPr>
                <a:t>i</a:t>
              </a:r>
            </a:p>
          </p:txBody>
        </p:sp>
        <p:sp>
          <p:nvSpPr>
            <p:cNvPr id="148" name="Shape 148"/>
            <p:cNvSpPr/>
            <p:nvPr/>
          </p:nvSpPr>
          <p:spPr>
            <a:xfrm>
              <a:off x="3901440" y="3810363"/>
              <a:ext cx="372534" cy="4853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300"/>
                </a:spcBef>
                <a:buClr>
                  <a:srgbClr val="000000"/>
                </a:buClr>
                <a:buFont typeface="Helvetica" charset="0"/>
                <a:buNone/>
              </a:pPr>
              <a:r>
                <a:rPr lang="en-US" altLang="en-US" sz="1500" b="0">
                  <a:solidFill>
                    <a:srgbClr val="000000"/>
                  </a:solidFill>
                  <a:latin typeface="Gill Sans" charset="0"/>
                  <a:ea typeface="Gill Sans" charset="0"/>
                  <a:cs typeface="Gill Sans" charset="0"/>
                </a:rPr>
                <a:t>i</a:t>
              </a:r>
            </a:p>
          </p:txBody>
        </p:sp>
        <p:sp>
          <p:nvSpPr>
            <p:cNvPr id="149" name="Shape 149"/>
            <p:cNvSpPr/>
            <p:nvPr/>
          </p:nvSpPr>
          <p:spPr>
            <a:xfrm>
              <a:off x="1011485" y="3106078"/>
              <a:ext cx="885049" cy="4853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300"/>
                </a:spcBef>
                <a:buClr>
                  <a:srgbClr val="000000"/>
                </a:buClr>
                <a:buFont typeface="Helvetica" charset="0"/>
                <a:buNone/>
              </a:pPr>
              <a:r>
                <a:rPr lang="en-US" altLang="en-US" sz="1500" b="0">
                  <a:solidFill>
                    <a:srgbClr val="000000"/>
                  </a:solidFill>
                  <a:latin typeface="Gill Sans" charset="0"/>
                  <a:ea typeface="Gill Sans" charset="0"/>
                  <a:cs typeface="Gill Sans" charset="0"/>
                </a:rPr>
                <a:t>i - 1</a:t>
              </a:r>
            </a:p>
          </p:txBody>
        </p:sp>
        <p:sp>
          <p:nvSpPr>
            <p:cNvPr id="150" name="Shape 150"/>
            <p:cNvSpPr/>
            <p:nvPr/>
          </p:nvSpPr>
          <p:spPr>
            <a:xfrm>
              <a:off x="1160498" y="2031592"/>
              <a:ext cx="760872" cy="4853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buClr>
                  <a:srgbClr val="000000"/>
                </a:buClr>
                <a:buFont typeface="Helvetica" charset="0"/>
                <a:buNone/>
              </a:pPr>
              <a:r>
                <a:rPr lang="en-US" altLang="en-US" sz="1500" b="0">
                  <a:solidFill>
                    <a:srgbClr val="000000"/>
                  </a:solidFill>
                  <a:latin typeface="Gill Sans" charset="0"/>
                  <a:ea typeface="Gill Sans" charset="0"/>
                  <a:cs typeface="Gill Sans" charset="0"/>
                </a:rPr>
                <a:t>i - 1</a:t>
              </a:r>
            </a:p>
          </p:txBody>
        </p:sp>
        <p:sp>
          <p:nvSpPr>
            <p:cNvPr id="151" name="Shape 151"/>
            <p:cNvSpPr/>
            <p:nvPr/>
          </p:nvSpPr>
          <p:spPr>
            <a:xfrm>
              <a:off x="0" y="3404045"/>
              <a:ext cx="760872" cy="4853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buClr>
                  <a:srgbClr val="000000"/>
                </a:buClr>
                <a:buFont typeface="Helvetica" charset="0"/>
                <a:buNone/>
              </a:pPr>
              <a:r>
                <a:rPr lang="en-US" altLang="en-US" sz="1500" b="0">
                  <a:solidFill>
                    <a:srgbClr val="000000"/>
                  </a:solidFill>
                  <a:latin typeface="Gill Sans" charset="0"/>
                  <a:ea typeface="Gill Sans" charset="0"/>
                  <a:cs typeface="Gill Sans" charset="0"/>
                </a:rPr>
                <a:t>i - 1</a:t>
              </a:r>
            </a:p>
          </p:txBody>
        </p:sp>
        <p:sp>
          <p:nvSpPr>
            <p:cNvPr id="152" name="Shape 152"/>
            <p:cNvSpPr/>
            <p:nvPr/>
          </p:nvSpPr>
          <p:spPr>
            <a:xfrm>
              <a:off x="4064000" y="2058680"/>
              <a:ext cx="1101796" cy="4853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300"/>
                </a:spcBef>
                <a:buClr>
                  <a:srgbClr val="000000"/>
                </a:buClr>
                <a:buFont typeface="Helvetica" charset="0"/>
                <a:buNone/>
              </a:pPr>
              <a:r>
                <a:rPr lang="en-US" altLang="en-US" sz="1500" b="0">
                  <a:solidFill>
                    <a:srgbClr val="000000"/>
                  </a:solidFill>
                  <a:latin typeface="Gill Sans" charset="0"/>
                  <a:ea typeface="Gill Sans" charset="0"/>
                  <a:cs typeface="Gill Sans" charset="0"/>
                </a:rPr>
                <a:t>i </a:t>
              </a:r>
            </a:p>
          </p:txBody>
        </p:sp>
        <p:sp>
          <p:nvSpPr>
            <p:cNvPr id="153" name="Shape 153"/>
            <p:cNvSpPr/>
            <p:nvPr/>
          </p:nvSpPr>
          <p:spPr>
            <a:xfrm>
              <a:off x="3522134" y="2311500"/>
              <a:ext cx="451556" cy="4853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buClr>
                  <a:srgbClr val="000000"/>
                </a:buClr>
                <a:buFont typeface="Helvetica" charset="0"/>
                <a:buNone/>
              </a:pPr>
              <a:r>
                <a:rPr lang="en-US" altLang="en-US" sz="1500" b="0">
                  <a:solidFill>
                    <a:srgbClr val="000000"/>
                  </a:solidFill>
                  <a:latin typeface="Gill Sans" charset="0"/>
                  <a:ea typeface="Gill Sans" charset="0"/>
                  <a:cs typeface="Gill Sans" charset="0"/>
                </a:rPr>
                <a:t>i </a:t>
              </a:r>
            </a:p>
          </p:txBody>
        </p:sp>
        <p:sp>
          <p:nvSpPr>
            <p:cNvPr id="154" name="Shape 154"/>
            <p:cNvSpPr/>
            <p:nvPr/>
          </p:nvSpPr>
          <p:spPr>
            <a:xfrm>
              <a:off x="2384214" y="1589156"/>
              <a:ext cx="833121" cy="4853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buClr>
                  <a:srgbClr val="000000"/>
                </a:buClr>
                <a:buFont typeface="Helvetica" charset="0"/>
                <a:buNone/>
              </a:pPr>
              <a:r>
                <a:rPr lang="en-US" altLang="en-US" sz="1500" b="0">
                  <a:solidFill>
                    <a:srgbClr val="000000"/>
                  </a:solidFill>
                  <a:latin typeface="Gill Sans" charset="0"/>
                  <a:ea typeface="Gill Sans" charset="0"/>
                  <a:cs typeface="Gill Sans" charset="0"/>
                </a:rPr>
                <a:t>i + 1</a:t>
              </a:r>
            </a:p>
          </p:txBody>
        </p:sp>
        <p:sp>
          <p:nvSpPr>
            <p:cNvPr id="155" name="Shape 155"/>
            <p:cNvSpPr/>
            <p:nvPr/>
          </p:nvSpPr>
          <p:spPr>
            <a:xfrm>
              <a:off x="3576320" y="1137691"/>
              <a:ext cx="833121" cy="4853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buClr>
                  <a:srgbClr val="000000"/>
                </a:buClr>
                <a:buFont typeface="Helvetica" charset="0"/>
                <a:buNone/>
              </a:pPr>
              <a:r>
                <a:rPr lang="en-US" altLang="en-US" sz="1500" b="0">
                  <a:solidFill>
                    <a:srgbClr val="000000"/>
                  </a:solidFill>
                  <a:latin typeface="Gill Sans" charset="0"/>
                  <a:ea typeface="Gill Sans" charset="0"/>
                  <a:cs typeface="Gill Sans" charset="0"/>
                </a:rPr>
                <a:t>i + 1</a:t>
              </a:r>
            </a:p>
          </p:txBody>
        </p:sp>
        <p:sp>
          <p:nvSpPr>
            <p:cNvPr id="156" name="Shape 156"/>
            <p:cNvSpPr/>
            <p:nvPr/>
          </p:nvSpPr>
          <p:spPr>
            <a:xfrm>
              <a:off x="3991751" y="0"/>
              <a:ext cx="833121" cy="4853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buClr>
                  <a:srgbClr val="000000"/>
                </a:buClr>
                <a:buFont typeface="Helvetica" charset="0"/>
                <a:buNone/>
              </a:pPr>
              <a:r>
                <a:rPr lang="en-US" altLang="en-US" sz="1500" b="0">
                  <a:solidFill>
                    <a:srgbClr val="000000"/>
                  </a:solidFill>
                  <a:latin typeface="Gill Sans" charset="0"/>
                  <a:ea typeface="Gill Sans" charset="0"/>
                  <a:cs typeface="Gill Sans" charset="0"/>
                </a:rPr>
                <a:t>i + 1</a:t>
              </a:r>
            </a:p>
          </p:txBody>
        </p:sp>
      </p:grpSp>
      <p:sp>
        <p:nvSpPr>
          <p:cNvPr id="158" name="Shape 158"/>
          <p:cNvSpPr/>
          <p:nvPr/>
        </p:nvSpPr>
        <p:spPr>
          <a:xfrm>
            <a:off x="977900" y="5600700"/>
            <a:ext cx="622300" cy="341313"/>
          </a:xfrm>
          <a:prstGeom prst="rect">
            <a:avLst/>
          </a:prstGeom>
          <a:ln w="12700">
            <a:miter lim="400000"/>
          </a:ln>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1300"/>
              </a:spcBef>
              <a:buClr>
                <a:srgbClr val="FFFFFF"/>
              </a:buClr>
              <a:buFont typeface="Helvetica" charset="0"/>
              <a:buNone/>
            </a:pPr>
            <a:r>
              <a:rPr lang="en-US" altLang="en-US" sz="1500" b="0">
                <a:solidFill>
                  <a:srgbClr val="FFFFFF"/>
                </a:solidFill>
                <a:latin typeface="Gill Sans" charset="0"/>
                <a:ea typeface="Gill Sans" charset="0"/>
                <a:cs typeface="Gill Sans" charset="0"/>
              </a:rPr>
              <a:t>C</a:t>
            </a:r>
          </a:p>
        </p:txBody>
      </p:sp>
      <p:sp>
        <p:nvSpPr>
          <p:cNvPr id="159" name="Shape 159"/>
          <p:cNvSpPr/>
          <p:nvPr/>
        </p:nvSpPr>
        <p:spPr>
          <a:xfrm>
            <a:off x="2641600" y="5029200"/>
            <a:ext cx="360363" cy="341313"/>
          </a:xfrm>
          <a:prstGeom prst="rect">
            <a:avLst/>
          </a:prstGeom>
          <a:ln w="12700">
            <a:miter lim="400000"/>
          </a:ln>
          <a:extLst>
            <a:ext uri="{C572A759-6A51-4108-AA02-DFA0A04FC94B}">
              <ma14:wrappingTextBoxFlag xmlns="" xmlns:ma14="http://schemas.microsoft.com/office/mac/drawingml/2011/main" val="1"/>
            </a:ext>
          </a:extLst>
        </p:spPr>
        <p:txBody>
          <a:bodyPr wrap="none"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buClr>
                <a:srgbClr val="FFFFFF"/>
              </a:buClr>
              <a:buFont typeface="Helvetica" charset="0"/>
              <a:buNone/>
            </a:pPr>
            <a:r>
              <a:rPr lang="en-US" altLang="en-US" sz="1500" b="0">
                <a:solidFill>
                  <a:srgbClr val="FFFFFF"/>
                </a:solidFill>
                <a:latin typeface="Gill Sans" charset="0"/>
                <a:ea typeface="Gill Sans" charset="0"/>
                <a:cs typeface="Gill Sans" charset="0"/>
              </a:rPr>
              <a:t>C</a:t>
            </a:r>
          </a:p>
        </p:txBody>
      </p:sp>
      <p:grpSp>
        <p:nvGrpSpPr>
          <p:cNvPr id="77857" name="Group 163"/>
          <p:cNvGrpSpPr>
            <a:grpSpLocks/>
          </p:cNvGrpSpPr>
          <p:nvPr/>
        </p:nvGrpSpPr>
        <p:grpSpPr bwMode="auto">
          <a:xfrm>
            <a:off x="68263" y="3625850"/>
            <a:ext cx="2755900" cy="933489"/>
            <a:chOff x="97318" y="514649"/>
            <a:chExt cx="3919503" cy="1327698"/>
          </a:xfrm>
        </p:grpSpPr>
        <p:sp>
          <p:nvSpPr>
            <p:cNvPr id="161" name="Shape 161"/>
            <p:cNvSpPr/>
            <p:nvPr/>
          </p:nvSpPr>
          <p:spPr>
            <a:xfrm>
              <a:off x="97318" y="514649"/>
              <a:ext cx="3919503" cy="977669"/>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lIns="50799" tIns="50799" rIns="50799" bIns="50799">
              <a:spAutoFit/>
            </a:bodyPr>
            <a:lstStyle>
              <a:lvl1pPr defTabSz="912813">
                <a:defRPr sz="2000" b="1">
                  <a:solidFill>
                    <a:schemeClr val="tx1"/>
                  </a:solidFill>
                  <a:latin typeface="Helvetica" charset="0"/>
                  <a:ea typeface="Helvetica" charset="0"/>
                  <a:cs typeface="Helvetica" charset="0"/>
                  <a:sym typeface="Helvetica" charset="0"/>
                </a:defRPr>
              </a:lvl1pPr>
              <a:lvl2pPr defTabSz="912813">
                <a:defRPr sz="2000" b="1">
                  <a:solidFill>
                    <a:schemeClr val="tx1"/>
                  </a:solidFill>
                  <a:latin typeface="Helvetica" charset="0"/>
                  <a:ea typeface="Helvetica" charset="0"/>
                  <a:cs typeface="Helvetica" charset="0"/>
                  <a:sym typeface="Helvetica" charset="0"/>
                </a:defRPr>
              </a:lvl2pPr>
              <a:lvl3pPr defTabSz="912813">
                <a:defRPr sz="2000" b="1">
                  <a:solidFill>
                    <a:schemeClr val="tx1"/>
                  </a:solidFill>
                  <a:latin typeface="Helvetica" charset="0"/>
                  <a:ea typeface="Helvetica" charset="0"/>
                  <a:cs typeface="Helvetica" charset="0"/>
                  <a:sym typeface="Helvetica" charset="0"/>
                </a:defRPr>
              </a:lvl3pPr>
              <a:lvl4pPr defTabSz="912813">
                <a:defRPr sz="2000" b="1">
                  <a:solidFill>
                    <a:schemeClr val="tx1"/>
                  </a:solidFill>
                  <a:latin typeface="Helvetica" charset="0"/>
                  <a:ea typeface="Helvetica" charset="0"/>
                  <a:cs typeface="Helvetica" charset="0"/>
                  <a:sym typeface="Helvetica" charset="0"/>
                </a:defRPr>
              </a:lvl4pPr>
              <a:lvl5pPr defTabSz="912813">
                <a:defRPr sz="2000" b="1">
                  <a:solidFill>
                    <a:schemeClr val="tx1"/>
                  </a:solidFill>
                  <a:latin typeface="Helvetica" charset="0"/>
                  <a:ea typeface="Helvetica" charset="0"/>
                  <a:cs typeface="Helvetica" charset="0"/>
                  <a:sym typeface="Helvetica" charset="0"/>
                </a:defRPr>
              </a:lvl5pPr>
              <a:lvl6pPr marL="4968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638"/>
                </a:spcBef>
                <a:buClr>
                  <a:srgbClr val="000000"/>
                </a:buClr>
                <a:buFont typeface="Helvetica" charset="0"/>
                <a:buNone/>
              </a:pPr>
              <a:r>
                <a:rPr lang="en-US" altLang="en-US" sz="1200" b="0" dirty="0">
                  <a:solidFill>
                    <a:srgbClr val="000000"/>
                  </a:solidFill>
                  <a:latin typeface="Gill Sans" charset="0"/>
                  <a:ea typeface="Gill Sans" charset="0"/>
                  <a:cs typeface="Gill Sans" charset="0"/>
                </a:rPr>
                <a:t>Shown: Because of real size of </a:t>
              </a:r>
              <a:r>
                <a:rPr lang="en-US" altLang="en-US" sz="1200" b="0" u="sng" dirty="0">
                  <a:solidFill>
                    <a:srgbClr val="000000"/>
                  </a:solidFill>
                  <a:latin typeface="Gill Sans" charset="0"/>
                  <a:ea typeface="Gill Sans" charset="0"/>
                  <a:cs typeface="Gill Sans" charset="0"/>
                </a:rPr>
                <a:t>one</a:t>
              </a:r>
              <a:r>
                <a:rPr lang="en-US" altLang="en-US" sz="1200" b="0" dirty="0">
                  <a:solidFill>
                    <a:srgbClr val="000000"/>
                  </a:solidFill>
                  <a:latin typeface="Gill Sans" charset="0"/>
                  <a:ea typeface="Gill Sans" charset="0"/>
                  <a:cs typeface="Gill Sans" charset="0"/>
                </a:rPr>
                <a:t> H and </a:t>
              </a:r>
              <a:r>
                <a:rPr lang="en-US" altLang="en-US" sz="1200" b="0" u="sng" dirty="0">
                  <a:solidFill>
                    <a:srgbClr val="000000"/>
                  </a:solidFill>
                  <a:latin typeface="Gill Sans" charset="0"/>
                  <a:ea typeface="Gill Sans" charset="0"/>
                  <a:cs typeface="Gill Sans" charset="0"/>
                </a:rPr>
                <a:t>one</a:t>
              </a:r>
              <a:r>
                <a:rPr lang="en-US" altLang="en-US" sz="1200" b="0" dirty="0">
                  <a:solidFill>
                    <a:srgbClr val="000000"/>
                  </a:solidFill>
                  <a:latin typeface="Gill Sans" charset="0"/>
                  <a:ea typeface="Gill Sans" charset="0"/>
                  <a:cs typeface="Gill Sans" charset="0"/>
                </a:rPr>
                <a:t> O, these </a:t>
              </a:r>
              <a:r>
                <a:rPr lang="en-US" altLang="en-US" sz="1200" b="0" dirty="0" err="1">
                  <a:solidFill>
                    <a:srgbClr val="000000"/>
                  </a:solidFill>
                  <a:latin typeface="Gill Sans" charset="0"/>
                  <a:ea typeface="Gill Sans" charset="0"/>
                  <a:cs typeface="Gill Sans" charset="0"/>
                  <a:sym typeface="Symbol" charset="2"/>
                </a:rPr>
                <a:t>φ</a:t>
              </a:r>
              <a:r>
                <a:rPr lang="en-US" altLang="en-US" sz="1200" b="0" dirty="0">
                  <a:solidFill>
                    <a:srgbClr val="000000"/>
                  </a:solidFill>
                  <a:latin typeface="Gill Sans" charset="0"/>
                  <a:ea typeface="Gill Sans" charset="0"/>
                  <a:cs typeface="Gill Sans" charset="0"/>
                  <a:sym typeface="Symbol" charset="2"/>
                </a:rPr>
                <a:t>, </a:t>
              </a:r>
              <a:r>
                <a:rPr lang="en-US" altLang="en-US" sz="1200" b="0" dirty="0" err="1">
                  <a:solidFill>
                    <a:srgbClr val="000000"/>
                  </a:solidFill>
                  <a:latin typeface="Gill Sans" charset="0"/>
                  <a:ea typeface="Gill Sans" charset="0"/>
                  <a:cs typeface="Gill Sans" charset="0"/>
                  <a:sym typeface="Symbol" charset="2"/>
                </a:rPr>
                <a:t>ψ</a:t>
              </a:r>
              <a:r>
                <a:rPr lang="en-US" altLang="en-US" sz="1200" b="0" dirty="0">
                  <a:solidFill>
                    <a:srgbClr val="000000"/>
                  </a:solidFill>
                  <a:latin typeface="Gill Sans" charset="0"/>
                  <a:ea typeface="Gill Sans" charset="0"/>
                  <a:cs typeface="Gill Sans" charset="0"/>
                  <a:sym typeface="Symbol" charset="2"/>
                </a:rPr>
                <a:t> </a:t>
              </a:r>
              <a:r>
                <a:rPr lang="en-US" altLang="en-US" sz="1200" b="0" dirty="0">
                  <a:solidFill>
                    <a:srgbClr val="000000"/>
                  </a:solidFill>
                  <a:latin typeface="Gill Sans" charset="0"/>
                  <a:ea typeface="Gill Sans" charset="0"/>
                  <a:cs typeface="Gill Sans" charset="0"/>
                </a:rPr>
                <a:t>shown are impossible</a:t>
              </a:r>
              <a:r>
                <a:rPr lang="en-US" altLang="en-US" sz="1100" b="0" dirty="0">
                  <a:solidFill>
                    <a:srgbClr val="000000"/>
                  </a:solidFill>
                  <a:latin typeface="Gill Sans" charset="0"/>
                  <a:ea typeface="Gill Sans" charset="0"/>
                  <a:cs typeface="Gill Sans" charset="0"/>
                </a:rPr>
                <a:t>!</a:t>
              </a:r>
            </a:p>
          </p:txBody>
        </p:sp>
        <p:sp>
          <p:nvSpPr>
            <p:cNvPr id="162" name="Shape 162"/>
            <p:cNvSpPr/>
            <p:nvPr/>
          </p:nvSpPr>
          <p:spPr>
            <a:xfrm>
              <a:off x="1842580" y="1192018"/>
              <a:ext cx="216747" cy="650274"/>
            </a:xfrm>
            <a:prstGeom prst="line">
              <a:avLst/>
            </a:prstGeom>
            <a:noFill/>
            <a:ln w="50800" cap="flat">
              <a:solidFill>
                <a:srgbClr val="000000"/>
              </a:solidFill>
              <a:prstDash val="solid"/>
              <a:round/>
              <a:tailEnd type="triangle" w="med" len="med"/>
            </a:ln>
            <a:effectLst/>
          </p:spPr>
          <p:txBody>
            <a:bodyPr lIns="50799" tIns="50799" rIns="50799" bIns="50799" anchor="ctr"/>
            <a:lstStyle/>
            <a:p>
              <a:pPr marL="40639" marR="40639" indent="0" defTabSz="457184" eaLnBrk="1" fontAlgn="auto" hangingPunct="1">
                <a:spcBef>
                  <a:spcPts val="0"/>
                </a:spcBef>
                <a:spcAft>
                  <a:spcPts val="0"/>
                </a:spcAft>
                <a:defRPr sz="1600">
                  <a:latin typeface="Helvetica"/>
                  <a:ea typeface="Helvetica"/>
                  <a:cs typeface="Helvetica"/>
                  <a:sym typeface="Helvetica"/>
                </a:defRPr>
              </a:pPr>
              <a:endParaRPr sz="1125" b="0" kern="0">
                <a:solidFill>
                  <a:sysClr val="windowText" lastClr="000000"/>
                </a:solidFill>
                <a:uFill>
                  <a:solidFill/>
                </a:uFill>
                <a:latin typeface="Gill Sans" charset="0"/>
                <a:ea typeface="Gill Sans" charset="0"/>
                <a:cs typeface="Gill Sans" charset="0"/>
                <a:sym typeface="Helvetica"/>
              </a:endParaRPr>
            </a:p>
          </p:txBody>
        </p:sp>
      </p:grpSp>
      <p:sp>
        <p:nvSpPr>
          <p:cNvPr id="183" name="Shape 183"/>
          <p:cNvSpPr/>
          <p:nvPr/>
        </p:nvSpPr>
        <p:spPr>
          <a:xfrm flipH="1">
            <a:off x="228600" y="6400800"/>
            <a:ext cx="381000" cy="1588"/>
          </a:xfrm>
          <a:prstGeom prst="line">
            <a:avLst/>
          </a:prstGeom>
          <a:ln w="25400">
            <a:solidFill>
              <a:srgbClr val="000000"/>
            </a:solidFill>
            <a:tailEnd type="triangle"/>
          </a:ln>
        </p:spPr>
        <p:txBody>
          <a:bodyPr lIns="0" tIns="0" rIns="0" bIns="0"/>
          <a:lstStyle/>
          <a:p>
            <a:pPr marL="40639" marR="40639" indent="0" defTabSz="457184" eaLnBrk="1" fontAlgn="auto" hangingPunct="1">
              <a:spcBef>
                <a:spcPts val="0"/>
              </a:spcBef>
              <a:spcAft>
                <a:spcPts val="0"/>
              </a:spcAft>
              <a:defRPr sz="1600">
                <a:latin typeface="Helvetica"/>
                <a:ea typeface="Helvetica"/>
                <a:cs typeface="Helvetica"/>
                <a:sym typeface="Helvetica"/>
              </a:defRPr>
            </a:pPr>
            <a:endParaRPr sz="1125" b="0" kern="0">
              <a:solidFill>
                <a:sysClr val="windowText" lastClr="000000"/>
              </a:solidFill>
              <a:uFill>
                <a:solidFill/>
              </a:uFill>
              <a:latin typeface="Gill Sans" charset="0"/>
              <a:ea typeface="Gill Sans" charset="0"/>
              <a:cs typeface="Gill Sans" charset="0"/>
              <a:sym typeface="Helvetica"/>
            </a:endParaRPr>
          </a:p>
        </p:txBody>
      </p:sp>
      <p:sp>
        <p:nvSpPr>
          <p:cNvPr id="184" name="Shape 184"/>
          <p:cNvSpPr/>
          <p:nvPr/>
        </p:nvSpPr>
        <p:spPr>
          <a:xfrm>
            <a:off x="25400" y="6451600"/>
            <a:ext cx="1536700" cy="241090"/>
          </a:xfrm>
          <a:prstGeom prst="rect">
            <a:avLst/>
          </a:prstGeom>
          <a:ln w="12700">
            <a:miter lim="400000"/>
          </a:ln>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800"/>
              </a:spcBef>
              <a:buClr>
                <a:srgbClr val="000000"/>
              </a:buClr>
              <a:buFont typeface="Helvetica" charset="0"/>
              <a:buNone/>
            </a:pPr>
            <a:r>
              <a:rPr lang="en-US" altLang="en-US" sz="900" b="0" dirty="0">
                <a:solidFill>
                  <a:srgbClr val="000000"/>
                </a:solidFill>
                <a:latin typeface="Gill Sans" charset="0"/>
                <a:ea typeface="Gill Sans" charset="0"/>
                <a:cs typeface="Gill Sans" charset="0"/>
              </a:rPr>
              <a:t>N-Terminus</a:t>
            </a:r>
          </a:p>
        </p:txBody>
      </p:sp>
      <p:sp>
        <p:nvSpPr>
          <p:cNvPr id="185" name="Shape 185"/>
          <p:cNvSpPr/>
          <p:nvPr/>
        </p:nvSpPr>
        <p:spPr>
          <a:xfrm>
            <a:off x="2768600" y="3422650"/>
            <a:ext cx="1689100" cy="241090"/>
          </a:xfrm>
          <a:prstGeom prst="rect">
            <a:avLst/>
          </a:prstGeom>
          <a:ln w="12700">
            <a:miter lim="400000"/>
          </a:ln>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800"/>
              </a:spcBef>
              <a:buClr>
                <a:srgbClr val="000000"/>
              </a:buClr>
              <a:buFont typeface="Helvetica" charset="0"/>
              <a:buNone/>
            </a:pPr>
            <a:r>
              <a:rPr lang="en-US" altLang="en-US" sz="900" b="0" dirty="0">
                <a:solidFill>
                  <a:srgbClr val="000000"/>
                </a:solidFill>
                <a:latin typeface="Gill Sans" charset="0"/>
                <a:ea typeface="Gill Sans" charset="0"/>
                <a:cs typeface="Gill Sans" charset="0"/>
              </a:rPr>
              <a:t>C-Terminus</a:t>
            </a:r>
          </a:p>
        </p:txBody>
      </p:sp>
      <p:sp>
        <p:nvSpPr>
          <p:cNvPr id="186" name="Shape 186"/>
          <p:cNvSpPr/>
          <p:nvPr/>
        </p:nvSpPr>
        <p:spPr>
          <a:xfrm>
            <a:off x="2895600" y="3657600"/>
            <a:ext cx="609600" cy="1588"/>
          </a:xfrm>
          <a:prstGeom prst="line">
            <a:avLst/>
          </a:prstGeom>
          <a:ln w="25400">
            <a:solidFill>
              <a:srgbClr val="000000"/>
            </a:solidFill>
            <a:tailEnd type="triangle"/>
          </a:ln>
        </p:spPr>
        <p:txBody>
          <a:bodyPr lIns="0" tIns="0" rIns="0" bIns="0"/>
          <a:lstStyle/>
          <a:p>
            <a:pPr marL="40639" marR="40639" indent="0" defTabSz="457184" eaLnBrk="1" fontAlgn="auto" hangingPunct="1">
              <a:spcBef>
                <a:spcPts val="0"/>
              </a:spcBef>
              <a:spcAft>
                <a:spcPts val="0"/>
              </a:spcAft>
              <a:defRPr sz="1600">
                <a:latin typeface="Helvetica"/>
                <a:ea typeface="Helvetica"/>
                <a:cs typeface="Helvetica"/>
                <a:sym typeface="Helvetica"/>
              </a:defRPr>
            </a:pPr>
            <a:endParaRPr sz="1125" b="0" kern="0">
              <a:solidFill>
                <a:sysClr val="windowText" lastClr="000000"/>
              </a:solidFill>
              <a:uFill>
                <a:solidFill/>
              </a:uFill>
              <a:latin typeface="Gill Sans" charset="0"/>
              <a:ea typeface="Gill Sans" charset="0"/>
              <a:cs typeface="Gill Sans" charset="0"/>
              <a:sym typeface="Helvetica"/>
            </a:endParaRPr>
          </a:p>
        </p:txBody>
      </p:sp>
      <p:sp>
        <p:nvSpPr>
          <p:cNvPr id="187" name="Shape 187"/>
          <p:cNvSpPr/>
          <p:nvPr/>
        </p:nvSpPr>
        <p:spPr>
          <a:xfrm>
            <a:off x="7152357" y="380825"/>
            <a:ext cx="2188986" cy="1518362"/>
          </a:xfrm>
          <a:prstGeom prst="rect">
            <a:avLst/>
          </a:prstGeom>
          <a:ln w="12700">
            <a:miter lim="400000"/>
          </a:ln>
          <a:extLst>
            <a:ext uri="{C572A759-6A51-4108-AA02-DFA0A04FC94B}">
              <ma14:wrappingTextBoxFlag xmlns="" xmlns:ma14="http://schemas.microsoft.com/office/mac/drawingml/2011/main" val="1"/>
            </a:ext>
          </a:extLst>
        </p:spPr>
        <p:txBody>
          <a:bodyPr wrap="square" lIns="50799" tIns="50799" rIns="50799" bIns="50799">
            <a:spAutoFit/>
          </a:bodyPr>
          <a:lstStyle>
            <a:lvl1pPr defTabSz="912813">
              <a:defRPr sz="2000" b="1">
                <a:solidFill>
                  <a:schemeClr val="tx1"/>
                </a:solidFill>
                <a:latin typeface="Helvetica" charset="0"/>
                <a:ea typeface="Helvetica" charset="0"/>
                <a:cs typeface="Helvetica" charset="0"/>
                <a:sym typeface="Helvetica" charset="0"/>
              </a:defRPr>
            </a:lvl1pPr>
            <a:lvl2pPr defTabSz="912813">
              <a:defRPr sz="2000" b="1">
                <a:solidFill>
                  <a:schemeClr val="tx1"/>
                </a:solidFill>
                <a:latin typeface="Helvetica" charset="0"/>
                <a:ea typeface="Helvetica" charset="0"/>
                <a:cs typeface="Helvetica" charset="0"/>
                <a:sym typeface="Helvetica" charset="0"/>
              </a:defRPr>
            </a:lvl2pPr>
            <a:lvl3pPr defTabSz="912813">
              <a:defRPr sz="2000" b="1">
                <a:solidFill>
                  <a:schemeClr val="tx1"/>
                </a:solidFill>
                <a:latin typeface="Helvetica" charset="0"/>
                <a:ea typeface="Helvetica" charset="0"/>
                <a:cs typeface="Helvetica" charset="0"/>
                <a:sym typeface="Helvetica" charset="0"/>
              </a:defRPr>
            </a:lvl3pPr>
            <a:lvl4pPr defTabSz="912813">
              <a:defRPr sz="2000" b="1">
                <a:solidFill>
                  <a:schemeClr val="tx1"/>
                </a:solidFill>
                <a:latin typeface="Helvetica" charset="0"/>
                <a:ea typeface="Helvetica" charset="0"/>
                <a:cs typeface="Helvetica" charset="0"/>
                <a:sym typeface="Helvetica" charset="0"/>
              </a:defRPr>
            </a:lvl4pPr>
            <a:lvl5pPr defTabSz="912813">
              <a:defRPr sz="2000" b="1">
                <a:solidFill>
                  <a:schemeClr val="tx1"/>
                </a:solidFill>
                <a:latin typeface="Helvetica" charset="0"/>
                <a:ea typeface="Helvetica" charset="0"/>
                <a:cs typeface="Helvetica" charset="0"/>
                <a:sym typeface="Helvetica" charset="0"/>
              </a:defRPr>
            </a:lvl5pPr>
            <a:lvl6pPr marL="4968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638"/>
              </a:spcBef>
              <a:buClr>
                <a:srgbClr val="000000"/>
              </a:buClr>
              <a:buFont typeface="Helvetica" charset="0"/>
              <a:buNone/>
            </a:pPr>
            <a:r>
              <a:rPr lang="en-US" altLang="en-US" sz="1100" dirty="0">
                <a:solidFill>
                  <a:srgbClr val="000000"/>
                </a:solidFill>
                <a:latin typeface="Gill Sans" charset="0"/>
                <a:ea typeface="Gill Sans" charset="0"/>
                <a:cs typeface="Gill Sans" charset="0"/>
              </a:rPr>
              <a:t>Backbone Torsion Angles</a:t>
            </a:r>
          </a:p>
          <a:p>
            <a:pPr indent="0" eaLnBrk="1" hangingPunct="1">
              <a:spcBef>
                <a:spcPts val="638"/>
              </a:spcBef>
              <a:buClr>
                <a:srgbClr val="000000"/>
              </a:buClr>
              <a:buFont typeface="Helvetica" charset="0"/>
              <a:buNone/>
            </a:pPr>
            <a:endParaRPr lang="en-US" altLang="en-US" sz="1100" b="0" dirty="0">
              <a:solidFill>
                <a:srgbClr val="000000"/>
              </a:solidFill>
              <a:latin typeface="Gill Sans" charset="0"/>
              <a:ea typeface="Gill Sans" charset="0"/>
              <a:cs typeface="Gill Sans" charset="0"/>
            </a:endParaRPr>
          </a:p>
          <a:p>
            <a:pPr indent="0" eaLnBrk="1" hangingPunct="1">
              <a:spcBef>
                <a:spcPts val="638"/>
              </a:spcBef>
              <a:buClr>
                <a:srgbClr val="000000"/>
              </a:buClr>
              <a:buFont typeface="Helvetica" charset="0"/>
              <a:buNone/>
            </a:pPr>
            <a:endParaRPr lang="en-US" altLang="en-US" sz="1100" b="0" dirty="0">
              <a:solidFill>
                <a:srgbClr val="000000"/>
              </a:solidFill>
              <a:latin typeface="Gill Sans" charset="0"/>
              <a:ea typeface="Gill Sans" charset="0"/>
              <a:cs typeface="Gill Sans" charset="0"/>
            </a:endParaRPr>
          </a:p>
          <a:p>
            <a:pPr indent="0" eaLnBrk="1" hangingPunct="1">
              <a:spcBef>
                <a:spcPts val="638"/>
              </a:spcBef>
              <a:buClr>
                <a:srgbClr val="000000"/>
              </a:buClr>
              <a:buFont typeface="Helvetica" charset="0"/>
              <a:buNone/>
            </a:pPr>
            <a:endParaRPr lang="en-US" altLang="en-US" sz="1100" b="0" dirty="0">
              <a:solidFill>
                <a:srgbClr val="000000"/>
              </a:solidFill>
              <a:latin typeface="Gill Sans" charset="0"/>
              <a:ea typeface="Gill Sans" charset="0"/>
              <a:cs typeface="Gill Sans" charset="0"/>
            </a:endParaRPr>
          </a:p>
          <a:p>
            <a:pPr indent="0" eaLnBrk="1" hangingPunct="1">
              <a:spcBef>
                <a:spcPts val="638"/>
              </a:spcBef>
              <a:buClr>
                <a:srgbClr val="000000"/>
              </a:buClr>
              <a:buFont typeface="Helvetica" charset="0"/>
              <a:buNone/>
            </a:pPr>
            <a:r>
              <a:rPr lang="en-US" altLang="en-US" sz="1100" b="0" dirty="0">
                <a:solidFill>
                  <a:srgbClr val="000000"/>
                </a:solidFill>
                <a:latin typeface="Gill Sans" charset="0"/>
                <a:ea typeface="Gill Sans" charset="0"/>
                <a:cs typeface="Gill Sans" charset="0"/>
              </a:rPr>
              <a:t>For fully extended polypeptide,       </a:t>
            </a:r>
          </a:p>
          <a:p>
            <a:pPr indent="0" eaLnBrk="1" hangingPunct="1">
              <a:spcBef>
                <a:spcPts val="638"/>
              </a:spcBef>
              <a:buClr>
                <a:srgbClr val="000000"/>
              </a:buClr>
              <a:buFont typeface="Helvetica" charset="0"/>
              <a:buNone/>
            </a:pPr>
            <a:r>
              <a:rPr lang="en-US" altLang="en-US" sz="1200" b="0" dirty="0" err="1">
                <a:solidFill>
                  <a:srgbClr val="000000"/>
                </a:solidFill>
                <a:latin typeface="Gill Sans" charset="0"/>
                <a:ea typeface="Gill Sans" charset="0"/>
                <a:cs typeface="Gill Sans" charset="0"/>
                <a:sym typeface="Symbol" charset="2"/>
              </a:rPr>
              <a:t>Φ</a:t>
            </a:r>
            <a:r>
              <a:rPr lang="en-US" altLang="en-US" sz="1200" b="0" dirty="0">
                <a:solidFill>
                  <a:srgbClr val="000000"/>
                </a:solidFill>
                <a:latin typeface="Gill Sans" charset="0"/>
                <a:ea typeface="Gill Sans" charset="0"/>
                <a:cs typeface="Gill Sans" charset="0"/>
              </a:rPr>
              <a:t> = </a:t>
            </a:r>
            <a:r>
              <a:rPr lang="en-US" altLang="en-US" sz="1200" b="0" dirty="0" err="1">
                <a:solidFill>
                  <a:srgbClr val="000000"/>
                </a:solidFill>
                <a:latin typeface="Gill Sans" charset="0"/>
                <a:ea typeface="Gill Sans" charset="0"/>
                <a:cs typeface="Gill Sans" charset="0"/>
                <a:sym typeface="Symbol" charset="2"/>
              </a:rPr>
              <a:t>Ψ</a:t>
            </a:r>
            <a:r>
              <a:rPr lang="en-US" altLang="en-US" sz="1200" b="0" dirty="0">
                <a:solidFill>
                  <a:srgbClr val="000000"/>
                </a:solidFill>
                <a:latin typeface="Gill Sans" charset="0"/>
                <a:ea typeface="Gill Sans" charset="0"/>
                <a:cs typeface="Gill Sans" charset="0"/>
              </a:rPr>
              <a:t> = 180</a:t>
            </a:r>
            <a:r>
              <a:rPr lang="en-US" altLang="en-US" sz="1600" b="0" baseline="23000" dirty="0">
                <a:solidFill>
                  <a:srgbClr val="000000"/>
                </a:solidFill>
                <a:latin typeface="Gill Sans" charset="0"/>
                <a:ea typeface="Gill Sans" charset="0"/>
                <a:cs typeface="Gill Sans" charset="0"/>
              </a:rPr>
              <a:t>o</a:t>
            </a:r>
          </a:p>
        </p:txBody>
      </p:sp>
      <p:sp>
        <p:nvSpPr>
          <p:cNvPr id="188" name="Shape 188"/>
          <p:cNvSpPr/>
          <p:nvPr/>
        </p:nvSpPr>
        <p:spPr>
          <a:xfrm>
            <a:off x="7381644" y="604615"/>
            <a:ext cx="1018198" cy="841254"/>
          </a:xfrm>
          <a:prstGeom prst="rect">
            <a:avLst/>
          </a:prstGeom>
          <a:ln w="12700">
            <a:miter lim="400000"/>
          </a:ln>
          <a:extLst>
            <a:ext uri="{C572A759-6A51-4108-AA02-DFA0A04FC94B}">
              <ma14:wrappingTextBoxFlag xmlns="" xmlns:ma14="http://schemas.microsoft.com/office/mac/drawingml/2011/main" val="1"/>
            </a:ext>
          </a:extLst>
        </p:spPr>
        <p:txBody>
          <a:bodyPr wrap="square" lIns="50799" tIns="50799" rIns="50799" bIns="50799">
            <a:spAutoFit/>
          </a:bodyPr>
          <a:lstStyle>
            <a:lvl1pPr defTabSz="912813">
              <a:defRPr sz="2000" b="1">
                <a:solidFill>
                  <a:schemeClr val="tx1"/>
                </a:solidFill>
                <a:latin typeface="Helvetica" charset="0"/>
                <a:ea typeface="Helvetica" charset="0"/>
                <a:cs typeface="Helvetica" charset="0"/>
                <a:sym typeface="Helvetica" charset="0"/>
              </a:defRPr>
            </a:lvl1pPr>
            <a:lvl2pPr defTabSz="912813">
              <a:defRPr sz="2000" b="1">
                <a:solidFill>
                  <a:schemeClr val="tx1"/>
                </a:solidFill>
                <a:latin typeface="Helvetica" charset="0"/>
                <a:ea typeface="Helvetica" charset="0"/>
                <a:cs typeface="Helvetica" charset="0"/>
                <a:sym typeface="Helvetica" charset="0"/>
              </a:defRPr>
            </a:lvl2pPr>
            <a:lvl3pPr defTabSz="912813">
              <a:defRPr sz="2000" b="1">
                <a:solidFill>
                  <a:schemeClr val="tx1"/>
                </a:solidFill>
                <a:latin typeface="Helvetica" charset="0"/>
                <a:ea typeface="Helvetica" charset="0"/>
                <a:cs typeface="Helvetica" charset="0"/>
                <a:sym typeface="Helvetica" charset="0"/>
              </a:defRPr>
            </a:lvl3pPr>
            <a:lvl4pPr defTabSz="912813">
              <a:defRPr sz="2000" b="1">
                <a:solidFill>
                  <a:schemeClr val="tx1"/>
                </a:solidFill>
                <a:latin typeface="Helvetica" charset="0"/>
                <a:ea typeface="Helvetica" charset="0"/>
                <a:cs typeface="Helvetica" charset="0"/>
                <a:sym typeface="Helvetica" charset="0"/>
              </a:defRPr>
            </a:lvl4pPr>
            <a:lvl5pPr defTabSz="912813">
              <a:defRPr sz="2000" b="1">
                <a:solidFill>
                  <a:schemeClr val="tx1"/>
                </a:solidFill>
                <a:latin typeface="Helvetica" charset="0"/>
                <a:ea typeface="Helvetica" charset="0"/>
                <a:cs typeface="Helvetica" charset="0"/>
                <a:sym typeface="Helvetica" charset="0"/>
              </a:defRPr>
            </a:lvl5pPr>
            <a:lvl6pPr marL="4968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91281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spcBef>
                <a:spcPts val="638"/>
              </a:spcBef>
              <a:buClr>
                <a:srgbClr val="000000"/>
              </a:buClr>
              <a:buFont typeface="Symbol" charset="2"/>
              <a:buNone/>
            </a:pPr>
            <a:r>
              <a:rPr lang="en-US" altLang="en-US" sz="1200" b="0" dirty="0" err="1">
                <a:solidFill>
                  <a:srgbClr val="000000"/>
                </a:solidFill>
                <a:latin typeface="Gill Sans" charset="0"/>
                <a:ea typeface="Gill Sans" charset="0"/>
                <a:cs typeface="Gill Sans" charset="0"/>
                <a:sym typeface="Symbol" charset="2"/>
              </a:rPr>
              <a:t>Φ</a:t>
            </a:r>
            <a:r>
              <a:rPr lang="en-US" altLang="en-US" sz="1200" b="0" dirty="0">
                <a:solidFill>
                  <a:srgbClr val="000000"/>
                </a:solidFill>
                <a:latin typeface="Gill Sans" charset="0"/>
                <a:ea typeface="Gill Sans" charset="0"/>
                <a:cs typeface="Gill Sans" charset="0"/>
              </a:rPr>
              <a:t> = </a:t>
            </a:r>
            <a:r>
              <a:rPr lang="en-US" altLang="en-US" sz="1100" b="0" dirty="0">
                <a:solidFill>
                  <a:srgbClr val="000000"/>
                </a:solidFill>
                <a:latin typeface="Gill Sans" charset="0"/>
                <a:ea typeface="Gill Sans" charset="0"/>
                <a:cs typeface="Gill Sans" charset="0"/>
              </a:rPr>
              <a:t>Phi</a:t>
            </a:r>
            <a:r>
              <a:rPr lang="en-US" altLang="en-US" sz="1200" b="0" dirty="0">
                <a:solidFill>
                  <a:srgbClr val="000000"/>
                </a:solidFill>
                <a:latin typeface="Gill Sans" charset="0"/>
                <a:ea typeface="Gill Sans" charset="0"/>
                <a:cs typeface="Gill Sans" charset="0"/>
              </a:rPr>
              <a:t> </a:t>
            </a:r>
          </a:p>
          <a:p>
            <a:pPr indent="0" eaLnBrk="1" hangingPunct="1">
              <a:spcBef>
                <a:spcPts val="638"/>
              </a:spcBef>
              <a:buClr>
                <a:srgbClr val="000000"/>
              </a:buClr>
              <a:buFont typeface="Symbol" charset="2"/>
              <a:buNone/>
            </a:pPr>
            <a:r>
              <a:rPr lang="en-US" altLang="en-US" sz="1200" b="0" dirty="0" err="1">
                <a:solidFill>
                  <a:srgbClr val="000000"/>
                </a:solidFill>
                <a:latin typeface="Gill Sans" charset="0"/>
                <a:ea typeface="Gill Sans" charset="0"/>
                <a:cs typeface="Gill Sans" charset="0"/>
                <a:sym typeface="Symbol" charset="2"/>
              </a:rPr>
              <a:t>Ψ</a:t>
            </a:r>
            <a:r>
              <a:rPr lang="en-US" altLang="en-US" sz="1200" b="0" dirty="0">
                <a:solidFill>
                  <a:srgbClr val="000000"/>
                </a:solidFill>
                <a:latin typeface="Gill Sans" charset="0"/>
                <a:ea typeface="Gill Sans" charset="0"/>
                <a:cs typeface="Gill Sans" charset="0"/>
                <a:sym typeface="Symbol" charset="2"/>
              </a:rPr>
              <a:t> </a:t>
            </a:r>
            <a:r>
              <a:rPr lang="en-US" altLang="en-US" sz="1200" b="0" dirty="0">
                <a:solidFill>
                  <a:srgbClr val="000000"/>
                </a:solidFill>
                <a:latin typeface="Gill Sans" charset="0"/>
                <a:ea typeface="Gill Sans" charset="0"/>
                <a:cs typeface="Gill Sans" charset="0"/>
              </a:rPr>
              <a:t>= </a:t>
            </a:r>
            <a:r>
              <a:rPr lang="en-US" altLang="en-US" sz="1100" b="0" dirty="0">
                <a:solidFill>
                  <a:srgbClr val="000000"/>
                </a:solidFill>
                <a:latin typeface="Gill Sans" charset="0"/>
                <a:ea typeface="Gill Sans" charset="0"/>
                <a:cs typeface="Gill Sans" charset="0"/>
              </a:rPr>
              <a:t>Psi</a:t>
            </a:r>
          </a:p>
          <a:p>
            <a:pPr indent="0" eaLnBrk="1" hangingPunct="1">
              <a:spcBef>
                <a:spcPts val="638"/>
              </a:spcBef>
              <a:buClr>
                <a:srgbClr val="000000"/>
              </a:buClr>
              <a:buFont typeface="Symbol" charset="2"/>
              <a:buNone/>
            </a:pPr>
            <a:r>
              <a:rPr lang="en-US" altLang="en-US" sz="1400" b="0" dirty="0">
                <a:solidFill>
                  <a:srgbClr val="000000"/>
                </a:solidFill>
                <a:latin typeface="Symbol" pitchFamily="2" charset="2"/>
                <a:ea typeface="Gill Sans" charset="0"/>
                <a:cs typeface="Gill Sans" charset="0"/>
              </a:rPr>
              <a:t>w</a:t>
            </a:r>
            <a:r>
              <a:rPr lang="en-US" altLang="en-US" sz="1100" b="0" dirty="0">
                <a:solidFill>
                  <a:srgbClr val="000000"/>
                </a:solidFill>
                <a:latin typeface="Gill Sans" charset="0"/>
                <a:ea typeface="Gill Sans" charset="0"/>
                <a:cs typeface="Gill Sans" charset="0"/>
              </a:rPr>
              <a:t> = Omega</a:t>
            </a:r>
          </a:p>
        </p:txBody>
      </p:sp>
      <p:sp>
        <p:nvSpPr>
          <p:cNvPr id="190" name="Shape 190"/>
          <p:cNvSpPr/>
          <p:nvPr/>
        </p:nvSpPr>
        <p:spPr>
          <a:xfrm flipH="1" flipV="1">
            <a:off x="2694357" y="676149"/>
            <a:ext cx="53975" cy="646112"/>
          </a:xfrm>
          <a:prstGeom prst="line">
            <a:avLst/>
          </a:prstGeom>
          <a:ln w="25400">
            <a:solidFill>
              <a:srgbClr val="000000"/>
            </a:solidFill>
            <a:headEnd type="stealth"/>
          </a:ln>
        </p:spPr>
        <p:txBody>
          <a:bodyPr lIns="0" tIns="0" rIns="0" bIns="0"/>
          <a:lstStyle/>
          <a:p>
            <a:pPr marL="40639" marR="40639" indent="0" defTabSz="457184" eaLnBrk="1" fontAlgn="auto" hangingPunct="1">
              <a:spcBef>
                <a:spcPts val="0"/>
              </a:spcBef>
              <a:spcAft>
                <a:spcPts val="0"/>
              </a:spcAft>
              <a:defRPr sz="1600">
                <a:latin typeface="Helvetica"/>
                <a:ea typeface="Helvetica"/>
                <a:cs typeface="Helvetica"/>
                <a:sym typeface="Helvetica"/>
              </a:defRPr>
            </a:pPr>
            <a:endParaRPr sz="1125" b="0" kern="0">
              <a:solidFill>
                <a:sysClr val="windowText" lastClr="000000"/>
              </a:solidFill>
              <a:uFill>
                <a:solidFill/>
              </a:uFill>
              <a:latin typeface="Gill Sans" charset="0"/>
              <a:ea typeface="Gill Sans" charset="0"/>
              <a:cs typeface="Gill Sans" charset="0"/>
              <a:sym typeface="Helvetica"/>
            </a:endParaRPr>
          </a:p>
        </p:txBody>
      </p:sp>
      <p:sp>
        <p:nvSpPr>
          <p:cNvPr id="191" name="Shape 191"/>
          <p:cNvSpPr/>
          <p:nvPr/>
        </p:nvSpPr>
        <p:spPr>
          <a:xfrm>
            <a:off x="2431475" y="292100"/>
            <a:ext cx="1282700" cy="492125"/>
          </a:xfrm>
          <a:prstGeom prst="rect">
            <a:avLst/>
          </a:prstGeom>
          <a:ln w="12700">
            <a:miter lim="400000"/>
          </a:ln>
          <a:extLst>
            <a:ext uri="{C572A759-6A51-4108-AA02-DFA0A04FC94B}">
              <ma14:wrappingTextBoxFlag xmlns="" xmlns:ma14="http://schemas.microsoft.com/office/mac/drawingml/2011/main" val="1"/>
            </a:ext>
          </a:extLst>
        </p:spPr>
        <p:txBody>
          <a:bodyPr lIns="50799" tIns="50799" rIns="50799" bIns="50799">
            <a:spAutoFit/>
          </a:bodyPr>
          <a:lstStyle>
            <a:lvl1pPr marL="57150" defTabSz="1300163">
              <a:defRPr sz="2000" b="1">
                <a:solidFill>
                  <a:schemeClr val="tx1"/>
                </a:solidFill>
                <a:latin typeface="Helvetica" charset="0"/>
                <a:ea typeface="Helvetica" charset="0"/>
                <a:cs typeface="Helvetica" charset="0"/>
                <a:sym typeface="Helvetica" charset="0"/>
              </a:defRPr>
            </a:lvl1pPr>
            <a:lvl2pPr defTabSz="1300163">
              <a:defRPr sz="2000" b="1">
                <a:solidFill>
                  <a:schemeClr val="tx1"/>
                </a:solidFill>
                <a:latin typeface="Helvetica" charset="0"/>
                <a:ea typeface="Helvetica" charset="0"/>
                <a:cs typeface="Helvetica" charset="0"/>
                <a:sym typeface="Helvetica" charset="0"/>
              </a:defRPr>
            </a:lvl2pPr>
            <a:lvl3pPr defTabSz="1300163">
              <a:defRPr sz="2000" b="1">
                <a:solidFill>
                  <a:schemeClr val="tx1"/>
                </a:solidFill>
                <a:latin typeface="Helvetica" charset="0"/>
                <a:ea typeface="Helvetica" charset="0"/>
                <a:cs typeface="Helvetica" charset="0"/>
                <a:sym typeface="Helvetica" charset="0"/>
              </a:defRPr>
            </a:lvl3pPr>
            <a:lvl4pPr defTabSz="1300163">
              <a:defRPr sz="2000" b="1">
                <a:solidFill>
                  <a:schemeClr val="tx1"/>
                </a:solidFill>
                <a:latin typeface="Helvetica" charset="0"/>
                <a:ea typeface="Helvetica" charset="0"/>
                <a:cs typeface="Helvetica" charset="0"/>
                <a:sym typeface="Helvetica" charset="0"/>
              </a:defRPr>
            </a:lvl4pPr>
            <a:lvl5pPr defTabSz="1300163">
              <a:defRPr sz="2000" b="1">
                <a:solidFill>
                  <a:schemeClr val="tx1"/>
                </a:solidFill>
                <a:latin typeface="Helvetica" charset="0"/>
                <a:ea typeface="Helvetica" charset="0"/>
                <a:cs typeface="Helvetica" charset="0"/>
                <a:sym typeface="Helvetica" charset="0"/>
              </a:defRPr>
            </a:lvl5pPr>
            <a:lvl6pPr marL="4968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6pPr>
            <a:lvl7pPr marL="9540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7pPr>
            <a:lvl8pPr marL="14112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8pPr>
            <a:lvl9pPr marL="1868488" indent="1371600" defTabSz="1300163" eaLnBrk="0" fontAlgn="base" hangingPunct="0">
              <a:spcBef>
                <a:spcPct val="0"/>
              </a:spcBef>
              <a:spcAft>
                <a:spcPct val="0"/>
              </a:spcAft>
              <a:defRPr sz="2000" b="1">
                <a:solidFill>
                  <a:schemeClr val="tx1"/>
                </a:solidFill>
                <a:latin typeface="Helvetica" charset="0"/>
                <a:ea typeface="Helvetica" charset="0"/>
                <a:cs typeface="Helvetica" charset="0"/>
                <a:sym typeface="Helvetica" charset="0"/>
              </a:defRPr>
            </a:lvl9pPr>
          </a:lstStyle>
          <a:p>
            <a:pPr indent="0" eaLnBrk="1" hangingPunct="1"/>
            <a:r>
              <a:rPr lang="en-US" altLang="en-US" sz="900" b="0" dirty="0">
                <a:solidFill>
                  <a:srgbClr val="000000"/>
                </a:solidFill>
                <a:latin typeface="Gill Sans" charset="0"/>
                <a:ea typeface="Gill Sans" charset="0"/>
                <a:cs typeface="Gill Sans" charset="0"/>
              </a:rPr>
              <a:t>P</a:t>
            </a:r>
            <a:r>
              <a:rPr lang="en-US" altLang="en-US" sz="1200" b="0" dirty="0">
                <a:solidFill>
                  <a:srgbClr val="000000"/>
                </a:solidFill>
                <a:latin typeface="Gill Sans" charset="0"/>
                <a:ea typeface="Gill Sans" charset="0"/>
                <a:cs typeface="Gill Sans" charset="0"/>
              </a:rPr>
              <a:t>artial double bond</a:t>
            </a:r>
          </a:p>
        </p:txBody>
      </p:sp>
      <p:pic>
        <p:nvPicPr>
          <p:cNvPr id="2" name="Picture 1">
            <a:extLst>
              <a:ext uri="{FF2B5EF4-FFF2-40B4-BE49-F238E27FC236}">
                <a16:creationId xmlns:a16="http://schemas.microsoft.com/office/drawing/2014/main" id="{A09FF0AB-1D70-1C44-B395-313146F88456}"/>
              </a:ext>
            </a:extLst>
          </p:cNvPr>
          <p:cNvPicPr>
            <a:picLocks noChangeAspect="1"/>
          </p:cNvPicPr>
          <p:nvPr/>
        </p:nvPicPr>
        <p:blipFill>
          <a:blip r:embed="rId4"/>
          <a:stretch>
            <a:fillRect/>
          </a:stretch>
        </p:blipFill>
        <p:spPr>
          <a:xfrm>
            <a:off x="1460500" y="4642446"/>
            <a:ext cx="328189" cy="615354"/>
          </a:xfrm>
          <a:prstGeom prst="rect">
            <a:avLst/>
          </a:prstGeom>
        </p:spPr>
      </p:pic>
      <p:sp>
        <p:nvSpPr>
          <p:cNvPr id="3" name="TextBox 2">
            <a:extLst>
              <a:ext uri="{FF2B5EF4-FFF2-40B4-BE49-F238E27FC236}">
                <a16:creationId xmlns:a16="http://schemas.microsoft.com/office/drawing/2014/main" id="{968FA9BE-316C-5242-ACB6-BF3AB3D18E6B}"/>
              </a:ext>
            </a:extLst>
          </p:cNvPr>
          <p:cNvSpPr txBox="1"/>
          <p:nvPr/>
        </p:nvSpPr>
        <p:spPr>
          <a:xfrm>
            <a:off x="25400" y="3044031"/>
            <a:ext cx="7782900"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Label with i-1, </a:t>
            </a:r>
            <a:r>
              <a:rPr kumimoji="0" lang="en-US" sz="2000" b="0" i="0" u="none" strike="noStrike" cap="none" spc="0" normalizeH="0" baseline="0" dirty="0" err="1">
                <a:ln>
                  <a:noFill/>
                </a:ln>
                <a:solidFill>
                  <a:srgbClr val="000000"/>
                </a:solidFill>
                <a:effectLst/>
                <a:uFill>
                  <a:solidFill>
                    <a:srgbClr val="000000"/>
                  </a:solidFill>
                </a:uFill>
                <a:latin typeface="Helvetica"/>
                <a:ea typeface="Helvetica"/>
                <a:cs typeface="Helvetica"/>
                <a:sym typeface="Helvetica"/>
              </a:rPr>
              <a:t>i</a:t>
            </a:r>
            <a:r>
              <a:rPr kumimoji="0" lang="en-US" sz="2000" b="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 i+1 to keep track of residues close in AA sequence </a:t>
            </a:r>
          </a:p>
        </p:txBody>
      </p:sp>
      <p:sp>
        <p:nvSpPr>
          <p:cNvPr id="4" name="Oval 3">
            <a:extLst>
              <a:ext uri="{FF2B5EF4-FFF2-40B4-BE49-F238E27FC236}">
                <a16:creationId xmlns:a16="http://schemas.microsoft.com/office/drawing/2014/main" id="{884131ED-BB88-8944-AA5D-633425AAF03A}"/>
              </a:ext>
            </a:extLst>
          </p:cNvPr>
          <p:cNvSpPr/>
          <p:nvPr/>
        </p:nvSpPr>
        <p:spPr>
          <a:xfrm rot="1320985">
            <a:off x="1732920" y="4542769"/>
            <a:ext cx="1741336" cy="2516273"/>
          </a:xfrm>
          <a:prstGeom prst="ellips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
        <p:nvSpPr>
          <p:cNvPr id="52" name="Oval 51">
            <a:extLst>
              <a:ext uri="{FF2B5EF4-FFF2-40B4-BE49-F238E27FC236}">
                <a16:creationId xmlns:a16="http://schemas.microsoft.com/office/drawing/2014/main" id="{9C9B8758-23F6-BA40-AFBC-90EABC1AF3F3}"/>
              </a:ext>
            </a:extLst>
          </p:cNvPr>
          <p:cNvSpPr/>
          <p:nvPr/>
        </p:nvSpPr>
        <p:spPr>
          <a:xfrm rot="6928817">
            <a:off x="531893" y="4653555"/>
            <a:ext cx="1713443" cy="2516273"/>
          </a:xfrm>
          <a:prstGeom prst="ellips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
        <p:nvSpPr>
          <p:cNvPr id="5" name="TextBox 4">
            <a:extLst>
              <a:ext uri="{FF2B5EF4-FFF2-40B4-BE49-F238E27FC236}">
                <a16:creationId xmlns:a16="http://schemas.microsoft.com/office/drawing/2014/main" id="{233FD1E1-F6F3-644F-B1E8-3D571A83C85E}"/>
              </a:ext>
            </a:extLst>
          </p:cNvPr>
          <p:cNvSpPr txBox="1"/>
          <p:nvPr/>
        </p:nvSpPr>
        <p:spPr>
          <a:xfrm>
            <a:off x="3625509" y="5635233"/>
            <a:ext cx="1566454"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ctr"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Amino acid</a:t>
            </a:r>
          </a:p>
          <a:p>
            <a:pPr marL="40639" marR="40639" indent="0" algn="ctr"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residue</a:t>
            </a:r>
          </a:p>
        </p:txBody>
      </p:sp>
      <p:sp>
        <p:nvSpPr>
          <p:cNvPr id="54" name="TextBox 53">
            <a:extLst>
              <a:ext uri="{FF2B5EF4-FFF2-40B4-BE49-F238E27FC236}">
                <a16:creationId xmlns:a16="http://schemas.microsoft.com/office/drawing/2014/main" id="{4DA74CD2-4306-4E41-BF6E-B499E353752A}"/>
              </a:ext>
            </a:extLst>
          </p:cNvPr>
          <p:cNvSpPr txBox="1"/>
          <p:nvPr/>
        </p:nvSpPr>
        <p:spPr>
          <a:xfrm>
            <a:off x="85269" y="4300855"/>
            <a:ext cx="1111202"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ctr"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Peptide</a:t>
            </a:r>
          </a:p>
          <a:p>
            <a:pPr marL="40639" marR="40639" indent="0" algn="ctr"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plane</a:t>
            </a:r>
          </a:p>
        </p:txBody>
      </p:sp>
      <p:grpSp>
        <p:nvGrpSpPr>
          <p:cNvPr id="21" name="Group 20">
            <a:extLst>
              <a:ext uri="{FF2B5EF4-FFF2-40B4-BE49-F238E27FC236}">
                <a16:creationId xmlns:a16="http://schemas.microsoft.com/office/drawing/2014/main" id="{AF4127AB-0CC9-4348-A42C-1E52BC201329}"/>
              </a:ext>
            </a:extLst>
          </p:cNvPr>
          <p:cNvGrpSpPr/>
          <p:nvPr/>
        </p:nvGrpSpPr>
        <p:grpSpPr>
          <a:xfrm>
            <a:off x="64382" y="1126732"/>
            <a:ext cx="7911218" cy="1577270"/>
            <a:chOff x="64382" y="1126732"/>
            <a:chExt cx="7911218" cy="1577270"/>
          </a:xfrm>
        </p:grpSpPr>
        <p:grpSp>
          <p:nvGrpSpPr>
            <p:cNvPr id="19" name="Group 18">
              <a:extLst>
                <a:ext uri="{FF2B5EF4-FFF2-40B4-BE49-F238E27FC236}">
                  <a16:creationId xmlns:a16="http://schemas.microsoft.com/office/drawing/2014/main" id="{C375B3BE-0E52-0749-B819-A75FF2FE1096}"/>
                </a:ext>
              </a:extLst>
            </p:cNvPr>
            <p:cNvGrpSpPr/>
            <p:nvPr/>
          </p:nvGrpSpPr>
          <p:grpSpPr>
            <a:xfrm>
              <a:off x="64382" y="1126732"/>
              <a:ext cx="7105650" cy="546326"/>
              <a:chOff x="64382" y="1126732"/>
              <a:chExt cx="7105650" cy="546326"/>
            </a:xfrm>
          </p:grpSpPr>
          <p:grpSp>
            <p:nvGrpSpPr>
              <p:cNvPr id="13" name="Group 12">
                <a:extLst>
                  <a:ext uri="{FF2B5EF4-FFF2-40B4-BE49-F238E27FC236}">
                    <a16:creationId xmlns:a16="http://schemas.microsoft.com/office/drawing/2014/main" id="{F10248B8-A996-E647-93C3-60ABA84E808B}"/>
                  </a:ext>
                </a:extLst>
              </p:cNvPr>
              <p:cNvGrpSpPr/>
              <p:nvPr/>
            </p:nvGrpSpPr>
            <p:grpSpPr>
              <a:xfrm>
                <a:off x="454025" y="1187532"/>
                <a:ext cx="1108075" cy="308759"/>
                <a:chOff x="454025" y="1187532"/>
                <a:chExt cx="1108075" cy="308759"/>
              </a:xfrm>
            </p:grpSpPr>
            <p:cxnSp>
              <p:nvCxnSpPr>
                <p:cNvPr id="10" name="Straight Connector 9">
                  <a:extLst>
                    <a:ext uri="{FF2B5EF4-FFF2-40B4-BE49-F238E27FC236}">
                      <a16:creationId xmlns:a16="http://schemas.microsoft.com/office/drawing/2014/main" id="{C9286F51-8C65-7746-B670-99B51FF6AB15}"/>
                    </a:ext>
                  </a:extLst>
                </p:cNvPr>
                <p:cNvCxnSpPr/>
                <p:nvPr/>
              </p:nvCxnSpPr>
              <p:spPr>
                <a:xfrm flipV="1">
                  <a:off x="454025" y="1187532"/>
                  <a:ext cx="552450" cy="308759"/>
                </a:xfrm>
                <a:prstGeom prst="lin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AB64DABD-6153-7142-A47A-C5FBEBB4AB5D}"/>
                    </a:ext>
                  </a:extLst>
                </p:cNvPr>
                <p:cNvCxnSpPr/>
                <p:nvPr/>
              </p:nvCxnSpPr>
              <p:spPr>
                <a:xfrm>
                  <a:off x="1006475" y="1187532"/>
                  <a:ext cx="555625" cy="242805"/>
                </a:xfrm>
                <a:prstGeom prst="lin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cxnSp>
          </p:grpSp>
          <p:grpSp>
            <p:nvGrpSpPr>
              <p:cNvPr id="63" name="Group 62">
                <a:extLst>
                  <a:ext uri="{FF2B5EF4-FFF2-40B4-BE49-F238E27FC236}">
                    <a16:creationId xmlns:a16="http://schemas.microsoft.com/office/drawing/2014/main" id="{DDF1B4CC-F61B-894C-8684-16C722339D24}"/>
                  </a:ext>
                </a:extLst>
              </p:cNvPr>
              <p:cNvGrpSpPr/>
              <p:nvPr/>
            </p:nvGrpSpPr>
            <p:grpSpPr>
              <a:xfrm>
                <a:off x="1533525" y="1126732"/>
                <a:ext cx="1006475" cy="408380"/>
                <a:chOff x="454025" y="1187532"/>
                <a:chExt cx="1006475" cy="408380"/>
              </a:xfrm>
            </p:grpSpPr>
            <p:cxnSp>
              <p:nvCxnSpPr>
                <p:cNvPr id="64" name="Straight Connector 63">
                  <a:extLst>
                    <a:ext uri="{FF2B5EF4-FFF2-40B4-BE49-F238E27FC236}">
                      <a16:creationId xmlns:a16="http://schemas.microsoft.com/office/drawing/2014/main" id="{E5A67C7F-26D7-7748-B28E-E434C69B0168}"/>
                    </a:ext>
                  </a:extLst>
                </p:cNvPr>
                <p:cNvCxnSpPr/>
                <p:nvPr/>
              </p:nvCxnSpPr>
              <p:spPr>
                <a:xfrm flipV="1">
                  <a:off x="454025" y="1187532"/>
                  <a:ext cx="552450" cy="308759"/>
                </a:xfrm>
                <a:prstGeom prst="lin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cxnSp>
            <p:cxnSp>
              <p:nvCxnSpPr>
                <p:cNvPr id="65" name="Straight Connector 64">
                  <a:extLst>
                    <a:ext uri="{FF2B5EF4-FFF2-40B4-BE49-F238E27FC236}">
                      <a16:creationId xmlns:a16="http://schemas.microsoft.com/office/drawing/2014/main" id="{DCD20DFC-AC7D-2844-914C-A0AE1AEC022E}"/>
                    </a:ext>
                  </a:extLst>
                </p:cNvPr>
                <p:cNvCxnSpPr>
                  <a:cxnSpLocks/>
                </p:cNvCxnSpPr>
                <p:nvPr/>
              </p:nvCxnSpPr>
              <p:spPr>
                <a:xfrm>
                  <a:off x="971550" y="1221263"/>
                  <a:ext cx="488950" cy="374649"/>
                </a:xfrm>
                <a:prstGeom prst="lin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cxnSp>
          </p:grpSp>
          <p:grpSp>
            <p:nvGrpSpPr>
              <p:cNvPr id="68" name="Group 67">
                <a:extLst>
                  <a:ext uri="{FF2B5EF4-FFF2-40B4-BE49-F238E27FC236}">
                    <a16:creationId xmlns:a16="http://schemas.microsoft.com/office/drawing/2014/main" id="{C5E6E507-2CCA-D741-AEDD-3C71357F4950}"/>
                  </a:ext>
                </a:extLst>
              </p:cNvPr>
              <p:cNvGrpSpPr/>
              <p:nvPr/>
            </p:nvGrpSpPr>
            <p:grpSpPr>
              <a:xfrm>
                <a:off x="2525712" y="1208934"/>
                <a:ext cx="1119188" cy="408380"/>
                <a:chOff x="454025" y="1187532"/>
                <a:chExt cx="1006475" cy="408380"/>
              </a:xfrm>
            </p:grpSpPr>
            <p:cxnSp>
              <p:nvCxnSpPr>
                <p:cNvPr id="69" name="Straight Connector 68">
                  <a:extLst>
                    <a:ext uri="{FF2B5EF4-FFF2-40B4-BE49-F238E27FC236}">
                      <a16:creationId xmlns:a16="http://schemas.microsoft.com/office/drawing/2014/main" id="{ACC56E22-C0CA-5B4C-8AF3-CD6A70D7E6FD}"/>
                    </a:ext>
                  </a:extLst>
                </p:cNvPr>
                <p:cNvCxnSpPr/>
                <p:nvPr/>
              </p:nvCxnSpPr>
              <p:spPr>
                <a:xfrm flipV="1">
                  <a:off x="454025" y="1187532"/>
                  <a:ext cx="552450" cy="308759"/>
                </a:xfrm>
                <a:prstGeom prst="lin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cxnSp>
            <p:cxnSp>
              <p:nvCxnSpPr>
                <p:cNvPr id="70" name="Straight Connector 69">
                  <a:extLst>
                    <a:ext uri="{FF2B5EF4-FFF2-40B4-BE49-F238E27FC236}">
                      <a16:creationId xmlns:a16="http://schemas.microsoft.com/office/drawing/2014/main" id="{663227B6-7961-7542-ABC0-05696D9CFA4B}"/>
                    </a:ext>
                  </a:extLst>
                </p:cNvPr>
                <p:cNvCxnSpPr>
                  <a:cxnSpLocks/>
                </p:cNvCxnSpPr>
                <p:nvPr/>
              </p:nvCxnSpPr>
              <p:spPr>
                <a:xfrm>
                  <a:off x="971550" y="1221263"/>
                  <a:ext cx="488950" cy="374649"/>
                </a:xfrm>
                <a:prstGeom prst="lin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cxnSp>
          </p:grpSp>
          <p:grpSp>
            <p:nvGrpSpPr>
              <p:cNvPr id="71" name="Group 70">
                <a:extLst>
                  <a:ext uri="{FF2B5EF4-FFF2-40B4-BE49-F238E27FC236}">
                    <a16:creationId xmlns:a16="http://schemas.microsoft.com/office/drawing/2014/main" id="{A18D70C1-D6BD-8C49-B33B-836CDFF99298}"/>
                  </a:ext>
                </a:extLst>
              </p:cNvPr>
              <p:cNvGrpSpPr/>
              <p:nvPr/>
            </p:nvGrpSpPr>
            <p:grpSpPr>
              <a:xfrm rot="20685508">
                <a:off x="3505679" y="1166730"/>
                <a:ext cx="1154942" cy="392485"/>
                <a:chOff x="454025" y="1187532"/>
                <a:chExt cx="1038628" cy="392485"/>
              </a:xfrm>
            </p:grpSpPr>
            <p:cxnSp>
              <p:nvCxnSpPr>
                <p:cNvPr id="72" name="Straight Connector 71">
                  <a:extLst>
                    <a:ext uri="{FF2B5EF4-FFF2-40B4-BE49-F238E27FC236}">
                      <a16:creationId xmlns:a16="http://schemas.microsoft.com/office/drawing/2014/main" id="{64801D2D-1AF5-7444-856C-8CDADCB4270A}"/>
                    </a:ext>
                  </a:extLst>
                </p:cNvPr>
                <p:cNvCxnSpPr/>
                <p:nvPr/>
              </p:nvCxnSpPr>
              <p:spPr>
                <a:xfrm flipV="1">
                  <a:off x="454025" y="1187532"/>
                  <a:ext cx="552450" cy="308759"/>
                </a:xfrm>
                <a:prstGeom prst="lin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cxnSp>
            <p:cxnSp>
              <p:nvCxnSpPr>
                <p:cNvPr id="73" name="Straight Connector 72">
                  <a:extLst>
                    <a:ext uri="{FF2B5EF4-FFF2-40B4-BE49-F238E27FC236}">
                      <a16:creationId xmlns:a16="http://schemas.microsoft.com/office/drawing/2014/main" id="{3B648FE5-8670-6943-B1B2-CD6E86C1B4FB}"/>
                    </a:ext>
                  </a:extLst>
                </p:cNvPr>
                <p:cNvCxnSpPr>
                  <a:cxnSpLocks/>
                </p:cNvCxnSpPr>
                <p:nvPr/>
              </p:nvCxnSpPr>
              <p:spPr>
                <a:xfrm rot="914492">
                  <a:off x="907049" y="1275279"/>
                  <a:ext cx="585604" cy="304738"/>
                </a:xfrm>
                <a:prstGeom prst="lin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cxnSp>
          </p:grpSp>
          <p:grpSp>
            <p:nvGrpSpPr>
              <p:cNvPr id="75" name="Group 74">
                <a:extLst>
                  <a:ext uri="{FF2B5EF4-FFF2-40B4-BE49-F238E27FC236}">
                    <a16:creationId xmlns:a16="http://schemas.microsoft.com/office/drawing/2014/main" id="{B40AAFE8-C07D-3C49-B68A-CEBE3609B141}"/>
                  </a:ext>
                </a:extLst>
              </p:cNvPr>
              <p:cNvGrpSpPr/>
              <p:nvPr/>
            </p:nvGrpSpPr>
            <p:grpSpPr>
              <a:xfrm>
                <a:off x="4618975" y="1145689"/>
                <a:ext cx="1006475" cy="408380"/>
                <a:chOff x="454025" y="1187532"/>
                <a:chExt cx="1006475" cy="408380"/>
              </a:xfrm>
            </p:grpSpPr>
            <p:cxnSp>
              <p:nvCxnSpPr>
                <p:cNvPr id="76" name="Straight Connector 75">
                  <a:extLst>
                    <a:ext uri="{FF2B5EF4-FFF2-40B4-BE49-F238E27FC236}">
                      <a16:creationId xmlns:a16="http://schemas.microsoft.com/office/drawing/2014/main" id="{0A7E3341-141B-C94F-B98F-8C4252AE4B86}"/>
                    </a:ext>
                  </a:extLst>
                </p:cNvPr>
                <p:cNvCxnSpPr/>
                <p:nvPr/>
              </p:nvCxnSpPr>
              <p:spPr>
                <a:xfrm flipV="1">
                  <a:off x="454025" y="1187532"/>
                  <a:ext cx="552450" cy="308759"/>
                </a:xfrm>
                <a:prstGeom prst="lin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cxnSp>
            <p:cxnSp>
              <p:nvCxnSpPr>
                <p:cNvPr id="77" name="Straight Connector 76">
                  <a:extLst>
                    <a:ext uri="{FF2B5EF4-FFF2-40B4-BE49-F238E27FC236}">
                      <a16:creationId xmlns:a16="http://schemas.microsoft.com/office/drawing/2014/main" id="{FDC21288-DD81-AF49-A611-4F7494D49008}"/>
                    </a:ext>
                  </a:extLst>
                </p:cNvPr>
                <p:cNvCxnSpPr>
                  <a:cxnSpLocks/>
                </p:cNvCxnSpPr>
                <p:nvPr/>
              </p:nvCxnSpPr>
              <p:spPr>
                <a:xfrm>
                  <a:off x="971550" y="1221263"/>
                  <a:ext cx="488950" cy="374649"/>
                </a:xfrm>
                <a:prstGeom prst="lin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cxnSp>
          </p:grpSp>
          <p:grpSp>
            <p:nvGrpSpPr>
              <p:cNvPr id="78" name="Group 77">
                <a:extLst>
                  <a:ext uri="{FF2B5EF4-FFF2-40B4-BE49-F238E27FC236}">
                    <a16:creationId xmlns:a16="http://schemas.microsoft.com/office/drawing/2014/main" id="{BCC06E6F-0590-4645-8396-5E726B5E4D0F}"/>
                  </a:ext>
                </a:extLst>
              </p:cNvPr>
              <p:cNvGrpSpPr/>
              <p:nvPr/>
            </p:nvGrpSpPr>
            <p:grpSpPr>
              <a:xfrm>
                <a:off x="5605825" y="1232684"/>
                <a:ext cx="1006475" cy="408380"/>
                <a:chOff x="454025" y="1187532"/>
                <a:chExt cx="1006475" cy="408380"/>
              </a:xfrm>
            </p:grpSpPr>
            <p:cxnSp>
              <p:nvCxnSpPr>
                <p:cNvPr id="79" name="Straight Connector 78">
                  <a:extLst>
                    <a:ext uri="{FF2B5EF4-FFF2-40B4-BE49-F238E27FC236}">
                      <a16:creationId xmlns:a16="http://schemas.microsoft.com/office/drawing/2014/main" id="{7A098EE3-6C10-1843-BC41-F2BE7E7527C6}"/>
                    </a:ext>
                  </a:extLst>
                </p:cNvPr>
                <p:cNvCxnSpPr/>
                <p:nvPr/>
              </p:nvCxnSpPr>
              <p:spPr>
                <a:xfrm flipV="1">
                  <a:off x="454025" y="1187532"/>
                  <a:ext cx="552450" cy="308759"/>
                </a:xfrm>
                <a:prstGeom prst="lin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cxnSp>
            <p:cxnSp>
              <p:nvCxnSpPr>
                <p:cNvPr id="80" name="Straight Connector 79">
                  <a:extLst>
                    <a:ext uri="{FF2B5EF4-FFF2-40B4-BE49-F238E27FC236}">
                      <a16:creationId xmlns:a16="http://schemas.microsoft.com/office/drawing/2014/main" id="{226D2006-1DAD-544B-8083-D961E0609A82}"/>
                    </a:ext>
                  </a:extLst>
                </p:cNvPr>
                <p:cNvCxnSpPr>
                  <a:cxnSpLocks/>
                </p:cNvCxnSpPr>
                <p:nvPr/>
              </p:nvCxnSpPr>
              <p:spPr>
                <a:xfrm>
                  <a:off x="971550" y="1221263"/>
                  <a:ext cx="488950" cy="374649"/>
                </a:xfrm>
                <a:prstGeom prst="lin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cxnSp>
          </p:grpSp>
          <p:cxnSp>
            <p:nvCxnSpPr>
              <p:cNvPr id="81" name="Straight Connector 80">
                <a:extLst>
                  <a:ext uri="{FF2B5EF4-FFF2-40B4-BE49-F238E27FC236}">
                    <a16:creationId xmlns:a16="http://schemas.microsoft.com/office/drawing/2014/main" id="{DDAA8122-8DF0-AB47-BBC8-EB77CE26DC59}"/>
                  </a:ext>
                </a:extLst>
              </p:cNvPr>
              <p:cNvCxnSpPr>
                <a:cxnSpLocks/>
              </p:cNvCxnSpPr>
              <p:nvPr/>
            </p:nvCxnSpPr>
            <p:spPr>
              <a:xfrm flipH="1">
                <a:off x="6619532" y="1218681"/>
                <a:ext cx="550500" cy="454377"/>
              </a:xfrm>
              <a:prstGeom prst="lin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cxnSp>
          <p:cxnSp>
            <p:nvCxnSpPr>
              <p:cNvPr id="83" name="Straight Connector 82">
                <a:extLst>
                  <a:ext uri="{FF2B5EF4-FFF2-40B4-BE49-F238E27FC236}">
                    <a16:creationId xmlns:a16="http://schemas.microsoft.com/office/drawing/2014/main" id="{5A660D37-01CF-7C43-81EC-6D6AD7069E94}"/>
                  </a:ext>
                </a:extLst>
              </p:cNvPr>
              <p:cNvCxnSpPr>
                <a:cxnSpLocks/>
              </p:cNvCxnSpPr>
              <p:nvPr/>
            </p:nvCxnSpPr>
            <p:spPr>
              <a:xfrm>
                <a:off x="64382" y="1229428"/>
                <a:ext cx="395993" cy="281150"/>
              </a:xfrm>
              <a:prstGeom prst="line">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cxnSp>
        </p:grpSp>
        <p:sp>
          <p:nvSpPr>
            <p:cNvPr id="20" name="TextBox 19">
              <a:extLst>
                <a:ext uri="{FF2B5EF4-FFF2-40B4-BE49-F238E27FC236}">
                  <a16:creationId xmlns:a16="http://schemas.microsoft.com/office/drawing/2014/main" id="{FDC941A6-F1AE-F142-8F3C-2D1602AB2F2C}"/>
                </a:ext>
              </a:extLst>
            </p:cNvPr>
            <p:cNvSpPr txBox="1"/>
            <p:nvPr/>
          </p:nvSpPr>
          <p:spPr>
            <a:xfrm>
              <a:off x="4870263" y="2293633"/>
              <a:ext cx="3105337"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lang="en-US" dirty="0">
                  <a:solidFill>
                    <a:srgbClr val="FF0000"/>
                  </a:solidFill>
                  <a:uFill>
                    <a:solidFill>
                      <a:srgbClr val="000000"/>
                    </a:solidFill>
                  </a:uFill>
                </a:rPr>
                <a:t>m</a:t>
              </a:r>
              <a:r>
                <a:rPr kumimoji="0" lang="en-US" sz="2000" b="1" i="0" u="none" strike="noStrike" cap="none" spc="0" normalizeH="0" baseline="0" dirty="0">
                  <a:ln>
                    <a:noFill/>
                  </a:ln>
                  <a:solidFill>
                    <a:srgbClr val="FF0000"/>
                  </a:solidFill>
                  <a:effectLst/>
                  <a:uFill>
                    <a:solidFill>
                      <a:srgbClr val="000000"/>
                    </a:solidFill>
                  </a:uFill>
                  <a:latin typeface="Helvetica"/>
                  <a:ea typeface="Helvetica"/>
                  <a:cs typeface="Helvetica"/>
                  <a:sym typeface="Helvetica"/>
                </a:rPr>
                <a:t>ain spine of backbone</a:t>
              </a:r>
            </a:p>
          </p:txBody>
        </p:sp>
      </p:grpSp>
      <p:grpSp>
        <p:nvGrpSpPr>
          <p:cNvPr id="22" name="Group 21">
            <a:extLst>
              <a:ext uri="{FF2B5EF4-FFF2-40B4-BE49-F238E27FC236}">
                <a16:creationId xmlns:a16="http://schemas.microsoft.com/office/drawing/2014/main" id="{DAEC1876-238E-C643-A33A-0AEA332E1352}"/>
              </a:ext>
            </a:extLst>
          </p:cNvPr>
          <p:cNvGrpSpPr>
            <a:grpSpLocks noChangeAspect="1"/>
          </p:cNvGrpSpPr>
          <p:nvPr/>
        </p:nvGrpSpPr>
        <p:grpSpPr>
          <a:xfrm>
            <a:off x="1956121" y="5483860"/>
            <a:ext cx="1102806" cy="1097280"/>
            <a:chOff x="3619458" y="4333201"/>
            <a:chExt cx="2001425" cy="1991399"/>
          </a:xfrm>
        </p:grpSpPr>
        <p:grpSp>
          <p:nvGrpSpPr>
            <p:cNvPr id="88" name="Group 87">
              <a:extLst>
                <a:ext uri="{FF2B5EF4-FFF2-40B4-BE49-F238E27FC236}">
                  <a16:creationId xmlns:a16="http://schemas.microsoft.com/office/drawing/2014/main" id="{EAF6AA9A-3DD4-5645-8A0C-29956DADD1BF}"/>
                </a:ext>
              </a:extLst>
            </p:cNvPr>
            <p:cNvGrpSpPr/>
            <p:nvPr/>
          </p:nvGrpSpPr>
          <p:grpSpPr>
            <a:xfrm>
              <a:off x="4244520" y="4333201"/>
              <a:ext cx="682996" cy="924599"/>
              <a:chOff x="7404100" y="1576167"/>
              <a:chExt cx="682996" cy="924599"/>
            </a:xfrm>
          </p:grpSpPr>
          <p:cxnSp>
            <p:nvCxnSpPr>
              <p:cNvPr id="89" name="Straight Arrow Connector 88">
                <a:extLst>
                  <a:ext uri="{FF2B5EF4-FFF2-40B4-BE49-F238E27FC236}">
                    <a16:creationId xmlns:a16="http://schemas.microsoft.com/office/drawing/2014/main" id="{4EAD86DB-A14C-4C4E-8C54-224EFF605430}"/>
                  </a:ext>
                </a:extLst>
              </p:cNvPr>
              <p:cNvCxnSpPr>
                <a:cxnSpLocks/>
              </p:cNvCxnSpPr>
              <p:nvPr/>
            </p:nvCxnSpPr>
            <p:spPr>
              <a:xfrm flipH="1">
                <a:off x="7910252" y="2178070"/>
                <a:ext cx="141719" cy="267115"/>
              </a:xfrm>
              <a:prstGeom prst="straightConnector1">
                <a:avLst/>
              </a:prstGeom>
              <a:noFill/>
              <a:ln w="76200" cap="flat">
                <a:solidFill>
                  <a:srgbClr val="FF0000"/>
                </a:solidFill>
                <a:prstDash val="solid"/>
                <a:round/>
                <a:tailEnd type="triangle"/>
              </a:ln>
              <a:effectLst/>
            </p:spPr>
            <p:style>
              <a:lnRef idx="0">
                <a:scrgbClr r="0" g="0" b="0"/>
              </a:lnRef>
              <a:fillRef idx="0">
                <a:scrgbClr r="0" g="0" b="0"/>
              </a:fillRef>
              <a:effectRef idx="0">
                <a:scrgbClr r="0" g="0" b="0"/>
              </a:effectRef>
              <a:fontRef idx="none"/>
            </p:style>
          </p:cxnSp>
          <p:sp>
            <p:nvSpPr>
              <p:cNvPr id="90" name="Arc 89">
                <a:extLst>
                  <a:ext uri="{FF2B5EF4-FFF2-40B4-BE49-F238E27FC236}">
                    <a16:creationId xmlns:a16="http://schemas.microsoft.com/office/drawing/2014/main" id="{62A19F7B-87F8-2F49-8C15-15DBB22D207E}"/>
                  </a:ext>
                </a:extLst>
              </p:cNvPr>
              <p:cNvSpPr/>
              <p:nvPr/>
            </p:nvSpPr>
            <p:spPr>
              <a:xfrm rot="1253193">
                <a:off x="7404100" y="1576167"/>
                <a:ext cx="682996" cy="924599"/>
              </a:xfrm>
              <a:prstGeom prst="arc">
                <a:avLst>
                  <a:gd name="adj1" fmla="val 12163726"/>
                  <a:gd name="adj2" fmla="val 280702"/>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grpSp>
        <p:grpSp>
          <p:nvGrpSpPr>
            <p:cNvPr id="91" name="Group 90">
              <a:extLst>
                <a:ext uri="{FF2B5EF4-FFF2-40B4-BE49-F238E27FC236}">
                  <a16:creationId xmlns:a16="http://schemas.microsoft.com/office/drawing/2014/main" id="{12F0580A-2914-2A44-A018-8C5BE244467E}"/>
                </a:ext>
              </a:extLst>
            </p:cNvPr>
            <p:cNvGrpSpPr/>
            <p:nvPr/>
          </p:nvGrpSpPr>
          <p:grpSpPr>
            <a:xfrm>
              <a:off x="3619458" y="5218311"/>
              <a:ext cx="682996" cy="924599"/>
              <a:chOff x="7404100" y="1576167"/>
              <a:chExt cx="682996" cy="924599"/>
            </a:xfrm>
          </p:grpSpPr>
          <p:cxnSp>
            <p:nvCxnSpPr>
              <p:cNvPr id="92" name="Straight Arrow Connector 91">
                <a:extLst>
                  <a:ext uri="{FF2B5EF4-FFF2-40B4-BE49-F238E27FC236}">
                    <a16:creationId xmlns:a16="http://schemas.microsoft.com/office/drawing/2014/main" id="{63AB0353-66F5-C540-982D-10DD858693B9}"/>
                  </a:ext>
                </a:extLst>
              </p:cNvPr>
              <p:cNvCxnSpPr>
                <a:cxnSpLocks/>
              </p:cNvCxnSpPr>
              <p:nvPr/>
            </p:nvCxnSpPr>
            <p:spPr>
              <a:xfrm flipH="1">
                <a:off x="7910252" y="2178070"/>
                <a:ext cx="141719" cy="267115"/>
              </a:xfrm>
              <a:prstGeom prst="straightConnector1">
                <a:avLst/>
              </a:prstGeom>
              <a:noFill/>
              <a:ln w="76200" cap="flat">
                <a:solidFill>
                  <a:srgbClr val="FF0000"/>
                </a:solidFill>
                <a:prstDash val="solid"/>
                <a:round/>
                <a:tailEnd type="triangle"/>
              </a:ln>
              <a:effectLst/>
            </p:spPr>
            <p:style>
              <a:lnRef idx="0">
                <a:scrgbClr r="0" g="0" b="0"/>
              </a:lnRef>
              <a:fillRef idx="0">
                <a:scrgbClr r="0" g="0" b="0"/>
              </a:fillRef>
              <a:effectRef idx="0">
                <a:scrgbClr r="0" g="0" b="0"/>
              </a:effectRef>
              <a:fontRef idx="none"/>
            </p:style>
          </p:cxnSp>
          <p:sp>
            <p:nvSpPr>
              <p:cNvPr id="93" name="Arc 92">
                <a:extLst>
                  <a:ext uri="{FF2B5EF4-FFF2-40B4-BE49-F238E27FC236}">
                    <a16:creationId xmlns:a16="http://schemas.microsoft.com/office/drawing/2014/main" id="{5DB5D37D-BD51-8D45-A1B2-E9F3B55BD25B}"/>
                  </a:ext>
                </a:extLst>
              </p:cNvPr>
              <p:cNvSpPr/>
              <p:nvPr/>
            </p:nvSpPr>
            <p:spPr>
              <a:xfrm rot="1253193">
                <a:off x="7404100" y="1576167"/>
                <a:ext cx="682996" cy="924599"/>
              </a:xfrm>
              <a:prstGeom prst="arc">
                <a:avLst>
                  <a:gd name="adj1" fmla="val 12163726"/>
                  <a:gd name="adj2" fmla="val 280702"/>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grpSp>
        <p:sp>
          <p:nvSpPr>
            <p:cNvPr id="94" name="Rectangle 93">
              <a:extLst>
                <a:ext uri="{FF2B5EF4-FFF2-40B4-BE49-F238E27FC236}">
                  <a16:creationId xmlns:a16="http://schemas.microsoft.com/office/drawing/2014/main" id="{72B89CF5-7B1D-1D42-BBB7-EA912F05781E}"/>
                </a:ext>
              </a:extLst>
            </p:cNvPr>
            <p:cNvSpPr/>
            <p:nvPr/>
          </p:nvSpPr>
          <p:spPr>
            <a:xfrm>
              <a:off x="4229357" y="5739825"/>
              <a:ext cx="577722" cy="584775"/>
            </a:xfrm>
            <a:prstGeom prst="rect">
              <a:avLst/>
            </a:prstGeom>
          </p:spPr>
          <p:txBody>
            <a:bodyPr wrap="none">
              <a:spAutoFit/>
            </a:bodyPr>
            <a:lstStyle/>
            <a:p>
              <a:r>
                <a:rPr lang="en-US" altLang="en-US" sz="3200" b="0" dirty="0" err="1">
                  <a:solidFill>
                    <a:srgbClr val="000000"/>
                  </a:solidFill>
                  <a:latin typeface="Gill Sans" charset="0"/>
                  <a:ea typeface="Gill Sans" charset="0"/>
                  <a:cs typeface="Gill Sans" charset="0"/>
                  <a:sym typeface="Symbol" charset="2"/>
                </a:rPr>
                <a:t>Φ</a:t>
              </a:r>
              <a:endParaRPr lang="en-US" sz="3200" dirty="0"/>
            </a:p>
          </p:txBody>
        </p:sp>
        <p:sp>
          <p:nvSpPr>
            <p:cNvPr id="95" name="Rectangle 94">
              <a:extLst>
                <a:ext uri="{FF2B5EF4-FFF2-40B4-BE49-F238E27FC236}">
                  <a16:creationId xmlns:a16="http://schemas.microsoft.com/office/drawing/2014/main" id="{F2439DCC-447F-4542-AE6D-A85D295B5F4A}"/>
                </a:ext>
              </a:extLst>
            </p:cNvPr>
            <p:cNvSpPr/>
            <p:nvPr/>
          </p:nvSpPr>
          <p:spPr>
            <a:xfrm>
              <a:off x="4932553" y="4587048"/>
              <a:ext cx="688330" cy="584775"/>
            </a:xfrm>
            <a:prstGeom prst="rect">
              <a:avLst/>
            </a:prstGeom>
          </p:spPr>
          <p:txBody>
            <a:bodyPr wrap="none">
              <a:spAutoFit/>
            </a:bodyPr>
            <a:lstStyle/>
            <a:p>
              <a:r>
                <a:rPr lang="en-US" altLang="en-US" sz="3200" b="0" dirty="0" err="1">
                  <a:solidFill>
                    <a:srgbClr val="000000"/>
                  </a:solidFill>
                  <a:latin typeface="Gill Sans" charset="0"/>
                  <a:ea typeface="Gill Sans" charset="0"/>
                  <a:cs typeface="Gill Sans" charset="0"/>
                  <a:sym typeface="Symbol" charset="2"/>
                </a:rPr>
                <a:t>Ψ</a:t>
              </a:r>
              <a:r>
                <a:rPr lang="en-US" altLang="en-US" sz="3200" b="0" dirty="0">
                  <a:solidFill>
                    <a:srgbClr val="000000"/>
                  </a:solidFill>
                  <a:latin typeface="Gill Sans" charset="0"/>
                  <a:ea typeface="Gill Sans" charset="0"/>
                  <a:cs typeface="Gill Sans" charset="0"/>
                </a:rPr>
                <a:t> </a:t>
              </a:r>
              <a:endParaRPr lang="en-US" sz="3200" dirty="0"/>
            </a:p>
          </p:txBody>
        </p:sp>
      </p:grpSp>
      <p:grpSp>
        <p:nvGrpSpPr>
          <p:cNvPr id="24" name="Group 23">
            <a:extLst>
              <a:ext uri="{FF2B5EF4-FFF2-40B4-BE49-F238E27FC236}">
                <a16:creationId xmlns:a16="http://schemas.microsoft.com/office/drawing/2014/main" id="{77C085C5-364E-AD4C-AEBF-0702894A648E}"/>
              </a:ext>
            </a:extLst>
          </p:cNvPr>
          <p:cNvGrpSpPr/>
          <p:nvPr/>
        </p:nvGrpSpPr>
        <p:grpSpPr>
          <a:xfrm>
            <a:off x="2462099" y="4436703"/>
            <a:ext cx="1123687" cy="743112"/>
            <a:chOff x="2509599" y="4436703"/>
            <a:chExt cx="1123687" cy="743112"/>
          </a:xfrm>
        </p:grpSpPr>
        <p:sp>
          <p:nvSpPr>
            <p:cNvPr id="100" name="TextBox 99">
              <a:extLst>
                <a:ext uri="{FF2B5EF4-FFF2-40B4-BE49-F238E27FC236}">
                  <a16:creationId xmlns:a16="http://schemas.microsoft.com/office/drawing/2014/main" id="{F50EBF0E-81C4-0A40-966B-A0B9233F8929}"/>
                </a:ext>
              </a:extLst>
            </p:cNvPr>
            <p:cNvSpPr txBox="1"/>
            <p:nvPr/>
          </p:nvSpPr>
          <p:spPr>
            <a:xfrm rot="4414073">
              <a:off x="2600971" y="4645194"/>
              <a:ext cx="412292"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FFFF00"/>
                  </a:solidFill>
                  <a:effectLst/>
                  <a:uFill>
                    <a:solidFill>
                      <a:srgbClr val="000000"/>
                    </a:solidFill>
                  </a:uFill>
                  <a:latin typeface="Helvetica"/>
                  <a:ea typeface="Helvetica"/>
                  <a:cs typeface="Helvetica"/>
                  <a:sym typeface="Helvetica"/>
                </a:rPr>
                <a:t>x</a:t>
              </a:r>
            </a:p>
          </p:txBody>
        </p:sp>
        <p:grpSp>
          <p:nvGrpSpPr>
            <p:cNvPr id="23" name="Group 22">
              <a:extLst>
                <a:ext uri="{FF2B5EF4-FFF2-40B4-BE49-F238E27FC236}">
                  <a16:creationId xmlns:a16="http://schemas.microsoft.com/office/drawing/2014/main" id="{A64308CA-1863-F040-BCDF-F2B3C81ED110}"/>
                </a:ext>
              </a:extLst>
            </p:cNvPr>
            <p:cNvGrpSpPr/>
            <p:nvPr/>
          </p:nvGrpSpPr>
          <p:grpSpPr>
            <a:xfrm>
              <a:off x="2564212" y="4436703"/>
              <a:ext cx="1069074" cy="743112"/>
              <a:chOff x="2564212" y="4436703"/>
              <a:chExt cx="1069074" cy="743112"/>
            </a:xfrm>
          </p:grpSpPr>
          <p:grpSp>
            <p:nvGrpSpPr>
              <p:cNvPr id="102" name="Group 101">
                <a:extLst>
                  <a:ext uri="{FF2B5EF4-FFF2-40B4-BE49-F238E27FC236}">
                    <a16:creationId xmlns:a16="http://schemas.microsoft.com/office/drawing/2014/main" id="{BD127A6B-7966-D74A-BD4F-F525BD5F5667}"/>
                  </a:ext>
                </a:extLst>
              </p:cNvPr>
              <p:cNvGrpSpPr/>
              <p:nvPr/>
            </p:nvGrpSpPr>
            <p:grpSpPr>
              <a:xfrm rot="18501281">
                <a:off x="2640236" y="4722623"/>
                <a:ext cx="381168" cy="533215"/>
                <a:chOff x="7404100" y="1576167"/>
                <a:chExt cx="682996" cy="924599"/>
              </a:xfrm>
            </p:grpSpPr>
            <p:cxnSp>
              <p:nvCxnSpPr>
                <p:cNvPr id="103" name="Straight Arrow Connector 102">
                  <a:extLst>
                    <a:ext uri="{FF2B5EF4-FFF2-40B4-BE49-F238E27FC236}">
                      <a16:creationId xmlns:a16="http://schemas.microsoft.com/office/drawing/2014/main" id="{DB80C533-6EFF-2847-83CE-DE0F91647501}"/>
                    </a:ext>
                  </a:extLst>
                </p:cNvPr>
                <p:cNvCxnSpPr>
                  <a:cxnSpLocks/>
                </p:cNvCxnSpPr>
                <p:nvPr/>
              </p:nvCxnSpPr>
              <p:spPr>
                <a:xfrm flipH="1">
                  <a:off x="7910252" y="2178070"/>
                  <a:ext cx="141719" cy="267115"/>
                </a:xfrm>
                <a:prstGeom prst="straightConnector1">
                  <a:avLst/>
                </a:prstGeom>
                <a:noFill/>
                <a:ln w="76200" cap="flat">
                  <a:solidFill>
                    <a:srgbClr val="FF0000"/>
                  </a:solidFill>
                  <a:prstDash val="solid"/>
                  <a:round/>
                  <a:tailEnd type="triangle"/>
                </a:ln>
                <a:effectLst/>
              </p:spPr>
              <p:style>
                <a:lnRef idx="0">
                  <a:scrgbClr r="0" g="0" b="0"/>
                </a:lnRef>
                <a:fillRef idx="0">
                  <a:scrgbClr r="0" g="0" b="0"/>
                </a:fillRef>
                <a:effectRef idx="0">
                  <a:scrgbClr r="0" g="0" b="0"/>
                </a:effectRef>
                <a:fontRef idx="none"/>
              </p:style>
            </p:cxnSp>
            <p:sp>
              <p:nvSpPr>
                <p:cNvPr id="104" name="Arc 103">
                  <a:extLst>
                    <a:ext uri="{FF2B5EF4-FFF2-40B4-BE49-F238E27FC236}">
                      <a16:creationId xmlns:a16="http://schemas.microsoft.com/office/drawing/2014/main" id="{64622F57-9E10-884A-9956-19C5CCAB8E74}"/>
                    </a:ext>
                  </a:extLst>
                </p:cNvPr>
                <p:cNvSpPr/>
                <p:nvPr/>
              </p:nvSpPr>
              <p:spPr>
                <a:xfrm rot="1253193">
                  <a:off x="7404100" y="1576167"/>
                  <a:ext cx="682996" cy="924599"/>
                </a:xfrm>
                <a:prstGeom prst="arc">
                  <a:avLst>
                    <a:gd name="adj1" fmla="val 12163726"/>
                    <a:gd name="adj2" fmla="val 280702"/>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highlight>
                      <a:srgbClr val="FFFF00"/>
                    </a:highlight>
                    <a:uFillTx/>
                  </a:endParaRPr>
                </a:p>
              </p:txBody>
            </p:sp>
          </p:grpSp>
          <p:sp>
            <p:nvSpPr>
              <p:cNvPr id="105" name="Rectangle 104">
                <a:extLst>
                  <a:ext uri="{FF2B5EF4-FFF2-40B4-BE49-F238E27FC236}">
                    <a16:creationId xmlns:a16="http://schemas.microsoft.com/office/drawing/2014/main" id="{0A26C996-EBE2-2B48-A0C2-E3D782D67A4E}"/>
                  </a:ext>
                </a:extLst>
              </p:cNvPr>
              <p:cNvSpPr/>
              <p:nvPr/>
            </p:nvSpPr>
            <p:spPr>
              <a:xfrm>
                <a:off x="2944956" y="4436703"/>
                <a:ext cx="688330" cy="584775"/>
              </a:xfrm>
              <a:prstGeom prst="rect">
                <a:avLst/>
              </a:prstGeom>
            </p:spPr>
            <p:txBody>
              <a:bodyPr wrap="none">
                <a:spAutoFit/>
              </a:bodyPr>
              <a:lstStyle/>
              <a:p>
                <a:r>
                  <a:rPr lang="en-US" altLang="en-US" sz="3200" b="0" dirty="0">
                    <a:solidFill>
                      <a:srgbClr val="000000"/>
                    </a:solidFill>
                    <a:latin typeface="Symbol" pitchFamily="2" charset="2"/>
                    <a:ea typeface="Gill Sans" charset="0"/>
                    <a:cs typeface="Gill Sans" charset="0"/>
                    <a:sym typeface="Symbol" charset="2"/>
                  </a:rPr>
                  <a:t>w</a:t>
                </a:r>
                <a:r>
                  <a:rPr lang="en-US" altLang="en-US" sz="3200" b="0" dirty="0">
                    <a:solidFill>
                      <a:srgbClr val="000000"/>
                    </a:solidFill>
                    <a:latin typeface="Gill Sans" charset="0"/>
                    <a:ea typeface="Gill Sans" charset="0"/>
                    <a:cs typeface="Gill Sans" charset="0"/>
                  </a:rPr>
                  <a:t> </a:t>
                </a:r>
                <a:endParaRPr lang="en-US" sz="3200" dirty="0"/>
              </a:p>
            </p:txBody>
          </p:sp>
        </p:grpSp>
      </p:grpSp>
    </p:spTree>
    <p:extLst>
      <p:ext uri="{BB962C8B-B14F-4D97-AF65-F5344CB8AC3E}">
        <p14:creationId xmlns:p14="http://schemas.microsoft.com/office/powerpoint/2010/main" val="1023931817"/>
      </p:ext>
    </p:extLst>
  </p:cSld>
  <p:clrMapOvr>
    <a:masterClrMapping/>
  </p:clrMapOvr>
  <p:transition spd="med" advClick="0" advTm="0"/>
  <p:timing>
    <p:tnLst>
      <p:par>
        <p:cTn id="1" dur="indefinite" restart="never" fill="hold" nodeType="tmRoot">
          <p:childTnLst>
            <p:seq concurrent="1" prevAc="none" nextAc="seek">
              <p:cTn id="2" dur="indefinite" fill="hold"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xit" presetSubtype="0" fill="hold" nodeType="clickEffect">
                                  <p:stCondLst>
                                    <p:cond delay="0"/>
                                  </p:stCondLst>
                                  <p:childTnLst>
                                    <p:animEffect transition="out" filter="dissolve">
                                      <p:cBhvr>
                                        <p:cTn id="12" dur="500"/>
                                        <p:tgtEl>
                                          <p:spTgt spid="21"/>
                                        </p:tgtEl>
                                      </p:cBhvr>
                                    </p:animEffect>
                                    <p:set>
                                      <p:cBhvr>
                                        <p:cTn id="13" dur="1" fill="hold">
                                          <p:stCondLst>
                                            <p:cond delay="499"/>
                                          </p:stCondLst>
                                        </p:cTn>
                                        <p:tgtEl>
                                          <p:spTgt spid="21"/>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1"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9" presetClass="exit" presetSubtype="0" fill="hold" grpId="0" nodeType="clickEffect">
                                  <p:stCondLst>
                                    <p:cond delay="0"/>
                                  </p:stCondLst>
                                  <p:childTnLst>
                                    <p:animEffect transition="out" filter="dissolve">
                                      <p:cBhvr>
                                        <p:cTn id="23" dur="500"/>
                                        <p:tgtEl>
                                          <p:spTgt spid="4"/>
                                        </p:tgtEl>
                                      </p:cBhvr>
                                    </p:animEffect>
                                    <p:set>
                                      <p:cBhvr>
                                        <p:cTn id="24" dur="1" fill="hold">
                                          <p:stCondLst>
                                            <p:cond delay="499"/>
                                          </p:stCondLst>
                                        </p:cTn>
                                        <p:tgtEl>
                                          <p:spTgt spid="4"/>
                                        </p:tgtEl>
                                        <p:attrNameLst>
                                          <p:attrName>style.visibility</p:attrName>
                                        </p:attrNameLst>
                                      </p:cBhvr>
                                      <p:to>
                                        <p:strVal val="hidden"/>
                                      </p:to>
                                    </p:set>
                                  </p:childTnLst>
                                </p:cTn>
                              </p:par>
                              <p:par>
                                <p:cTn id="25" presetID="9" presetClass="exit" presetSubtype="0" fill="hold" grpId="1" nodeType="withEffect">
                                  <p:stCondLst>
                                    <p:cond delay="0"/>
                                  </p:stCondLst>
                                  <p:childTnLst>
                                    <p:animEffect transition="out" filter="dissolve">
                                      <p:cBhvr>
                                        <p:cTn id="26" dur="500"/>
                                        <p:tgtEl>
                                          <p:spTgt spid="5"/>
                                        </p:tgtEl>
                                      </p:cBhvr>
                                    </p:animEffect>
                                    <p:set>
                                      <p:cBhvr>
                                        <p:cTn id="27" dur="1" fill="hold">
                                          <p:stCondLst>
                                            <p:cond delay="499"/>
                                          </p:stCondLst>
                                        </p:cTn>
                                        <p:tgtEl>
                                          <p:spTgt spid="5"/>
                                        </p:tgtEl>
                                        <p:attrNameLst>
                                          <p:attrName>style.visibility</p:attrName>
                                        </p:attrNameLst>
                                      </p:cBhvr>
                                      <p:to>
                                        <p:strVal val="hidden"/>
                                      </p:to>
                                    </p:set>
                                  </p:childTnLst>
                                </p:cTn>
                              </p:par>
                              <p:par>
                                <p:cTn id="28" presetID="1" presetClass="entr" presetSubtype="0" fill="hold" grpId="0" nodeType="withEffect">
                                  <p:stCondLst>
                                    <p:cond delay="0"/>
                                  </p:stCondLst>
                                  <p:childTnLst>
                                    <p:set>
                                      <p:cBhvr>
                                        <p:cTn id="29" dur="1" fill="hold">
                                          <p:stCondLst>
                                            <p:cond delay="0"/>
                                          </p:stCondLst>
                                        </p:cTn>
                                        <p:tgtEl>
                                          <p:spTgt spid="5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9" presetClass="exit" presetSubtype="0" fill="hold" grpId="1" nodeType="clickEffect">
                                  <p:stCondLst>
                                    <p:cond delay="0"/>
                                  </p:stCondLst>
                                  <p:childTnLst>
                                    <p:animEffect transition="out" filter="dissolve">
                                      <p:cBhvr>
                                        <p:cTn id="35" dur="500"/>
                                        <p:tgtEl>
                                          <p:spTgt spid="52"/>
                                        </p:tgtEl>
                                      </p:cBhvr>
                                    </p:animEffect>
                                    <p:set>
                                      <p:cBhvr>
                                        <p:cTn id="36" dur="1" fill="hold">
                                          <p:stCondLst>
                                            <p:cond delay="499"/>
                                          </p:stCondLst>
                                        </p:cTn>
                                        <p:tgtEl>
                                          <p:spTgt spid="52"/>
                                        </p:tgtEl>
                                        <p:attrNameLst>
                                          <p:attrName>style.visibility</p:attrName>
                                        </p:attrNameLst>
                                      </p:cBhvr>
                                      <p:to>
                                        <p:strVal val="hidden"/>
                                      </p:to>
                                    </p:set>
                                  </p:childTnLst>
                                </p:cTn>
                              </p:par>
                              <p:par>
                                <p:cTn id="37" presetID="9" presetClass="exit" presetSubtype="0" fill="hold" grpId="1" nodeType="withEffect">
                                  <p:stCondLst>
                                    <p:cond delay="0"/>
                                  </p:stCondLst>
                                  <p:childTnLst>
                                    <p:animEffect transition="out" filter="dissolve">
                                      <p:cBhvr>
                                        <p:cTn id="38" dur="500"/>
                                        <p:tgtEl>
                                          <p:spTgt spid="54"/>
                                        </p:tgtEl>
                                      </p:cBhvr>
                                    </p:animEffect>
                                    <p:set>
                                      <p:cBhvr>
                                        <p:cTn id="39" dur="1" fill="hold">
                                          <p:stCondLst>
                                            <p:cond delay="499"/>
                                          </p:stCondLst>
                                        </p:cTn>
                                        <p:tgtEl>
                                          <p:spTgt spid="54"/>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dissolve">
                                      <p:cBhvr>
                                        <p:cTn id="44" dur="500"/>
                                        <p:tgtEl>
                                          <p:spTgt spid="22"/>
                                        </p:tgtEl>
                                      </p:cBhvr>
                                    </p:animEffect>
                                  </p:childTnLst>
                                </p:cTn>
                              </p:par>
                              <p:par>
                                <p:cTn id="45" presetID="9"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dissolve">
                                      <p:cBhvr>
                                        <p:cTn id="47" dur="500"/>
                                        <p:tgtEl>
                                          <p:spTgt spid="24"/>
                                        </p:tgtEl>
                                      </p:cBhvr>
                                    </p:animEffect>
                                  </p:childTnLst>
                                </p:cTn>
                              </p:par>
                              <p:par>
                                <p:cTn id="48" presetID="1" presetClass="entr" presetSubtype="0" fill="hold" grpId="0" nodeType="withEffect">
                                  <p:stCondLst>
                                    <p:cond delay="0"/>
                                  </p:stCondLst>
                                  <p:iterate>
                                    <p:tmAbs val="0"/>
                                  </p:iterate>
                                  <p:childTnLst>
                                    <p:set>
                                      <p:cBhvr>
                                        <p:cTn id="49" fill="hold"/>
                                        <p:tgtEl>
                                          <p:spTgt spid="129"/>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iterate>
                                    <p:tmAbs val="0"/>
                                  </p:iterate>
                                  <p:childTnLst>
                                    <p:set>
                                      <p:cBhvr>
                                        <p:cTn id="53" fill="hold"/>
                                        <p:tgtEl>
                                          <p:spTgt spid="130"/>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grpId="0" nodeType="clickEffect">
                                  <p:stCondLst>
                                    <p:cond delay="0"/>
                                  </p:stCondLst>
                                  <p:iterate>
                                    <p:tmAbs val="0"/>
                                  </p:iterate>
                                  <p:childTnLst>
                                    <p:set>
                                      <p:cBhvr>
                                        <p:cTn id="57" fill="hold"/>
                                        <p:tgtEl>
                                          <p:spTgt spid="131"/>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iterate>
                                    <p:tmAbs val="0"/>
                                  </p:iterate>
                                  <p:childTnLst>
                                    <p:set>
                                      <p:cBhvr>
                                        <p:cTn id="61" fill="hold"/>
                                        <p:tgtEl>
                                          <p:spTgt spid="13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7785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iterate>
                                    <p:tmAbs val="0"/>
                                  </p:iterate>
                                  <p:childTnLst>
                                    <p:set>
                                      <p:cBhvr>
                                        <p:cTn id="69" fill="hold"/>
                                        <p:tgtEl>
                                          <p:spTgt spid="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advAuto="0"/>
      <p:bldP spid="130" grpId="0" animBg="1" advAuto="0"/>
      <p:bldP spid="131" grpId="0" animBg="1" advAuto="0"/>
      <p:bldP spid="132" grpId="0" animBg="1" advAuto="0"/>
      <p:bldP spid="133" grpId="0" animBg="1" advAuto="0"/>
      <p:bldP spid="4" grpId="0" animBg="1"/>
      <p:bldP spid="4" grpId="1" animBg="1"/>
      <p:bldP spid="52" grpId="0" animBg="1"/>
      <p:bldP spid="52" grpId="1" animBg="1"/>
      <p:bldP spid="5" grpId="0"/>
      <p:bldP spid="5" grpId="1"/>
      <p:bldP spid="54" grpId="0"/>
      <p:bldP spid="54"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F05C9-9829-7B49-93D5-6051B783D0E1}"/>
              </a:ext>
            </a:extLst>
          </p:cNvPr>
          <p:cNvSpPr>
            <a:spLocks noGrp="1"/>
          </p:cNvSpPr>
          <p:nvPr>
            <p:ph type="title"/>
          </p:nvPr>
        </p:nvSpPr>
        <p:spPr/>
        <p:txBody>
          <a:bodyPr/>
          <a:lstStyle/>
          <a:p>
            <a:r>
              <a:rPr lang="en-US" dirty="0"/>
              <a:t>Torsion angle vs. bond angle</a:t>
            </a:r>
          </a:p>
        </p:txBody>
      </p:sp>
      <p:grpSp>
        <p:nvGrpSpPr>
          <p:cNvPr id="17" name="Group 16">
            <a:extLst>
              <a:ext uri="{FF2B5EF4-FFF2-40B4-BE49-F238E27FC236}">
                <a16:creationId xmlns:a16="http://schemas.microsoft.com/office/drawing/2014/main" id="{7A9692FC-682D-9C45-BFD9-A02C9EDD4792}"/>
              </a:ext>
            </a:extLst>
          </p:cNvPr>
          <p:cNvGrpSpPr/>
          <p:nvPr/>
        </p:nvGrpSpPr>
        <p:grpSpPr>
          <a:xfrm>
            <a:off x="1684935" y="2001613"/>
            <a:ext cx="5774129" cy="4856387"/>
            <a:chOff x="1684935" y="2001613"/>
            <a:chExt cx="5774129" cy="4856387"/>
          </a:xfrm>
        </p:grpSpPr>
        <p:pic>
          <p:nvPicPr>
            <p:cNvPr id="4" name="Picture 2">
              <a:extLst>
                <a:ext uri="{FF2B5EF4-FFF2-40B4-BE49-F238E27FC236}">
                  <a16:creationId xmlns:a16="http://schemas.microsoft.com/office/drawing/2014/main" id="{36EC7DE8-13EF-0549-95C5-4C4603616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4935" y="2001613"/>
              <a:ext cx="5774129" cy="485638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D185A17-2FAB-1949-90A4-9EDA913B48B2}"/>
                </a:ext>
              </a:extLst>
            </p:cNvPr>
            <p:cNvSpPr/>
            <p:nvPr/>
          </p:nvSpPr>
          <p:spPr>
            <a:xfrm>
              <a:off x="3094745" y="4813937"/>
              <a:ext cx="2094772" cy="822960"/>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
          <p:nvSpPr>
            <p:cNvPr id="9" name="Rectangle 8">
              <a:extLst>
                <a:ext uri="{FF2B5EF4-FFF2-40B4-BE49-F238E27FC236}">
                  <a16:creationId xmlns:a16="http://schemas.microsoft.com/office/drawing/2014/main" id="{120A3DB8-E101-1448-822F-EE263BE65493}"/>
                </a:ext>
              </a:extLst>
            </p:cNvPr>
            <p:cNvSpPr/>
            <p:nvPr/>
          </p:nvSpPr>
          <p:spPr>
            <a:xfrm rot="18721202">
              <a:off x="3175189" y="4292595"/>
              <a:ext cx="2094772" cy="648713"/>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11" name="Rectangle 10">
              <a:extLst>
                <a:ext uri="{FF2B5EF4-FFF2-40B4-BE49-F238E27FC236}">
                  <a16:creationId xmlns:a16="http://schemas.microsoft.com/office/drawing/2014/main" id="{3CAEEE73-ECEA-5443-B94F-1DEF7791F3FC}"/>
                </a:ext>
              </a:extLst>
            </p:cNvPr>
            <p:cNvSpPr/>
            <p:nvPr/>
          </p:nvSpPr>
          <p:spPr>
            <a:xfrm>
              <a:off x="5854536" y="3645465"/>
              <a:ext cx="1580778" cy="879034"/>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12" name="TextBox 11">
              <a:extLst>
                <a:ext uri="{FF2B5EF4-FFF2-40B4-BE49-F238E27FC236}">
                  <a16:creationId xmlns:a16="http://schemas.microsoft.com/office/drawing/2014/main" id="{E0EEF916-D562-3345-B5BD-50A47D09E1D7}"/>
                </a:ext>
              </a:extLst>
            </p:cNvPr>
            <p:cNvSpPr txBox="1"/>
            <p:nvPr/>
          </p:nvSpPr>
          <p:spPr>
            <a:xfrm>
              <a:off x="3919867" y="4677697"/>
              <a:ext cx="854721"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lang="en-US" dirty="0">
                  <a:solidFill>
                    <a:schemeClr val="bg1"/>
                  </a:solidFill>
                  <a:uFill>
                    <a:solidFill>
                      <a:srgbClr val="000000"/>
                    </a:solidFill>
                  </a:uFill>
                </a:rPr>
                <a:t>b</a:t>
              </a:r>
              <a:r>
                <a:rPr kumimoji="0" lang="en-US" sz="2000" b="1" i="0" u="none" strike="noStrike" cap="none" spc="0" normalizeH="0" baseline="0" dirty="0">
                  <a:ln>
                    <a:noFill/>
                  </a:ln>
                  <a:solidFill>
                    <a:schemeClr val="bg1"/>
                  </a:solidFill>
                  <a:effectLst/>
                  <a:uFill>
                    <a:solidFill>
                      <a:srgbClr val="000000"/>
                    </a:solidFill>
                  </a:uFill>
                  <a:latin typeface="Helvetica"/>
                  <a:ea typeface="Helvetica"/>
                  <a:cs typeface="Helvetica"/>
                  <a:sym typeface="Helvetica"/>
                </a:rPr>
                <a:t>ond</a:t>
              </a:r>
            </a:p>
            <a:p>
              <a:pPr marL="40639" marR="40639" indent="0" algn="l" defTabSz="914400" rtl="0" fontAlgn="auto" latinLnBrk="1" hangingPunct="0">
                <a:lnSpc>
                  <a:spcPct val="100000"/>
                </a:lnSpc>
                <a:spcBef>
                  <a:spcPts val="0"/>
                </a:spcBef>
                <a:spcAft>
                  <a:spcPts val="0"/>
                </a:spcAft>
                <a:buClrTx/>
                <a:buSzTx/>
                <a:buFontTx/>
                <a:buNone/>
                <a:tabLst/>
              </a:pPr>
              <a:r>
                <a:rPr lang="en-US" dirty="0">
                  <a:solidFill>
                    <a:schemeClr val="bg1"/>
                  </a:solidFill>
                  <a:uFill>
                    <a:solidFill>
                      <a:srgbClr val="000000"/>
                    </a:solidFill>
                  </a:uFill>
                </a:rPr>
                <a:t>angle</a:t>
              </a:r>
              <a:endParaRPr kumimoji="0" lang="en-US" sz="2000" b="1" i="0" u="none" strike="noStrike" cap="none" spc="0" normalizeH="0" baseline="0" dirty="0">
                <a:ln>
                  <a:noFill/>
                </a:ln>
                <a:solidFill>
                  <a:schemeClr val="bg1"/>
                </a:solidFill>
                <a:effectLst/>
                <a:uFill>
                  <a:solidFill>
                    <a:srgbClr val="000000"/>
                  </a:solidFill>
                </a:uFill>
                <a:sym typeface="Helvetica"/>
              </a:endParaRPr>
            </a:p>
          </p:txBody>
        </p:sp>
        <p:sp>
          <p:nvSpPr>
            <p:cNvPr id="13" name="TextBox 12">
              <a:extLst>
                <a:ext uri="{FF2B5EF4-FFF2-40B4-BE49-F238E27FC236}">
                  <a16:creationId xmlns:a16="http://schemas.microsoft.com/office/drawing/2014/main" id="{D1D2225E-D933-7943-9B9D-C08691106111}"/>
                </a:ext>
              </a:extLst>
            </p:cNvPr>
            <p:cNvSpPr txBox="1"/>
            <p:nvPr/>
          </p:nvSpPr>
          <p:spPr>
            <a:xfrm>
              <a:off x="2628423" y="2016476"/>
              <a:ext cx="3552576" cy="533479"/>
            </a:xfrm>
            <a:prstGeom prst="rect">
              <a:avLst/>
            </a:prstGeom>
            <a:solidFill>
              <a:schemeClr val="tx1"/>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l" rtl="0" latinLnBrk="1" hangingPunct="0"/>
              <a:r>
                <a:rPr lang="en-US" sz="2400" dirty="0">
                  <a:solidFill>
                    <a:srgbClr val="FFFF00"/>
                  </a:solidFill>
                  <a:uFill>
                    <a:solidFill>
                      <a:srgbClr val="000000"/>
                    </a:solidFill>
                  </a:uFill>
                </a:rPr>
                <a:t>torsion</a:t>
              </a:r>
              <a:r>
                <a:rPr kumimoji="0" lang="en-US" sz="2400" b="1" i="0" u="none" strike="noStrike" cap="none" spc="0" normalizeH="0" baseline="0" dirty="0">
                  <a:ln>
                    <a:noFill/>
                  </a:ln>
                  <a:solidFill>
                    <a:srgbClr val="FFFF00"/>
                  </a:solidFill>
                  <a:effectLst/>
                  <a:uFill>
                    <a:solidFill>
                      <a:srgbClr val="000000"/>
                    </a:solidFill>
                  </a:uFill>
                  <a:latin typeface="Helvetica"/>
                  <a:ea typeface="Helvetica"/>
                  <a:cs typeface="Helvetica"/>
                  <a:sym typeface="Helvetica"/>
                </a:rPr>
                <a:t> </a:t>
              </a:r>
              <a:r>
                <a:rPr lang="en-US" sz="2400" dirty="0">
                  <a:solidFill>
                    <a:srgbClr val="FFFF00"/>
                  </a:solidFill>
                  <a:uFill>
                    <a:solidFill>
                      <a:srgbClr val="000000"/>
                    </a:solidFill>
                  </a:uFill>
                </a:rPr>
                <a:t>angle</a:t>
              </a:r>
              <a:r>
                <a:rPr lang="en-US" altLang="en-US" sz="2800" dirty="0">
                  <a:solidFill>
                    <a:srgbClr val="FFFF00"/>
                  </a:solidFill>
                  <a:latin typeface="Gill Sans" charset="0"/>
                  <a:ea typeface="Gill Sans" charset="0"/>
                  <a:cs typeface="Gill Sans" charset="0"/>
                  <a:sym typeface="Symbol" charset="2"/>
                </a:rPr>
                <a:t> </a:t>
              </a:r>
              <a:r>
                <a:rPr lang="en-US" altLang="en-US" sz="2800" dirty="0" err="1">
                  <a:solidFill>
                    <a:srgbClr val="FFFF00"/>
                  </a:solidFill>
                  <a:latin typeface="Gill Sans" charset="0"/>
                  <a:ea typeface="Gill Sans" charset="0"/>
                  <a:cs typeface="Gill Sans" charset="0"/>
                  <a:sym typeface="Symbol" charset="2"/>
                </a:rPr>
                <a:t>Φ</a:t>
              </a:r>
              <a:r>
                <a:rPr lang="en-US" altLang="en-US" sz="2800" dirty="0">
                  <a:solidFill>
                    <a:srgbClr val="FFFF00"/>
                  </a:solidFill>
                  <a:latin typeface="Gill Sans" charset="0"/>
                  <a:ea typeface="Gill Sans" charset="0"/>
                  <a:cs typeface="Gill Sans" charset="0"/>
                </a:rPr>
                <a:t> = </a:t>
              </a:r>
              <a:r>
                <a:rPr lang="en-US" altLang="en-US" sz="2400" dirty="0">
                  <a:solidFill>
                    <a:srgbClr val="FFFF00"/>
                  </a:solidFill>
                  <a:latin typeface="Gill Sans" charset="0"/>
                  <a:ea typeface="Gill Sans" charset="0"/>
                  <a:cs typeface="Gill Sans" charset="0"/>
                </a:rPr>
                <a:t>Phi</a:t>
              </a:r>
              <a:r>
                <a:rPr lang="en-US" sz="2400" dirty="0">
                  <a:solidFill>
                    <a:srgbClr val="FFFF00"/>
                  </a:solidFill>
                  <a:uFill>
                    <a:solidFill>
                      <a:srgbClr val="000000"/>
                    </a:solidFill>
                  </a:uFill>
                </a:rPr>
                <a:t> </a:t>
              </a:r>
              <a:endParaRPr kumimoji="0" lang="en-US" sz="2400" b="1" i="0" u="none" strike="noStrike" cap="none" spc="0" normalizeH="0" baseline="0" dirty="0">
                <a:ln>
                  <a:noFill/>
                </a:ln>
                <a:solidFill>
                  <a:srgbClr val="FFFF00"/>
                </a:solidFill>
                <a:effectLst/>
                <a:uFill>
                  <a:solidFill>
                    <a:srgbClr val="000000"/>
                  </a:solidFill>
                </a:uFill>
                <a:sym typeface="Helvetica"/>
              </a:endParaRPr>
            </a:p>
          </p:txBody>
        </p:sp>
        <p:sp>
          <p:nvSpPr>
            <p:cNvPr id="14" name="Rectangle 13">
              <a:extLst>
                <a:ext uri="{FF2B5EF4-FFF2-40B4-BE49-F238E27FC236}">
                  <a16:creationId xmlns:a16="http://schemas.microsoft.com/office/drawing/2014/main" id="{0FE6A5AB-3868-0F49-8A8F-AA3B36D83136}"/>
                </a:ext>
              </a:extLst>
            </p:cNvPr>
            <p:cNvSpPr/>
            <p:nvPr/>
          </p:nvSpPr>
          <p:spPr>
            <a:xfrm>
              <a:off x="2220673" y="5875188"/>
              <a:ext cx="3960326" cy="929222"/>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15" name="Rectangle 14">
              <a:extLst>
                <a:ext uri="{FF2B5EF4-FFF2-40B4-BE49-F238E27FC236}">
                  <a16:creationId xmlns:a16="http://schemas.microsoft.com/office/drawing/2014/main" id="{52FE6974-F4DC-5C48-B778-CF7ED2C76041}"/>
                </a:ext>
              </a:extLst>
            </p:cNvPr>
            <p:cNvSpPr/>
            <p:nvPr/>
          </p:nvSpPr>
          <p:spPr>
            <a:xfrm>
              <a:off x="2743197" y="5711484"/>
              <a:ext cx="344385" cy="279908"/>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16" name="Rectangle 15">
              <a:extLst>
                <a:ext uri="{FF2B5EF4-FFF2-40B4-BE49-F238E27FC236}">
                  <a16:creationId xmlns:a16="http://schemas.microsoft.com/office/drawing/2014/main" id="{30DBC3C6-FA9F-AE45-90D7-FEBE53262F9E}"/>
                </a:ext>
              </a:extLst>
            </p:cNvPr>
            <p:cNvSpPr/>
            <p:nvPr/>
          </p:nvSpPr>
          <p:spPr>
            <a:xfrm>
              <a:off x="5271639" y="5755007"/>
              <a:ext cx="344385" cy="279908"/>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7" name="Arc 6">
              <a:extLst>
                <a:ext uri="{FF2B5EF4-FFF2-40B4-BE49-F238E27FC236}">
                  <a16:creationId xmlns:a16="http://schemas.microsoft.com/office/drawing/2014/main" id="{EDE697B7-0EBF-9D46-A329-AD775D6AFBA3}"/>
                </a:ext>
              </a:extLst>
            </p:cNvPr>
            <p:cNvSpPr/>
            <p:nvPr/>
          </p:nvSpPr>
          <p:spPr>
            <a:xfrm rot="8805966">
              <a:off x="2480065" y="2573571"/>
              <a:ext cx="1922354" cy="2238153"/>
            </a:xfrm>
            <a:prstGeom prst="arc">
              <a:avLst>
                <a:gd name="adj1" fmla="val 12535687"/>
                <a:gd name="adj2" fmla="val 19530172"/>
              </a:avLst>
            </a:prstGeom>
            <a:noFill/>
            <a:ln w="76200" cap="flat">
              <a:solidFill>
                <a:schemeClr val="bg1"/>
              </a:solidFill>
              <a:prstDash val="solid"/>
              <a:round/>
              <a:headEnd type="arrow" w="med" len="med"/>
              <a:tailEnd type="arrow" w="med" len="me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highlight>
                  <a:srgbClr val="FFFF00"/>
                </a:highlight>
                <a:uFillTx/>
              </a:endParaRPr>
            </a:p>
          </p:txBody>
        </p:sp>
      </p:grpSp>
      <p:sp>
        <p:nvSpPr>
          <p:cNvPr id="18" name="TextBox 17">
            <a:extLst>
              <a:ext uri="{FF2B5EF4-FFF2-40B4-BE49-F238E27FC236}">
                <a16:creationId xmlns:a16="http://schemas.microsoft.com/office/drawing/2014/main" id="{260BC293-6212-A448-B108-795EC6EA3B74}"/>
              </a:ext>
            </a:extLst>
          </p:cNvPr>
          <p:cNvSpPr txBox="1"/>
          <p:nvPr/>
        </p:nvSpPr>
        <p:spPr>
          <a:xfrm>
            <a:off x="2595874" y="5824627"/>
            <a:ext cx="3092513"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FFFF00"/>
                </a:solidFill>
                <a:effectLst/>
                <a:uFill>
                  <a:solidFill>
                    <a:srgbClr val="000000"/>
                  </a:solidFill>
                </a:uFill>
                <a:latin typeface="Helvetica"/>
                <a:ea typeface="Helvetica"/>
                <a:cs typeface="Helvetica"/>
                <a:sym typeface="Helvetica"/>
              </a:rPr>
              <a:t>“eclipsed” = 0°</a:t>
            </a:r>
          </a:p>
        </p:txBody>
      </p:sp>
      <p:sp>
        <p:nvSpPr>
          <p:cNvPr id="20" name="TextBox 19">
            <a:extLst>
              <a:ext uri="{FF2B5EF4-FFF2-40B4-BE49-F238E27FC236}">
                <a16:creationId xmlns:a16="http://schemas.microsoft.com/office/drawing/2014/main" id="{FCF4C794-7671-574C-837B-8B1C650757FB}"/>
              </a:ext>
            </a:extLst>
          </p:cNvPr>
          <p:cNvSpPr txBox="1"/>
          <p:nvPr/>
        </p:nvSpPr>
        <p:spPr>
          <a:xfrm>
            <a:off x="2978662" y="2961665"/>
            <a:ext cx="556563"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N</a:t>
            </a:r>
            <a:r>
              <a:rPr kumimoji="0" lang="en-US" sz="3200" b="1" i="0" u="none" strike="noStrike" cap="none" spc="0" normalizeH="0" baseline="-25000" dirty="0">
                <a:ln>
                  <a:noFill/>
                </a:ln>
                <a:solidFill>
                  <a:srgbClr val="000000"/>
                </a:solidFill>
                <a:effectLst/>
                <a:uFill>
                  <a:solidFill>
                    <a:srgbClr val="000000"/>
                  </a:solidFill>
                </a:uFill>
                <a:latin typeface="Helvetica"/>
                <a:ea typeface="Helvetica"/>
                <a:cs typeface="Helvetica"/>
                <a:sym typeface="Helvetica"/>
              </a:rPr>
              <a:t>i</a:t>
            </a:r>
            <a:endParaRPr kumimoji="0" lang="en-US" sz="32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
        <p:nvSpPr>
          <p:cNvPr id="21" name="TextBox 20">
            <a:extLst>
              <a:ext uri="{FF2B5EF4-FFF2-40B4-BE49-F238E27FC236}">
                <a16:creationId xmlns:a16="http://schemas.microsoft.com/office/drawing/2014/main" id="{46F46932-0EEF-FE42-A942-AB1CA4C2917E}"/>
              </a:ext>
            </a:extLst>
          </p:cNvPr>
          <p:cNvSpPr txBox="1"/>
          <p:nvPr/>
        </p:nvSpPr>
        <p:spPr>
          <a:xfrm>
            <a:off x="2001356" y="4838210"/>
            <a:ext cx="914033"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C’</a:t>
            </a:r>
            <a:r>
              <a:rPr kumimoji="0" lang="en-US" sz="3200" b="1" i="0" u="none" strike="noStrike" cap="none" spc="0" normalizeH="0" baseline="-25000" dirty="0">
                <a:ln>
                  <a:noFill/>
                </a:ln>
                <a:solidFill>
                  <a:srgbClr val="000000"/>
                </a:solidFill>
                <a:effectLst/>
                <a:uFill>
                  <a:solidFill>
                    <a:srgbClr val="000000"/>
                  </a:solidFill>
                </a:uFill>
                <a:latin typeface="Helvetica"/>
                <a:ea typeface="Helvetica"/>
                <a:cs typeface="Helvetica"/>
                <a:sym typeface="Helvetica"/>
              </a:rPr>
              <a:t>i-1</a:t>
            </a:r>
            <a:endParaRPr kumimoji="0" lang="en-US" sz="32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
        <p:nvSpPr>
          <p:cNvPr id="22" name="TextBox 21">
            <a:extLst>
              <a:ext uri="{FF2B5EF4-FFF2-40B4-BE49-F238E27FC236}">
                <a16:creationId xmlns:a16="http://schemas.microsoft.com/office/drawing/2014/main" id="{37CDE8B1-EE8D-FC41-B7AB-F7BCD970F879}"/>
              </a:ext>
            </a:extLst>
          </p:cNvPr>
          <p:cNvSpPr txBox="1"/>
          <p:nvPr/>
        </p:nvSpPr>
        <p:spPr>
          <a:xfrm>
            <a:off x="5493015" y="4919546"/>
            <a:ext cx="670376"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dirty="0" err="1">
                <a:ln>
                  <a:noFill/>
                </a:ln>
                <a:solidFill>
                  <a:srgbClr val="000000"/>
                </a:solidFill>
                <a:effectLst/>
                <a:uFill>
                  <a:solidFill>
                    <a:srgbClr val="000000"/>
                  </a:solidFill>
                </a:uFill>
                <a:latin typeface="Helvetica"/>
                <a:ea typeface="Helvetica"/>
                <a:cs typeface="Helvetica"/>
                <a:sym typeface="Helvetica"/>
              </a:rPr>
              <a:t>C’</a:t>
            </a:r>
            <a:r>
              <a:rPr kumimoji="0" lang="en-US" sz="3200" b="1" i="0" u="none" strike="noStrike" cap="none" spc="0" normalizeH="0" baseline="-25000" dirty="0" err="1">
                <a:ln>
                  <a:noFill/>
                </a:ln>
                <a:solidFill>
                  <a:srgbClr val="000000"/>
                </a:solidFill>
                <a:effectLst/>
                <a:uFill>
                  <a:solidFill>
                    <a:srgbClr val="000000"/>
                  </a:solidFill>
                </a:uFill>
                <a:latin typeface="Helvetica"/>
                <a:ea typeface="Helvetica"/>
                <a:cs typeface="Helvetica"/>
                <a:sym typeface="Helvetica"/>
              </a:rPr>
              <a:t>i</a:t>
            </a:r>
            <a:endParaRPr kumimoji="0" lang="en-US" sz="32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
        <p:nvSpPr>
          <p:cNvPr id="23" name="TextBox 22">
            <a:extLst>
              <a:ext uri="{FF2B5EF4-FFF2-40B4-BE49-F238E27FC236}">
                <a16:creationId xmlns:a16="http://schemas.microsoft.com/office/drawing/2014/main" id="{BD5AB797-F9C6-E041-8BA2-1DCD086FB7FA}"/>
              </a:ext>
            </a:extLst>
          </p:cNvPr>
          <p:cNvSpPr txBox="1"/>
          <p:nvPr/>
        </p:nvSpPr>
        <p:spPr>
          <a:xfrm>
            <a:off x="4858529" y="2958560"/>
            <a:ext cx="729687"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C</a:t>
            </a:r>
            <a:r>
              <a:rPr kumimoji="0" lang="en-US" sz="3200" b="1" i="0" u="none" strike="noStrike" cap="none" spc="0" normalizeH="0" baseline="30000" dirty="0">
                <a:ln>
                  <a:noFill/>
                </a:ln>
                <a:solidFill>
                  <a:srgbClr val="000000"/>
                </a:solidFill>
                <a:effectLst/>
                <a:uFill>
                  <a:solidFill>
                    <a:srgbClr val="000000"/>
                  </a:solidFill>
                </a:uFill>
                <a:latin typeface="Symbol" pitchFamily="2" charset="2"/>
                <a:sym typeface="Helvetica"/>
              </a:rPr>
              <a:t>a</a:t>
            </a:r>
            <a:r>
              <a:rPr kumimoji="0" lang="en-US" sz="3200" b="1" i="0" u="none" strike="noStrike" cap="none" spc="0" normalizeH="0" baseline="-25000" dirty="0">
                <a:ln>
                  <a:noFill/>
                </a:ln>
                <a:solidFill>
                  <a:srgbClr val="000000"/>
                </a:solidFill>
                <a:effectLst/>
                <a:uFill>
                  <a:solidFill>
                    <a:srgbClr val="000000"/>
                  </a:solidFill>
                </a:uFill>
                <a:latin typeface="Helvetica"/>
                <a:ea typeface="Helvetica"/>
                <a:cs typeface="Helvetica"/>
                <a:sym typeface="Helvetica"/>
              </a:rPr>
              <a:t>i</a:t>
            </a:r>
            <a:endParaRPr kumimoji="0" lang="en-US" sz="32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cxnSp>
        <p:nvCxnSpPr>
          <p:cNvPr id="25" name="Straight Connector 24">
            <a:extLst>
              <a:ext uri="{FF2B5EF4-FFF2-40B4-BE49-F238E27FC236}">
                <a16:creationId xmlns:a16="http://schemas.microsoft.com/office/drawing/2014/main" id="{7643E761-3313-7D45-BE5D-1C9C40F1E777}"/>
              </a:ext>
            </a:extLst>
          </p:cNvPr>
          <p:cNvCxnSpPr/>
          <p:nvPr/>
        </p:nvCxnSpPr>
        <p:spPr>
          <a:xfrm>
            <a:off x="4191990" y="3135086"/>
            <a:ext cx="0" cy="293914"/>
          </a:xfrm>
          <a:prstGeom prst="line">
            <a:avLst/>
          </a:prstGeom>
          <a:noFill/>
          <a:ln w="57150" cap="flat">
            <a:solidFill>
              <a:srgbClr val="FFFF00"/>
            </a:solidFill>
            <a:prstDash val="solid"/>
            <a:round/>
          </a:ln>
          <a:effectLst/>
        </p:spPr>
        <p:style>
          <a:lnRef idx="0">
            <a:scrgbClr r="0" g="0" b="0"/>
          </a:lnRef>
          <a:fillRef idx="0">
            <a:scrgbClr r="0" g="0" b="0"/>
          </a:fillRef>
          <a:effectRef idx="0">
            <a:scrgbClr r="0" g="0" b="0"/>
          </a:effectRef>
          <a:fontRef idx="none"/>
        </p:style>
      </p:cxnSp>
      <p:sp>
        <p:nvSpPr>
          <p:cNvPr id="26" name="Rectangle 25">
            <a:extLst>
              <a:ext uri="{FF2B5EF4-FFF2-40B4-BE49-F238E27FC236}">
                <a16:creationId xmlns:a16="http://schemas.microsoft.com/office/drawing/2014/main" id="{482160E6-25E3-6845-B2AB-98BA69CB4C2E}"/>
              </a:ext>
            </a:extLst>
          </p:cNvPr>
          <p:cNvSpPr/>
          <p:nvPr/>
        </p:nvSpPr>
        <p:spPr>
          <a:xfrm>
            <a:off x="4346369" y="3158836"/>
            <a:ext cx="106878" cy="270164"/>
          </a:xfrm>
          <a:prstGeom prst="rect">
            <a:avLst/>
          </a:pr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27" name="Rectangle 26">
            <a:extLst>
              <a:ext uri="{FF2B5EF4-FFF2-40B4-BE49-F238E27FC236}">
                <a16:creationId xmlns:a16="http://schemas.microsoft.com/office/drawing/2014/main" id="{38C3175B-0756-2441-992C-85A03813C8E3}"/>
              </a:ext>
            </a:extLst>
          </p:cNvPr>
          <p:cNvSpPr/>
          <p:nvPr/>
        </p:nvSpPr>
        <p:spPr>
          <a:xfrm rot="20507117">
            <a:off x="5464944" y="3885036"/>
            <a:ext cx="192974" cy="798520"/>
          </a:xfrm>
          <a:prstGeom prst="rect">
            <a:avLst/>
          </a:pr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28" name="Shape 165">
            <a:extLst>
              <a:ext uri="{FF2B5EF4-FFF2-40B4-BE49-F238E27FC236}">
                <a16:creationId xmlns:a16="http://schemas.microsoft.com/office/drawing/2014/main" id="{9B2DC681-0FEC-3E40-AA06-A4ED6F32DA37}"/>
              </a:ext>
            </a:extLst>
          </p:cNvPr>
          <p:cNvSpPr/>
          <p:nvPr/>
        </p:nvSpPr>
        <p:spPr>
          <a:xfrm>
            <a:off x="7670588" y="3047696"/>
            <a:ext cx="1447800" cy="492443"/>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lvl="0">
              <a:spcBef>
                <a:spcPts val="800"/>
              </a:spcBef>
              <a:buClr>
                <a:srgbClr val="000000"/>
              </a:buClr>
              <a:buFont typeface="Helvetica"/>
              <a:defRPr sz="1800">
                <a:uFillTx/>
              </a:defRPr>
            </a:pPr>
            <a:r>
              <a:rPr sz="1400" b="0" dirty="0">
                <a:solidFill>
                  <a:schemeClr val="tx1"/>
                </a:solidFill>
                <a:uFill>
                  <a:solidFill/>
                </a:uFill>
                <a:latin typeface="Gill Sans" charset="0"/>
                <a:ea typeface="Gill Sans" charset="0"/>
                <a:cs typeface="Gill Sans" charset="0"/>
                <a:sym typeface="Helvetica"/>
              </a:rPr>
              <a:t>C</a:t>
            </a:r>
            <a:r>
              <a:rPr b="0" dirty="0">
                <a:solidFill>
                  <a:schemeClr val="tx1"/>
                </a:solidFill>
                <a:uFill>
                  <a:solidFill/>
                </a:uFill>
                <a:latin typeface="Gill Sans" charset="0"/>
                <a:ea typeface="Gill Sans" charset="0"/>
                <a:cs typeface="Gill Sans" charset="0"/>
                <a:sym typeface="Helvetica"/>
              </a:rPr>
              <a:t>'</a:t>
            </a:r>
            <a:r>
              <a:rPr sz="1400" b="0" dirty="0">
                <a:solidFill>
                  <a:schemeClr val="tx1"/>
                </a:solidFill>
                <a:uFill>
                  <a:solidFill/>
                </a:uFill>
                <a:latin typeface="Gill Sans" charset="0"/>
                <a:ea typeface="Gill Sans" charset="0"/>
                <a:cs typeface="Gill Sans" charset="0"/>
                <a:sym typeface="Helvetica"/>
              </a:rPr>
              <a:t>  </a:t>
            </a:r>
            <a:r>
              <a:rPr lang="en-US" sz="1400" b="0" dirty="0">
                <a:solidFill>
                  <a:schemeClr val="tx1"/>
                </a:solidFill>
                <a:uFill>
                  <a:solidFill/>
                </a:uFill>
                <a:latin typeface="Gill Sans" charset="0"/>
                <a:ea typeface="Gill Sans" charset="0"/>
                <a:cs typeface="Gill Sans" charset="0"/>
                <a:sym typeface="Helvetica"/>
              </a:rPr>
              <a:t>means carbonyl  </a:t>
            </a:r>
            <a:r>
              <a:rPr sz="1400" b="0" dirty="0">
                <a:solidFill>
                  <a:schemeClr val="tx1"/>
                </a:solidFill>
                <a:uFill>
                  <a:solidFill/>
                </a:uFill>
                <a:latin typeface="Gill Sans" charset="0"/>
                <a:ea typeface="Gill Sans" charset="0"/>
                <a:cs typeface="Gill Sans" charset="0"/>
                <a:sym typeface="Helvetica"/>
              </a:rPr>
              <a:t>C</a:t>
            </a:r>
          </a:p>
        </p:txBody>
      </p:sp>
    </p:spTree>
    <p:extLst>
      <p:ext uri="{BB962C8B-B14F-4D97-AF65-F5344CB8AC3E}">
        <p14:creationId xmlns:p14="http://schemas.microsoft.com/office/powerpoint/2010/main" val="703572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9319C3-C60C-254A-8B3E-57E3AE471E1C}"/>
              </a:ext>
            </a:extLst>
          </p:cNvPr>
          <p:cNvSpPr/>
          <p:nvPr/>
        </p:nvSpPr>
        <p:spPr>
          <a:xfrm>
            <a:off x="485527" y="303069"/>
            <a:ext cx="5774129" cy="1452971"/>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grpSp>
        <p:nvGrpSpPr>
          <p:cNvPr id="17" name="Group 16">
            <a:extLst>
              <a:ext uri="{FF2B5EF4-FFF2-40B4-BE49-F238E27FC236}">
                <a16:creationId xmlns:a16="http://schemas.microsoft.com/office/drawing/2014/main" id="{7A9692FC-682D-9C45-BFD9-A02C9EDD4792}"/>
              </a:ext>
            </a:extLst>
          </p:cNvPr>
          <p:cNvGrpSpPr/>
          <p:nvPr/>
        </p:nvGrpSpPr>
        <p:grpSpPr>
          <a:xfrm>
            <a:off x="485527" y="1562226"/>
            <a:ext cx="5774129" cy="4856387"/>
            <a:chOff x="1684935" y="2001613"/>
            <a:chExt cx="5774129" cy="4856387"/>
          </a:xfrm>
        </p:grpSpPr>
        <p:pic>
          <p:nvPicPr>
            <p:cNvPr id="4" name="Picture 2">
              <a:extLst>
                <a:ext uri="{FF2B5EF4-FFF2-40B4-BE49-F238E27FC236}">
                  <a16:creationId xmlns:a16="http://schemas.microsoft.com/office/drawing/2014/main" id="{36EC7DE8-13EF-0549-95C5-4C4603616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4935" y="2001613"/>
              <a:ext cx="5774129" cy="4856387"/>
            </a:xfrm>
            <a:prstGeom prst="rect">
              <a:avLst/>
            </a:prstGeom>
            <a:noFill/>
            <a:extLst>
              <a:ext uri="{909E8E84-426E-40DD-AFC4-6F175D3DCCD1}">
                <a14:hiddenFill xmlns:a14="http://schemas.microsoft.com/office/drawing/2010/main">
                  <a:solidFill>
                    <a:srgbClr val="FFFFFF"/>
                  </a:solidFill>
                </a14:hiddenFill>
              </a:ext>
            </a:extLst>
          </p:spPr>
        </p:pic>
        <p:sp>
          <p:nvSpPr>
            <p:cNvPr id="7" name="Arc 6">
              <a:extLst>
                <a:ext uri="{FF2B5EF4-FFF2-40B4-BE49-F238E27FC236}">
                  <a16:creationId xmlns:a16="http://schemas.microsoft.com/office/drawing/2014/main" id="{EDE697B7-0EBF-9D46-A329-AD775D6AFBA3}"/>
                </a:ext>
              </a:extLst>
            </p:cNvPr>
            <p:cNvSpPr/>
            <p:nvPr/>
          </p:nvSpPr>
          <p:spPr>
            <a:xfrm rot="8805966">
              <a:off x="2625794" y="2607381"/>
              <a:ext cx="1428156" cy="1904598"/>
            </a:xfrm>
            <a:prstGeom prst="arc">
              <a:avLst>
                <a:gd name="adj1" fmla="val 12535687"/>
                <a:gd name="adj2" fmla="val 19530172"/>
              </a:avLst>
            </a:prstGeom>
            <a:noFill/>
            <a:ln w="76200" cap="flat">
              <a:solidFill>
                <a:schemeClr val="bg1"/>
              </a:solidFill>
              <a:prstDash val="solid"/>
              <a:round/>
              <a:headEnd type="arrow" w="med" len="med"/>
              <a:tailEnd type="arrow" w="med" len="me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8" name="Rectangle 7">
              <a:extLst>
                <a:ext uri="{FF2B5EF4-FFF2-40B4-BE49-F238E27FC236}">
                  <a16:creationId xmlns:a16="http://schemas.microsoft.com/office/drawing/2014/main" id="{BD185A17-2FAB-1949-90A4-9EDA913B48B2}"/>
                </a:ext>
              </a:extLst>
            </p:cNvPr>
            <p:cNvSpPr/>
            <p:nvPr/>
          </p:nvSpPr>
          <p:spPr>
            <a:xfrm>
              <a:off x="3094745" y="4813937"/>
              <a:ext cx="2094772" cy="822960"/>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
          <p:nvSpPr>
            <p:cNvPr id="9" name="Rectangle 8">
              <a:extLst>
                <a:ext uri="{FF2B5EF4-FFF2-40B4-BE49-F238E27FC236}">
                  <a16:creationId xmlns:a16="http://schemas.microsoft.com/office/drawing/2014/main" id="{120A3DB8-E101-1448-822F-EE263BE65493}"/>
                </a:ext>
              </a:extLst>
            </p:cNvPr>
            <p:cNvSpPr/>
            <p:nvPr/>
          </p:nvSpPr>
          <p:spPr>
            <a:xfrm rot="18721202">
              <a:off x="3175189" y="4292595"/>
              <a:ext cx="2094772" cy="648713"/>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11" name="Rectangle 10">
              <a:extLst>
                <a:ext uri="{FF2B5EF4-FFF2-40B4-BE49-F238E27FC236}">
                  <a16:creationId xmlns:a16="http://schemas.microsoft.com/office/drawing/2014/main" id="{3CAEEE73-ECEA-5443-B94F-1DEF7791F3FC}"/>
                </a:ext>
              </a:extLst>
            </p:cNvPr>
            <p:cNvSpPr/>
            <p:nvPr/>
          </p:nvSpPr>
          <p:spPr>
            <a:xfrm>
              <a:off x="5854536" y="3645465"/>
              <a:ext cx="1580778" cy="879034"/>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12" name="TextBox 11">
              <a:extLst>
                <a:ext uri="{FF2B5EF4-FFF2-40B4-BE49-F238E27FC236}">
                  <a16:creationId xmlns:a16="http://schemas.microsoft.com/office/drawing/2014/main" id="{E0EEF916-D562-3345-B5BD-50A47D09E1D7}"/>
                </a:ext>
              </a:extLst>
            </p:cNvPr>
            <p:cNvSpPr txBox="1"/>
            <p:nvPr/>
          </p:nvSpPr>
          <p:spPr>
            <a:xfrm>
              <a:off x="3861791" y="4388505"/>
              <a:ext cx="854721"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lang="en-US" dirty="0">
                  <a:solidFill>
                    <a:schemeClr val="bg1"/>
                  </a:solidFill>
                  <a:uFill>
                    <a:solidFill>
                      <a:srgbClr val="000000"/>
                    </a:solidFill>
                  </a:uFill>
                </a:rPr>
                <a:t>b</a:t>
              </a:r>
              <a:r>
                <a:rPr kumimoji="0" lang="en-US" sz="2000" b="1" i="0" u="none" strike="noStrike" cap="none" spc="0" normalizeH="0" baseline="0" dirty="0">
                  <a:ln>
                    <a:noFill/>
                  </a:ln>
                  <a:solidFill>
                    <a:schemeClr val="bg1"/>
                  </a:solidFill>
                  <a:effectLst/>
                  <a:uFill>
                    <a:solidFill>
                      <a:srgbClr val="000000"/>
                    </a:solidFill>
                  </a:uFill>
                  <a:latin typeface="Helvetica"/>
                  <a:ea typeface="Helvetica"/>
                  <a:cs typeface="Helvetica"/>
                  <a:sym typeface="Helvetica"/>
                </a:rPr>
                <a:t>ond</a:t>
              </a:r>
            </a:p>
            <a:p>
              <a:pPr marL="40639" marR="40639" indent="0" algn="l" defTabSz="914400" rtl="0" fontAlgn="auto" latinLnBrk="1" hangingPunct="0">
                <a:lnSpc>
                  <a:spcPct val="100000"/>
                </a:lnSpc>
                <a:spcBef>
                  <a:spcPts val="0"/>
                </a:spcBef>
                <a:spcAft>
                  <a:spcPts val="0"/>
                </a:spcAft>
                <a:buClrTx/>
                <a:buSzTx/>
                <a:buFontTx/>
                <a:buNone/>
                <a:tabLst/>
              </a:pPr>
              <a:r>
                <a:rPr lang="en-US" dirty="0">
                  <a:solidFill>
                    <a:schemeClr val="bg1"/>
                  </a:solidFill>
                  <a:uFill>
                    <a:solidFill>
                      <a:srgbClr val="000000"/>
                    </a:solidFill>
                  </a:uFill>
                </a:rPr>
                <a:t>angle</a:t>
              </a:r>
              <a:endParaRPr kumimoji="0" lang="en-US" sz="2000" b="1" i="0" u="none" strike="noStrike" cap="none" spc="0" normalizeH="0" baseline="0" dirty="0">
                <a:ln>
                  <a:noFill/>
                </a:ln>
                <a:solidFill>
                  <a:schemeClr val="bg1"/>
                </a:solidFill>
                <a:effectLst/>
                <a:uFill>
                  <a:solidFill>
                    <a:srgbClr val="000000"/>
                  </a:solidFill>
                </a:uFill>
                <a:sym typeface="Helvetica"/>
              </a:endParaRPr>
            </a:p>
          </p:txBody>
        </p:sp>
        <p:sp>
          <p:nvSpPr>
            <p:cNvPr id="13" name="TextBox 12">
              <a:extLst>
                <a:ext uri="{FF2B5EF4-FFF2-40B4-BE49-F238E27FC236}">
                  <a16:creationId xmlns:a16="http://schemas.microsoft.com/office/drawing/2014/main" id="{D1D2225E-D933-7943-9B9D-C08691106111}"/>
                </a:ext>
              </a:extLst>
            </p:cNvPr>
            <p:cNvSpPr txBox="1"/>
            <p:nvPr/>
          </p:nvSpPr>
          <p:spPr>
            <a:xfrm>
              <a:off x="3412248" y="2195427"/>
              <a:ext cx="1794081" cy="410369"/>
            </a:xfrm>
            <a:prstGeom prst="rect">
              <a:avLst/>
            </a:prstGeom>
            <a:solidFill>
              <a:schemeClr val="tx1"/>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lang="en-US" dirty="0">
                  <a:solidFill>
                    <a:srgbClr val="FFFF00"/>
                  </a:solidFill>
                  <a:uFill>
                    <a:solidFill>
                      <a:srgbClr val="000000"/>
                    </a:solidFill>
                  </a:uFill>
                </a:rPr>
                <a:t>torsion</a:t>
              </a:r>
              <a:r>
                <a:rPr kumimoji="0" lang="en-US" sz="2000" b="1" i="0" u="none" strike="noStrike" cap="none" spc="0" normalizeH="0" baseline="0" dirty="0">
                  <a:ln>
                    <a:noFill/>
                  </a:ln>
                  <a:solidFill>
                    <a:srgbClr val="FFFF00"/>
                  </a:solidFill>
                  <a:effectLst/>
                  <a:uFill>
                    <a:solidFill>
                      <a:srgbClr val="000000"/>
                    </a:solidFill>
                  </a:uFill>
                  <a:latin typeface="Helvetica"/>
                  <a:ea typeface="Helvetica"/>
                  <a:cs typeface="Helvetica"/>
                  <a:sym typeface="Helvetica"/>
                </a:rPr>
                <a:t> </a:t>
              </a:r>
              <a:r>
                <a:rPr lang="en-US" dirty="0">
                  <a:solidFill>
                    <a:srgbClr val="FFFF00"/>
                  </a:solidFill>
                  <a:uFill>
                    <a:solidFill>
                      <a:srgbClr val="000000"/>
                    </a:solidFill>
                  </a:uFill>
                </a:rPr>
                <a:t>angle</a:t>
              </a:r>
              <a:endParaRPr kumimoji="0" lang="en-US" sz="2000" b="1" i="0" u="none" strike="noStrike" cap="none" spc="0" normalizeH="0" baseline="0" dirty="0">
                <a:ln>
                  <a:noFill/>
                </a:ln>
                <a:solidFill>
                  <a:srgbClr val="FFFF00"/>
                </a:solidFill>
                <a:effectLst/>
                <a:uFill>
                  <a:solidFill>
                    <a:srgbClr val="000000"/>
                  </a:solidFill>
                </a:uFill>
                <a:sym typeface="Helvetica"/>
              </a:endParaRPr>
            </a:p>
          </p:txBody>
        </p:sp>
        <p:sp>
          <p:nvSpPr>
            <p:cNvPr id="14" name="Rectangle 13">
              <a:extLst>
                <a:ext uri="{FF2B5EF4-FFF2-40B4-BE49-F238E27FC236}">
                  <a16:creationId xmlns:a16="http://schemas.microsoft.com/office/drawing/2014/main" id="{0FE6A5AB-3868-0F49-8A8F-AA3B36D83136}"/>
                </a:ext>
              </a:extLst>
            </p:cNvPr>
            <p:cNvSpPr/>
            <p:nvPr/>
          </p:nvSpPr>
          <p:spPr>
            <a:xfrm>
              <a:off x="2220673" y="5875188"/>
              <a:ext cx="3960326" cy="929222"/>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15" name="Rectangle 14">
              <a:extLst>
                <a:ext uri="{FF2B5EF4-FFF2-40B4-BE49-F238E27FC236}">
                  <a16:creationId xmlns:a16="http://schemas.microsoft.com/office/drawing/2014/main" id="{52FE6974-F4DC-5C48-B778-CF7ED2C76041}"/>
                </a:ext>
              </a:extLst>
            </p:cNvPr>
            <p:cNvSpPr/>
            <p:nvPr/>
          </p:nvSpPr>
          <p:spPr>
            <a:xfrm>
              <a:off x="2743197" y="5711484"/>
              <a:ext cx="344385" cy="279908"/>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16" name="Rectangle 15">
              <a:extLst>
                <a:ext uri="{FF2B5EF4-FFF2-40B4-BE49-F238E27FC236}">
                  <a16:creationId xmlns:a16="http://schemas.microsoft.com/office/drawing/2014/main" id="{30DBC3C6-FA9F-AE45-90D7-FEBE53262F9E}"/>
                </a:ext>
              </a:extLst>
            </p:cNvPr>
            <p:cNvSpPr/>
            <p:nvPr/>
          </p:nvSpPr>
          <p:spPr>
            <a:xfrm>
              <a:off x="5271639" y="5755007"/>
              <a:ext cx="344385" cy="279908"/>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grpSp>
      <p:pic>
        <p:nvPicPr>
          <p:cNvPr id="19" name="Picture 2">
            <a:extLst>
              <a:ext uri="{FF2B5EF4-FFF2-40B4-BE49-F238E27FC236}">
                <a16:creationId xmlns:a16="http://schemas.microsoft.com/office/drawing/2014/main" id="{2684454E-F822-B84D-A9DD-99F7F71763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3849" r="71880" b="20238"/>
          <a:stretch/>
        </p:blipFill>
        <p:spPr bwMode="auto">
          <a:xfrm rot="11345304">
            <a:off x="4221748" y="417310"/>
            <a:ext cx="1623673" cy="2229723"/>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3644FC11-9DA6-D543-B8DF-802D3FC2C6C0}"/>
              </a:ext>
            </a:extLst>
          </p:cNvPr>
          <p:cNvSpPr/>
          <p:nvPr/>
        </p:nvSpPr>
        <p:spPr>
          <a:xfrm>
            <a:off x="4160290" y="937100"/>
            <a:ext cx="344385" cy="279908"/>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21" name="Rectangle 20">
            <a:extLst>
              <a:ext uri="{FF2B5EF4-FFF2-40B4-BE49-F238E27FC236}">
                <a16:creationId xmlns:a16="http://schemas.microsoft.com/office/drawing/2014/main" id="{E87AB577-4C17-1F47-A962-AB4278077C9E}"/>
              </a:ext>
            </a:extLst>
          </p:cNvPr>
          <p:cNvSpPr/>
          <p:nvPr/>
        </p:nvSpPr>
        <p:spPr>
          <a:xfrm>
            <a:off x="4658945" y="360209"/>
            <a:ext cx="344385" cy="182880"/>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10" name="Rectangle 9">
            <a:extLst>
              <a:ext uri="{FF2B5EF4-FFF2-40B4-BE49-F238E27FC236}">
                <a16:creationId xmlns:a16="http://schemas.microsoft.com/office/drawing/2014/main" id="{667A82D6-C8E5-1143-89E8-8B1D1D5F66C2}"/>
              </a:ext>
            </a:extLst>
          </p:cNvPr>
          <p:cNvSpPr/>
          <p:nvPr/>
        </p:nvSpPr>
        <p:spPr>
          <a:xfrm rot="20670227">
            <a:off x="3971507" y="3322804"/>
            <a:ext cx="1555668" cy="2398268"/>
          </a:xfrm>
          <a:prstGeom prst="rect">
            <a:avLst/>
          </a:prstGeom>
          <a:solidFill>
            <a:schemeClr val="tx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22" name="TextBox 21">
            <a:extLst>
              <a:ext uri="{FF2B5EF4-FFF2-40B4-BE49-F238E27FC236}">
                <a16:creationId xmlns:a16="http://schemas.microsoft.com/office/drawing/2014/main" id="{B706D777-45D4-B047-B15B-55EA412ED6EB}"/>
              </a:ext>
            </a:extLst>
          </p:cNvPr>
          <p:cNvSpPr txBox="1"/>
          <p:nvPr/>
        </p:nvSpPr>
        <p:spPr>
          <a:xfrm>
            <a:off x="2289938" y="756247"/>
            <a:ext cx="1818126"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rgbClr val="FFFF00"/>
                </a:solidFill>
                <a:effectLst/>
                <a:uFill>
                  <a:solidFill>
                    <a:srgbClr val="000000"/>
                  </a:solidFill>
                </a:uFill>
                <a:latin typeface="Helvetica"/>
                <a:ea typeface="Helvetica"/>
                <a:cs typeface="Helvetica"/>
                <a:sym typeface="Helvetica"/>
              </a:rPr>
              <a:t>+/- 180°</a:t>
            </a:r>
          </a:p>
        </p:txBody>
      </p:sp>
      <p:pic>
        <p:nvPicPr>
          <p:cNvPr id="24" name="Picture 23" descr="A picture containing drawing&#10;&#10;Description automatically generated">
            <a:extLst>
              <a:ext uri="{FF2B5EF4-FFF2-40B4-BE49-F238E27FC236}">
                <a16:creationId xmlns:a16="http://schemas.microsoft.com/office/drawing/2014/main" id="{8827BDFD-102E-634C-A5CF-AEBA706623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3605338">
            <a:off x="5432219" y="1203451"/>
            <a:ext cx="3111500" cy="3441700"/>
          </a:xfrm>
          <a:prstGeom prst="rect">
            <a:avLst/>
          </a:prstGeom>
        </p:spPr>
      </p:pic>
      <p:sp>
        <p:nvSpPr>
          <p:cNvPr id="25" name="TextBox 24">
            <a:extLst>
              <a:ext uri="{FF2B5EF4-FFF2-40B4-BE49-F238E27FC236}">
                <a16:creationId xmlns:a16="http://schemas.microsoft.com/office/drawing/2014/main" id="{7F93A390-65CF-B243-BF78-DC4C736D1EAC}"/>
              </a:ext>
            </a:extLst>
          </p:cNvPr>
          <p:cNvSpPr txBox="1"/>
          <p:nvPr/>
        </p:nvSpPr>
        <p:spPr>
          <a:xfrm>
            <a:off x="6036871" y="2024039"/>
            <a:ext cx="2191626"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Positive rotation</a:t>
            </a:r>
          </a:p>
        </p:txBody>
      </p:sp>
      <p:sp>
        <p:nvSpPr>
          <p:cNvPr id="28" name="TextBox 27">
            <a:extLst>
              <a:ext uri="{FF2B5EF4-FFF2-40B4-BE49-F238E27FC236}">
                <a16:creationId xmlns:a16="http://schemas.microsoft.com/office/drawing/2014/main" id="{9E639709-AC74-DC47-8845-CC424A623BAC}"/>
              </a:ext>
            </a:extLst>
          </p:cNvPr>
          <p:cNvSpPr txBox="1"/>
          <p:nvPr/>
        </p:nvSpPr>
        <p:spPr>
          <a:xfrm>
            <a:off x="1824307" y="2543552"/>
            <a:ext cx="556563"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N</a:t>
            </a:r>
            <a:r>
              <a:rPr kumimoji="0" lang="en-US" sz="3200" b="1" i="0" u="none" strike="noStrike" cap="none" spc="0" normalizeH="0" baseline="-25000" dirty="0">
                <a:ln>
                  <a:noFill/>
                </a:ln>
                <a:solidFill>
                  <a:srgbClr val="000000"/>
                </a:solidFill>
                <a:effectLst/>
                <a:uFill>
                  <a:solidFill>
                    <a:srgbClr val="000000"/>
                  </a:solidFill>
                </a:uFill>
                <a:latin typeface="Helvetica"/>
                <a:ea typeface="Helvetica"/>
                <a:cs typeface="Helvetica"/>
                <a:sym typeface="Helvetica"/>
              </a:rPr>
              <a:t>i</a:t>
            </a:r>
            <a:endParaRPr kumimoji="0" lang="en-US" sz="32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
        <p:nvSpPr>
          <p:cNvPr id="29" name="TextBox 28">
            <a:extLst>
              <a:ext uri="{FF2B5EF4-FFF2-40B4-BE49-F238E27FC236}">
                <a16:creationId xmlns:a16="http://schemas.microsoft.com/office/drawing/2014/main" id="{A5801EE7-0276-B646-9955-DEA81018C38A}"/>
              </a:ext>
            </a:extLst>
          </p:cNvPr>
          <p:cNvSpPr txBox="1"/>
          <p:nvPr/>
        </p:nvSpPr>
        <p:spPr>
          <a:xfrm>
            <a:off x="847001" y="4420097"/>
            <a:ext cx="914033"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C’</a:t>
            </a:r>
            <a:r>
              <a:rPr kumimoji="0" lang="en-US" sz="3200" b="1" i="0" u="none" strike="noStrike" cap="none" spc="0" normalizeH="0" baseline="-25000" dirty="0">
                <a:ln>
                  <a:noFill/>
                </a:ln>
                <a:solidFill>
                  <a:srgbClr val="000000"/>
                </a:solidFill>
                <a:effectLst/>
                <a:uFill>
                  <a:solidFill>
                    <a:srgbClr val="000000"/>
                  </a:solidFill>
                </a:uFill>
                <a:latin typeface="Helvetica"/>
                <a:ea typeface="Helvetica"/>
                <a:cs typeface="Helvetica"/>
                <a:sym typeface="Helvetica"/>
              </a:rPr>
              <a:t>i-1</a:t>
            </a:r>
            <a:endParaRPr kumimoji="0" lang="en-US" sz="32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
        <p:nvSpPr>
          <p:cNvPr id="30" name="TextBox 29">
            <a:extLst>
              <a:ext uri="{FF2B5EF4-FFF2-40B4-BE49-F238E27FC236}">
                <a16:creationId xmlns:a16="http://schemas.microsoft.com/office/drawing/2014/main" id="{86CBD19D-9C8A-0840-8719-B5E1EFCCE11F}"/>
              </a:ext>
            </a:extLst>
          </p:cNvPr>
          <p:cNvSpPr txBox="1"/>
          <p:nvPr/>
        </p:nvSpPr>
        <p:spPr>
          <a:xfrm>
            <a:off x="4815870" y="831233"/>
            <a:ext cx="670376"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dirty="0" err="1">
                <a:ln>
                  <a:noFill/>
                </a:ln>
                <a:solidFill>
                  <a:srgbClr val="000000"/>
                </a:solidFill>
                <a:effectLst/>
                <a:uFill>
                  <a:solidFill>
                    <a:srgbClr val="000000"/>
                  </a:solidFill>
                </a:uFill>
                <a:latin typeface="Helvetica"/>
                <a:ea typeface="Helvetica"/>
                <a:cs typeface="Helvetica"/>
                <a:sym typeface="Helvetica"/>
              </a:rPr>
              <a:t>C’</a:t>
            </a:r>
            <a:r>
              <a:rPr kumimoji="0" lang="en-US" sz="3200" b="1" i="0" u="none" strike="noStrike" cap="none" spc="0" normalizeH="0" baseline="-25000" dirty="0" err="1">
                <a:ln>
                  <a:noFill/>
                </a:ln>
                <a:solidFill>
                  <a:srgbClr val="000000"/>
                </a:solidFill>
                <a:effectLst/>
                <a:uFill>
                  <a:solidFill>
                    <a:srgbClr val="000000"/>
                  </a:solidFill>
                </a:uFill>
                <a:latin typeface="Helvetica"/>
                <a:ea typeface="Helvetica"/>
                <a:cs typeface="Helvetica"/>
                <a:sym typeface="Helvetica"/>
              </a:rPr>
              <a:t>i</a:t>
            </a:r>
            <a:endParaRPr kumimoji="0" lang="en-US" sz="32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
        <p:nvSpPr>
          <p:cNvPr id="31" name="TextBox 30">
            <a:extLst>
              <a:ext uri="{FF2B5EF4-FFF2-40B4-BE49-F238E27FC236}">
                <a16:creationId xmlns:a16="http://schemas.microsoft.com/office/drawing/2014/main" id="{FD67F783-92B2-BB49-8F2B-C8616DCF422F}"/>
              </a:ext>
            </a:extLst>
          </p:cNvPr>
          <p:cNvSpPr txBox="1"/>
          <p:nvPr/>
        </p:nvSpPr>
        <p:spPr>
          <a:xfrm>
            <a:off x="3704174" y="2540447"/>
            <a:ext cx="729687"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C</a:t>
            </a:r>
            <a:r>
              <a:rPr kumimoji="0" lang="en-US" sz="3200" b="1" i="0" u="none" strike="noStrike" cap="none" spc="0" normalizeH="0" baseline="30000" dirty="0">
                <a:ln>
                  <a:noFill/>
                </a:ln>
                <a:solidFill>
                  <a:srgbClr val="000000"/>
                </a:solidFill>
                <a:effectLst/>
                <a:uFill>
                  <a:solidFill>
                    <a:srgbClr val="000000"/>
                  </a:solidFill>
                </a:uFill>
                <a:latin typeface="Symbol" pitchFamily="2" charset="2"/>
                <a:sym typeface="Helvetica"/>
              </a:rPr>
              <a:t>a</a:t>
            </a:r>
            <a:r>
              <a:rPr kumimoji="0" lang="en-US" sz="3200" b="1" i="0" u="none" strike="noStrike" cap="none" spc="0" normalizeH="0" baseline="-25000" dirty="0">
                <a:ln>
                  <a:noFill/>
                </a:ln>
                <a:solidFill>
                  <a:srgbClr val="000000"/>
                </a:solidFill>
                <a:effectLst/>
                <a:uFill>
                  <a:solidFill>
                    <a:srgbClr val="000000"/>
                  </a:solidFill>
                </a:uFill>
                <a:latin typeface="Helvetica"/>
                <a:ea typeface="Helvetica"/>
                <a:cs typeface="Helvetica"/>
                <a:sym typeface="Helvetica"/>
              </a:rPr>
              <a:t>i</a:t>
            </a:r>
            <a:endParaRPr kumimoji="0" lang="en-US" sz="32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cxnSp>
        <p:nvCxnSpPr>
          <p:cNvPr id="32" name="Straight Connector 31">
            <a:extLst>
              <a:ext uri="{FF2B5EF4-FFF2-40B4-BE49-F238E27FC236}">
                <a16:creationId xmlns:a16="http://schemas.microsoft.com/office/drawing/2014/main" id="{DBBF8506-65D0-A345-AC46-F885AEDB7BBA}"/>
              </a:ext>
            </a:extLst>
          </p:cNvPr>
          <p:cNvCxnSpPr/>
          <p:nvPr/>
        </p:nvCxnSpPr>
        <p:spPr>
          <a:xfrm>
            <a:off x="3004234" y="2715805"/>
            <a:ext cx="0" cy="293914"/>
          </a:xfrm>
          <a:prstGeom prst="line">
            <a:avLst/>
          </a:prstGeom>
          <a:noFill/>
          <a:ln w="57150" cap="flat">
            <a:solidFill>
              <a:srgbClr val="FFFF00"/>
            </a:solidFill>
            <a:prstDash val="solid"/>
            <a:round/>
          </a:ln>
          <a:effectLst/>
        </p:spPr>
        <p:style>
          <a:lnRef idx="0">
            <a:scrgbClr r="0" g="0" b="0"/>
          </a:lnRef>
          <a:fillRef idx="0">
            <a:scrgbClr r="0" g="0" b="0"/>
          </a:fillRef>
          <a:effectRef idx="0">
            <a:scrgbClr r="0" g="0" b="0"/>
          </a:effectRef>
          <a:fontRef idx="none"/>
        </p:style>
      </p:cxnSp>
      <p:sp>
        <p:nvSpPr>
          <p:cNvPr id="33" name="Rectangle 32">
            <a:extLst>
              <a:ext uri="{FF2B5EF4-FFF2-40B4-BE49-F238E27FC236}">
                <a16:creationId xmlns:a16="http://schemas.microsoft.com/office/drawing/2014/main" id="{D6C9F93F-F9F3-F748-B465-1594F09E588F}"/>
              </a:ext>
            </a:extLst>
          </p:cNvPr>
          <p:cNvSpPr/>
          <p:nvPr/>
        </p:nvSpPr>
        <p:spPr>
          <a:xfrm>
            <a:off x="3158613" y="2739555"/>
            <a:ext cx="106878" cy="270164"/>
          </a:xfrm>
          <a:prstGeom prst="rect">
            <a:avLst/>
          </a:pr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38" name="Freeform 37">
            <a:extLst>
              <a:ext uri="{FF2B5EF4-FFF2-40B4-BE49-F238E27FC236}">
                <a16:creationId xmlns:a16="http://schemas.microsoft.com/office/drawing/2014/main" id="{CD0834BA-78BE-5E40-981E-74D37B9C0F2D}"/>
              </a:ext>
            </a:extLst>
          </p:cNvPr>
          <p:cNvSpPr/>
          <p:nvPr/>
        </p:nvSpPr>
        <p:spPr>
          <a:xfrm>
            <a:off x="5699651" y="2470068"/>
            <a:ext cx="2957461" cy="2113807"/>
          </a:xfrm>
          <a:custGeom>
            <a:avLst/>
            <a:gdLst>
              <a:gd name="connsiteX0" fmla="*/ 107383 w 2957461"/>
              <a:gd name="connsiteY0" fmla="*/ 1151906 h 2113807"/>
              <a:gd name="connsiteX1" fmla="*/ 107383 w 2957461"/>
              <a:gd name="connsiteY1" fmla="*/ 1151906 h 2113807"/>
              <a:gd name="connsiteX2" fmla="*/ 24255 w 2957461"/>
              <a:gd name="connsiteY2" fmla="*/ 1223158 h 2113807"/>
              <a:gd name="connsiteX3" fmla="*/ 505 w 2957461"/>
              <a:gd name="connsiteY3" fmla="*/ 1258784 h 2113807"/>
              <a:gd name="connsiteX4" fmla="*/ 24255 w 2957461"/>
              <a:gd name="connsiteY4" fmla="*/ 1413163 h 2113807"/>
              <a:gd name="connsiteX5" fmla="*/ 36131 w 2957461"/>
              <a:gd name="connsiteY5" fmla="*/ 1448789 h 2113807"/>
              <a:gd name="connsiteX6" fmla="*/ 107383 w 2957461"/>
              <a:gd name="connsiteY6" fmla="*/ 1555667 h 2113807"/>
              <a:gd name="connsiteX7" fmla="*/ 131133 w 2957461"/>
              <a:gd name="connsiteY7" fmla="*/ 1591293 h 2113807"/>
              <a:gd name="connsiteX8" fmla="*/ 154884 w 2957461"/>
              <a:gd name="connsiteY8" fmla="*/ 1626919 h 2113807"/>
              <a:gd name="connsiteX9" fmla="*/ 166759 w 2957461"/>
              <a:gd name="connsiteY9" fmla="*/ 1662545 h 2113807"/>
              <a:gd name="connsiteX10" fmla="*/ 214261 w 2957461"/>
              <a:gd name="connsiteY10" fmla="*/ 1733797 h 2113807"/>
              <a:gd name="connsiteX11" fmla="*/ 238011 w 2957461"/>
              <a:gd name="connsiteY11" fmla="*/ 1769423 h 2113807"/>
              <a:gd name="connsiteX12" fmla="*/ 261762 w 2957461"/>
              <a:gd name="connsiteY12" fmla="*/ 1805049 h 2113807"/>
              <a:gd name="connsiteX13" fmla="*/ 285513 w 2957461"/>
              <a:gd name="connsiteY13" fmla="*/ 1840675 h 2113807"/>
              <a:gd name="connsiteX14" fmla="*/ 309263 w 2957461"/>
              <a:gd name="connsiteY14" fmla="*/ 1911927 h 2113807"/>
              <a:gd name="connsiteX15" fmla="*/ 344889 w 2957461"/>
              <a:gd name="connsiteY15" fmla="*/ 1983179 h 2113807"/>
              <a:gd name="connsiteX16" fmla="*/ 380515 w 2957461"/>
              <a:gd name="connsiteY16" fmla="*/ 2006929 h 2113807"/>
              <a:gd name="connsiteX17" fmla="*/ 439892 w 2957461"/>
              <a:gd name="connsiteY17" fmla="*/ 2054431 h 2113807"/>
              <a:gd name="connsiteX18" fmla="*/ 475518 w 2957461"/>
              <a:gd name="connsiteY18" fmla="*/ 2078181 h 2113807"/>
              <a:gd name="connsiteX19" fmla="*/ 546770 w 2957461"/>
              <a:gd name="connsiteY19" fmla="*/ 2101932 h 2113807"/>
              <a:gd name="connsiteX20" fmla="*/ 582396 w 2957461"/>
              <a:gd name="connsiteY20" fmla="*/ 2113807 h 2113807"/>
              <a:gd name="connsiteX21" fmla="*/ 665523 w 2957461"/>
              <a:gd name="connsiteY21" fmla="*/ 2101932 h 2113807"/>
              <a:gd name="connsiteX22" fmla="*/ 736775 w 2957461"/>
              <a:gd name="connsiteY22" fmla="*/ 2078181 h 2113807"/>
              <a:gd name="connsiteX23" fmla="*/ 831778 w 2957461"/>
              <a:gd name="connsiteY23" fmla="*/ 2006929 h 2113807"/>
              <a:gd name="connsiteX24" fmla="*/ 867404 w 2957461"/>
              <a:gd name="connsiteY24" fmla="*/ 1983179 h 2113807"/>
              <a:gd name="connsiteX25" fmla="*/ 903030 w 2957461"/>
              <a:gd name="connsiteY25" fmla="*/ 1947553 h 2113807"/>
              <a:gd name="connsiteX26" fmla="*/ 938655 w 2957461"/>
              <a:gd name="connsiteY26" fmla="*/ 1923802 h 2113807"/>
              <a:gd name="connsiteX27" fmla="*/ 1009907 w 2957461"/>
              <a:gd name="connsiteY27" fmla="*/ 1852550 h 2113807"/>
              <a:gd name="connsiteX28" fmla="*/ 1045533 w 2957461"/>
              <a:gd name="connsiteY28" fmla="*/ 1816924 h 2113807"/>
              <a:gd name="connsiteX29" fmla="*/ 1081159 w 2957461"/>
              <a:gd name="connsiteY29" fmla="*/ 1793174 h 2113807"/>
              <a:gd name="connsiteX30" fmla="*/ 1152411 w 2957461"/>
              <a:gd name="connsiteY30" fmla="*/ 1686296 h 2113807"/>
              <a:gd name="connsiteX31" fmla="*/ 1176162 w 2957461"/>
              <a:gd name="connsiteY31" fmla="*/ 1650670 h 2113807"/>
              <a:gd name="connsiteX32" fmla="*/ 1247414 w 2957461"/>
              <a:gd name="connsiteY32" fmla="*/ 1591293 h 2113807"/>
              <a:gd name="connsiteX33" fmla="*/ 1283040 w 2957461"/>
              <a:gd name="connsiteY33" fmla="*/ 1579418 h 2113807"/>
              <a:gd name="connsiteX34" fmla="*/ 1389918 w 2957461"/>
              <a:gd name="connsiteY34" fmla="*/ 1531916 h 2113807"/>
              <a:gd name="connsiteX35" fmla="*/ 1425544 w 2957461"/>
              <a:gd name="connsiteY35" fmla="*/ 1520041 h 2113807"/>
              <a:gd name="connsiteX36" fmla="*/ 1496796 w 2957461"/>
              <a:gd name="connsiteY36" fmla="*/ 1484415 h 2113807"/>
              <a:gd name="connsiteX37" fmla="*/ 1532422 w 2957461"/>
              <a:gd name="connsiteY37" fmla="*/ 1460664 h 2113807"/>
              <a:gd name="connsiteX38" fmla="*/ 1568048 w 2957461"/>
              <a:gd name="connsiteY38" fmla="*/ 1448789 h 2113807"/>
              <a:gd name="connsiteX39" fmla="*/ 1615549 w 2957461"/>
              <a:gd name="connsiteY39" fmla="*/ 1425038 h 2113807"/>
              <a:gd name="connsiteX40" fmla="*/ 1686801 w 2957461"/>
              <a:gd name="connsiteY40" fmla="*/ 1401288 h 2113807"/>
              <a:gd name="connsiteX41" fmla="*/ 1758053 w 2957461"/>
              <a:gd name="connsiteY41" fmla="*/ 1365662 h 2113807"/>
              <a:gd name="connsiteX42" fmla="*/ 1829305 w 2957461"/>
              <a:gd name="connsiteY42" fmla="*/ 1318161 h 2113807"/>
              <a:gd name="connsiteX43" fmla="*/ 1864931 w 2957461"/>
              <a:gd name="connsiteY43" fmla="*/ 1306285 h 2113807"/>
              <a:gd name="connsiteX44" fmla="*/ 1936183 w 2957461"/>
              <a:gd name="connsiteY44" fmla="*/ 1270659 h 2113807"/>
              <a:gd name="connsiteX45" fmla="*/ 2149939 w 2957461"/>
              <a:gd name="connsiteY45" fmla="*/ 1258784 h 2113807"/>
              <a:gd name="connsiteX46" fmla="*/ 2304318 w 2957461"/>
              <a:gd name="connsiteY46" fmla="*/ 1235033 h 2113807"/>
              <a:gd name="connsiteX47" fmla="*/ 2399320 w 2957461"/>
              <a:gd name="connsiteY47" fmla="*/ 1211283 h 2113807"/>
              <a:gd name="connsiteX48" fmla="*/ 2624952 w 2957461"/>
              <a:gd name="connsiteY48" fmla="*/ 1187532 h 2113807"/>
              <a:gd name="connsiteX49" fmla="*/ 2743705 w 2957461"/>
              <a:gd name="connsiteY49" fmla="*/ 1151906 h 2113807"/>
              <a:gd name="connsiteX50" fmla="*/ 2814957 w 2957461"/>
              <a:gd name="connsiteY50" fmla="*/ 1128155 h 2113807"/>
              <a:gd name="connsiteX51" fmla="*/ 2886209 w 2957461"/>
              <a:gd name="connsiteY51" fmla="*/ 1080654 h 2113807"/>
              <a:gd name="connsiteX52" fmla="*/ 2921835 w 2957461"/>
              <a:gd name="connsiteY52" fmla="*/ 1056903 h 2113807"/>
              <a:gd name="connsiteX53" fmla="*/ 2957461 w 2957461"/>
              <a:gd name="connsiteY53" fmla="*/ 985651 h 2113807"/>
              <a:gd name="connsiteX54" fmla="*/ 2921835 w 2957461"/>
              <a:gd name="connsiteY54" fmla="*/ 855023 h 2113807"/>
              <a:gd name="connsiteX55" fmla="*/ 2898084 w 2957461"/>
              <a:gd name="connsiteY55" fmla="*/ 771896 h 2113807"/>
              <a:gd name="connsiteX56" fmla="*/ 2874333 w 2957461"/>
              <a:gd name="connsiteY56" fmla="*/ 736270 h 2113807"/>
              <a:gd name="connsiteX57" fmla="*/ 2803081 w 2957461"/>
              <a:gd name="connsiteY57" fmla="*/ 712519 h 2113807"/>
              <a:gd name="connsiteX58" fmla="*/ 2328068 w 2957461"/>
              <a:gd name="connsiteY58" fmla="*/ 724394 h 2113807"/>
              <a:gd name="connsiteX59" fmla="*/ 2256817 w 2957461"/>
              <a:gd name="connsiteY59" fmla="*/ 748145 h 2113807"/>
              <a:gd name="connsiteX60" fmla="*/ 2221191 w 2957461"/>
              <a:gd name="connsiteY60" fmla="*/ 760020 h 2113807"/>
              <a:gd name="connsiteX61" fmla="*/ 2185565 w 2957461"/>
              <a:gd name="connsiteY61" fmla="*/ 771896 h 2113807"/>
              <a:gd name="connsiteX62" fmla="*/ 2031185 w 2957461"/>
              <a:gd name="connsiteY62" fmla="*/ 724394 h 2113807"/>
              <a:gd name="connsiteX63" fmla="*/ 2102437 w 2957461"/>
              <a:gd name="connsiteY63" fmla="*/ 581890 h 2113807"/>
              <a:gd name="connsiteX64" fmla="*/ 2126188 w 2957461"/>
              <a:gd name="connsiteY64" fmla="*/ 510638 h 2113807"/>
              <a:gd name="connsiteX65" fmla="*/ 2114313 w 2957461"/>
              <a:gd name="connsiteY65" fmla="*/ 320633 h 2113807"/>
              <a:gd name="connsiteX66" fmla="*/ 2102437 w 2957461"/>
              <a:gd name="connsiteY66" fmla="*/ 285007 h 2113807"/>
              <a:gd name="connsiteX67" fmla="*/ 2066811 w 2957461"/>
              <a:gd name="connsiteY67" fmla="*/ 261257 h 2113807"/>
              <a:gd name="connsiteX68" fmla="*/ 2043061 w 2957461"/>
              <a:gd name="connsiteY68" fmla="*/ 225631 h 2113807"/>
              <a:gd name="connsiteX69" fmla="*/ 1971809 w 2957461"/>
              <a:gd name="connsiteY69" fmla="*/ 178129 h 2113807"/>
              <a:gd name="connsiteX70" fmla="*/ 1900557 w 2957461"/>
              <a:gd name="connsiteY70" fmla="*/ 130628 h 2113807"/>
              <a:gd name="connsiteX71" fmla="*/ 1864931 w 2957461"/>
              <a:gd name="connsiteY71" fmla="*/ 106877 h 2113807"/>
              <a:gd name="connsiteX72" fmla="*/ 1793679 w 2957461"/>
              <a:gd name="connsiteY72" fmla="*/ 83127 h 2113807"/>
              <a:gd name="connsiteX73" fmla="*/ 1686801 w 2957461"/>
              <a:gd name="connsiteY73" fmla="*/ 35626 h 2113807"/>
              <a:gd name="connsiteX74" fmla="*/ 1615549 w 2957461"/>
              <a:gd name="connsiteY74" fmla="*/ 11875 h 2113807"/>
              <a:gd name="connsiteX75" fmla="*/ 1556172 w 2957461"/>
              <a:gd name="connsiteY75" fmla="*/ 0 h 2113807"/>
              <a:gd name="connsiteX76" fmla="*/ 1271165 w 2957461"/>
              <a:gd name="connsiteY76" fmla="*/ 11875 h 2113807"/>
              <a:gd name="connsiteX77" fmla="*/ 1235539 w 2957461"/>
              <a:gd name="connsiteY77" fmla="*/ 23750 h 2113807"/>
              <a:gd name="connsiteX78" fmla="*/ 1057409 w 2957461"/>
              <a:gd name="connsiteY78" fmla="*/ 47501 h 2113807"/>
              <a:gd name="connsiteX79" fmla="*/ 843653 w 2957461"/>
              <a:gd name="connsiteY79" fmla="*/ 118753 h 2113807"/>
              <a:gd name="connsiteX80" fmla="*/ 772401 w 2957461"/>
              <a:gd name="connsiteY80" fmla="*/ 142503 h 2113807"/>
              <a:gd name="connsiteX81" fmla="*/ 736775 w 2957461"/>
              <a:gd name="connsiteY81" fmla="*/ 154379 h 2113807"/>
              <a:gd name="connsiteX82" fmla="*/ 701149 w 2957461"/>
              <a:gd name="connsiteY82" fmla="*/ 178129 h 2113807"/>
              <a:gd name="connsiteX83" fmla="*/ 677398 w 2957461"/>
              <a:gd name="connsiteY83" fmla="*/ 249381 h 2113807"/>
              <a:gd name="connsiteX84" fmla="*/ 665523 w 2957461"/>
              <a:gd name="connsiteY84" fmla="*/ 285007 h 2113807"/>
              <a:gd name="connsiteX85" fmla="*/ 677398 w 2957461"/>
              <a:gd name="connsiteY85" fmla="*/ 332509 h 2113807"/>
              <a:gd name="connsiteX86" fmla="*/ 653648 w 2957461"/>
              <a:gd name="connsiteY86" fmla="*/ 593766 h 2113807"/>
              <a:gd name="connsiteX87" fmla="*/ 594271 w 2957461"/>
              <a:gd name="connsiteY87" fmla="*/ 700644 h 2113807"/>
              <a:gd name="connsiteX88" fmla="*/ 570520 w 2957461"/>
              <a:gd name="connsiteY88" fmla="*/ 736270 h 2113807"/>
              <a:gd name="connsiteX89" fmla="*/ 558645 w 2957461"/>
              <a:gd name="connsiteY89" fmla="*/ 771896 h 2113807"/>
              <a:gd name="connsiteX90" fmla="*/ 487393 w 2957461"/>
              <a:gd name="connsiteY90" fmla="*/ 878774 h 2113807"/>
              <a:gd name="connsiteX91" fmla="*/ 463643 w 2957461"/>
              <a:gd name="connsiteY91" fmla="*/ 914400 h 2113807"/>
              <a:gd name="connsiteX92" fmla="*/ 451767 w 2957461"/>
              <a:gd name="connsiteY92" fmla="*/ 950026 h 2113807"/>
              <a:gd name="connsiteX93" fmla="*/ 416141 w 2957461"/>
              <a:gd name="connsiteY93" fmla="*/ 973776 h 2113807"/>
              <a:gd name="connsiteX94" fmla="*/ 368640 w 2957461"/>
              <a:gd name="connsiteY94" fmla="*/ 1033153 h 2113807"/>
              <a:gd name="connsiteX95" fmla="*/ 333014 w 2957461"/>
              <a:gd name="connsiteY95" fmla="*/ 1068779 h 2113807"/>
              <a:gd name="connsiteX96" fmla="*/ 226136 w 2957461"/>
              <a:gd name="connsiteY96" fmla="*/ 1128155 h 2113807"/>
              <a:gd name="connsiteX97" fmla="*/ 119258 w 2957461"/>
              <a:gd name="connsiteY97" fmla="*/ 1175657 h 2113807"/>
              <a:gd name="connsiteX98" fmla="*/ 107383 w 2957461"/>
              <a:gd name="connsiteY98" fmla="*/ 1151906 h 2113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2957461" h="2113807">
                <a:moveTo>
                  <a:pt x="107383" y="1151906"/>
                </a:moveTo>
                <a:lnTo>
                  <a:pt x="107383" y="1151906"/>
                </a:lnTo>
                <a:cubicBezTo>
                  <a:pt x="79674" y="1175657"/>
                  <a:pt x="50061" y="1197352"/>
                  <a:pt x="24255" y="1223158"/>
                </a:cubicBezTo>
                <a:cubicBezTo>
                  <a:pt x="14163" y="1233250"/>
                  <a:pt x="1690" y="1244561"/>
                  <a:pt x="505" y="1258784"/>
                </a:cubicBezTo>
                <a:cubicBezTo>
                  <a:pt x="-2891" y="1299535"/>
                  <a:pt x="11460" y="1368382"/>
                  <a:pt x="24255" y="1413163"/>
                </a:cubicBezTo>
                <a:cubicBezTo>
                  <a:pt x="27694" y="1425199"/>
                  <a:pt x="30052" y="1437847"/>
                  <a:pt x="36131" y="1448789"/>
                </a:cubicBezTo>
                <a:cubicBezTo>
                  <a:pt x="36139" y="1448804"/>
                  <a:pt x="95503" y="1537847"/>
                  <a:pt x="107383" y="1555667"/>
                </a:cubicBezTo>
                <a:lnTo>
                  <a:pt x="131133" y="1591293"/>
                </a:lnTo>
                <a:lnTo>
                  <a:pt x="154884" y="1626919"/>
                </a:lnTo>
                <a:cubicBezTo>
                  <a:pt x="158842" y="1638794"/>
                  <a:pt x="160680" y="1651603"/>
                  <a:pt x="166759" y="1662545"/>
                </a:cubicBezTo>
                <a:cubicBezTo>
                  <a:pt x="180622" y="1687498"/>
                  <a:pt x="198427" y="1710046"/>
                  <a:pt x="214261" y="1733797"/>
                </a:cubicBezTo>
                <a:lnTo>
                  <a:pt x="238011" y="1769423"/>
                </a:lnTo>
                <a:lnTo>
                  <a:pt x="261762" y="1805049"/>
                </a:lnTo>
                <a:lnTo>
                  <a:pt x="285513" y="1840675"/>
                </a:lnTo>
                <a:lnTo>
                  <a:pt x="309263" y="1911927"/>
                </a:lnTo>
                <a:cubicBezTo>
                  <a:pt x="318920" y="1940899"/>
                  <a:pt x="321871" y="1960161"/>
                  <a:pt x="344889" y="1983179"/>
                </a:cubicBezTo>
                <a:cubicBezTo>
                  <a:pt x="354981" y="1993271"/>
                  <a:pt x="368640" y="1999012"/>
                  <a:pt x="380515" y="2006929"/>
                </a:cubicBezTo>
                <a:cubicBezTo>
                  <a:pt x="420552" y="2066983"/>
                  <a:pt x="382532" y="2025751"/>
                  <a:pt x="439892" y="2054431"/>
                </a:cubicBezTo>
                <a:cubicBezTo>
                  <a:pt x="452657" y="2060814"/>
                  <a:pt x="462476" y="2072385"/>
                  <a:pt x="475518" y="2078181"/>
                </a:cubicBezTo>
                <a:cubicBezTo>
                  <a:pt x="498396" y="2088349"/>
                  <a:pt x="523019" y="2094015"/>
                  <a:pt x="546770" y="2101932"/>
                </a:cubicBezTo>
                <a:lnTo>
                  <a:pt x="582396" y="2113807"/>
                </a:lnTo>
                <a:cubicBezTo>
                  <a:pt x="610105" y="2109849"/>
                  <a:pt x="638249" y="2108226"/>
                  <a:pt x="665523" y="2101932"/>
                </a:cubicBezTo>
                <a:cubicBezTo>
                  <a:pt x="689917" y="2096303"/>
                  <a:pt x="736775" y="2078181"/>
                  <a:pt x="736775" y="2078181"/>
                </a:cubicBezTo>
                <a:cubicBezTo>
                  <a:pt x="768443" y="2054430"/>
                  <a:pt x="798841" y="2028886"/>
                  <a:pt x="831778" y="2006929"/>
                </a:cubicBezTo>
                <a:cubicBezTo>
                  <a:pt x="843653" y="1999012"/>
                  <a:pt x="856440" y="1992316"/>
                  <a:pt x="867404" y="1983179"/>
                </a:cubicBezTo>
                <a:cubicBezTo>
                  <a:pt x="880306" y="1972428"/>
                  <a:pt x="890128" y="1958305"/>
                  <a:pt x="903030" y="1947553"/>
                </a:cubicBezTo>
                <a:cubicBezTo>
                  <a:pt x="913994" y="1938416"/>
                  <a:pt x="927988" y="1933284"/>
                  <a:pt x="938655" y="1923802"/>
                </a:cubicBezTo>
                <a:cubicBezTo>
                  <a:pt x="963759" y="1901487"/>
                  <a:pt x="986156" y="1876301"/>
                  <a:pt x="1009907" y="1852550"/>
                </a:cubicBezTo>
                <a:cubicBezTo>
                  <a:pt x="1021782" y="1840675"/>
                  <a:pt x="1031559" y="1826240"/>
                  <a:pt x="1045533" y="1816924"/>
                </a:cubicBezTo>
                <a:lnTo>
                  <a:pt x="1081159" y="1793174"/>
                </a:lnTo>
                <a:lnTo>
                  <a:pt x="1152411" y="1686296"/>
                </a:lnTo>
                <a:cubicBezTo>
                  <a:pt x="1160328" y="1674421"/>
                  <a:pt x="1166070" y="1660762"/>
                  <a:pt x="1176162" y="1650670"/>
                </a:cubicBezTo>
                <a:cubicBezTo>
                  <a:pt x="1202425" y="1624407"/>
                  <a:pt x="1214349" y="1607826"/>
                  <a:pt x="1247414" y="1591293"/>
                </a:cubicBezTo>
                <a:cubicBezTo>
                  <a:pt x="1258610" y="1585695"/>
                  <a:pt x="1271165" y="1583376"/>
                  <a:pt x="1283040" y="1579418"/>
                </a:cubicBezTo>
                <a:cubicBezTo>
                  <a:pt x="1339496" y="1541780"/>
                  <a:pt x="1305127" y="1560180"/>
                  <a:pt x="1389918" y="1531916"/>
                </a:cubicBezTo>
                <a:lnTo>
                  <a:pt x="1425544" y="1520041"/>
                </a:lnTo>
                <a:cubicBezTo>
                  <a:pt x="1527644" y="1451974"/>
                  <a:pt x="1398464" y="1533581"/>
                  <a:pt x="1496796" y="1484415"/>
                </a:cubicBezTo>
                <a:cubicBezTo>
                  <a:pt x="1509562" y="1478032"/>
                  <a:pt x="1519656" y="1467047"/>
                  <a:pt x="1532422" y="1460664"/>
                </a:cubicBezTo>
                <a:cubicBezTo>
                  <a:pt x="1543618" y="1455066"/>
                  <a:pt x="1556542" y="1453720"/>
                  <a:pt x="1568048" y="1448789"/>
                </a:cubicBezTo>
                <a:cubicBezTo>
                  <a:pt x="1584319" y="1441816"/>
                  <a:pt x="1599112" y="1431613"/>
                  <a:pt x="1615549" y="1425038"/>
                </a:cubicBezTo>
                <a:cubicBezTo>
                  <a:pt x="1638794" y="1415740"/>
                  <a:pt x="1686801" y="1401288"/>
                  <a:pt x="1686801" y="1401288"/>
                </a:cubicBezTo>
                <a:cubicBezTo>
                  <a:pt x="1844945" y="1295857"/>
                  <a:pt x="1610567" y="1447598"/>
                  <a:pt x="1758053" y="1365662"/>
                </a:cubicBezTo>
                <a:cubicBezTo>
                  <a:pt x="1783006" y="1351800"/>
                  <a:pt x="1802225" y="1327188"/>
                  <a:pt x="1829305" y="1318161"/>
                </a:cubicBezTo>
                <a:cubicBezTo>
                  <a:pt x="1841180" y="1314202"/>
                  <a:pt x="1853735" y="1311883"/>
                  <a:pt x="1864931" y="1306285"/>
                </a:cubicBezTo>
                <a:cubicBezTo>
                  <a:pt x="1896952" y="1290275"/>
                  <a:pt x="1899315" y="1274170"/>
                  <a:pt x="1936183" y="1270659"/>
                </a:cubicBezTo>
                <a:cubicBezTo>
                  <a:pt x="2007223" y="1263893"/>
                  <a:pt x="2078687" y="1262742"/>
                  <a:pt x="2149939" y="1258784"/>
                </a:cubicBezTo>
                <a:cubicBezTo>
                  <a:pt x="2207636" y="1251572"/>
                  <a:pt x="2249908" y="1248636"/>
                  <a:pt x="2304318" y="1235033"/>
                </a:cubicBezTo>
                <a:cubicBezTo>
                  <a:pt x="2385230" y="1214805"/>
                  <a:pt x="2285524" y="1228790"/>
                  <a:pt x="2399320" y="1211283"/>
                </a:cubicBezTo>
                <a:cubicBezTo>
                  <a:pt x="2474294" y="1199748"/>
                  <a:pt x="2549417" y="1194399"/>
                  <a:pt x="2624952" y="1187532"/>
                </a:cubicBezTo>
                <a:cubicBezTo>
                  <a:pt x="2696744" y="1169584"/>
                  <a:pt x="2656965" y="1180819"/>
                  <a:pt x="2743705" y="1151906"/>
                </a:cubicBezTo>
                <a:cubicBezTo>
                  <a:pt x="2743710" y="1151904"/>
                  <a:pt x="2814953" y="1128158"/>
                  <a:pt x="2814957" y="1128155"/>
                </a:cubicBezTo>
                <a:lnTo>
                  <a:pt x="2886209" y="1080654"/>
                </a:lnTo>
                <a:lnTo>
                  <a:pt x="2921835" y="1056903"/>
                </a:lnTo>
                <a:cubicBezTo>
                  <a:pt x="2933842" y="1038892"/>
                  <a:pt x="2957461" y="1010232"/>
                  <a:pt x="2957461" y="985651"/>
                </a:cubicBezTo>
                <a:cubicBezTo>
                  <a:pt x="2957461" y="944581"/>
                  <a:pt x="2931147" y="892268"/>
                  <a:pt x="2921835" y="855023"/>
                </a:cubicBezTo>
                <a:cubicBezTo>
                  <a:pt x="2918031" y="839809"/>
                  <a:pt x="2906600" y="788928"/>
                  <a:pt x="2898084" y="771896"/>
                </a:cubicBezTo>
                <a:cubicBezTo>
                  <a:pt x="2891701" y="759130"/>
                  <a:pt x="2886436" y="743834"/>
                  <a:pt x="2874333" y="736270"/>
                </a:cubicBezTo>
                <a:cubicBezTo>
                  <a:pt x="2853103" y="723001"/>
                  <a:pt x="2803081" y="712519"/>
                  <a:pt x="2803081" y="712519"/>
                </a:cubicBezTo>
                <a:cubicBezTo>
                  <a:pt x="2644743" y="716477"/>
                  <a:pt x="2486119" y="714086"/>
                  <a:pt x="2328068" y="724394"/>
                </a:cubicBezTo>
                <a:cubicBezTo>
                  <a:pt x="2303086" y="726023"/>
                  <a:pt x="2280567" y="740228"/>
                  <a:pt x="2256817" y="748145"/>
                </a:cubicBezTo>
                <a:lnTo>
                  <a:pt x="2221191" y="760020"/>
                </a:lnTo>
                <a:lnTo>
                  <a:pt x="2185565" y="771896"/>
                </a:lnTo>
                <a:cubicBezTo>
                  <a:pt x="2166158" y="770279"/>
                  <a:pt x="2022532" y="802273"/>
                  <a:pt x="2031185" y="724394"/>
                </a:cubicBezTo>
                <a:cubicBezTo>
                  <a:pt x="2044644" y="603258"/>
                  <a:pt x="2063075" y="699973"/>
                  <a:pt x="2102437" y="581890"/>
                </a:cubicBezTo>
                <a:lnTo>
                  <a:pt x="2126188" y="510638"/>
                </a:lnTo>
                <a:cubicBezTo>
                  <a:pt x="2122230" y="447303"/>
                  <a:pt x="2120956" y="383743"/>
                  <a:pt x="2114313" y="320633"/>
                </a:cubicBezTo>
                <a:cubicBezTo>
                  <a:pt x="2113003" y="308184"/>
                  <a:pt x="2110257" y="294782"/>
                  <a:pt x="2102437" y="285007"/>
                </a:cubicBezTo>
                <a:cubicBezTo>
                  <a:pt x="2093521" y="273862"/>
                  <a:pt x="2078686" y="269174"/>
                  <a:pt x="2066811" y="261257"/>
                </a:cubicBezTo>
                <a:cubicBezTo>
                  <a:pt x="2058894" y="249382"/>
                  <a:pt x="2053802" y="235029"/>
                  <a:pt x="2043061" y="225631"/>
                </a:cubicBezTo>
                <a:cubicBezTo>
                  <a:pt x="2021579" y="206834"/>
                  <a:pt x="1995560" y="193963"/>
                  <a:pt x="1971809" y="178129"/>
                </a:cubicBezTo>
                <a:lnTo>
                  <a:pt x="1900557" y="130628"/>
                </a:lnTo>
                <a:cubicBezTo>
                  <a:pt x="1888682" y="122711"/>
                  <a:pt x="1878471" y="111390"/>
                  <a:pt x="1864931" y="106877"/>
                </a:cubicBezTo>
                <a:lnTo>
                  <a:pt x="1793679" y="83127"/>
                </a:lnTo>
                <a:cubicBezTo>
                  <a:pt x="1737221" y="45488"/>
                  <a:pt x="1771595" y="63891"/>
                  <a:pt x="1686801" y="35626"/>
                </a:cubicBezTo>
                <a:lnTo>
                  <a:pt x="1615549" y="11875"/>
                </a:lnTo>
                <a:lnTo>
                  <a:pt x="1556172" y="0"/>
                </a:lnTo>
                <a:cubicBezTo>
                  <a:pt x="1461170" y="3958"/>
                  <a:pt x="1365990" y="4851"/>
                  <a:pt x="1271165" y="11875"/>
                </a:cubicBezTo>
                <a:cubicBezTo>
                  <a:pt x="1258682" y="12800"/>
                  <a:pt x="1247814" y="21295"/>
                  <a:pt x="1235539" y="23750"/>
                </a:cubicBezTo>
                <a:cubicBezTo>
                  <a:pt x="1208212" y="29216"/>
                  <a:pt x="1080543" y="44609"/>
                  <a:pt x="1057409" y="47501"/>
                </a:cubicBezTo>
                <a:lnTo>
                  <a:pt x="843653" y="118753"/>
                </a:lnTo>
                <a:lnTo>
                  <a:pt x="772401" y="142503"/>
                </a:lnTo>
                <a:cubicBezTo>
                  <a:pt x="760526" y="146462"/>
                  <a:pt x="747191" y="147436"/>
                  <a:pt x="736775" y="154379"/>
                </a:cubicBezTo>
                <a:lnTo>
                  <a:pt x="701149" y="178129"/>
                </a:lnTo>
                <a:lnTo>
                  <a:pt x="677398" y="249381"/>
                </a:lnTo>
                <a:lnTo>
                  <a:pt x="665523" y="285007"/>
                </a:lnTo>
                <a:cubicBezTo>
                  <a:pt x="669481" y="300841"/>
                  <a:pt x="677398" y="316188"/>
                  <a:pt x="677398" y="332509"/>
                </a:cubicBezTo>
                <a:cubicBezTo>
                  <a:pt x="677398" y="454009"/>
                  <a:pt x="679907" y="501860"/>
                  <a:pt x="653648" y="593766"/>
                </a:cubicBezTo>
                <a:cubicBezTo>
                  <a:pt x="637972" y="648630"/>
                  <a:pt x="636795" y="636858"/>
                  <a:pt x="594271" y="700644"/>
                </a:cubicBezTo>
                <a:lnTo>
                  <a:pt x="570520" y="736270"/>
                </a:lnTo>
                <a:cubicBezTo>
                  <a:pt x="566562" y="748145"/>
                  <a:pt x="564724" y="760954"/>
                  <a:pt x="558645" y="771896"/>
                </a:cubicBezTo>
                <a:cubicBezTo>
                  <a:pt x="558637" y="771911"/>
                  <a:pt x="499273" y="860954"/>
                  <a:pt x="487393" y="878774"/>
                </a:cubicBezTo>
                <a:cubicBezTo>
                  <a:pt x="479476" y="890649"/>
                  <a:pt x="468157" y="900860"/>
                  <a:pt x="463643" y="914400"/>
                </a:cubicBezTo>
                <a:cubicBezTo>
                  <a:pt x="459684" y="926275"/>
                  <a:pt x="459587" y="940251"/>
                  <a:pt x="451767" y="950026"/>
                </a:cubicBezTo>
                <a:cubicBezTo>
                  <a:pt x="442851" y="961171"/>
                  <a:pt x="428016" y="965859"/>
                  <a:pt x="416141" y="973776"/>
                </a:cubicBezTo>
                <a:cubicBezTo>
                  <a:pt x="396647" y="1032260"/>
                  <a:pt x="418223" y="991834"/>
                  <a:pt x="368640" y="1033153"/>
                </a:cubicBezTo>
                <a:cubicBezTo>
                  <a:pt x="355738" y="1043904"/>
                  <a:pt x="346271" y="1058468"/>
                  <a:pt x="333014" y="1068779"/>
                </a:cubicBezTo>
                <a:cubicBezTo>
                  <a:pt x="271763" y="1116418"/>
                  <a:pt x="279889" y="1110238"/>
                  <a:pt x="226136" y="1128155"/>
                </a:cubicBezTo>
                <a:cubicBezTo>
                  <a:pt x="193849" y="1149680"/>
                  <a:pt x="161654" y="1175657"/>
                  <a:pt x="119258" y="1175657"/>
                </a:cubicBezTo>
                <a:lnTo>
                  <a:pt x="107383" y="1151906"/>
                </a:lnTo>
                <a:close/>
              </a:path>
            </a:pathLst>
          </a:custGeom>
          <a:solidFill>
            <a:schemeClr val="bg1"/>
          </a:solidFill>
          <a:ln w="9525" cap="flat">
            <a:solidFill>
              <a:schemeClr val="bg1"/>
            </a:solid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pic>
        <p:nvPicPr>
          <p:cNvPr id="35" name="Picture 34" descr="A close up of a persons hand&#10;&#10;Description automatically generated">
            <a:extLst>
              <a:ext uri="{FF2B5EF4-FFF2-40B4-BE49-F238E27FC236}">
                <a16:creationId xmlns:a16="http://schemas.microsoft.com/office/drawing/2014/main" id="{C1661ABA-C7B0-A441-AB66-60E4263557BE}"/>
              </a:ext>
            </a:extLst>
          </p:cNvPr>
          <p:cNvPicPr>
            <a:picLocks noChangeAspect="1"/>
          </p:cNvPicPr>
          <p:nvPr/>
        </p:nvPicPr>
        <p:blipFill rotWithShape="1">
          <a:blip r:embed="rId4">
            <a:extLst>
              <a:ext uri="{28A0092B-C50C-407E-A947-70E740481C1C}">
                <a14:useLocalDpi xmlns:a14="http://schemas.microsoft.com/office/drawing/2010/main" val="0"/>
              </a:ext>
            </a:extLst>
          </a:blip>
          <a:srcRect l="10349" r="6869" b="7364"/>
          <a:stretch/>
        </p:blipFill>
        <p:spPr>
          <a:xfrm rot="5400000">
            <a:off x="6405284" y="2204331"/>
            <a:ext cx="1838121" cy="2369604"/>
          </a:xfrm>
          <a:prstGeom prst="rect">
            <a:avLst/>
          </a:prstGeom>
        </p:spPr>
      </p:pic>
      <p:sp>
        <p:nvSpPr>
          <p:cNvPr id="26" name="TextBox 25">
            <a:extLst>
              <a:ext uri="{FF2B5EF4-FFF2-40B4-BE49-F238E27FC236}">
                <a16:creationId xmlns:a16="http://schemas.microsoft.com/office/drawing/2014/main" id="{9C5B80B6-6FC6-794F-A5E5-FC197A3E2038}"/>
              </a:ext>
            </a:extLst>
          </p:cNvPr>
          <p:cNvSpPr txBox="1"/>
          <p:nvPr/>
        </p:nvSpPr>
        <p:spPr>
          <a:xfrm>
            <a:off x="7213902" y="4003570"/>
            <a:ext cx="1553630"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ctr"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Right Hand</a:t>
            </a:r>
          </a:p>
          <a:p>
            <a:pPr marL="40639" marR="40639" indent="0" algn="ctr" defTabSz="914400" rtl="0" fontAlgn="auto" latinLnBrk="1" hangingPunct="0">
              <a:lnSpc>
                <a:spcPct val="100000"/>
              </a:lnSpc>
              <a:spcBef>
                <a:spcPts val="0"/>
              </a:spcBef>
              <a:spcAft>
                <a:spcPts val="0"/>
              </a:spcAft>
              <a:buClrTx/>
              <a:buSzTx/>
              <a:buFontTx/>
              <a:buNone/>
              <a:tabLst/>
            </a:pPr>
            <a:r>
              <a:rPr lang="en-US" dirty="0">
                <a:solidFill>
                  <a:srgbClr val="000000"/>
                </a:solidFill>
                <a:uFill>
                  <a:solidFill>
                    <a:srgbClr val="000000"/>
                  </a:solidFill>
                </a:uFill>
              </a:rPr>
              <a:t>Rule!</a:t>
            </a:r>
            <a:endPar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cxnSp>
        <p:nvCxnSpPr>
          <p:cNvPr id="37" name="Straight Connector 36">
            <a:extLst>
              <a:ext uri="{FF2B5EF4-FFF2-40B4-BE49-F238E27FC236}">
                <a16:creationId xmlns:a16="http://schemas.microsoft.com/office/drawing/2014/main" id="{B4FB0D01-5070-4540-9AD3-3C2823D6282D}"/>
              </a:ext>
            </a:extLst>
          </p:cNvPr>
          <p:cNvCxnSpPr>
            <a:cxnSpLocks/>
          </p:cNvCxnSpPr>
          <p:nvPr/>
        </p:nvCxnSpPr>
        <p:spPr>
          <a:xfrm>
            <a:off x="7455467" y="2981538"/>
            <a:ext cx="1264394" cy="0"/>
          </a:xfrm>
          <a:prstGeom prst="line">
            <a:avLst/>
          </a:prstGeom>
          <a:noFill/>
          <a:ln w="76200" cap="flat">
            <a:solidFill>
              <a:srgbClr val="00B050"/>
            </a:solidFill>
            <a:prstDash val="solid"/>
            <a:round/>
            <a:headEnd type="none" w="med" len="med"/>
            <a:tailEnd type="triangle" w="med" len="med"/>
          </a:ln>
          <a:effectLst/>
        </p:spPr>
        <p:style>
          <a:lnRef idx="0">
            <a:scrgbClr r="0" g="0" b="0"/>
          </a:lnRef>
          <a:fillRef idx="0">
            <a:scrgbClr r="0" g="0" b="0"/>
          </a:fillRef>
          <a:effectRef idx="0">
            <a:scrgbClr r="0" g="0" b="0"/>
          </a:effectRef>
          <a:fontRef idx="none"/>
        </p:style>
      </p:cxnSp>
      <p:cxnSp>
        <p:nvCxnSpPr>
          <p:cNvPr id="40" name="Straight Connector 39">
            <a:extLst>
              <a:ext uri="{FF2B5EF4-FFF2-40B4-BE49-F238E27FC236}">
                <a16:creationId xmlns:a16="http://schemas.microsoft.com/office/drawing/2014/main" id="{74F126D8-B6F9-034D-B842-53D5475624B2}"/>
              </a:ext>
            </a:extLst>
          </p:cNvPr>
          <p:cNvCxnSpPr>
            <a:cxnSpLocks/>
          </p:cNvCxnSpPr>
          <p:nvPr/>
        </p:nvCxnSpPr>
        <p:spPr>
          <a:xfrm>
            <a:off x="5163854" y="2920196"/>
            <a:ext cx="1219016" cy="4431"/>
          </a:xfrm>
          <a:prstGeom prst="line">
            <a:avLst/>
          </a:prstGeom>
          <a:noFill/>
          <a:ln w="76200" cap="flat">
            <a:solidFill>
              <a:srgbClr val="00B050"/>
            </a:solidFill>
            <a:prstDash val="solid"/>
            <a:round/>
            <a:headEnd type="none" w="med" len="med"/>
            <a:tailEnd type="none" w="med" len="med"/>
          </a:ln>
          <a:effectLst/>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917815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Shape 132"/>
          <p:cNvSpPr>
            <a:spLocks noGrp="1"/>
          </p:cNvSpPr>
          <p:nvPr>
            <p:ph type="title"/>
          </p:nvPr>
        </p:nvSpPr>
        <p:spPr>
          <a:xfrm>
            <a:off x="838200" y="-63500"/>
            <a:ext cx="7467600" cy="838200"/>
          </a:xfrm>
          <a:prstGeom prst="rect">
            <a:avLst/>
          </a:prstGeom>
        </p:spPr>
        <p:txBody>
          <a:bodyPr/>
          <a:lstStyle>
            <a:lvl1pPr>
              <a:defRPr sz="2000" b="1">
                <a:latin typeface="Helvetica"/>
                <a:ea typeface="Helvetica"/>
                <a:cs typeface="Helvetica"/>
                <a:sym typeface="Helvetica"/>
              </a:defRPr>
            </a:lvl1pPr>
          </a:lstStyle>
          <a:p>
            <a:pPr lvl="0">
              <a:defRPr sz="1800" b="0">
                <a:uFillTx/>
              </a:defRPr>
            </a:pPr>
            <a:r>
              <a:rPr sz="2400" b="0" dirty="0">
                <a:uFill>
                  <a:solidFill/>
                </a:uFill>
                <a:latin typeface="Gill Sans" charset="0"/>
                <a:ea typeface="Gill Sans" charset="0"/>
                <a:cs typeface="Gill Sans" charset="0"/>
              </a:rPr>
              <a:t>S</a:t>
            </a:r>
            <a:r>
              <a:rPr lang="en-US" sz="2400" b="0" dirty="0">
                <a:uFill>
                  <a:solidFill/>
                </a:uFill>
                <a:latin typeface="Gill Sans" charset="0"/>
                <a:ea typeface="Gill Sans" charset="0"/>
                <a:cs typeface="Gill Sans" charset="0"/>
              </a:rPr>
              <a:t>teric hindrance: the real size of atoms, and the constraints around the peptide bond</a:t>
            </a:r>
          </a:p>
        </p:txBody>
      </p:sp>
      <p:pic>
        <p:nvPicPr>
          <p:cNvPr id="133" name="image.png"/>
          <p:cNvPicPr/>
          <p:nvPr/>
        </p:nvPicPr>
        <p:blipFill>
          <a:blip r:embed="rId2"/>
          <a:stretch>
            <a:fillRect/>
          </a:stretch>
        </p:blipFill>
        <p:spPr>
          <a:xfrm>
            <a:off x="0" y="1000125"/>
            <a:ext cx="6324600" cy="5857876"/>
          </a:xfrm>
          <a:prstGeom prst="rect">
            <a:avLst/>
          </a:prstGeom>
          <a:ln w="12700">
            <a:miter lim="400000"/>
          </a:ln>
        </p:spPr>
      </p:pic>
      <p:sp>
        <p:nvSpPr>
          <p:cNvPr id="134" name="Shape 134"/>
          <p:cNvSpPr/>
          <p:nvPr/>
        </p:nvSpPr>
        <p:spPr>
          <a:xfrm>
            <a:off x="4573587" y="5205412"/>
            <a:ext cx="379413"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i</a:t>
            </a:r>
          </a:p>
        </p:txBody>
      </p:sp>
      <p:sp>
        <p:nvSpPr>
          <p:cNvPr id="135" name="Shape 135"/>
          <p:cNvSpPr/>
          <p:nvPr/>
        </p:nvSpPr>
        <p:spPr>
          <a:xfrm>
            <a:off x="3816350" y="5572125"/>
            <a:ext cx="126958"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i</a:t>
            </a:r>
          </a:p>
        </p:txBody>
      </p:sp>
      <p:sp>
        <p:nvSpPr>
          <p:cNvPr id="136" name="Shape 136"/>
          <p:cNvSpPr/>
          <p:nvPr/>
        </p:nvSpPr>
        <p:spPr>
          <a:xfrm>
            <a:off x="3962400" y="6324600"/>
            <a:ext cx="126958"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i</a:t>
            </a:r>
          </a:p>
        </p:txBody>
      </p:sp>
      <p:sp>
        <p:nvSpPr>
          <p:cNvPr id="137" name="Shape 137"/>
          <p:cNvSpPr/>
          <p:nvPr/>
        </p:nvSpPr>
        <p:spPr>
          <a:xfrm>
            <a:off x="5410200" y="6019800"/>
            <a:ext cx="126958"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i</a:t>
            </a:r>
          </a:p>
        </p:txBody>
      </p:sp>
      <p:sp>
        <p:nvSpPr>
          <p:cNvPr id="138" name="Shape 138"/>
          <p:cNvSpPr/>
          <p:nvPr/>
        </p:nvSpPr>
        <p:spPr>
          <a:xfrm>
            <a:off x="1809750" y="5122862"/>
            <a:ext cx="1225550"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i - 1</a:t>
            </a:r>
          </a:p>
        </p:txBody>
      </p:sp>
      <p:sp>
        <p:nvSpPr>
          <p:cNvPr id="139" name="Shape 139"/>
          <p:cNvSpPr/>
          <p:nvPr/>
        </p:nvSpPr>
        <p:spPr>
          <a:xfrm>
            <a:off x="1878012" y="3794125"/>
            <a:ext cx="410690"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i - 1</a:t>
            </a:r>
          </a:p>
        </p:txBody>
      </p:sp>
      <p:sp>
        <p:nvSpPr>
          <p:cNvPr id="140" name="Shape 140"/>
          <p:cNvSpPr/>
          <p:nvPr/>
        </p:nvSpPr>
        <p:spPr>
          <a:xfrm>
            <a:off x="530225" y="5486400"/>
            <a:ext cx="410690"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i - 1</a:t>
            </a:r>
          </a:p>
        </p:txBody>
      </p:sp>
      <p:sp>
        <p:nvSpPr>
          <p:cNvPr id="141" name="Shape 141"/>
          <p:cNvSpPr/>
          <p:nvPr/>
        </p:nvSpPr>
        <p:spPr>
          <a:xfrm>
            <a:off x="5875337" y="3814762"/>
            <a:ext cx="1528763"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i </a:t>
            </a:r>
          </a:p>
        </p:txBody>
      </p:sp>
      <p:sp>
        <p:nvSpPr>
          <p:cNvPr id="142" name="Shape 142"/>
          <p:cNvSpPr/>
          <p:nvPr/>
        </p:nvSpPr>
        <p:spPr>
          <a:xfrm>
            <a:off x="5118100" y="4124325"/>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lvl="0">
              <a:buClr>
                <a:srgbClr val="000000"/>
              </a:buClr>
              <a:buFont typeface="Helvetica"/>
              <a:defRPr sz="1800">
                <a:uFillTx/>
              </a:defRPr>
            </a:pPr>
            <a:r>
              <a:rPr sz="1600" b="0">
                <a:uFill>
                  <a:solidFill/>
                </a:uFill>
                <a:latin typeface="Gill Sans" charset="0"/>
                <a:ea typeface="Gill Sans" charset="0"/>
                <a:cs typeface="Gill Sans" charset="0"/>
                <a:sym typeface="Helvetica"/>
              </a:rPr>
              <a:t>i </a:t>
            </a:r>
          </a:p>
        </p:txBody>
      </p:sp>
      <p:sp>
        <p:nvSpPr>
          <p:cNvPr id="143" name="Shape 143"/>
          <p:cNvSpPr/>
          <p:nvPr/>
        </p:nvSpPr>
        <p:spPr>
          <a:xfrm>
            <a:off x="3551237" y="3189287"/>
            <a:ext cx="465192"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i + 1</a:t>
            </a:r>
          </a:p>
        </p:txBody>
      </p:sp>
      <p:sp>
        <p:nvSpPr>
          <p:cNvPr id="144" name="Shape 144"/>
          <p:cNvSpPr/>
          <p:nvPr/>
        </p:nvSpPr>
        <p:spPr>
          <a:xfrm>
            <a:off x="4976812" y="2687637"/>
            <a:ext cx="465192"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i + 1</a:t>
            </a:r>
          </a:p>
        </p:txBody>
      </p:sp>
      <p:sp>
        <p:nvSpPr>
          <p:cNvPr id="145" name="Shape 145"/>
          <p:cNvSpPr/>
          <p:nvPr/>
        </p:nvSpPr>
        <p:spPr>
          <a:xfrm>
            <a:off x="5519737" y="1270000"/>
            <a:ext cx="465192"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0000"/>
              </a:buClr>
              <a:buFont typeface="Helvetica"/>
              <a:defRPr sz="1600" b="1">
                <a:latin typeface="Helvetica"/>
                <a:ea typeface="Helvetica"/>
                <a:cs typeface="Helvetica"/>
                <a:sym typeface="Helvetica"/>
              </a:defRPr>
            </a:lvl1pPr>
          </a:lstStyle>
          <a:p>
            <a:pPr lvl="0">
              <a:defRPr sz="1800" b="0">
                <a:uFillTx/>
              </a:defRPr>
            </a:pPr>
            <a:r>
              <a:rPr sz="1600" b="0">
                <a:uFill>
                  <a:solidFill/>
                </a:uFill>
                <a:latin typeface="Gill Sans" charset="0"/>
                <a:ea typeface="Gill Sans" charset="0"/>
                <a:cs typeface="Gill Sans" charset="0"/>
              </a:rPr>
              <a:t>i + 1</a:t>
            </a:r>
          </a:p>
        </p:txBody>
      </p:sp>
      <p:sp>
        <p:nvSpPr>
          <p:cNvPr id="146" name="Shape 146"/>
          <p:cNvSpPr/>
          <p:nvPr/>
        </p:nvSpPr>
        <p:spPr>
          <a:xfrm>
            <a:off x="3619500" y="2794000"/>
            <a:ext cx="622300" cy="430887"/>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1700"/>
              </a:spcBef>
              <a:buClr>
                <a:srgbClr val="000000"/>
              </a:buClr>
              <a:buFont typeface="Helvetica"/>
              <a:defRPr sz="2800" b="1">
                <a:latin typeface="Helvetica"/>
                <a:ea typeface="Helvetica"/>
                <a:cs typeface="Helvetica"/>
                <a:sym typeface="Helvetica"/>
              </a:defRPr>
            </a:lvl1pPr>
          </a:lstStyle>
          <a:p>
            <a:pPr lvl="0">
              <a:defRPr sz="1800" b="0">
                <a:uFillTx/>
              </a:defRPr>
            </a:pPr>
            <a:r>
              <a:rPr sz="2800" b="0">
                <a:uFill>
                  <a:solidFill/>
                </a:uFill>
                <a:latin typeface="Gill Sans" charset="0"/>
                <a:ea typeface="Gill Sans" charset="0"/>
                <a:cs typeface="Gill Sans" charset="0"/>
              </a:rPr>
              <a:t>H</a:t>
            </a:r>
          </a:p>
        </p:txBody>
      </p:sp>
      <p:sp>
        <p:nvSpPr>
          <p:cNvPr id="147" name="Shape 147"/>
          <p:cNvSpPr/>
          <p:nvPr/>
        </p:nvSpPr>
        <p:spPr>
          <a:xfrm>
            <a:off x="1422400" y="3708400"/>
            <a:ext cx="622300" cy="430887"/>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1700"/>
              </a:spcBef>
              <a:buClr>
                <a:srgbClr val="000000"/>
              </a:buClr>
              <a:buFont typeface="Helvetica"/>
              <a:defRPr sz="2800" b="1">
                <a:latin typeface="Helvetica"/>
                <a:ea typeface="Helvetica"/>
                <a:cs typeface="Helvetica"/>
                <a:sym typeface="Helvetica"/>
              </a:defRPr>
            </a:lvl1pPr>
          </a:lstStyle>
          <a:p>
            <a:pPr lvl="0">
              <a:defRPr sz="1800" b="0">
                <a:uFillTx/>
              </a:defRPr>
            </a:pPr>
            <a:r>
              <a:rPr sz="2800" b="0" dirty="0">
                <a:uFill>
                  <a:solidFill/>
                </a:uFill>
                <a:latin typeface="Gill Sans" charset="0"/>
                <a:ea typeface="Gill Sans" charset="0"/>
                <a:cs typeface="Gill Sans" charset="0"/>
              </a:rPr>
              <a:t>O</a:t>
            </a:r>
          </a:p>
        </p:txBody>
      </p:sp>
      <p:sp>
        <p:nvSpPr>
          <p:cNvPr id="148" name="Shape 148"/>
          <p:cNvSpPr/>
          <p:nvPr/>
        </p:nvSpPr>
        <p:spPr>
          <a:xfrm>
            <a:off x="2672836" y="2895600"/>
            <a:ext cx="494227" cy="1079500"/>
          </a:xfrm>
          <a:custGeom>
            <a:avLst/>
            <a:gdLst/>
            <a:ahLst/>
            <a:cxnLst>
              <a:cxn ang="0">
                <a:pos x="wd2" y="hd2"/>
              </a:cxn>
              <a:cxn ang="5400000">
                <a:pos x="wd2" y="hd2"/>
              </a:cxn>
              <a:cxn ang="10800000">
                <a:pos x="wd2" y="hd2"/>
              </a:cxn>
              <a:cxn ang="16200000">
                <a:pos x="wd2" y="hd2"/>
              </a:cxn>
            </a:cxnLst>
            <a:rect l="0" t="0" r="r" b="b"/>
            <a:pathLst>
              <a:path w="21213" h="21600" extrusionOk="0">
                <a:moveTo>
                  <a:pt x="499" y="0"/>
                </a:moveTo>
                <a:cubicBezTo>
                  <a:pt x="-387" y="1016"/>
                  <a:pt x="294" y="3335"/>
                  <a:pt x="1044" y="4415"/>
                </a:cubicBezTo>
                <a:cubicBezTo>
                  <a:pt x="1044" y="5209"/>
                  <a:pt x="1044" y="6035"/>
                  <a:pt x="1180" y="6861"/>
                </a:cubicBezTo>
                <a:cubicBezTo>
                  <a:pt x="1248" y="7687"/>
                  <a:pt x="2202" y="8545"/>
                  <a:pt x="2679" y="9402"/>
                </a:cubicBezTo>
                <a:cubicBezTo>
                  <a:pt x="2952" y="10006"/>
                  <a:pt x="3429" y="10864"/>
                  <a:pt x="4451" y="11340"/>
                </a:cubicBezTo>
                <a:cubicBezTo>
                  <a:pt x="4587" y="12039"/>
                  <a:pt x="5200" y="13722"/>
                  <a:pt x="6495" y="14231"/>
                </a:cubicBezTo>
                <a:cubicBezTo>
                  <a:pt x="6699" y="14644"/>
                  <a:pt x="7040" y="15184"/>
                  <a:pt x="7926" y="15342"/>
                </a:cubicBezTo>
                <a:cubicBezTo>
                  <a:pt x="8607" y="15882"/>
                  <a:pt x="8948" y="16613"/>
                  <a:pt x="9902" y="17121"/>
                </a:cubicBezTo>
                <a:cubicBezTo>
                  <a:pt x="10311" y="17344"/>
                  <a:pt x="11401" y="17788"/>
                  <a:pt x="11401" y="17788"/>
                </a:cubicBezTo>
                <a:cubicBezTo>
                  <a:pt x="11742" y="18487"/>
                  <a:pt x="13990" y="18836"/>
                  <a:pt x="15012" y="19408"/>
                </a:cubicBezTo>
                <a:cubicBezTo>
                  <a:pt x="15217" y="19662"/>
                  <a:pt x="16307" y="19980"/>
                  <a:pt x="16307" y="19980"/>
                </a:cubicBezTo>
                <a:cubicBezTo>
                  <a:pt x="17125" y="20584"/>
                  <a:pt x="16511" y="20425"/>
                  <a:pt x="17738" y="20584"/>
                </a:cubicBezTo>
                <a:cubicBezTo>
                  <a:pt x="18419" y="20774"/>
                  <a:pt x="19101" y="20901"/>
                  <a:pt x="19918" y="20996"/>
                </a:cubicBezTo>
                <a:cubicBezTo>
                  <a:pt x="20259" y="21187"/>
                  <a:pt x="20736" y="21378"/>
                  <a:pt x="21213" y="21600"/>
                </a:cubicBezTo>
                <a:cubicBezTo>
                  <a:pt x="20055" y="20171"/>
                  <a:pt x="20872" y="18487"/>
                  <a:pt x="19169" y="17121"/>
                </a:cubicBezTo>
                <a:cubicBezTo>
                  <a:pt x="18760" y="16454"/>
                  <a:pt x="17874" y="15882"/>
                  <a:pt x="17738" y="15247"/>
                </a:cubicBezTo>
                <a:cubicBezTo>
                  <a:pt x="17329" y="13945"/>
                  <a:pt x="16852" y="11912"/>
                  <a:pt x="14467" y="11086"/>
                </a:cubicBezTo>
                <a:cubicBezTo>
                  <a:pt x="14195" y="10768"/>
                  <a:pt x="14195" y="10609"/>
                  <a:pt x="13718" y="10419"/>
                </a:cubicBezTo>
                <a:cubicBezTo>
                  <a:pt x="13718" y="10419"/>
                  <a:pt x="13718" y="10196"/>
                  <a:pt x="13581" y="10165"/>
                </a:cubicBezTo>
                <a:cubicBezTo>
                  <a:pt x="13104" y="9974"/>
                  <a:pt x="12764" y="9784"/>
                  <a:pt x="12287" y="9656"/>
                </a:cubicBezTo>
                <a:cubicBezTo>
                  <a:pt x="11878" y="8989"/>
                  <a:pt x="11537" y="8291"/>
                  <a:pt x="10992" y="7719"/>
                </a:cubicBezTo>
                <a:cubicBezTo>
                  <a:pt x="10720" y="7020"/>
                  <a:pt x="10515" y="6131"/>
                  <a:pt x="9357" y="5686"/>
                </a:cubicBezTo>
                <a:cubicBezTo>
                  <a:pt x="9152" y="5114"/>
                  <a:pt x="8744" y="4352"/>
                  <a:pt x="7722" y="4066"/>
                </a:cubicBezTo>
                <a:cubicBezTo>
                  <a:pt x="7381" y="3462"/>
                  <a:pt x="6836" y="2922"/>
                  <a:pt x="6086" y="2446"/>
                </a:cubicBezTo>
                <a:cubicBezTo>
                  <a:pt x="5745" y="1906"/>
                  <a:pt x="4315" y="1175"/>
                  <a:pt x="3224" y="1016"/>
                </a:cubicBezTo>
                <a:cubicBezTo>
                  <a:pt x="2543" y="731"/>
                  <a:pt x="1862" y="572"/>
                  <a:pt x="1180" y="413"/>
                </a:cubicBezTo>
                <a:cubicBezTo>
                  <a:pt x="771" y="318"/>
                  <a:pt x="-319" y="159"/>
                  <a:pt x="90" y="95"/>
                </a:cubicBezTo>
                <a:cubicBezTo>
                  <a:pt x="226" y="64"/>
                  <a:pt x="363" y="32"/>
                  <a:pt x="499" y="0"/>
                </a:cubicBezTo>
                <a:close/>
              </a:path>
            </a:pathLst>
          </a:custGeom>
          <a:blipFill>
            <a:blip r:embed="rId3"/>
          </a:blipFill>
          <a:ln>
            <a:solidFill/>
            <a:round/>
          </a:ln>
        </p:spPr>
        <p:txBody>
          <a:bodyPr lIns="0" tIns="0" rIns="0" bIns="0" anchor="ctr"/>
          <a:lstStyle/>
          <a:p>
            <a:pPr lvl="0"/>
            <a:endParaRPr b="0">
              <a:latin typeface="Gill Sans" charset="0"/>
              <a:ea typeface="Gill Sans" charset="0"/>
              <a:cs typeface="Gill Sans" charset="0"/>
            </a:endParaRPr>
          </a:p>
        </p:txBody>
      </p:sp>
      <p:sp>
        <p:nvSpPr>
          <p:cNvPr id="149" name="Shape 149"/>
          <p:cNvSpPr/>
          <p:nvPr/>
        </p:nvSpPr>
        <p:spPr>
          <a:xfrm>
            <a:off x="4025900" y="5130800"/>
            <a:ext cx="698500" cy="430887"/>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1400"/>
              </a:spcBef>
              <a:buClr>
                <a:srgbClr val="FFFFFF"/>
              </a:buClr>
              <a:buFont typeface="Symbol"/>
              <a:defRPr sz="2800">
                <a:solidFill>
                  <a:srgbClr val="FFFFFF"/>
                </a:solidFill>
                <a:uFill>
                  <a:solidFill>
                    <a:srgbClr val="FFFFFF"/>
                  </a:solidFill>
                </a:uFill>
                <a:latin typeface="Symbol"/>
                <a:ea typeface="Symbol"/>
                <a:cs typeface="Symbol"/>
                <a:sym typeface="Symbol"/>
              </a:defRPr>
            </a:lvl1pPr>
          </a:lstStyle>
          <a:p>
            <a:pPr lvl="0">
              <a:defRPr sz="1800">
                <a:solidFill>
                  <a:srgbClr val="000000"/>
                </a:solidFill>
                <a:uFillTx/>
              </a:defRPr>
            </a:pPr>
            <a:r>
              <a:rPr sz="2800" b="0">
                <a:solidFill>
                  <a:srgbClr val="FFFFFF"/>
                </a:solidFill>
                <a:uFill>
                  <a:solidFill>
                    <a:srgbClr val="FFFFFF"/>
                  </a:solidFill>
                </a:uFill>
                <a:latin typeface="Gill Sans" charset="0"/>
                <a:ea typeface="Gill Sans" charset="0"/>
                <a:cs typeface="Gill Sans" charset="0"/>
              </a:rPr>
              <a:t>α</a:t>
            </a:r>
          </a:p>
        </p:txBody>
      </p:sp>
      <p:sp>
        <p:nvSpPr>
          <p:cNvPr id="150" name="Shape 150"/>
          <p:cNvSpPr/>
          <p:nvPr/>
        </p:nvSpPr>
        <p:spPr>
          <a:xfrm>
            <a:off x="584200" y="5029200"/>
            <a:ext cx="698500" cy="430887"/>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1400"/>
              </a:spcBef>
              <a:buClr>
                <a:srgbClr val="FFFFFF"/>
              </a:buClr>
              <a:buFont typeface="Symbol"/>
              <a:defRPr sz="2800">
                <a:solidFill>
                  <a:srgbClr val="FFFFFF"/>
                </a:solidFill>
                <a:uFill>
                  <a:solidFill>
                    <a:srgbClr val="FFFFFF"/>
                  </a:solidFill>
                </a:uFill>
                <a:latin typeface="Symbol"/>
                <a:ea typeface="Symbol"/>
                <a:cs typeface="Symbol"/>
                <a:sym typeface="Symbol"/>
              </a:defRPr>
            </a:lvl1pPr>
          </a:lstStyle>
          <a:p>
            <a:pPr lvl="0">
              <a:defRPr sz="1800">
                <a:solidFill>
                  <a:srgbClr val="000000"/>
                </a:solidFill>
                <a:uFillTx/>
              </a:defRPr>
            </a:pPr>
            <a:r>
              <a:rPr sz="2800" b="0">
                <a:solidFill>
                  <a:srgbClr val="FFFFFF"/>
                </a:solidFill>
                <a:uFill>
                  <a:solidFill>
                    <a:srgbClr val="FFFFFF"/>
                  </a:solidFill>
                </a:uFill>
                <a:latin typeface="Gill Sans" charset="0"/>
                <a:ea typeface="Gill Sans" charset="0"/>
                <a:cs typeface="Gill Sans" charset="0"/>
              </a:rPr>
              <a:t>α</a:t>
            </a:r>
          </a:p>
        </p:txBody>
      </p:sp>
      <p:sp>
        <p:nvSpPr>
          <p:cNvPr id="151" name="Shape 151"/>
          <p:cNvSpPr/>
          <p:nvPr/>
        </p:nvSpPr>
        <p:spPr>
          <a:xfrm>
            <a:off x="5016500" y="1181100"/>
            <a:ext cx="698500" cy="430887"/>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1400"/>
              </a:spcBef>
              <a:buClr>
                <a:srgbClr val="FFFFFF"/>
              </a:buClr>
              <a:buFont typeface="Symbol"/>
              <a:defRPr sz="2800">
                <a:solidFill>
                  <a:srgbClr val="FFFFFF"/>
                </a:solidFill>
                <a:uFill>
                  <a:solidFill>
                    <a:srgbClr val="FFFFFF"/>
                  </a:solidFill>
                </a:uFill>
                <a:latin typeface="Symbol"/>
                <a:ea typeface="Symbol"/>
                <a:cs typeface="Symbol"/>
                <a:sym typeface="Symbol"/>
              </a:defRPr>
            </a:lvl1pPr>
          </a:lstStyle>
          <a:p>
            <a:pPr lvl="0">
              <a:defRPr sz="1800">
                <a:solidFill>
                  <a:srgbClr val="000000"/>
                </a:solidFill>
                <a:uFillTx/>
              </a:defRPr>
            </a:pPr>
            <a:r>
              <a:rPr sz="2800" b="0">
                <a:solidFill>
                  <a:srgbClr val="FFFFFF"/>
                </a:solidFill>
                <a:uFill>
                  <a:solidFill>
                    <a:srgbClr val="FFFFFF"/>
                  </a:solidFill>
                </a:uFill>
                <a:latin typeface="Gill Sans" charset="0"/>
                <a:ea typeface="Gill Sans" charset="0"/>
                <a:cs typeface="Gill Sans" charset="0"/>
              </a:rPr>
              <a:t>α</a:t>
            </a:r>
          </a:p>
        </p:txBody>
      </p:sp>
      <p:sp>
        <p:nvSpPr>
          <p:cNvPr id="152" name="Shape 152"/>
          <p:cNvSpPr/>
          <p:nvPr/>
        </p:nvSpPr>
        <p:spPr>
          <a:xfrm>
            <a:off x="6029839" y="4115672"/>
            <a:ext cx="2808762" cy="553998"/>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u="sng" dirty="0">
                <a:uFill>
                  <a:solidFill/>
                </a:uFill>
                <a:latin typeface="Gill Sans" charset="0"/>
                <a:ea typeface="Gill Sans" charset="0"/>
                <a:cs typeface="Gill Sans" charset="0"/>
              </a:rPr>
              <a:t>W</a:t>
            </a:r>
            <a:r>
              <a:rPr lang="en-US" sz="1800" b="0" u="sng" dirty="0">
                <a:uFill>
                  <a:solidFill/>
                </a:uFill>
                <a:latin typeface="Gill Sans" charset="0"/>
                <a:ea typeface="Gill Sans" charset="0"/>
                <a:cs typeface="Gill Sans" charset="0"/>
              </a:rPr>
              <a:t>e can keep track of which atoms have steric hindrance:</a:t>
            </a:r>
          </a:p>
        </p:txBody>
      </p:sp>
      <p:sp>
        <p:nvSpPr>
          <p:cNvPr id="153" name="Shape 153"/>
          <p:cNvSpPr/>
          <p:nvPr/>
        </p:nvSpPr>
        <p:spPr>
          <a:xfrm>
            <a:off x="5943600" y="4838700"/>
            <a:ext cx="3136900"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lvl="0">
              <a:spcBef>
                <a:spcPts val="900"/>
              </a:spcBef>
              <a:buClr>
                <a:srgbClr val="000000"/>
              </a:buClr>
              <a:buFont typeface="Helvetica"/>
              <a:defRPr sz="1800">
                <a:uFillTx/>
              </a:defRPr>
            </a:pPr>
            <a:r>
              <a:rPr sz="1600" b="0" dirty="0">
                <a:uFill>
                  <a:solidFill/>
                </a:uFill>
                <a:latin typeface="Gill Sans" charset="0"/>
                <a:ea typeface="Gill Sans" charset="0"/>
                <a:cs typeface="Gill Sans" charset="0"/>
                <a:sym typeface="Helvetica"/>
              </a:rPr>
              <a:t>1. L</a:t>
            </a:r>
            <a:r>
              <a:rPr lang="en-US" sz="1600" b="0" dirty="0">
                <a:uFill>
                  <a:solidFill/>
                </a:uFill>
                <a:latin typeface="Gill Sans" charset="0"/>
                <a:ea typeface="Gill Sans" charset="0"/>
                <a:cs typeface="Gill Sans" charset="0"/>
                <a:sym typeface="Helvetica"/>
              </a:rPr>
              <a:t>abel all atoms of one </a:t>
            </a:r>
            <a:r>
              <a:rPr sz="1600" b="0" dirty="0">
                <a:uFill>
                  <a:solidFill/>
                </a:uFill>
                <a:latin typeface="Gill Sans" charset="0"/>
                <a:ea typeface="Gill Sans" charset="0"/>
                <a:cs typeface="Gill Sans" charset="0"/>
                <a:sym typeface="Helvetica"/>
              </a:rPr>
              <a:t>AA </a:t>
            </a:r>
            <a:r>
              <a:rPr lang="en-US" sz="1600" b="0" dirty="0">
                <a:uFill>
                  <a:solidFill/>
                </a:uFill>
                <a:latin typeface="Gill Sans" charset="0"/>
                <a:ea typeface="Gill Sans" charset="0"/>
                <a:cs typeface="Gill Sans" charset="0"/>
                <a:sym typeface="Helvetica"/>
              </a:rPr>
              <a:t>as</a:t>
            </a:r>
            <a:r>
              <a:rPr sz="1600" b="0" dirty="0">
                <a:uFill>
                  <a:solidFill/>
                </a:uFill>
                <a:latin typeface="Gill Sans" charset="0"/>
                <a:ea typeface="Gill Sans" charset="0"/>
                <a:cs typeface="Gill Sans" charset="0"/>
                <a:sym typeface="Helvetica"/>
              </a:rPr>
              <a:t> "i"</a:t>
            </a:r>
          </a:p>
        </p:txBody>
      </p:sp>
      <p:sp>
        <p:nvSpPr>
          <p:cNvPr id="154" name="Shape 154"/>
          <p:cNvSpPr/>
          <p:nvPr/>
        </p:nvSpPr>
        <p:spPr>
          <a:xfrm>
            <a:off x="5943600" y="5257800"/>
            <a:ext cx="3213100" cy="492443"/>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dirty="0">
                <a:uFill>
                  <a:solidFill/>
                </a:uFill>
                <a:latin typeface="Gill Sans" charset="0"/>
                <a:ea typeface="Gill Sans" charset="0"/>
                <a:cs typeface="Gill Sans" charset="0"/>
              </a:rPr>
              <a:t>2. A</a:t>
            </a:r>
            <a:r>
              <a:rPr lang="en-US" sz="1600" b="0" dirty="0">
                <a:uFill>
                  <a:solidFill/>
                </a:uFill>
                <a:latin typeface="Gill Sans" charset="0"/>
                <a:ea typeface="Gill Sans" charset="0"/>
                <a:cs typeface="Gill Sans" charset="0"/>
              </a:rPr>
              <a:t>ll atoms of next </a:t>
            </a:r>
            <a:r>
              <a:rPr sz="1600" b="0" dirty="0">
                <a:uFill>
                  <a:solidFill/>
                </a:uFill>
                <a:latin typeface="Gill Sans" charset="0"/>
                <a:ea typeface="Gill Sans" charset="0"/>
                <a:cs typeface="Gill Sans" charset="0"/>
              </a:rPr>
              <a:t>AA </a:t>
            </a:r>
            <a:r>
              <a:rPr lang="en-US" sz="1600" b="0" dirty="0">
                <a:uFill>
                  <a:solidFill/>
                </a:uFill>
                <a:latin typeface="Gill Sans" charset="0"/>
                <a:ea typeface="Gill Sans" charset="0"/>
                <a:cs typeface="Gill Sans" charset="0"/>
              </a:rPr>
              <a:t>closer to amino end are   </a:t>
            </a:r>
            <a:r>
              <a:rPr sz="1600" b="0" dirty="0">
                <a:uFill>
                  <a:solidFill/>
                </a:uFill>
                <a:latin typeface="Gill Sans" charset="0"/>
                <a:ea typeface="Gill Sans" charset="0"/>
                <a:cs typeface="Gill Sans" charset="0"/>
              </a:rPr>
              <a:t>"i - 1"</a:t>
            </a:r>
          </a:p>
        </p:txBody>
      </p:sp>
      <p:sp>
        <p:nvSpPr>
          <p:cNvPr id="155" name="Shape 155"/>
          <p:cNvSpPr/>
          <p:nvPr/>
        </p:nvSpPr>
        <p:spPr>
          <a:xfrm>
            <a:off x="5943600" y="5867400"/>
            <a:ext cx="3213100" cy="492443"/>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900"/>
              </a:spcBef>
              <a:buClr>
                <a:srgbClr val="000000"/>
              </a:buClr>
              <a:buFont typeface="Helvetica"/>
              <a:defRPr sz="1600" b="1">
                <a:latin typeface="Helvetica"/>
                <a:ea typeface="Helvetica"/>
                <a:cs typeface="Helvetica"/>
                <a:sym typeface="Helvetica"/>
              </a:defRPr>
            </a:lvl1pPr>
          </a:lstStyle>
          <a:p>
            <a:pPr lvl="0">
              <a:defRPr sz="1800" b="0">
                <a:uFillTx/>
              </a:defRPr>
            </a:pPr>
            <a:r>
              <a:rPr sz="1600" b="0" dirty="0">
                <a:uFill>
                  <a:solidFill/>
                </a:uFill>
                <a:latin typeface="Gill Sans" charset="0"/>
                <a:ea typeface="Gill Sans" charset="0"/>
                <a:cs typeface="Gill Sans" charset="0"/>
              </a:rPr>
              <a:t>3. A</a:t>
            </a:r>
            <a:r>
              <a:rPr lang="en-US" sz="1600" b="0" dirty="0">
                <a:uFill>
                  <a:solidFill/>
                </a:uFill>
                <a:latin typeface="Gill Sans" charset="0"/>
                <a:ea typeface="Gill Sans" charset="0"/>
                <a:cs typeface="Gill Sans" charset="0"/>
              </a:rPr>
              <a:t>ll atoms of next </a:t>
            </a:r>
            <a:r>
              <a:rPr sz="1600" b="0" dirty="0">
                <a:uFill>
                  <a:solidFill/>
                </a:uFill>
                <a:latin typeface="Gill Sans" charset="0"/>
                <a:ea typeface="Gill Sans" charset="0"/>
                <a:cs typeface="Gill Sans" charset="0"/>
              </a:rPr>
              <a:t>AA </a:t>
            </a:r>
            <a:r>
              <a:rPr lang="en-US" sz="1600" b="0" dirty="0">
                <a:uFill>
                  <a:solidFill/>
                </a:uFill>
                <a:latin typeface="Gill Sans" charset="0"/>
                <a:ea typeface="Gill Sans" charset="0"/>
                <a:cs typeface="Gill Sans" charset="0"/>
              </a:rPr>
              <a:t>closer to carboxyl end are </a:t>
            </a:r>
            <a:r>
              <a:rPr sz="1600" b="0" dirty="0">
                <a:uFill>
                  <a:solidFill/>
                </a:uFill>
                <a:latin typeface="Gill Sans" charset="0"/>
                <a:ea typeface="Gill Sans" charset="0"/>
                <a:cs typeface="Gill Sans" charset="0"/>
              </a:rPr>
              <a:t>"i + 1"</a:t>
            </a:r>
          </a:p>
        </p:txBody>
      </p:sp>
      <p:grpSp>
        <p:nvGrpSpPr>
          <p:cNvPr id="7" name="Group 6">
            <a:extLst>
              <a:ext uri="{FF2B5EF4-FFF2-40B4-BE49-F238E27FC236}">
                <a16:creationId xmlns:a16="http://schemas.microsoft.com/office/drawing/2014/main" id="{DE757790-3061-BD4D-A01A-78F2F7BE6E4F}"/>
              </a:ext>
            </a:extLst>
          </p:cNvPr>
          <p:cNvGrpSpPr/>
          <p:nvPr/>
        </p:nvGrpSpPr>
        <p:grpSpPr>
          <a:xfrm>
            <a:off x="4244520" y="4333201"/>
            <a:ext cx="682996" cy="924599"/>
            <a:chOff x="7404100" y="1576167"/>
            <a:chExt cx="682996" cy="924599"/>
          </a:xfrm>
        </p:grpSpPr>
        <p:cxnSp>
          <p:nvCxnSpPr>
            <p:cNvPr id="4" name="Straight Arrow Connector 3">
              <a:extLst>
                <a:ext uri="{FF2B5EF4-FFF2-40B4-BE49-F238E27FC236}">
                  <a16:creationId xmlns:a16="http://schemas.microsoft.com/office/drawing/2014/main" id="{C49FFCB1-0CD8-094B-B02F-74273B295295}"/>
                </a:ext>
              </a:extLst>
            </p:cNvPr>
            <p:cNvCxnSpPr>
              <a:cxnSpLocks/>
            </p:cNvCxnSpPr>
            <p:nvPr/>
          </p:nvCxnSpPr>
          <p:spPr>
            <a:xfrm flipH="1">
              <a:off x="7910252" y="2178070"/>
              <a:ext cx="141719" cy="267115"/>
            </a:xfrm>
            <a:prstGeom prst="straightConnector1">
              <a:avLst/>
            </a:prstGeom>
            <a:noFill/>
            <a:ln w="76200" cap="flat">
              <a:solidFill>
                <a:srgbClr val="FF0000"/>
              </a:solidFill>
              <a:prstDash val="solid"/>
              <a:round/>
              <a:tailEnd type="triangle"/>
            </a:ln>
            <a:effectLst/>
          </p:spPr>
          <p:style>
            <a:lnRef idx="0">
              <a:scrgbClr r="0" g="0" b="0"/>
            </a:lnRef>
            <a:fillRef idx="0">
              <a:scrgbClr r="0" g="0" b="0"/>
            </a:fillRef>
            <a:effectRef idx="0">
              <a:scrgbClr r="0" g="0" b="0"/>
            </a:effectRef>
            <a:fontRef idx="none"/>
          </p:style>
        </p:cxnSp>
        <p:sp>
          <p:nvSpPr>
            <p:cNvPr id="6" name="Arc 5">
              <a:extLst>
                <a:ext uri="{FF2B5EF4-FFF2-40B4-BE49-F238E27FC236}">
                  <a16:creationId xmlns:a16="http://schemas.microsoft.com/office/drawing/2014/main" id="{CF398155-C4C8-E147-81BC-8AB9C520B537}"/>
                </a:ext>
              </a:extLst>
            </p:cNvPr>
            <p:cNvSpPr/>
            <p:nvPr/>
          </p:nvSpPr>
          <p:spPr>
            <a:xfrm rot="1253193">
              <a:off x="7404100" y="1576167"/>
              <a:ext cx="682996" cy="924599"/>
            </a:xfrm>
            <a:prstGeom prst="arc">
              <a:avLst>
                <a:gd name="adj1" fmla="val 12163726"/>
                <a:gd name="adj2" fmla="val 280702"/>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highlight>
                  <a:srgbClr val="FFFF00"/>
                </a:highlight>
                <a:uFillTx/>
              </a:endParaRPr>
            </a:p>
          </p:txBody>
        </p:sp>
      </p:grpSp>
      <p:grpSp>
        <p:nvGrpSpPr>
          <p:cNvPr id="32" name="Group 31">
            <a:extLst>
              <a:ext uri="{FF2B5EF4-FFF2-40B4-BE49-F238E27FC236}">
                <a16:creationId xmlns:a16="http://schemas.microsoft.com/office/drawing/2014/main" id="{7C435090-C494-304B-8A98-5ABF1AAACB98}"/>
              </a:ext>
            </a:extLst>
          </p:cNvPr>
          <p:cNvGrpSpPr/>
          <p:nvPr/>
        </p:nvGrpSpPr>
        <p:grpSpPr>
          <a:xfrm>
            <a:off x="3619458" y="5218311"/>
            <a:ext cx="682996" cy="924599"/>
            <a:chOff x="7404100" y="1576167"/>
            <a:chExt cx="682996" cy="924599"/>
          </a:xfrm>
        </p:grpSpPr>
        <p:cxnSp>
          <p:nvCxnSpPr>
            <p:cNvPr id="33" name="Straight Arrow Connector 32">
              <a:extLst>
                <a:ext uri="{FF2B5EF4-FFF2-40B4-BE49-F238E27FC236}">
                  <a16:creationId xmlns:a16="http://schemas.microsoft.com/office/drawing/2014/main" id="{DA5F1C58-35EA-FE4F-B9E2-19A7E0AA7737}"/>
                </a:ext>
              </a:extLst>
            </p:cNvPr>
            <p:cNvCxnSpPr>
              <a:cxnSpLocks/>
            </p:cNvCxnSpPr>
            <p:nvPr/>
          </p:nvCxnSpPr>
          <p:spPr>
            <a:xfrm flipH="1">
              <a:off x="7910252" y="2178070"/>
              <a:ext cx="141719" cy="267115"/>
            </a:xfrm>
            <a:prstGeom prst="straightConnector1">
              <a:avLst/>
            </a:prstGeom>
            <a:noFill/>
            <a:ln w="76200" cap="flat">
              <a:solidFill>
                <a:srgbClr val="FF0000"/>
              </a:solidFill>
              <a:prstDash val="solid"/>
              <a:round/>
              <a:tailEnd type="triangle"/>
            </a:ln>
            <a:effectLst/>
          </p:spPr>
          <p:style>
            <a:lnRef idx="0">
              <a:scrgbClr r="0" g="0" b="0"/>
            </a:lnRef>
            <a:fillRef idx="0">
              <a:scrgbClr r="0" g="0" b="0"/>
            </a:fillRef>
            <a:effectRef idx="0">
              <a:scrgbClr r="0" g="0" b="0"/>
            </a:effectRef>
            <a:fontRef idx="none"/>
          </p:style>
        </p:cxnSp>
        <p:sp>
          <p:nvSpPr>
            <p:cNvPr id="34" name="Arc 33">
              <a:extLst>
                <a:ext uri="{FF2B5EF4-FFF2-40B4-BE49-F238E27FC236}">
                  <a16:creationId xmlns:a16="http://schemas.microsoft.com/office/drawing/2014/main" id="{83EE3BA9-DDF6-0045-B5EE-DFCAC621FC1E}"/>
                </a:ext>
              </a:extLst>
            </p:cNvPr>
            <p:cNvSpPr/>
            <p:nvPr/>
          </p:nvSpPr>
          <p:spPr>
            <a:xfrm rot="1253193">
              <a:off x="7404100" y="1576167"/>
              <a:ext cx="682996" cy="924599"/>
            </a:xfrm>
            <a:prstGeom prst="arc">
              <a:avLst>
                <a:gd name="adj1" fmla="val 12163726"/>
                <a:gd name="adj2" fmla="val 280702"/>
              </a:avLst>
            </a:prstGeom>
            <a:noFill/>
            <a:ln w="76200" cap="flat">
              <a:solidFill>
                <a:srgbClr val="FF0000"/>
              </a:solid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highlight>
                  <a:srgbClr val="FFFF00"/>
                </a:highlight>
                <a:uFillTx/>
              </a:endParaRPr>
            </a:p>
          </p:txBody>
        </p:sp>
      </p:grpSp>
      <p:sp>
        <p:nvSpPr>
          <p:cNvPr id="8" name="Rectangle 7">
            <a:extLst>
              <a:ext uri="{FF2B5EF4-FFF2-40B4-BE49-F238E27FC236}">
                <a16:creationId xmlns:a16="http://schemas.microsoft.com/office/drawing/2014/main" id="{26EB66EC-7501-E74D-94EA-73D3A140DD18}"/>
              </a:ext>
            </a:extLst>
          </p:cNvPr>
          <p:cNvSpPr/>
          <p:nvPr/>
        </p:nvSpPr>
        <p:spPr>
          <a:xfrm>
            <a:off x="4229357" y="5739825"/>
            <a:ext cx="577722" cy="584775"/>
          </a:xfrm>
          <a:prstGeom prst="rect">
            <a:avLst/>
          </a:prstGeom>
        </p:spPr>
        <p:txBody>
          <a:bodyPr wrap="none">
            <a:spAutoFit/>
          </a:bodyPr>
          <a:lstStyle/>
          <a:p>
            <a:r>
              <a:rPr lang="en-US" altLang="en-US" sz="3200" b="0" dirty="0" err="1">
                <a:solidFill>
                  <a:srgbClr val="000000"/>
                </a:solidFill>
                <a:latin typeface="Gill Sans" charset="0"/>
                <a:ea typeface="Gill Sans" charset="0"/>
                <a:cs typeface="Gill Sans" charset="0"/>
                <a:sym typeface="Symbol" charset="2"/>
              </a:rPr>
              <a:t>Φ</a:t>
            </a:r>
            <a:endParaRPr lang="en-US" sz="3200" dirty="0"/>
          </a:p>
        </p:txBody>
      </p:sp>
      <p:sp>
        <p:nvSpPr>
          <p:cNvPr id="9" name="Rectangle 8">
            <a:extLst>
              <a:ext uri="{FF2B5EF4-FFF2-40B4-BE49-F238E27FC236}">
                <a16:creationId xmlns:a16="http://schemas.microsoft.com/office/drawing/2014/main" id="{E0ACC386-4791-7844-B323-8AD061A2E25A}"/>
              </a:ext>
            </a:extLst>
          </p:cNvPr>
          <p:cNvSpPr/>
          <p:nvPr/>
        </p:nvSpPr>
        <p:spPr>
          <a:xfrm>
            <a:off x="4932553" y="4587048"/>
            <a:ext cx="688330" cy="584775"/>
          </a:xfrm>
          <a:prstGeom prst="rect">
            <a:avLst/>
          </a:prstGeom>
        </p:spPr>
        <p:txBody>
          <a:bodyPr wrap="none">
            <a:spAutoFit/>
          </a:bodyPr>
          <a:lstStyle/>
          <a:p>
            <a:r>
              <a:rPr lang="en-US" altLang="en-US" sz="3200" b="0" dirty="0" err="1">
                <a:solidFill>
                  <a:srgbClr val="000000"/>
                </a:solidFill>
                <a:latin typeface="Gill Sans" charset="0"/>
                <a:ea typeface="Gill Sans" charset="0"/>
                <a:cs typeface="Gill Sans" charset="0"/>
                <a:sym typeface="Symbol" charset="2"/>
              </a:rPr>
              <a:t>Ψ</a:t>
            </a:r>
            <a:r>
              <a:rPr lang="en-US" altLang="en-US" sz="3200" b="0" dirty="0">
                <a:solidFill>
                  <a:srgbClr val="000000"/>
                </a:solidFill>
                <a:latin typeface="Gill Sans" charset="0"/>
                <a:ea typeface="Gill Sans" charset="0"/>
                <a:cs typeface="Gill Sans" charset="0"/>
              </a:rPr>
              <a:t> </a:t>
            </a:r>
            <a:endParaRPr lang="en-US" sz="3200" dirty="0"/>
          </a:p>
        </p:txBody>
      </p:sp>
    </p:spTree>
    <p:extLst>
      <p:ext uri="{BB962C8B-B14F-4D97-AF65-F5344CB8AC3E}">
        <p14:creationId xmlns:p14="http://schemas.microsoft.com/office/powerpoint/2010/main" val="134548559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droppedImage.tiff">
            <a:extLst>
              <a:ext uri="{FF2B5EF4-FFF2-40B4-BE49-F238E27FC236}">
                <a16:creationId xmlns:a16="http://schemas.microsoft.com/office/drawing/2014/main" id="{539F38BA-BD95-314D-99D6-2AC721FA9A46}"/>
              </a:ext>
            </a:extLst>
          </p:cNvPr>
          <p:cNvPicPr/>
          <p:nvPr/>
        </p:nvPicPr>
        <p:blipFill rotWithShape="1">
          <a:blip r:embed="rId2"/>
          <a:srcRect l="64152" t="31744"/>
          <a:stretch/>
        </p:blipFill>
        <p:spPr>
          <a:xfrm>
            <a:off x="2898192" y="1164550"/>
            <a:ext cx="453918" cy="421057"/>
          </a:xfrm>
          <a:prstGeom prst="rect">
            <a:avLst/>
          </a:prstGeom>
          <a:ln>
            <a:round/>
          </a:ln>
        </p:spPr>
      </p:pic>
      <p:sp>
        <p:nvSpPr>
          <p:cNvPr id="158" name="Shape 158"/>
          <p:cNvSpPr/>
          <p:nvPr/>
        </p:nvSpPr>
        <p:spPr>
          <a:xfrm>
            <a:off x="1296786" y="685800"/>
            <a:ext cx="4596938" cy="245225"/>
          </a:xfrm>
          <a:prstGeom prst="rect">
            <a:avLst/>
          </a:prstGeom>
          <a:blipFill>
            <a:blip r:embed="rId3"/>
          </a:blipFill>
          <a:ln>
            <a:solidFill/>
            <a:round/>
          </a:ln>
        </p:spPr>
        <p:txBody>
          <a:bodyPr lIns="0" tIns="0" rIns="0" bIns="0" anchor="ctr"/>
          <a:lstStyle/>
          <a:p>
            <a:pPr lvl="0"/>
            <a:endParaRPr b="0">
              <a:solidFill>
                <a:schemeClr val="tx1"/>
              </a:solidFill>
              <a:latin typeface="Gill Sans" charset="0"/>
              <a:ea typeface="Gill Sans" charset="0"/>
              <a:cs typeface="Gill Sans" charset="0"/>
            </a:endParaRPr>
          </a:p>
        </p:txBody>
      </p:sp>
      <p:sp>
        <p:nvSpPr>
          <p:cNvPr id="159" name="Shape 159"/>
          <p:cNvSpPr>
            <a:spLocks noGrp="1"/>
          </p:cNvSpPr>
          <p:nvPr>
            <p:ph type="title"/>
          </p:nvPr>
        </p:nvSpPr>
        <p:spPr>
          <a:xfrm>
            <a:off x="1676400" y="-20687"/>
            <a:ext cx="8458200" cy="381000"/>
          </a:xfrm>
          <a:prstGeom prst="rect">
            <a:avLst/>
          </a:prstGeom>
        </p:spPr>
        <p:txBody>
          <a:bodyPr/>
          <a:lstStyle>
            <a:lvl1pPr>
              <a:defRPr sz="2000" b="1">
                <a:latin typeface="Helvetica"/>
                <a:ea typeface="Helvetica"/>
                <a:cs typeface="Helvetica"/>
                <a:sym typeface="Helvetica"/>
              </a:defRPr>
            </a:lvl1pPr>
          </a:lstStyle>
          <a:p>
            <a:pPr lvl="0">
              <a:defRPr sz="1800" b="0">
                <a:uFillTx/>
              </a:defRPr>
            </a:pPr>
            <a:r>
              <a:rPr lang="en-US" sz="2200" b="0" dirty="0">
                <a:solidFill>
                  <a:schemeClr val="tx1"/>
                </a:solidFill>
                <a:uFill>
                  <a:solidFill/>
                </a:uFill>
                <a:latin typeface="Gill Sans" charset="0"/>
                <a:ea typeface="Gill Sans" charset="0"/>
                <a:cs typeface="Gill Sans" charset="0"/>
              </a:rPr>
              <a:t> Ramachandran map: shows steric hindrance! </a:t>
            </a:r>
            <a:r>
              <a:rPr lang="en-US" sz="2200" dirty="0">
                <a:solidFill>
                  <a:srgbClr val="0737F8"/>
                </a:solidFill>
                <a:uFill>
                  <a:solidFill/>
                </a:uFill>
                <a:latin typeface="Gill Sans" charset="0"/>
                <a:ea typeface="Gill Sans" charset="0"/>
                <a:cs typeface="Gill Sans" charset="0"/>
              </a:rPr>
              <a:t>AND</a:t>
            </a:r>
          </a:p>
        </p:txBody>
      </p:sp>
      <p:sp>
        <p:nvSpPr>
          <p:cNvPr id="160" name="Shape 160"/>
          <p:cNvSpPr/>
          <p:nvPr/>
        </p:nvSpPr>
        <p:spPr>
          <a:xfrm>
            <a:off x="632200" y="1328913"/>
            <a:ext cx="3746500"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lvl="0">
              <a:spcBef>
                <a:spcPts val="900"/>
              </a:spcBef>
              <a:buClr>
                <a:srgbClr val="E62C9A"/>
              </a:buClr>
              <a:buFont typeface="Helvetica"/>
              <a:defRPr sz="1800">
                <a:uFillTx/>
              </a:defRPr>
            </a:pPr>
            <a:r>
              <a:rPr lang="en-US" sz="1600" b="0" u="sng" dirty="0">
                <a:solidFill>
                  <a:schemeClr val="tx1"/>
                </a:solidFill>
                <a:uFill>
                  <a:solidFill>
                    <a:srgbClr val="E62C9A"/>
                  </a:solidFill>
                </a:uFill>
                <a:latin typeface="Gill Sans" charset="0"/>
                <a:ea typeface="Gill Sans" charset="0"/>
                <a:cs typeface="Gill Sans" charset="0"/>
                <a:sym typeface="Helvetica"/>
              </a:rPr>
              <a:t>Calculated</a:t>
            </a:r>
            <a:r>
              <a:rPr lang="en-US" sz="1600" b="0" dirty="0">
                <a:solidFill>
                  <a:schemeClr val="tx1"/>
                </a:solidFill>
                <a:uFill>
                  <a:solidFill/>
                </a:uFill>
                <a:latin typeface="Gill Sans" charset="0"/>
                <a:ea typeface="Gill Sans" charset="0"/>
                <a:cs typeface="Gill Sans" charset="0"/>
                <a:sym typeface="Helvetica"/>
              </a:rPr>
              <a:t> for </a:t>
            </a:r>
            <a:r>
              <a:rPr lang="en-US" sz="1600" b="0" dirty="0" err="1">
                <a:solidFill>
                  <a:schemeClr val="tx1"/>
                </a:solidFill>
                <a:uFill>
                  <a:solidFill/>
                </a:uFill>
                <a:latin typeface="Gill Sans" charset="0"/>
                <a:ea typeface="Gill Sans" charset="0"/>
                <a:cs typeface="Gill Sans" charset="0"/>
                <a:sym typeface="Helvetica"/>
              </a:rPr>
              <a:t>polyglycine</a:t>
            </a:r>
            <a:endParaRPr lang="en-US" sz="1600" b="0" dirty="0">
              <a:solidFill>
                <a:schemeClr val="tx1"/>
              </a:solidFill>
              <a:uFill>
                <a:solidFill/>
              </a:uFill>
              <a:latin typeface="Gill Sans" charset="0"/>
              <a:ea typeface="Gill Sans" charset="0"/>
              <a:cs typeface="Gill Sans" charset="0"/>
              <a:sym typeface="Helvetica"/>
            </a:endParaRPr>
          </a:p>
        </p:txBody>
      </p:sp>
      <p:sp>
        <p:nvSpPr>
          <p:cNvPr id="161" name="Shape 161"/>
          <p:cNvSpPr/>
          <p:nvPr/>
        </p:nvSpPr>
        <p:spPr>
          <a:xfrm>
            <a:off x="4368170" y="1328913"/>
            <a:ext cx="3898900"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lvl="0">
              <a:spcBef>
                <a:spcPts val="900"/>
              </a:spcBef>
              <a:buClr>
                <a:srgbClr val="E62C9A"/>
              </a:buClr>
              <a:buFont typeface="Helvetica"/>
              <a:defRPr sz="1800">
                <a:uFillTx/>
              </a:defRPr>
            </a:pPr>
            <a:r>
              <a:rPr lang="en-US" sz="1600" b="0" u="sng" dirty="0">
                <a:solidFill>
                  <a:schemeClr val="tx1"/>
                </a:solidFill>
                <a:uFill>
                  <a:solidFill>
                    <a:srgbClr val="E62C9A"/>
                  </a:solidFill>
                </a:uFill>
                <a:latin typeface="Gill Sans" charset="0"/>
                <a:ea typeface="Gill Sans" charset="0"/>
                <a:cs typeface="Gill Sans" charset="0"/>
                <a:sym typeface="Helvetica"/>
              </a:rPr>
              <a:t>Calculated</a:t>
            </a:r>
            <a:r>
              <a:rPr lang="en-US" sz="1600" b="0" dirty="0">
                <a:solidFill>
                  <a:schemeClr val="tx1"/>
                </a:solidFill>
                <a:uFill>
                  <a:solidFill/>
                </a:uFill>
                <a:latin typeface="Gill Sans" charset="0"/>
                <a:ea typeface="Gill Sans" charset="0"/>
                <a:cs typeface="Gill Sans" charset="0"/>
                <a:sym typeface="Helvetica"/>
              </a:rPr>
              <a:t> for polyalanine</a:t>
            </a:r>
          </a:p>
        </p:txBody>
      </p:sp>
      <p:sp>
        <p:nvSpPr>
          <p:cNvPr id="162" name="Shape 162"/>
          <p:cNvSpPr/>
          <p:nvPr/>
        </p:nvSpPr>
        <p:spPr>
          <a:xfrm>
            <a:off x="81740" y="381000"/>
            <a:ext cx="7620002"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lvl="0">
              <a:spcBef>
                <a:spcPts val="900"/>
              </a:spcBef>
              <a:buClr>
                <a:srgbClr val="000000"/>
              </a:buClr>
              <a:buFont typeface="Helvetica"/>
              <a:defRPr sz="1800">
                <a:uFillTx/>
              </a:defRPr>
            </a:pPr>
            <a:r>
              <a:rPr sz="1600" b="0" dirty="0">
                <a:solidFill>
                  <a:schemeClr val="tx1"/>
                </a:solidFill>
                <a:uFill>
                  <a:solidFill/>
                </a:uFill>
                <a:latin typeface="Gill Sans" charset="0"/>
                <a:ea typeface="Gill Sans" charset="0"/>
                <a:cs typeface="Gill Sans" charset="0"/>
                <a:sym typeface="Helvetica"/>
              </a:rPr>
              <a:t>D</a:t>
            </a:r>
            <a:r>
              <a:rPr lang="en-US" sz="1600" b="0" dirty="0">
                <a:solidFill>
                  <a:schemeClr val="tx1"/>
                </a:solidFill>
                <a:uFill>
                  <a:solidFill/>
                </a:uFill>
                <a:latin typeface="Gill Sans" charset="0"/>
                <a:ea typeface="Gill Sans" charset="0"/>
                <a:cs typeface="Gill Sans" charset="0"/>
                <a:sym typeface="Helvetica"/>
              </a:rPr>
              <a:t>efine: </a:t>
            </a:r>
            <a:r>
              <a:rPr lang="en-US" altLang="en-US" sz="1600" b="0" dirty="0">
                <a:solidFill>
                  <a:srgbClr val="000000"/>
                </a:solidFill>
                <a:latin typeface="Gill Sans" charset="0"/>
                <a:ea typeface="Gill Sans" charset="0"/>
                <a:cs typeface="Gill Sans" charset="0"/>
                <a:sym typeface="Symbol" charset="2"/>
              </a:rPr>
              <a:t>φ</a:t>
            </a:r>
            <a:r>
              <a:rPr lang="en-US" altLang="en-US" sz="1600" b="0" dirty="0">
                <a:solidFill>
                  <a:srgbClr val="000000"/>
                </a:solidFill>
                <a:latin typeface="Gill Sans" charset="0"/>
                <a:ea typeface="Gill Sans" charset="0"/>
                <a:cs typeface="Gill Sans" charset="0"/>
              </a:rPr>
              <a:t> and </a:t>
            </a:r>
            <a:r>
              <a:rPr lang="en-US" altLang="en-US" sz="1600" b="0" dirty="0">
                <a:solidFill>
                  <a:srgbClr val="000000"/>
                </a:solidFill>
                <a:latin typeface="Gill Sans" charset="0"/>
                <a:ea typeface="Gill Sans" charset="0"/>
                <a:cs typeface="Gill Sans" charset="0"/>
                <a:sym typeface="Symbol" charset="2"/>
              </a:rPr>
              <a:t>ψ =</a:t>
            </a:r>
            <a:r>
              <a:rPr lang="en-US" sz="1600" b="0" dirty="0">
                <a:solidFill>
                  <a:schemeClr val="tx1"/>
                </a:solidFill>
                <a:uFill>
                  <a:solidFill/>
                </a:uFill>
                <a:latin typeface="Gill Sans" charset="0"/>
                <a:ea typeface="Gill Sans" charset="0"/>
                <a:cs typeface="Gill Sans" charset="0"/>
                <a:sym typeface="Helvetica"/>
              </a:rPr>
              <a:t> +/-180</a:t>
            </a:r>
            <a:r>
              <a:rPr lang="en-US" sz="2000" b="0" baseline="17999" dirty="0">
                <a:solidFill>
                  <a:schemeClr val="tx1"/>
                </a:solidFill>
                <a:uFill>
                  <a:solidFill/>
                </a:uFill>
                <a:latin typeface="Gill Sans" charset="0"/>
                <a:ea typeface="Gill Sans" charset="0"/>
                <a:cs typeface="Gill Sans" charset="0"/>
                <a:sym typeface="Helvetica"/>
              </a:rPr>
              <a:t>o</a:t>
            </a:r>
            <a:r>
              <a:rPr lang="en-US" sz="1600" b="0" dirty="0">
                <a:solidFill>
                  <a:schemeClr val="tx1"/>
                </a:solidFill>
                <a:uFill>
                  <a:solidFill/>
                </a:uFill>
                <a:latin typeface="Gill Sans" charset="0"/>
                <a:ea typeface="Gill Sans" charset="0"/>
                <a:cs typeface="Gill Sans" charset="0"/>
                <a:sym typeface="Helvetica"/>
              </a:rPr>
              <a:t> means “fully extended” along peptide backbone</a:t>
            </a:r>
          </a:p>
        </p:txBody>
      </p:sp>
      <p:sp>
        <p:nvSpPr>
          <p:cNvPr id="163" name="Shape 163"/>
          <p:cNvSpPr/>
          <p:nvPr/>
        </p:nvSpPr>
        <p:spPr>
          <a:xfrm>
            <a:off x="1296786" y="685800"/>
            <a:ext cx="4596938" cy="246221"/>
          </a:xfrm>
          <a:prstGeom prst="rect">
            <a:avLst/>
          </a:prstGeom>
          <a:solidFill>
            <a:srgbClr val="ADBBF8">
              <a:alpha val="20000"/>
            </a:srgbClr>
          </a:solidFill>
          <a:ln>
            <a:solidFill>
              <a:srgbClr val="FEFDFF">
                <a:alpha val="32941"/>
              </a:srgbClr>
            </a:solidFill>
            <a:miter lim="400000"/>
          </a:ln>
          <a:extLst>
            <a:ext uri="{C572A759-6A51-4108-AA02-DFA0A04FC94B}">
              <ma14:wrappingTextBoxFlag xmlns="" xmlns:ma14="http://schemas.microsoft.com/office/mac/drawingml/2011/main" val="1"/>
            </a:ext>
          </a:extLst>
        </p:spPr>
        <p:txBody>
          <a:bodyPr wrap="square" lIns="0" tIns="0" rIns="0" bIns="0">
            <a:spAutoFit/>
          </a:bodyPr>
          <a:lstStyle/>
          <a:p>
            <a:pPr lvl="0">
              <a:spcBef>
                <a:spcPts val="900"/>
              </a:spcBef>
              <a:buClr>
                <a:srgbClr val="000000"/>
              </a:buClr>
              <a:buFont typeface="Helvetica"/>
              <a:defRPr sz="1800">
                <a:uFillTx/>
              </a:defRPr>
            </a:pPr>
            <a:r>
              <a:rPr sz="1600" b="0" dirty="0">
                <a:solidFill>
                  <a:schemeClr val="tx1"/>
                </a:solidFill>
                <a:uFill>
                  <a:solidFill/>
                </a:uFill>
                <a:latin typeface="Gill Sans" charset="0"/>
                <a:ea typeface="Gill Sans" charset="0"/>
                <a:cs typeface="Gill Sans" charset="0"/>
                <a:sym typeface="Helvetica"/>
              </a:rPr>
              <a:t>S</a:t>
            </a:r>
            <a:r>
              <a:rPr lang="en-US" sz="1600" b="0" dirty="0">
                <a:solidFill>
                  <a:schemeClr val="tx1"/>
                </a:solidFill>
                <a:uFill>
                  <a:solidFill/>
                </a:uFill>
                <a:latin typeface="Gill Sans" charset="0"/>
                <a:ea typeface="Gill Sans" charset="0"/>
                <a:cs typeface="Gill Sans" charset="0"/>
                <a:sym typeface="Helvetica"/>
              </a:rPr>
              <a:t>tippled regions show the “prohibited” steric contacts</a:t>
            </a:r>
          </a:p>
        </p:txBody>
      </p:sp>
      <p:sp>
        <p:nvSpPr>
          <p:cNvPr id="164" name="Shape 164"/>
          <p:cNvSpPr/>
          <p:nvPr/>
        </p:nvSpPr>
        <p:spPr>
          <a:xfrm>
            <a:off x="0" y="5085607"/>
            <a:ext cx="5041901" cy="492443"/>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lvl="0">
              <a:spcBef>
                <a:spcPts val="900"/>
              </a:spcBef>
              <a:buClr>
                <a:srgbClr val="E62C9A"/>
              </a:buClr>
              <a:buFont typeface="Helvetica"/>
              <a:defRPr sz="1800">
                <a:uFillTx/>
              </a:defRPr>
            </a:pPr>
            <a:r>
              <a:rPr sz="1600" b="0" dirty="0">
                <a:solidFill>
                  <a:schemeClr val="tx1"/>
                </a:solidFill>
                <a:uFill>
                  <a:solidFill>
                    <a:srgbClr val="E62C9A"/>
                  </a:solidFill>
                </a:uFill>
                <a:latin typeface="Gill Sans" charset="0"/>
                <a:ea typeface="Gill Sans" charset="0"/>
                <a:cs typeface="Gill Sans" charset="0"/>
                <a:sym typeface="Helvetica"/>
              </a:rPr>
              <a:t>F</a:t>
            </a:r>
            <a:r>
              <a:rPr lang="en-US" sz="1600" b="0" dirty="0">
                <a:solidFill>
                  <a:schemeClr val="tx1"/>
                </a:solidFill>
                <a:uFill>
                  <a:solidFill>
                    <a:srgbClr val="E62C9A"/>
                  </a:solidFill>
                </a:uFill>
                <a:latin typeface="Gill Sans" charset="0"/>
                <a:ea typeface="Gill Sans" charset="0"/>
                <a:cs typeface="Gill Sans" charset="0"/>
                <a:sym typeface="Helvetica"/>
              </a:rPr>
              <a:t>or a typical protein, only about 15% of possible </a:t>
            </a:r>
            <a:r>
              <a:rPr sz="1600" b="0" dirty="0">
                <a:solidFill>
                  <a:schemeClr val="tx1"/>
                </a:solidFill>
                <a:uFill>
                  <a:solidFill>
                    <a:srgbClr val="E62C9A"/>
                  </a:solidFill>
                </a:uFill>
                <a:latin typeface="Gill Sans" charset="0"/>
                <a:ea typeface="Gill Sans" charset="0"/>
                <a:cs typeface="Gill Sans" charset="0"/>
                <a:sym typeface="Symbol"/>
              </a:rPr>
              <a:t>Φ, Ψ</a:t>
            </a:r>
            <a:r>
              <a:rPr sz="1600" b="0" dirty="0">
                <a:solidFill>
                  <a:schemeClr val="tx1"/>
                </a:solidFill>
                <a:uFill>
                  <a:solidFill>
                    <a:srgbClr val="E62C9A"/>
                  </a:solidFill>
                </a:uFill>
                <a:latin typeface="Gill Sans" charset="0"/>
                <a:ea typeface="Gill Sans" charset="0"/>
                <a:cs typeface="Gill Sans" charset="0"/>
                <a:sym typeface="Helvetica"/>
              </a:rPr>
              <a:t> </a:t>
            </a:r>
            <a:r>
              <a:rPr lang="en-US" sz="1600" b="0" dirty="0">
                <a:solidFill>
                  <a:schemeClr val="tx1"/>
                </a:solidFill>
                <a:uFill>
                  <a:solidFill>
                    <a:srgbClr val="E62C9A"/>
                  </a:solidFill>
                </a:uFill>
                <a:latin typeface="Gill Sans" charset="0"/>
                <a:ea typeface="Gill Sans" charset="0"/>
                <a:cs typeface="Gill Sans" charset="0"/>
                <a:sym typeface="Helvetica"/>
              </a:rPr>
              <a:t>combinations </a:t>
            </a:r>
            <a:r>
              <a:rPr lang="en-US" sz="1600" b="0" u="sng" dirty="0">
                <a:solidFill>
                  <a:schemeClr val="tx1"/>
                </a:solidFill>
                <a:uFill>
                  <a:solidFill>
                    <a:srgbClr val="E62C9A"/>
                  </a:solidFill>
                </a:uFill>
                <a:latin typeface="Gill Sans" charset="0"/>
                <a:ea typeface="Gill Sans" charset="0"/>
                <a:cs typeface="Gill Sans" charset="0"/>
                <a:sym typeface="Helvetica"/>
              </a:rPr>
              <a:t>occur</a:t>
            </a:r>
            <a:r>
              <a:rPr lang="en-US" sz="1600" b="0" dirty="0">
                <a:solidFill>
                  <a:schemeClr val="tx1"/>
                </a:solidFill>
                <a:uFill>
                  <a:solidFill>
                    <a:srgbClr val="E62C9A"/>
                  </a:solidFill>
                </a:uFill>
                <a:latin typeface="Gill Sans" charset="0"/>
                <a:ea typeface="Gill Sans" charset="0"/>
                <a:cs typeface="Gill Sans" charset="0"/>
                <a:sym typeface="Helvetica"/>
              </a:rPr>
              <a:t>!</a:t>
            </a:r>
          </a:p>
        </p:txBody>
      </p:sp>
      <p:sp>
        <p:nvSpPr>
          <p:cNvPr id="165" name="Shape 165"/>
          <p:cNvSpPr/>
          <p:nvPr/>
        </p:nvSpPr>
        <p:spPr>
          <a:xfrm>
            <a:off x="7696200" y="3754575"/>
            <a:ext cx="1447800" cy="492443"/>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lvl="0">
              <a:spcBef>
                <a:spcPts val="800"/>
              </a:spcBef>
              <a:buClr>
                <a:srgbClr val="000000"/>
              </a:buClr>
              <a:buFont typeface="Helvetica"/>
              <a:defRPr sz="1800">
                <a:uFillTx/>
              </a:defRPr>
            </a:pPr>
            <a:r>
              <a:rPr sz="1400" b="0" dirty="0">
                <a:solidFill>
                  <a:schemeClr val="tx1"/>
                </a:solidFill>
                <a:uFill>
                  <a:solidFill/>
                </a:uFill>
                <a:latin typeface="Gill Sans" charset="0"/>
                <a:ea typeface="Gill Sans" charset="0"/>
                <a:cs typeface="Gill Sans" charset="0"/>
                <a:sym typeface="Helvetica"/>
              </a:rPr>
              <a:t>C</a:t>
            </a:r>
            <a:r>
              <a:rPr b="0" dirty="0">
                <a:solidFill>
                  <a:schemeClr val="tx1"/>
                </a:solidFill>
                <a:uFill>
                  <a:solidFill/>
                </a:uFill>
                <a:latin typeface="Gill Sans" charset="0"/>
                <a:ea typeface="Gill Sans" charset="0"/>
                <a:cs typeface="Gill Sans" charset="0"/>
                <a:sym typeface="Helvetica"/>
              </a:rPr>
              <a:t>'</a:t>
            </a:r>
            <a:r>
              <a:rPr sz="1400" b="0" dirty="0">
                <a:solidFill>
                  <a:schemeClr val="tx1"/>
                </a:solidFill>
                <a:uFill>
                  <a:solidFill/>
                </a:uFill>
                <a:latin typeface="Gill Sans" charset="0"/>
                <a:ea typeface="Gill Sans" charset="0"/>
                <a:cs typeface="Gill Sans" charset="0"/>
                <a:sym typeface="Helvetica"/>
              </a:rPr>
              <a:t>  </a:t>
            </a:r>
            <a:r>
              <a:rPr lang="en-US" sz="1400" b="0" dirty="0">
                <a:solidFill>
                  <a:schemeClr val="tx1"/>
                </a:solidFill>
                <a:uFill>
                  <a:solidFill/>
                </a:uFill>
                <a:latin typeface="Gill Sans" charset="0"/>
                <a:ea typeface="Gill Sans" charset="0"/>
                <a:cs typeface="Gill Sans" charset="0"/>
                <a:sym typeface="Helvetica"/>
              </a:rPr>
              <a:t>means carbonyl  </a:t>
            </a:r>
            <a:r>
              <a:rPr sz="1400" b="0" dirty="0">
                <a:solidFill>
                  <a:schemeClr val="tx1"/>
                </a:solidFill>
                <a:uFill>
                  <a:solidFill/>
                </a:uFill>
                <a:latin typeface="Gill Sans" charset="0"/>
                <a:ea typeface="Gill Sans" charset="0"/>
                <a:cs typeface="Gill Sans" charset="0"/>
                <a:sym typeface="Helvetica"/>
              </a:rPr>
              <a:t>C</a:t>
            </a:r>
          </a:p>
        </p:txBody>
      </p:sp>
      <p:pic>
        <p:nvPicPr>
          <p:cNvPr id="166" name="image.pdf"/>
          <p:cNvPicPr/>
          <p:nvPr/>
        </p:nvPicPr>
        <p:blipFill>
          <a:blip r:embed="rId4"/>
          <a:stretch>
            <a:fillRect/>
          </a:stretch>
        </p:blipFill>
        <p:spPr>
          <a:xfrm>
            <a:off x="3175" y="1584462"/>
            <a:ext cx="7467600" cy="3465513"/>
          </a:xfrm>
          <a:prstGeom prst="rect">
            <a:avLst/>
          </a:prstGeom>
          <a:ln w="12700">
            <a:miter lim="400000"/>
          </a:ln>
        </p:spPr>
      </p:pic>
      <p:sp>
        <p:nvSpPr>
          <p:cNvPr id="167" name="Shape 167"/>
          <p:cNvSpPr/>
          <p:nvPr/>
        </p:nvSpPr>
        <p:spPr>
          <a:xfrm>
            <a:off x="469900" y="1627648"/>
            <a:ext cx="2984500" cy="3010358"/>
          </a:xfrm>
          <a:custGeom>
            <a:avLst/>
            <a:gdLst/>
            <a:ahLst/>
            <a:cxnLst>
              <a:cxn ang="0">
                <a:pos x="wd2" y="hd2"/>
              </a:cxn>
              <a:cxn ang="5400000">
                <a:pos x="wd2" y="hd2"/>
              </a:cxn>
              <a:cxn ang="10800000">
                <a:pos x="wd2" y="hd2"/>
              </a:cxn>
              <a:cxn ang="16200000">
                <a:pos x="wd2" y="hd2"/>
              </a:cxn>
            </a:cxnLst>
            <a:rect l="0" t="0" r="r" b="b"/>
            <a:pathLst>
              <a:path w="21600" h="21378" extrusionOk="0">
                <a:moveTo>
                  <a:pt x="7767" y="166"/>
                </a:moveTo>
                <a:cubicBezTo>
                  <a:pt x="8089" y="381"/>
                  <a:pt x="8238" y="843"/>
                  <a:pt x="8364" y="1204"/>
                </a:cubicBezTo>
                <a:cubicBezTo>
                  <a:pt x="8502" y="1632"/>
                  <a:pt x="8272" y="956"/>
                  <a:pt x="8502" y="1519"/>
                </a:cubicBezTo>
                <a:cubicBezTo>
                  <a:pt x="8537" y="1598"/>
                  <a:pt x="8594" y="1790"/>
                  <a:pt x="8594" y="1790"/>
                </a:cubicBezTo>
                <a:cubicBezTo>
                  <a:pt x="8629" y="2117"/>
                  <a:pt x="8709" y="2444"/>
                  <a:pt x="8732" y="2782"/>
                </a:cubicBezTo>
                <a:cubicBezTo>
                  <a:pt x="8732" y="3007"/>
                  <a:pt x="8709" y="3233"/>
                  <a:pt x="8686" y="3458"/>
                </a:cubicBezTo>
                <a:cubicBezTo>
                  <a:pt x="8663" y="3548"/>
                  <a:pt x="8594" y="3729"/>
                  <a:pt x="8594" y="3729"/>
                </a:cubicBezTo>
                <a:cubicBezTo>
                  <a:pt x="8537" y="4123"/>
                  <a:pt x="8548" y="5239"/>
                  <a:pt x="8180" y="5487"/>
                </a:cubicBezTo>
                <a:cubicBezTo>
                  <a:pt x="8066" y="5645"/>
                  <a:pt x="7882" y="5826"/>
                  <a:pt x="7721" y="5938"/>
                </a:cubicBezTo>
                <a:cubicBezTo>
                  <a:pt x="7445" y="6468"/>
                  <a:pt x="6767" y="6660"/>
                  <a:pt x="6434" y="7156"/>
                </a:cubicBezTo>
                <a:cubicBezTo>
                  <a:pt x="6262" y="7393"/>
                  <a:pt x="6101" y="7652"/>
                  <a:pt x="5974" y="7923"/>
                </a:cubicBezTo>
                <a:cubicBezTo>
                  <a:pt x="5894" y="8058"/>
                  <a:pt x="5745" y="8328"/>
                  <a:pt x="5745" y="8328"/>
                </a:cubicBezTo>
                <a:cubicBezTo>
                  <a:pt x="5653" y="8644"/>
                  <a:pt x="5607" y="8948"/>
                  <a:pt x="5331" y="9140"/>
                </a:cubicBezTo>
                <a:cubicBezTo>
                  <a:pt x="5251" y="9366"/>
                  <a:pt x="4791" y="9659"/>
                  <a:pt x="4550" y="9726"/>
                </a:cubicBezTo>
                <a:cubicBezTo>
                  <a:pt x="3826" y="9704"/>
                  <a:pt x="3102" y="9568"/>
                  <a:pt x="2390" y="9636"/>
                </a:cubicBezTo>
                <a:cubicBezTo>
                  <a:pt x="2240" y="9647"/>
                  <a:pt x="2068" y="9805"/>
                  <a:pt x="1930" y="9862"/>
                </a:cubicBezTo>
                <a:cubicBezTo>
                  <a:pt x="1677" y="9816"/>
                  <a:pt x="1425" y="9783"/>
                  <a:pt x="1195" y="9726"/>
                </a:cubicBezTo>
                <a:cubicBezTo>
                  <a:pt x="1091" y="9692"/>
                  <a:pt x="919" y="9636"/>
                  <a:pt x="919" y="9636"/>
                </a:cubicBezTo>
                <a:cubicBezTo>
                  <a:pt x="758" y="9399"/>
                  <a:pt x="402" y="9264"/>
                  <a:pt x="138" y="9185"/>
                </a:cubicBezTo>
                <a:cubicBezTo>
                  <a:pt x="69" y="9377"/>
                  <a:pt x="34" y="9557"/>
                  <a:pt x="0" y="9771"/>
                </a:cubicBezTo>
                <a:cubicBezTo>
                  <a:pt x="0" y="9805"/>
                  <a:pt x="126" y="12725"/>
                  <a:pt x="368" y="12883"/>
                </a:cubicBezTo>
                <a:cubicBezTo>
                  <a:pt x="632" y="12849"/>
                  <a:pt x="885" y="12804"/>
                  <a:pt x="1149" y="12748"/>
                </a:cubicBezTo>
                <a:cubicBezTo>
                  <a:pt x="1172" y="12680"/>
                  <a:pt x="1183" y="12601"/>
                  <a:pt x="1241" y="12567"/>
                </a:cubicBezTo>
                <a:cubicBezTo>
                  <a:pt x="1310" y="12500"/>
                  <a:pt x="1597" y="12421"/>
                  <a:pt x="1517" y="12477"/>
                </a:cubicBezTo>
                <a:cubicBezTo>
                  <a:pt x="1471" y="12500"/>
                  <a:pt x="1425" y="12533"/>
                  <a:pt x="1379" y="12567"/>
                </a:cubicBezTo>
                <a:cubicBezTo>
                  <a:pt x="1275" y="12860"/>
                  <a:pt x="1172" y="12657"/>
                  <a:pt x="1241" y="12477"/>
                </a:cubicBezTo>
                <a:cubicBezTo>
                  <a:pt x="1459" y="12804"/>
                  <a:pt x="1310" y="12725"/>
                  <a:pt x="1654" y="12793"/>
                </a:cubicBezTo>
                <a:cubicBezTo>
                  <a:pt x="1919" y="12748"/>
                  <a:pt x="2160" y="12669"/>
                  <a:pt x="2436" y="12612"/>
                </a:cubicBezTo>
                <a:cubicBezTo>
                  <a:pt x="2574" y="12511"/>
                  <a:pt x="2700" y="12477"/>
                  <a:pt x="2849" y="12387"/>
                </a:cubicBezTo>
                <a:cubicBezTo>
                  <a:pt x="3102" y="12004"/>
                  <a:pt x="3895" y="12026"/>
                  <a:pt x="4320" y="11981"/>
                </a:cubicBezTo>
                <a:cubicBezTo>
                  <a:pt x="7353" y="12015"/>
                  <a:pt x="7192" y="11338"/>
                  <a:pt x="8272" y="12928"/>
                </a:cubicBezTo>
                <a:cubicBezTo>
                  <a:pt x="8456" y="13672"/>
                  <a:pt x="8169" y="14010"/>
                  <a:pt x="8043" y="14687"/>
                </a:cubicBezTo>
                <a:cubicBezTo>
                  <a:pt x="8134" y="15510"/>
                  <a:pt x="7893" y="16321"/>
                  <a:pt x="7629" y="17122"/>
                </a:cubicBezTo>
                <a:cubicBezTo>
                  <a:pt x="7537" y="17956"/>
                  <a:pt x="7526" y="17832"/>
                  <a:pt x="7629" y="19106"/>
                </a:cubicBezTo>
                <a:cubicBezTo>
                  <a:pt x="7652" y="19489"/>
                  <a:pt x="7859" y="19850"/>
                  <a:pt x="7951" y="20233"/>
                </a:cubicBezTo>
                <a:cubicBezTo>
                  <a:pt x="8008" y="20526"/>
                  <a:pt x="8031" y="20842"/>
                  <a:pt x="8134" y="21135"/>
                </a:cubicBezTo>
                <a:cubicBezTo>
                  <a:pt x="8766" y="21090"/>
                  <a:pt x="9214" y="21203"/>
                  <a:pt x="9835" y="21270"/>
                </a:cubicBezTo>
                <a:cubicBezTo>
                  <a:pt x="10363" y="21237"/>
                  <a:pt x="11271" y="21293"/>
                  <a:pt x="11903" y="21090"/>
                </a:cubicBezTo>
                <a:cubicBezTo>
                  <a:pt x="12144" y="21101"/>
                  <a:pt x="12397" y="21056"/>
                  <a:pt x="12638" y="21135"/>
                </a:cubicBezTo>
                <a:cubicBezTo>
                  <a:pt x="13247" y="21327"/>
                  <a:pt x="12179" y="21462"/>
                  <a:pt x="12960" y="21315"/>
                </a:cubicBezTo>
                <a:cubicBezTo>
                  <a:pt x="13075" y="20943"/>
                  <a:pt x="12742" y="20729"/>
                  <a:pt x="12638" y="20414"/>
                </a:cubicBezTo>
                <a:cubicBezTo>
                  <a:pt x="12650" y="20008"/>
                  <a:pt x="12650" y="19591"/>
                  <a:pt x="12684" y="19196"/>
                </a:cubicBezTo>
                <a:cubicBezTo>
                  <a:pt x="12684" y="19072"/>
                  <a:pt x="12719" y="18948"/>
                  <a:pt x="12730" y="18835"/>
                </a:cubicBezTo>
                <a:cubicBezTo>
                  <a:pt x="12776" y="18035"/>
                  <a:pt x="12604" y="17471"/>
                  <a:pt x="13282" y="17032"/>
                </a:cubicBezTo>
                <a:cubicBezTo>
                  <a:pt x="13397" y="16840"/>
                  <a:pt x="13546" y="16648"/>
                  <a:pt x="13741" y="16535"/>
                </a:cubicBezTo>
                <a:cubicBezTo>
                  <a:pt x="14040" y="16073"/>
                  <a:pt x="13856" y="16423"/>
                  <a:pt x="14201" y="16130"/>
                </a:cubicBezTo>
                <a:cubicBezTo>
                  <a:pt x="14672" y="15713"/>
                  <a:pt x="14293" y="15972"/>
                  <a:pt x="14614" y="15769"/>
                </a:cubicBezTo>
                <a:cubicBezTo>
                  <a:pt x="14706" y="15577"/>
                  <a:pt x="14752" y="15476"/>
                  <a:pt x="14936" y="15363"/>
                </a:cubicBezTo>
                <a:cubicBezTo>
                  <a:pt x="14994" y="15262"/>
                  <a:pt x="15097" y="15183"/>
                  <a:pt x="15166" y="15092"/>
                </a:cubicBezTo>
                <a:cubicBezTo>
                  <a:pt x="15246" y="14957"/>
                  <a:pt x="15223" y="14777"/>
                  <a:pt x="15304" y="14642"/>
                </a:cubicBezTo>
                <a:cubicBezTo>
                  <a:pt x="15442" y="14348"/>
                  <a:pt x="15614" y="14067"/>
                  <a:pt x="15763" y="13785"/>
                </a:cubicBezTo>
                <a:cubicBezTo>
                  <a:pt x="15936" y="13424"/>
                  <a:pt x="15993" y="12951"/>
                  <a:pt x="16131" y="12567"/>
                </a:cubicBezTo>
                <a:cubicBezTo>
                  <a:pt x="16303" y="12601"/>
                  <a:pt x="16556" y="12669"/>
                  <a:pt x="16729" y="12567"/>
                </a:cubicBezTo>
                <a:cubicBezTo>
                  <a:pt x="16786" y="12522"/>
                  <a:pt x="16568" y="12533"/>
                  <a:pt x="16499" y="12522"/>
                </a:cubicBezTo>
                <a:cubicBezTo>
                  <a:pt x="16384" y="12500"/>
                  <a:pt x="16280" y="12488"/>
                  <a:pt x="16177" y="12477"/>
                </a:cubicBezTo>
                <a:cubicBezTo>
                  <a:pt x="16269" y="12545"/>
                  <a:pt x="16683" y="12939"/>
                  <a:pt x="16361" y="12522"/>
                </a:cubicBezTo>
                <a:cubicBezTo>
                  <a:pt x="16338" y="12477"/>
                  <a:pt x="16292" y="12421"/>
                  <a:pt x="16315" y="12387"/>
                </a:cubicBezTo>
                <a:cubicBezTo>
                  <a:pt x="16326" y="12342"/>
                  <a:pt x="16407" y="12353"/>
                  <a:pt x="16453" y="12342"/>
                </a:cubicBezTo>
                <a:cubicBezTo>
                  <a:pt x="16522" y="12308"/>
                  <a:pt x="16602" y="12274"/>
                  <a:pt x="16683" y="12252"/>
                </a:cubicBezTo>
                <a:cubicBezTo>
                  <a:pt x="16924" y="12161"/>
                  <a:pt x="17200" y="12026"/>
                  <a:pt x="17464" y="11981"/>
                </a:cubicBezTo>
                <a:cubicBezTo>
                  <a:pt x="17648" y="11992"/>
                  <a:pt x="17831" y="12004"/>
                  <a:pt x="18015" y="12026"/>
                </a:cubicBezTo>
                <a:cubicBezTo>
                  <a:pt x="18107" y="12026"/>
                  <a:pt x="18234" y="12139"/>
                  <a:pt x="18291" y="12071"/>
                </a:cubicBezTo>
                <a:cubicBezTo>
                  <a:pt x="18337" y="11992"/>
                  <a:pt x="18015" y="11913"/>
                  <a:pt x="18107" y="11891"/>
                </a:cubicBezTo>
                <a:cubicBezTo>
                  <a:pt x="18291" y="11823"/>
                  <a:pt x="18498" y="11913"/>
                  <a:pt x="18705" y="11936"/>
                </a:cubicBezTo>
                <a:cubicBezTo>
                  <a:pt x="18486" y="11609"/>
                  <a:pt x="18544" y="11778"/>
                  <a:pt x="19302" y="11846"/>
                </a:cubicBezTo>
                <a:cubicBezTo>
                  <a:pt x="19612" y="11868"/>
                  <a:pt x="19911" y="11958"/>
                  <a:pt x="20221" y="12026"/>
                </a:cubicBezTo>
                <a:cubicBezTo>
                  <a:pt x="20451" y="12173"/>
                  <a:pt x="20669" y="12319"/>
                  <a:pt x="20911" y="12477"/>
                </a:cubicBezTo>
                <a:cubicBezTo>
                  <a:pt x="21014" y="12635"/>
                  <a:pt x="21209" y="12725"/>
                  <a:pt x="21416" y="12793"/>
                </a:cubicBezTo>
                <a:cubicBezTo>
                  <a:pt x="21577" y="12545"/>
                  <a:pt x="21554" y="12432"/>
                  <a:pt x="21600" y="12116"/>
                </a:cubicBezTo>
                <a:cubicBezTo>
                  <a:pt x="21577" y="11327"/>
                  <a:pt x="21577" y="10549"/>
                  <a:pt x="21554" y="9771"/>
                </a:cubicBezTo>
                <a:cubicBezTo>
                  <a:pt x="21531" y="9084"/>
                  <a:pt x="21485" y="8779"/>
                  <a:pt x="20819" y="8689"/>
                </a:cubicBezTo>
                <a:cubicBezTo>
                  <a:pt x="20371" y="8723"/>
                  <a:pt x="19900" y="8678"/>
                  <a:pt x="19486" y="8824"/>
                </a:cubicBezTo>
                <a:lnTo>
                  <a:pt x="19072" y="9005"/>
                </a:lnTo>
                <a:lnTo>
                  <a:pt x="19072" y="9005"/>
                </a:lnTo>
                <a:cubicBezTo>
                  <a:pt x="18900" y="9027"/>
                  <a:pt x="18728" y="9050"/>
                  <a:pt x="18567" y="9095"/>
                </a:cubicBezTo>
                <a:cubicBezTo>
                  <a:pt x="18463" y="9118"/>
                  <a:pt x="18291" y="9185"/>
                  <a:pt x="18291" y="9185"/>
                </a:cubicBezTo>
                <a:cubicBezTo>
                  <a:pt x="18107" y="9433"/>
                  <a:pt x="17763" y="9647"/>
                  <a:pt x="17464" y="9726"/>
                </a:cubicBezTo>
                <a:cubicBezTo>
                  <a:pt x="17234" y="10008"/>
                  <a:pt x="17027" y="9884"/>
                  <a:pt x="16683" y="9771"/>
                </a:cubicBezTo>
                <a:cubicBezTo>
                  <a:pt x="16028" y="9557"/>
                  <a:pt x="15384" y="9366"/>
                  <a:pt x="14706" y="9275"/>
                </a:cubicBezTo>
                <a:cubicBezTo>
                  <a:pt x="14614" y="9242"/>
                  <a:pt x="14523" y="9208"/>
                  <a:pt x="14431" y="9185"/>
                </a:cubicBezTo>
                <a:cubicBezTo>
                  <a:pt x="14304" y="9151"/>
                  <a:pt x="14063" y="9095"/>
                  <a:pt x="14063" y="9095"/>
                </a:cubicBezTo>
                <a:cubicBezTo>
                  <a:pt x="13948" y="9016"/>
                  <a:pt x="13764" y="8994"/>
                  <a:pt x="13741" y="8870"/>
                </a:cubicBezTo>
                <a:cubicBezTo>
                  <a:pt x="13718" y="8802"/>
                  <a:pt x="13799" y="8475"/>
                  <a:pt x="13833" y="8373"/>
                </a:cubicBezTo>
                <a:cubicBezTo>
                  <a:pt x="13856" y="8272"/>
                  <a:pt x="13925" y="8103"/>
                  <a:pt x="13925" y="8103"/>
                </a:cubicBezTo>
                <a:cubicBezTo>
                  <a:pt x="14017" y="7427"/>
                  <a:pt x="13684" y="6209"/>
                  <a:pt x="14063" y="5668"/>
                </a:cubicBezTo>
                <a:cubicBezTo>
                  <a:pt x="14189" y="5228"/>
                  <a:pt x="14396" y="4958"/>
                  <a:pt x="14339" y="4495"/>
                </a:cubicBezTo>
                <a:cubicBezTo>
                  <a:pt x="14362" y="3999"/>
                  <a:pt x="14419" y="3616"/>
                  <a:pt x="14477" y="3143"/>
                </a:cubicBezTo>
                <a:cubicBezTo>
                  <a:pt x="14431" y="2556"/>
                  <a:pt x="14327" y="1993"/>
                  <a:pt x="14201" y="1429"/>
                </a:cubicBezTo>
                <a:cubicBezTo>
                  <a:pt x="14120" y="1113"/>
                  <a:pt x="14166" y="753"/>
                  <a:pt x="13879" y="572"/>
                </a:cubicBezTo>
                <a:cubicBezTo>
                  <a:pt x="13672" y="268"/>
                  <a:pt x="13293" y="257"/>
                  <a:pt x="12960" y="166"/>
                </a:cubicBezTo>
                <a:cubicBezTo>
                  <a:pt x="12753" y="178"/>
                  <a:pt x="12558" y="178"/>
                  <a:pt x="12363" y="211"/>
                </a:cubicBezTo>
                <a:cubicBezTo>
                  <a:pt x="12305" y="211"/>
                  <a:pt x="12225" y="200"/>
                  <a:pt x="12225" y="257"/>
                </a:cubicBezTo>
                <a:cubicBezTo>
                  <a:pt x="12225" y="324"/>
                  <a:pt x="12363" y="358"/>
                  <a:pt x="12363" y="437"/>
                </a:cubicBezTo>
                <a:cubicBezTo>
                  <a:pt x="12363" y="482"/>
                  <a:pt x="12271" y="403"/>
                  <a:pt x="12225" y="392"/>
                </a:cubicBezTo>
                <a:cubicBezTo>
                  <a:pt x="12156" y="369"/>
                  <a:pt x="12098" y="358"/>
                  <a:pt x="12041" y="347"/>
                </a:cubicBezTo>
                <a:cubicBezTo>
                  <a:pt x="11696" y="245"/>
                  <a:pt x="12156" y="324"/>
                  <a:pt x="11489" y="257"/>
                </a:cubicBezTo>
                <a:cubicBezTo>
                  <a:pt x="11512" y="313"/>
                  <a:pt x="11639" y="392"/>
                  <a:pt x="11581" y="437"/>
                </a:cubicBezTo>
                <a:cubicBezTo>
                  <a:pt x="11397" y="538"/>
                  <a:pt x="10869" y="200"/>
                  <a:pt x="10662" y="166"/>
                </a:cubicBezTo>
                <a:cubicBezTo>
                  <a:pt x="10122" y="65"/>
                  <a:pt x="9283" y="54"/>
                  <a:pt x="8916" y="31"/>
                </a:cubicBezTo>
                <a:cubicBezTo>
                  <a:pt x="8629" y="42"/>
                  <a:pt x="7939" y="-138"/>
                  <a:pt x="7813" y="257"/>
                </a:cubicBezTo>
                <a:cubicBezTo>
                  <a:pt x="7974" y="302"/>
                  <a:pt x="7951" y="245"/>
                  <a:pt x="7951" y="392"/>
                </a:cubicBezTo>
              </a:path>
            </a:pathLst>
          </a:custGeom>
          <a:solidFill>
            <a:srgbClr val="929292">
              <a:alpha val="13599"/>
            </a:srgbClr>
          </a:solidFill>
          <a:ln>
            <a:solidFill>
              <a:srgbClr val="000000">
                <a:alpha val="80000"/>
              </a:srgbClr>
            </a:solidFill>
            <a:round/>
          </a:ln>
        </p:spPr>
        <p:txBody>
          <a:bodyPr lIns="0" tIns="0" rIns="0" bIns="0" anchor="ctr"/>
          <a:lstStyle/>
          <a:p>
            <a:pPr lvl="0"/>
            <a:endParaRPr b="0">
              <a:solidFill>
                <a:schemeClr val="tx1"/>
              </a:solidFill>
              <a:latin typeface="Gill Sans" charset="0"/>
              <a:ea typeface="Gill Sans" charset="0"/>
              <a:cs typeface="Gill Sans" charset="0"/>
            </a:endParaRPr>
          </a:p>
        </p:txBody>
      </p:sp>
      <p:sp>
        <p:nvSpPr>
          <p:cNvPr id="168" name="Shape 168"/>
          <p:cNvSpPr/>
          <p:nvPr/>
        </p:nvSpPr>
        <p:spPr>
          <a:xfrm>
            <a:off x="4336780" y="1615989"/>
            <a:ext cx="3019262" cy="3035753"/>
          </a:xfrm>
          <a:custGeom>
            <a:avLst/>
            <a:gdLst/>
            <a:ahLst/>
            <a:cxnLst>
              <a:cxn ang="0">
                <a:pos x="wd2" y="hd2"/>
              </a:cxn>
              <a:cxn ang="5400000">
                <a:pos x="wd2" y="hd2"/>
              </a:cxn>
              <a:cxn ang="10800000">
                <a:pos x="wd2" y="hd2"/>
              </a:cxn>
              <a:cxn ang="16200000">
                <a:pos x="wd2" y="hd2"/>
              </a:cxn>
            </a:cxnLst>
            <a:rect l="0" t="0" r="r" b="b"/>
            <a:pathLst>
              <a:path w="21542" h="21335" extrusionOk="0">
                <a:moveTo>
                  <a:pt x="21353" y="214"/>
                </a:moveTo>
                <a:cubicBezTo>
                  <a:pt x="21206" y="626"/>
                  <a:pt x="21387" y="1195"/>
                  <a:pt x="21443" y="1642"/>
                </a:cubicBezTo>
                <a:cubicBezTo>
                  <a:pt x="21409" y="2244"/>
                  <a:pt x="21364" y="2824"/>
                  <a:pt x="21307" y="3427"/>
                </a:cubicBezTo>
                <a:cubicBezTo>
                  <a:pt x="21285" y="4989"/>
                  <a:pt x="20900" y="9150"/>
                  <a:pt x="21307" y="10746"/>
                </a:cubicBezTo>
                <a:cubicBezTo>
                  <a:pt x="21353" y="10724"/>
                  <a:pt x="21398" y="10679"/>
                  <a:pt x="21443" y="10701"/>
                </a:cubicBezTo>
                <a:cubicBezTo>
                  <a:pt x="21489" y="10712"/>
                  <a:pt x="21568" y="10791"/>
                  <a:pt x="21534" y="10835"/>
                </a:cubicBezTo>
                <a:cubicBezTo>
                  <a:pt x="21466" y="10902"/>
                  <a:pt x="21262" y="10924"/>
                  <a:pt x="21262" y="10924"/>
                </a:cubicBezTo>
                <a:cubicBezTo>
                  <a:pt x="21307" y="10936"/>
                  <a:pt x="21387" y="10913"/>
                  <a:pt x="21398" y="10969"/>
                </a:cubicBezTo>
                <a:cubicBezTo>
                  <a:pt x="21409" y="11058"/>
                  <a:pt x="21307" y="11237"/>
                  <a:pt x="21307" y="11237"/>
                </a:cubicBezTo>
                <a:cubicBezTo>
                  <a:pt x="21274" y="11683"/>
                  <a:pt x="21206" y="12118"/>
                  <a:pt x="21217" y="12576"/>
                </a:cubicBezTo>
                <a:cubicBezTo>
                  <a:pt x="21228" y="13926"/>
                  <a:pt x="21307" y="16637"/>
                  <a:pt x="21307" y="16637"/>
                </a:cubicBezTo>
                <a:cubicBezTo>
                  <a:pt x="21274" y="17485"/>
                  <a:pt x="21285" y="19738"/>
                  <a:pt x="21126" y="20876"/>
                </a:cubicBezTo>
                <a:cubicBezTo>
                  <a:pt x="21092" y="21055"/>
                  <a:pt x="20764" y="20988"/>
                  <a:pt x="20583" y="21010"/>
                </a:cubicBezTo>
                <a:cubicBezTo>
                  <a:pt x="20299" y="21100"/>
                  <a:pt x="19960" y="20955"/>
                  <a:pt x="19676" y="20921"/>
                </a:cubicBezTo>
                <a:cubicBezTo>
                  <a:pt x="19303" y="20798"/>
                  <a:pt x="18906" y="20765"/>
                  <a:pt x="18544" y="20698"/>
                </a:cubicBezTo>
                <a:cubicBezTo>
                  <a:pt x="17989" y="20731"/>
                  <a:pt x="17456" y="20787"/>
                  <a:pt x="16913" y="20832"/>
                </a:cubicBezTo>
                <a:cubicBezTo>
                  <a:pt x="16924" y="20754"/>
                  <a:pt x="16879" y="20575"/>
                  <a:pt x="16958" y="20609"/>
                </a:cubicBezTo>
                <a:cubicBezTo>
                  <a:pt x="17049" y="20631"/>
                  <a:pt x="17003" y="20787"/>
                  <a:pt x="17049" y="20876"/>
                </a:cubicBezTo>
                <a:cubicBezTo>
                  <a:pt x="17060" y="20921"/>
                  <a:pt x="17173" y="20966"/>
                  <a:pt x="17139" y="21010"/>
                </a:cubicBezTo>
                <a:cubicBezTo>
                  <a:pt x="17094" y="21044"/>
                  <a:pt x="17049" y="20932"/>
                  <a:pt x="17003" y="20921"/>
                </a:cubicBezTo>
                <a:cubicBezTo>
                  <a:pt x="16833" y="20876"/>
                  <a:pt x="16664" y="20888"/>
                  <a:pt x="16505" y="20876"/>
                </a:cubicBezTo>
                <a:cubicBezTo>
                  <a:pt x="15316" y="20910"/>
                  <a:pt x="14149" y="20955"/>
                  <a:pt x="12971" y="21100"/>
                </a:cubicBezTo>
                <a:cubicBezTo>
                  <a:pt x="12303" y="21066"/>
                  <a:pt x="11736" y="20999"/>
                  <a:pt x="11113" y="20832"/>
                </a:cubicBezTo>
                <a:cubicBezTo>
                  <a:pt x="10830" y="21010"/>
                  <a:pt x="10944" y="21412"/>
                  <a:pt x="10570" y="21323"/>
                </a:cubicBezTo>
                <a:cubicBezTo>
                  <a:pt x="10457" y="21010"/>
                  <a:pt x="10570" y="21077"/>
                  <a:pt x="10343" y="21010"/>
                </a:cubicBezTo>
                <a:cubicBezTo>
                  <a:pt x="10230" y="20687"/>
                  <a:pt x="9924" y="20843"/>
                  <a:pt x="9618" y="20876"/>
                </a:cubicBezTo>
                <a:cubicBezTo>
                  <a:pt x="9233" y="20854"/>
                  <a:pt x="8859" y="20854"/>
                  <a:pt x="8486" y="20832"/>
                </a:cubicBezTo>
                <a:cubicBezTo>
                  <a:pt x="8248" y="20810"/>
                  <a:pt x="8327" y="20586"/>
                  <a:pt x="8259" y="20430"/>
                </a:cubicBezTo>
                <a:cubicBezTo>
                  <a:pt x="8146" y="20185"/>
                  <a:pt x="8055" y="20062"/>
                  <a:pt x="7806" y="19984"/>
                </a:cubicBezTo>
                <a:cubicBezTo>
                  <a:pt x="7681" y="19805"/>
                  <a:pt x="7580" y="19817"/>
                  <a:pt x="7398" y="19761"/>
                </a:cubicBezTo>
                <a:cubicBezTo>
                  <a:pt x="7228" y="19593"/>
                  <a:pt x="7070" y="19571"/>
                  <a:pt x="6855" y="19493"/>
                </a:cubicBezTo>
                <a:cubicBezTo>
                  <a:pt x="5631" y="19605"/>
                  <a:pt x="5269" y="19672"/>
                  <a:pt x="3864" y="19716"/>
                </a:cubicBezTo>
                <a:cubicBezTo>
                  <a:pt x="3581" y="19761"/>
                  <a:pt x="3105" y="19995"/>
                  <a:pt x="3004" y="19672"/>
                </a:cubicBezTo>
                <a:cubicBezTo>
                  <a:pt x="2970" y="19716"/>
                  <a:pt x="2856" y="19805"/>
                  <a:pt x="2913" y="19805"/>
                </a:cubicBezTo>
                <a:cubicBezTo>
                  <a:pt x="2970" y="19805"/>
                  <a:pt x="3094" y="19716"/>
                  <a:pt x="3049" y="19672"/>
                </a:cubicBezTo>
                <a:cubicBezTo>
                  <a:pt x="2992" y="19616"/>
                  <a:pt x="2890" y="19694"/>
                  <a:pt x="2822" y="19716"/>
                </a:cubicBezTo>
                <a:cubicBezTo>
                  <a:pt x="2732" y="19973"/>
                  <a:pt x="2131" y="19917"/>
                  <a:pt x="1871" y="19984"/>
                </a:cubicBezTo>
                <a:cubicBezTo>
                  <a:pt x="1350" y="19906"/>
                  <a:pt x="851" y="19817"/>
                  <a:pt x="330" y="19761"/>
                </a:cubicBezTo>
                <a:cubicBezTo>
                  <a:pt x="115" y="19448"/>
                  <a:pt x="183" y="19593"/>
                  <a:pt x="104" y="19359"/>
                </a:cubicBezTo>
                <a:cubicBezTo>
                  <a:pt x="-32" y="18176"/>
                  <a:pt x="-21" y="18600"/>
                  <a:pt x="59" y="17172"/>
                </a:cubicBezTo>
                <a:cubicBezTo>
                  <a:pt x="81" y="16726"/>
                  <a:pt x="-21" y="16804"/>
                  <a:pt x="240" y="16726"/>
                </a:cubicBezTo>
                <a:cubicBezTo>
                  <a:pt x="1667" y="16782"/>
                  <a:pt x="3151" y="16938"/>
                  <a:pt x="4589" y="16815"/>
                </a:cubicBezTo>
                <a:cubicBezTo>
                  <a:pt x="5484" y="16514"/>
                  <a:pt x="6673" y="17016"/>
                  <a:pt x="7534" y="16458"/>
                </a:cubicBezTo>
                <a:cubicBezTo>
                  <a:pt x="7715" y="16168"/>
                  <a:pt x="8044" y="16057"/>
                  <a:pt x="8214" y="15744"/>
                </a:cubicBezTo>
                <a:cubicBezTo>
                  <a:pt x="8248" y="15421"/>
                  <a:pt x="8282" y="15064"/>
                  <a:pt x="8395" y="14762"/>
                </a:cubicBezTo>
                <a:cubicBezTo>
                  <a:pt x="8361" y="13937"/>
                  <a:pt x="8372" y="13401"/>
                  <a:pt x="8123" y="12665"/>
                </a:cubicBezTo>
                <a:cubicBezTo>
                  <a:pt x="8089" y="12564"/>
                  <a:pt x="7897" y="11862"/>
                  <a:pt x="7897" y="11862"/>
                </a:cubicBezTo>
                <a:cubicBezTo>
                  <a:pt x="7444" y="11783"/>
                  <a:pt x="7036" y="11728"/>
                  <a:pt x="6583" y="11683"/>
                </a:cubicBezTo>
                <a:cubicBezTo>
                  <a:pt x="5552" y="11717"/>
                  <a:pt x="4555" y="11761"/>
                  <a:pt x="3547" y="11906"/>
                </a:cubicBezTo>
                <a:cubicBezTo>
                  <a:pt x="3207" y="12118"/>
                  <a:pt x="3162" y="12163"/>
                  <a:pt x="2777" y="12263"/>
                </a:cubicBezTo>
                <a:cubicBezTo>
                  <a:pt x="2460" y="12464"/>
                  <a:pt x="2607" y="12397"/>
                  <a:pt x="2369" y="12486"/>
                </a:cubicBezTo>
                <a:cubicBezTo>
                  <a:pt x="2392" y="12542"/>
                  <a:pt x="2505" y="12609"/>
                  <a:pt x="2460" y="12665"/>
                </a:cubicBezTo>
                <a:cubicBezTo>
                  <a:pt x="2415" y="12710"/>
                  <a:pt x="2381" y="12531"/>
                  <a:pt x="2324" y="12531"/>
                </a:cubicBezTo>
                <a:cubicBezTo>
                  <a:pt x="2245" y="12509"/>
                  <a:pt x="1928" y="12732"/>
                  <a:pt x="1826" y="12754"/>
                </a:cubicBezTo>
                <a:cubicBezTo>
                  <a:pt x="1361" y="12832"/>
                  <a:pt x="1033" y="12810"/>
                  <a:pt x="512" y="12843"/>
                </a:cubicBezTo>
                <a:cubicBezTo>
                  <a:pt x="285" y="12788"/>
                  <a:pt x="262" y="12732"/>
                  <a:pt x="195" y="12531"/>
                </a:cubicBezTo>
                <a:cubicBezTo>
                  <a:pt x="81" y="11382"/>
                  <a:pt x="-9" y="10177"/>
                  <a:pt x="285" y="9050"/>
                </a:cubicBezTo>
                <a:cubicBezTo>
                  <a:pt x="784" y="9139"/>
                  <a:pt x="1180" y="9441"/>
                  <a:pt x="1690" y="9541"/>
                </a:cubicBezTo>
                <a:cubicBezTo>
                  <a:pt x="2290" y="9652"/>
                  <a:pt x="2641" y="9597"/>
                  <a:pt x="3411" y="9630"/>
                </a:cubicBezTo>
                <a:cubicBezTo>
                  <a:pt x="3966" y="9608"/>
                  <a:pt x="4272" y="9664"/>
                  <a:pt x="4725" y="9541"/>
                </a:cubicBezTo>
                <a:cubicBezTo>
                  <a:pt x="5065" y="9429"/>
                  <a:pt x="4952" y="9474"/>
                  <a:pt x="5269" y="9273"/>
                </a:cubicBezTo>
                <a:cubicBezTo>
                  <a:pt x="5314" y="9240"/>
                  <a:pt x="5405" y="9184"/>
                  <a:pt x="5405" y="9184"/>
                </a:cubicBezTo>
                <a:cubicBezTo>
                  <a:pt x="5495" y="9039"/>
                  <a:pt x="5643" y="8983"/>
                  <a:pt x="5722" y="8827"/>
                </a:cubicBezTo>
                <a:cubicBezTo>
                  <a:pt x="5926" y="8358"/>
                  <a:pt x="5971" y="7867"/>
                  <a:pt x="6266" y="7443"/>
                </a:cubicBezTo>
                <a:cubicBezTo>
                  <a:pt x="6322" y="7354"/>
                  <a:pt x="6390" y="7265"/>
                  <a:pt x="6447" y="7176"/>
                </a:cubicBezTo>
                <a:cubicBezTo>
                  <a:pt x="6470" y="7109"/>
                  <a:pt x="6470" y="6997"/>
                  <a:pt x="6537" y="6997"/>
                </a:cubicBezTo>
                <a:cubicBezTo>
                  <a:pt x="6594" y="6997"/>
                  <a:pt x="6504" y="7109"/>
                  <a:pt x="6492" y="7176"/>
                </a:cubicBezTo>
                <a:cubicBezTo>
                  <a:pt x="6504" y="7220"/>
                  <a:pt x="6504" y="7332"/>
                  <a:pt x="6537" y="7310"/>
                </a:cubicBezTo>
                <a:cubicBezTo>
                  <a:pt x="6719" y="7120"/>
                  <a:pt x="6549" y="6852"/>
                  <a:pt x="6945" y="6729"/>
                </a:cubicBezTo>
                <a:cubicBezTo>
                  <a:pt x="7025" y="6595"/>
                  <a:pt x="7308" y="6417"/>
                  <a:pt x="7308" y="6417"/>
                </a:cubicBezTo>
                <a:cubicBezTo>
                  <a:pt x="7444" y="6205"/>
                  <a:pt x="7478" y="6038"/>
                  <a:pt x="7715" y="5971"/>
                </a:cubicBezTo>
                <a:cubicBezTo>
                  <a:pt x="7806" y="5602"/>
                  <a:pt x="8078" y="5190"/>
                  <a:pt x="8395" y="4989"/>
                </a:cubicBezTo>
                <a:cubicBezTo>
                  <a:pt x="8406" y="4922"/>
                  <a:pt x="8406" y="4866"/>
                  <a:pt x="8440" y="4810"/>
                </a:cubicBezTo>
                <a:cubicBezTo>
                  <a:pt x="8452" y="4755"/>
                  <a:pt x="8520" y="4721"/>
                  <a:pt x="8531" y="4676"/>
                </a:cubicBezTo>
                <a:cubicBezTo>
                  <a:pt x="8542" y="3628"/>
                  <a:pt x="8508" y="2590"/>
                  <a:pt x="8486" y="1552"/>
                </a:cubicBezTo>
                <a:cubicBezTo>
                  <a:pt x="8474" y="1318"/>
                  <a:pt x="8214" y="861"/>
                  <a:pt x="8033" y="749"/>
                </a:cubicBezTo>
                <a:cubicBezTo>
                  <a:pt x="8010" y="705"/>
                  <a:pt x="8010" y="649"/>
                  <a:pt x="7987" y="615"/>
                </a:cubicBezTo>
                <a:cubicBezTo>
                  <a:pt x="7942" y="571"/>
                  <a:pt x="7874" y="571"/>
                  <a:pt x="7851" y="526"/>
                </a:cubicBezTo>
                <a:cubicBezTo>
                  <a:pt x="7795" y="437"/>
                  <a:pt x="7761" y="258"/>
                  <a:pt x="7761" y="258"/>
                </a:cubicBezTo>
                <a:cubicBezTo>
                  <a:pt x="7908" y="-188"/>
                  <a:pt x="8395" y="80"/>
                  <a:pt x="8803" y="80"/>
                </a:cubicBezTo>
              </a:path>
            </a:pathLst>
          </a:custGeom>
          <a:solidFill>
            <a:srgbClr val="929292">
              <a:alpha val="13599"/>
            </a:srgbClr>
          </a:solidFill>
          <a:ln>
            <a:solidFill>
              <a:srgbClr val="000000">
                <a:alpha val="80000"/>
              </a:srgbClr>
            </a:solidFill>
            <a:round/>
          </a:ln>
        </p:spPr>
        <p:txBody>
          <a:bodyPr lIns="0" tIns="0" rIns="0" bIns="0" anchor="ctr"/>
          <a:lstStyle/>
          <a:p>
            <a:pPr lvl="0"/>
            <a:endParaRPr b="0">
              <a:solidFill>
                <a:schemeClr val="tx1"/>
              </a:solidFill>
              <a:latin typeface="Gill Sans" charset="0"/>
              <a:ea typeface="Gill Sans" charset="0"/>
              <a:cs typeface="Gill Sans" charset="0"/>
            </a:endParaRPr>
          </a:p>
        </p:txBody>
      </p:sp>
      <p:grpSp>
        <p:nvGrpSpPr>
          <p:cNvPr id="171" name="Group 171"/>
          <p:cNvGrpSpPr/>
          <p:nvPr/>
        </p:nvGrpSpPr>
        <p:grpSpPr>
          <a:xfrm>
            <a:off x="7109201" y="1058581"/>
            <a:ext cx="2255941" cy="1263393"/>
            <a:chOff x="98800" y="680355"/>
            <a:chExt cx="2255940" cy="1263392"/>
          </a:xfrm>
        </p:grpSpPr>
        <p:sp>
          <p:nvSpPr>
            <p:cNvPr id="169" name="Shape 169"/>
            <p:cNvSpPr/>
            <p:nvPr/>
          </p:nvSpPr>
          <p:spPr>
            <a:xfrm>
              <a:off x="314892" y="680355"/>
              <a:ext cx="2039848" cy="94882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noAutofit/>
            </a:bodyPr>
            <a:lstStyle/>
            <a:p>
              <a:pPr lvl="0">
                <a:spcBef>
                  <a:spcPts val="1200"/>
                </a:spcBef>
                <a:buClr>
                  <a:srgbClr val="000000"/>
                </a:buClr>
                <a:buFont typeface="Helvetica"/>
                <a:defRPr sz="1800">
                  <a:uFillTx/>
                </a:defRPr>
              </a:pPr>
              <a:r>
                <a:rPr sz="1600" b="0" dirty="0">
                  <a:solidFill>
                    <a:schemeClr val="tx1"/>
                  </a:solidFill>
                  <a:uFill>
                    <a:solidFill/>
                  </a:uFill>
                  <a:latin typeface="Gill Sans" charset="0"/>
                  <a:ea typeface="Gill Sans" charset="0"/>
                  <a:cs typeface="Gill Sans" charset="0"/>
                </a:rPr>
                <a:t>Cβ</a:t>
              </a:r>
              <a:r>
                <a:rPr sz="1600" b="0" dirty="0">
                  <a:solidFill>
                    <a:schemeClr val="tx1"/>
                  </a:solidFill>
                  <a:uFill>
                    <a:solidFill/>
                  </a:uFill>
                  <a:latin typeface="Gill Sans" charset="0"/>
                  <a:ea typeface="Gill Sans" charset="0"/>
                  <a:cs typeface="Gill Sans" charset="0"/>
                  <a:sym typeface="Helvetica"/>
                </a:rPr>
                <a:t> </a:t>
              </a:r>
              <a:r>
                <a:rPr lang="en-US" sz="1600" b="0" dirty="0">
                  <a:solidFill>
                    <a:schemeClr val="tx1"/>
                  </a:solidFill>
                  <a:uFill>
                    <a:solidFill/>
                  </a:uFill>
                  <a:latin typeface="Gill Sans" charset="0"/>
                  <a:ea typeface="Gill Sans" charset="0"/>
                  <a:cs typeface="Gill Sans" charset="0"/>
                  <a:sym typeface="Helvetica"/>
                </a:rPr>
                <a:t>is the first carbon of </a:t>
              </a:r>
              <a:r>
                <a:rPr lang="en-US" sz="1600" b="0" dirty="0">
                  <a:solidFill>
                    <a:schemeClr val="tx1"/>
                  </a:solidFill>
                  <a:latin typeface="Gill Sans" charset="0"/>
                  <a:ea typeface="Gill Sans" charset="0"/>
                  <a:cs typeface="Gill Sans" charset="0"/>
                </a:rPr>
                <a:t>a</a:t>
              </a:r>
              <a:r>
                <a:rPr lang="en-US" sz="1600" b="0" dirty="0">
                  <a:solidFill>
                    <a:schemeClr val="tx1"/>
                  </a:solidFill>
                  <a:uFill>
                    <a:solidFill/>
                  </a:uFill>
                  <a:latin typeface="Gill Sans" charset="0"/>
                  <a:ea typeface="Gill Sans" charset="0"/>
                  <a:cs typeface="Gill Sans" charset="0"/>
                  <a:sym typeface="Helvetica"/>
                </a:rPr>
                <a:t> sidechain</a:t>
              </a:r>
            </a:p>
          </p:txBody>
        </p:sp>
        <p:sp>
          <p:nvSpPr>
            <p:cNvPr id="170" name="Shape 170"/>
            <p:cNvSpPr/>
            <p:nvPr/>
          </p:nvSpPr>
          <p:spPr>
            <a:xfrm flipH="1">
              <a:off x="98800" y="1177925"/>
              <a:ext cx="790199" cy="765822"/>
            </a:xfrm>
            <a:prstGeom prst="line">
              <a:avLst/>
            </a:prstGeom>
            <a:noFill/>
            <a:ln w="28575" cap="flat">
              <a:solidFill>
                <a:srgbClr val="767676"/>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grpSp>
      <p:grpSp>
        <p:nvGrpSpPr>
          <p:cNvPr id="180" name="Group 180"/>
          <p:cNvGrpSpPr/>
          <p:nvPr/>
        </p:nvGrpSpPr>
        <p:grpSpPr>
          <a:xfrm>
            <a:off x="37877" y="5671972"/>
            <a:ext cx="5270500" cy="507831"/>
            <a:chOff x="0" y="0"/>
            <a:chExt cx="5270500" cy="507831"/>
          </a:xfrm>
        </p:grpSpPr>
        <p:sp>
          <p:nvSpPr>
            <p:cNvPr id="178" name="Shape 178"/>
            <p:cNvSpPr/>
            <p:nvPr/>
          </p:nvSpPr>
          <p:spPr>
            <a:xfrm>
              <a:off x="0" y="0"/>
              <a:ext cx="5270500" cy="50783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900"/>
                </a:spcBef>
                <a:buClr>
                  <a:srgbClr val="E62C9A"/>
                </a:buClr>
                <a:buFont typeface="Helvetica"/>
                <a:defRPr sz="1800">
                  <a:uFillTx/>
                </a:defRPr>
              </a:pPr>
              <a:r>
                <a:rPr sz="1600" b="0" dirty="0">
                  <a:solidFill>
                    <a:schemeClr val="tx1"/>
                  </a:solidFill>
                  <a:uFill>
                    <a:solidFill>
                      <a:srgbClr val="E62C9A"/>
                    </a:solidFill>
                  </a:uFill>
                  <a:latin typeface="Gill Sans" charset="0"/>
                  <a:ea typeface="Gill Sans" charset="0"/>
                  <a:cs typeface="Gill Sans" charset="0"/>
                  <a:sym typeface="Helvetica"/>
                </a:rPr>
                <a:t>         </a:t>
              </a:r>
              <a:r>
                <a:rPr lang="en-US" sz="1600" b="0" dirty="0">
                  <a:solidFill>
                    <a:schemeClr val="tx1"/>
                  </a:solidFill>
                  <a:uFill>
                    <a:solidFill>
                      <a:srgbClr val="E62C9A"/>
                    </a:solidFill>
                  </a:uFill>
                  <a:latin typeface="Gill Sans" charset="0"/>
                  <a:ea typeface="Gill Sans" charset="0"/>
                  <a:cs typeface="Gill Sans" charset="0"/>
                  <a:sym typeface="Helvetica"/>
                </a:rPr>
                <a:t>simple </a:t>
              </a:r>
              <a:r>
                <a:rPr lang="en-US" sz="1700" b="0" u="sng" dirty="0">
                  <a:solidFill>
                    <a:schemeClr val="tx1"/>
                  </a:solidFill>
                  <a:uFill>
                    <a:solidFill>
                      <a:srgbClr val="E62C9A"/>
                    </a:solidFill>
                  </a:uFill>
                  <a:latin typeface="Gill Sans" charset="0"/>
                  <a:ea typeface="Gill Sans" charset="0"/>
                  <a:cs typeface="Gill Sans" charset="0"/>
                  <a:sym typeface="Chalkboard"/>
                </a:rPr>
                <a:t>local</a:t>
              </a:r>
              <a:r>
                <a:rPr lang="en-US" sz="1600" b="0" dirty="0">
                  <a:solidFill>
                    <a:schemeClr val="tx1"/>
                  </a:solidFill>
                  <a:uFill>
                    <a:solidFill>
                      <a:srgbClr val="E62C9A"/>
                    </a:solidFill>
                  </a:uFill>
                  <a:latin typeface="Gill Sans" charset="0"/>
                  <a:ea typeface="Gill Sans" charset="0"/>
                  <a:cs typeface="Gill Sans" charset="0"/>
                  <a:sym typeface="Helvetica"/>
                </a:rPr>
                <a:t> steric hindrance strongly controls which protein structures are possible</a:t>
              </a:r>
            </a:p>
          </p:txBody>
        </p:sp>
        <p:sp>
          <p:nvSpPr>
            <p:cNvPr id="179" name="Shape 179"/>
            <p:cNvSpPr/>
            <p:nvPr/>
          </p:nvSpPr>
          <p:spPr>
            <a:xfrm>
              <a:off x="88900" y="156326"/>
              <a:ext cx="457200" cy="1588"/>
            </a:xfrm>
            <a:prstGeom prst="line">
              <a:avLst/>
            </a:prstGeom>
            <a:noFill/>
            <a:ln w="28575" cap="flat">
              <a:solidFill>
                <a:schemeClr val="tx1"/>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grpSp>
      <p:sp>
        <p:nvSpPr>
          <p:cNvPr id="181" name="Shape 181"/>
          <p:cNvSpPr/>
          <p:nvPr/>
        </p:nvSpPr>
        <p:spPr>
          <a:xfrm>
            <a:off x="5753100" y="4630875"/>
            <a:ext cx="771525" cy="1588"/>
          </a:xfrm>
          <a:prstGeom prst="line">
            <a:avLst/>
          </a:prstGeom>
          <a:ln w="57150">
            <a:solidFill>
              <a:srgbClr val="FFFFFF"/>
            </a:solidFill>
            <a:round/>
          </a:ln>
        </p:spPr>
        <p:txBody>
          <a:bodyPr lIns="0" tIns="0" rIns="0" bIns="0"/>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sp>
        <p:nvSpPr>
          <p:cNvPr id="182" name="Shape 182"/>
          <p:cNvSpPr/>
          <p:nvPr/>
        </p:nvSpPr>
        <p:spPr>
          <a:xfrm>
            <a:off x="6664325" y="4567375"/>
            <a:ext cx="501650" cy="1588"/>
          </a:xfrm>
          <a:prstGeom prst="line">
            <a:avLst/>
          </a:prstGeom>
          <a:ln w="28575">
            <a:solidFill>
              <a:srgbClr val="FFFFFF"/>
            </a:solidFill>
            <a:round/>
          </a:ln>
        </p:spPr>
        <p:txBody>
          <a:bodyPr lIns="0" tIns="0" rIns="0" bIns="0"/>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sp>
        <p:nvSpPr>
          <p:cNvPr id="183" name="Shape 183"/>
          <p:cNvSpPr/>
          <p:nvPr/>
        </p:nvSpPr>
        <p:spPr>
          <a:xfrm>
            <a:off x="7350125" y="3065600"/>
            <a:ext cx="1588" cy="196850"/>
          </a:xfrm>
          <a:prstGeom prst="line">
            <a:avLst/>
          </a:prstGeom>
          <a:ln w="38100">
            <a:solidFill>
              <a:srgbClr val="FFFFFF"/>
            </a:solidFill>
            <a:round/>
          </a:ln>
        </p:spPr>
        <p:txBody>
          <a:bodyPr lIns="0" tIns="0" rIns="0" bIns="0"/>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sp>
        <p:nvSpPr>
          <p:cNvPr id="184" name="Shape 184"/>
          <p:cNvSpPr/>
          <p:nvPr/>
        </p:nvSpPr>
        <p:spPr>
          <a:xfrm>
            <a:off x="1676400" y="4627700"/>
            <a:ext cx="698500" cy="1588"/>
          </a:xfrm>
          <a:prstGeom prst="line">
            <a:avLst/>
          </a:prstGeom>
          <a:ln w="38100">
            <a:solidFill>
              <a:srgbClr val="FFFFFF"/>
            </a:solidFill>
            <a:round/>
          </a:ln>
        </p:spPr>
        <p:txBody>
          <a:bodyPr lIns="0" tIns="0" rIns="0" bIns="0"/>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sp>
        <p:nvSpPr>
          <p:cNvPr id="185" name="Shape 185"/>
          <p:cNvSpPr/>
          <p:nvPr/>
        </p:nvSpPr>
        <p:spPr>
          <a:xfrm>
            <a:off x="3460750" y="2856050"/>
            <a:ext cx="1588" cy="593725"/>
          </a:xfrm>
          <a:prstGeom prst="line">
            <a:avLst/>
          </a:prstGeom>
          <a:ln w="38100">
            <a:solidFill>
              <a:srgbClr val="FFFFFF"/>
            </a:solidFill>
            <a:round/>
          </a:ln>
        </p:spPr>
        <p:txBody>
          <a:bodyPr lIns="0" tIns="0" rIns="0" bIns="0"/>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sp>
        <p:nvSpPr>
          <p:cNvPr id="186" name="Shape 186"/>
          <p:cNvSpPr/>
          <p:nvPr/>
        </p:nvSpPr>
        <p:spPr>
          <a:xfrm>
            <a:off x="2746375" y="3017975"/>
            <a:ext cx="165100" cy="1588"/>
          </a:xfrm>
          <a:prstGeom prst="line">
            <a:avLst/>
          </a:prstGeom>
          <a:ln w="38100">
            <a:solidFill>
              <a:srgbClr val="FFFFFF"/>
            </a:solidFill>
            <a:round/>
          </a:ln>
        </p:spPr>
        <p:txBody>
          <a:bodyPr lIns="0" tIns="0" rIns="0" bIns="0"/>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sp>
        <p:nvSpPr>
          <p:cNvPr id="187" name="Shape 187"/>
          <p:cNvSpPr/>
          <p:nvPr/>
        </p:nvSpPr>
        <p:spPr>
          <a:xfrm>
            <a:off x="2952750" y="3291025"/>
            <a:ext cx="260350" cy="3175"/>
          </a:xfrm>
          <a:prstGeom prst="line">
            <a:avLst/>
          </a:prstGeom>
          <a:ln w="38100">
            <a:solidFill>
              <a:srgbClr val="FFFFFF"/>
            </a:solidFill>
            <a:round/>
          </a:ln>
        </p:spPr>
        <p:txBody>
          <a:bodyPr lIns="0" tIns="0" rIns="0" bIns="0"/>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sp>
        <p:nvSpPr>
          <p:cNvPr id="188" name="Shape 188"/>
          <p:cNvSpPr/>
          <p:nvPr/>
        </p:nvSpPr>
        <p:spPr>
          <a:xfrm>
            <a:off x="2454275" y="2913200"/>
            <a:ext cx="158750" cy="44450"/>
          </a:xfrm>
          <a:prstGeom prst="line">
            <a:avLst/>
          </a:prstGeom>
          <a:ln w="28575">
            <a:solidFill>
              <a:srgbClr val="FFFFFF"/>
            </a:solidFill>
            <a:round/>
          </a:ln>
        </p:spPr>
        <p:txBody>
          <a:bodyPr lIns="0" tIns="0" rIns="0" bIns="0"/>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sp>
        <p:nvSpPr>
          <p:cNvPr id="189" name="Shape 189"/>
          <p:cNvSpPr/>
          <p:nvPr/>
        </p:nvSpPr>
        <p:spPr>
          <a:xfrm>
            <a:off x="2719387" y="3364050"/>
            <a:ext cx="74613" cy="74613"/>
          </a:xfrm>
          <a:prstGeom prst="rect">
            <a:avLst/>
          </a:prstGeom>
          <a:solidFill>
            <a:srgbClr val="FFFFFF"/>
          </a:solidFill>
          <a:ln>
            <a:solidFill>
              <a:srgbClr val="FFFFFF"/>
            </a:solidFill>
            <a:miter lim="400000"/>
          </a:ln>
        </p:spPr>
        <p:txBody>
          <a:bodyPr lIns="0" tIns="0" rIns="0" bIns="0" anchor="ctr"/>
          <a:lstStyle/>
          <a:p>
            <a:pPr lvl="0"/>
            <a:endParaRPr b="0">
              <a:solidFill>
                <a:schemeClr val="tx1"/>
              </a:solidFill>
              <a:latin typeface="Gill Sans" charset="0"/>
              <a:ea typeface="Gill Sans" charset="0"/>
              <a:cs typeface="Gill Sans" charset="0"/>
            </a:endParaRPr>
          </a:p>
        </p:txBody>
      </p:sp>
      <p:sp>
        <p:nvSpPr>
          <p:cNvPr id="190" name="Shape 190"/>
          <p:cNvSpPr/>
          <p:nvPr/>
        </p:nvSpPr>
        <p:spPr>
          <a:xfrm>
            <a:off x="1905000" y="1681300"/>
            <a:ext cx="304800" cy="1588"/>
          </a:xfrm>
          <a:prstGeom prst="line">
            <a:avLst/>
          </a:prstGeom>
          <a:ln w="57150">
            <a:solidFill>
              <a:schemeClr val="bg1">
                <a:lumMod val="95000"/>
              </a:schemeClr>
            </a:solidFill>
            <a:round/>
          </a:ln>
        </p:spPr>
        <p:txBody>
          <a:bodyPr lIns="0" tIns="0" rIns="0" bIns="0"/>
          <a:lstStyle/>
          <a:p>
            <a:pPr marL="0" marR="0" lvl="0" defTabSz="457200">
              <a:defRPr sz="1200">
                <a:uFillTx/>
                <a:latin typeface="Helvetica"/>
                <a:ea typeface="Helvetica"/>
                <a:cs typeface="Helvetica"/>
                <a:sym typeface="Helvetica"/>
              </a:defRPr>
            </a:pPr>
            <a:endParaRPr b="0" dirty="0">
              <a:solidFill>
                <a:schemeClr val="tx1"/>
              </a:solidFill>
              <a:latin typeface="Gill Sans" charset="0"/>
              <a:ea typeface="Gill Sans" charset="0"/>
              <a:cs typeface="Gill Sans" charset="0"/>
            </a:endParaRPr>
          </a:p>
        </p:txBody>
      </p:sp>
      <p:sp>
        <p:nvSpPr>
          <p:cNvPr id="191" name="Shape 191"/>
          <p:cNvSpPr/>
          <p:nvPr/>
        </p:nvSpPr>
        <p:spPr>
          <a:xfrm flipV="1">
            <a:off x="596900" y="3383100"/>
            <a:ext cx="107950" cy="9525"/>
          </a:xfrm>
          <a:prstGeom prst="line">
            <a:avLst/>
          </a:prstGeom>
          <a:ln w="38100">
            <a:solidFill>
              <a:srgbClr val="FFFFFF"/>
            </a:solidFill>
            <a:round/>
          </a:ln>
        </p:spPr>
        <p:txBody>
          <a:bodyPr lIns="0" tIns="0" rIns="0" bIns="0"/>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sp>
        <p:nvSpPr>
          <p:cNvPr id="192" name="Shape 192"/>
          <p:cNvSpPr/>
          <p:nvPr/>
        </p:nvSpPr>
        <p:spPr>
          <a:xfrm>
            <a:off x="612775" y="3002100"/>
            <a:ext cx="161925" cy="6350"/>
          </a:xfrm>
          <a:prstGeom prst="line">
            <a:avLst/>
          </a:prstGeom>
          <a:ln w="28575">
            <a:solidFill>
              <a:srgbClr val="FFFFFF"/>
            </a:solidFill>
            <a:round/>
          </a:ln>
        </p:spPr>
        <p:txBody>
          <a:bodyPr lIns="0" tIns="0" rIns="0" bIns="0"/>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sp>
        <p:nvSpPr>
          <p:cNvPr id="193" name="Shape 193"/>
          <p:cNvSpPr/>
          <p:nvPr/>
        </p:nvSpPr>
        <p:spPr>
          <a:xfrm>
            <a:off x="0" y="6294151"/>
            <a:ext cx="4368170" cy="492443"/>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spcBef>
                <a:spcPts val="900"/>
              </a:spcBef>
              <a:buClr>
                <a:srgbClr val="E62C9A"/>
              </a:buClr>
              <a:buFont typeface="Helvetica"/>
              <a:defRPr sz="16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E62C9A"/>
                  </a:solidFill>
                </a:uFill>
                <a:latin typeface="Gill Sans" charset="0"/>
                <a:ea typeface="Gill Sans" charset="0"/>
                <a:cs typeface="Gill Sans" charset="0"/>
              </a:rPr>
              <a:t>T</a:t>
            </a:r>
            <a:r>
              <a:rPr lang="en-US" sz="1600" b="0" dirty="0">
                <a:solidFill>
                  <a:schemeClr val="tx1"/>
                </a:solidFill>
                <a:uFill>
                  <a:solidFill>
                    <a:srgbClr val="E62C9A"/>
                  </a:solidFill>
                </a:uFill>
                <a:latin typeface="Gill Sans" charset="0"/>
                <a:ea typeface="Gill Sans" charset="0"/>
                <a:cs typeface="Gill Sans" charset="0"/>
              </a:rPr>
              <a:t>his kind of steric hindrance is very </a:t>
            </a:r>
            <a:r>
              <a:rPr lang="en-US" sz="1600" b="0" dirty="0">
                <a:solidFill>
                  <a:srgbClr val="FF0000"/>
                </a:solidFill>
                <a:uFill>
                  <a:solidFill>
                    <a:srgbClr val="E62C9A"/>
                  </a:solidFill>
                </a:uFill>
                <a:latin typeface="Gill Sans" charset="0"/>
                <a:ea typeface="Gill Sans" charset="0"/>
                <a:cs typeface="Gill Sans" charset="0"/>
              </a:rPr>
              <a:t>local.</a:t>
            </a:r>
            <a:r>
              <a:rPr lang="en-US" sz="1600" b="0" dirty="0">
                <a:solidFill>
                  <a:schemeClr val="tx1"/>
                </a:solidFill>
                <a:uFill>
                  <a:solidFill>
                    <a:srgbClr val="E62C9A"/>
                  </a:solidFill>
                </a:uFill>
                <a:latin typeface="Gill Sans" charset="0"/>
                <a:ea typeface="Gill Sans" charset="0"/>
                <a:cs typeface="Gill Sans" charset="0"/>
              </a:rPr>
              <a:t>  Only atoms of an </a:t>
            </a:r>
            <a:r>
              <a:rPr sz="1600" b="0" dirty="0">
                <a:solidFill>
                  <a:schemeClr val="tx1"/>
                </a:solidFill>
                <a:uFill>
                  <a:solidFill>
                    <a:srgbClr val="E62C9A"/>
                  </a:solidFill>
                </a:uFill>
                <a:latin typeface="Gill Sans" charset="0"/>
                <a:ea typeface="Gill Sans" charset="0"/>
                <a:cs typeface="Gill Sans" charset="0"/>
              </a:rPr>
              <a:t>AA</a:t>
            </a:r>
            <a:r>
              <a:rPr lang="en-US" sz="1600" b="0" dirty="0">
                <a:solidFill>
                  <a:schemeClr val="tx1"/>
                </a:solidFill>
                <a:uFill>
                  <a:solidFill>
                    <a:srgbClr val="E62C9A"/>
                  </a:solidFill>
                </a:uFill>
                <a:latin typeface="Gill Sans" charset="0"/>
                <a:ea typeface="Gill Sans" charset="0"/>
                <a:cs typeface="Gill Sans" charset="0"/>
              </a:rPr>
              <a:t>’s directly bonded neighbors!</a:t>
            </a:r>
          </a:p>
        </p:txBody>
      </p:sp>
      <p:pic>
        <p:nvPicPr>
          <p:cNvPr id="197" name="droppedImage.tiff"/>
          <p:cNvPicPr/>
          <p:nvPr/>
        </p:nvPicPr>
        <p:blipFill>
          <a:blip r:embed="rId2"/>
          <a:stretch>
            <a:fillRect/>
          </a:stretch>
        </p:blipFill>
        <p:spPr>
          <a:xfrm>
            <a:off x="6864015" y="5080000"/>
            <a:ext cx="2241886" cy="1092200"/>
          </a:xfrm>
          <a:prstGeom prst="rect">
            <a:avLst/>
          </a:prstGeom>
          <a:ln>
            <a:round/>
          </a:ln>
        </p:spPr>
      </p:pic>
      <p:sp>
        <p:nvSpPr>
          <p:cNvPr id="198" name="Shape 198"/>
          <p:cNvSpPr/>
          <p:nvPr/>
        </p:nvSpPr>
        <p:spPr>
          <a:xfrm>
            <a:off x="6070600" y="4745175"/>
            <a:ext cx="3213100" cy="43088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800"/>
              </a:spcBef>
              <a:buClr>
                <a:srgbClr val="000000"/>
              </a:buClr>
              <a:buFont typeface="Helvetica"/>
              <a:defRPr sz="1800">
                <a:uFillTx/>
              </a:defRPr>
            </a:pPr>
            <a:r>
              <a:rPr sz="1400" b="0" dirty="0">
                <a:solidFill>
                  <a:schemeClr val="tx1"/>
                </a:solidFill>
                <a:uFill>
                  <a:solidFill/>
                </a:uFill>
                <a:latin typeface="Gill Sans" charset="0"/>
                <a:ea typeface="Gill Sans" charset="0"/>
                <a:cs typeface="Gill Sans" charset="0"/>
                <a:sym typeface="Helvetica"/>
              </a:rPr>
              <a:t>M</a:t>
            </a:r>
            <a:r>
              <a:rPr lang="en-US" sz="1400" b="0" dirty="0">
                <a:solidFill>
                  <a:schemeClr val="tx1"/>
                </a:solidFill>
                <a:uFill>
                  <a:solidFill/>
                </a:uFill>
                <a:latin typeface="Gill Sans" charset="0"/>
                <a:ea typeface="Gill Sans" charset="0"/>
                <a:cs typeface="Gill Sans" charset="0"/>
                <a:sym typeface="Helvetica"/>
              </a:rPr>
              <a:t>uch steric hindrance from just one </a:t>
            </a:r>
            <a:r>
              <a:rPr sz="1400" b="0" dirty="0">
                <a:solidFill>
                  <a:schemeClr val="tx1"/>
                </a:solidFill>
                <a:uFill>
                  <a:solidFill/>
                </a:uFill>
                <a:latin typeface="Gill Sans" charset="0"/>
                <a:ea typeface="Gill Sans" charset="0"/>
                <a:cs typeface="Gill Sans" charset="0"/>
                <a:sym typeface="Helvetica"/>
              </a:rPr>
              <a:t>C</a:t>
            </a:r>
            <a:r>
              <a:rPr sz="1400" b="0" dirty="0">
                <a:solidFill>
                  <a:schemeClr val="tx1"/>
                </a:solidFill>
                <a:uFill>
                  <a:solidFill/>
                </a:uFill>
                <a:latin typeface="Gill Sans" charset="0"/>
                <a:ea typeface="Gill Sans" charset="0"/>
                <a:cs typeface="Gill Sans" charset="0"/>
                <a:sym typeface="Symbol"/>
              </a:rPr>
              <a:t>β</a:t>
            </a:r>
            <a:r>
              <a:rPr sz="1400" b="0" dirty="0">
                <a:solidFill>
                  <a:schemeClr val="tx1"/>
                </a:solidFill>
                <a:uFill>
                  <a:solidFill/>
                </a:uFill>
                <a:latin typeface="Gill Sans" charset="0"/>
                <a:ea typeface="Gill Sans" charset="0"/>
                <a:cs typeface="Gill Sans" charset="0"/>
                <a:sym typeface="Helvetica"/>
              </a:rPr>
              <a:t> </a:t>
            </a:r>
            <a:r>
              <a:rPr lang="en-US" sz="1400" b="0" dirty="0">
                <a:solidFill>
                  <a:schemeClr val="tx1"/>
                </a:solidFill>
                <a:uFill>
                  <a:solidFill/>
                </a:uFill>
                <a:latin typeface="Gill Sans" charset="0"/>
                <a:ea typeface="Gill Sans" charset="0"/>
                <a:cs typeface="Gill Sans" charset="0"/>
                <a:sym typeface="Helvetica"/>
              </a:rPr>
              <a:t>compared with </a:t>
            </a:r>
            <a:r>
              <a:rPr sz="1400" b="0" dirty="0">
                <a:solidFill>
                  <a:schemeClr val="tx1"/>
                </a:solidFill>
                <a:uFill>
                  <a:solidFill/>
                </a:uFill>
                <a:latin typeface="Gill Sans" charset="0"/>
                <a:ea typeface="Gill Sans" charset="0"/>
                <a:cs typeface="Gill Sans" charset="0"/>
                <a:sym typeface="Helvetica"/>
              </a:rPr>
              <a:t>H</a:t>
            </a:r>
          </a:p>
        </p:txBody>
      </p:sp>
      <p:sp>
        <p:nvSpPr>
          <p:cNvPr id="205" name="Shape 205"/>
          <p:cNvSpPr/>
          <p:nvPr/>
        </p:nvSpPr>
        <p:spPr>
          <a:xfrm flipV="1">
            <a:off x="7899400" y="4989547"/>
            <a:ext cx="517379" cy="430886"/>
          </a:xfrm>
          <a:prstGeom prst="line">
            <a:avLst/>
          </a:prstGeom>
          <a:ln w="19050">
            <a:solidFill/>
            <a:round/>
            <a:headEnd type="stealth"/>
          </a:ln>
        </p:spPr>
        <p:txBody>
          <a:bodyPr lIns="0" tIns="0" rIns="0" bIns="0"/>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sp>
        <p:nvSpPr>
          <p:cNvPr id="208" name="Shape 208"/>
          <p:cNvSpPr/>
          <p:nvPr/>
        </p:nvSpPr>
        <p:spPr>
          <a:xfrm>
            <a:off x="6902450" y="5099050"/>
            <a:ext cx="1266825" cy="1047750"/>
          </a:xfrm>
          <a:custGeom>
            <a:avLst/>
            <a:gdLst/>
            <a:ahLst/>
            <a:cxnLst>
              <a:cxn ang="0">
                <a:pos x="wd2" y="hd2"/>
              </a:cxn>
              <a:cxn ang="5400000">
                <a:pos x="wd2" y="hd2"/>
              </a:cxn>
              <a:cxn ang="10800000">
                <a:pos x="wd2" y="hd2"/>
              </a:cxn>
              <a:cxn ang="16200000">
                <a:pos x="wd2" y="hd2"/>
              </a:cxn>
            </a:cxnLst>
            <a:rect l="0" t="0" r="r" b="b"/>
            <a:pathLst>
              <a:path w="21600" h="21600" extrusionOk="0">
                <a:moveTo>
                  <a:pt x="10177" y="0"/>
                </a:moveTo>
                <a:lnTo>
                  <a:pt x="9203" y="131"/>
                </a:lnTo>
                <a:lnTo>
                  <a:pt x="8229" y="458"/>
                </a:lnTo>
                <a:lnTo>
                  <a:pt x="7525" y="851"/>
                </a:lnTo>
                <a:lnTo>
                  <a:pt x="6767" y="1309"/>
                </a:lnTo>
                <a:lnTo>
                  <a:pt x="6388" y="1833"/>
                </a:lnTo>
                <a:lnTo>
                  <a:pt x="5901" y="2487"/>
                </a:lnTo>
                <a:lnTo>
                  <a:pt x="5414" y="3273"/>
                </a:lnTo>
                <a:lnTo>
                  <a:pt x="5251" y="3927"/>
                </a:lnTo>
                <a:lnTo>
                  <a:pt x="5089" y="4516"/>
                </a:lnTo>
                <a:lnTo>
                  <a:pt x="4872" y="5498"/>
                </a:lnTo>
                <a:lnTo>
                  <a:pt x="4926" y="5956"/>
                </a:lnTo>
                <a:lnTo>
                  <a:pt x="4980" y="6676"/>
                </a:lnTo>
                <a:lnTo>
                  <a:pt x="5035" y="7396"/>
                </a:lnTo>
                <a:lnTo>
                  <a:pt x="4385" y="7658"/>
                </a:lnTo>
                <a:lnTo>
                  <a:pt x="3465" y="8182"/>
                </a:lnTo>
                <a:lnTo>
                  <a:pt x="2653" y="8640"/>
                </a:lnTo>
                <a:lnTo>
                  <a:pt x="2057" y="9229"/>
                </a:lnTo>
                <a:lnTo>
                  <a:pt x="1516" y="10015"/>
                </a:lnTo>
                <a:lnTo>
                  <a:pt x="1029" y="10735"/>
                </a:lnTo>
                <a:lnTo>
                  <a:pt x="595" y="11585"/>
                </a:lnTo>
                <a:lnTo>
                  <a:pt x="325" y="12502"/>
                </a:lnTo>
                <a:lnTo>
                  <a:pt x="108" y="13680"/>
                </a:lnTo>
                <a:lnTo>
                  <a:pt x="0" y="14858"/>
                </a:lnTo>
                <a:cubicBezTo>
                  <a:pt x="0" y="14858"/>
                  <a:pt x="1" y="16139"/>
                  <a:pt x="108" y="16167"/>
                </a:cubicBezTo>
                <a:cubicBezTo>
                  <a:pt x="215" y="16196"/>
                  <a:pt x="325" y="17084"/>
                  <a:pt x="325" y="17084"/>
                </a:cubicBezTo>
                <a:lnTo>
                  <a:pt x="650" y="18000"/>
                </a:lnTo>
                <a:lnTo>
                  <a:pt x="1299" y="18851"/>
                </a:lnTo>
                <a:lnTo>
                  <a:pt x="2057" y="19767"/>
                </a:lnTo>
                <a:lnTo>
                  <a:pt x="2653" y="20356"/>
                </a:lnTo>
                <a:lnTo>
                  <a:pt x="3248" y="20815"/>
                </a:lnTo>
                <a:lnTo>
                  <a:pt x="3844" y="21011"/>
                </a:lnTo>
                <a:lnTo>
                  <a:pt x="4656" y="21011"/>
                </a:lnTo>
                <a:lnTo>
                  <a:pt x="5251" y="21142"/>
                </a:lnTo>
                <a:lnTo>
                  <a:pt x="6063" y="21338"/>
                </a:lnTo>
                <a:lnTo>
                  <a:pt x="6659" y="21142"/>
                </a:lnTo>
                <a:lnTo>
                  <a:pt x="7525" y="21076"/>
                </a:lnTo>
                <a:lnTo>
                  <a:pt x="8066" y="20945"/>
                </a:lnTo>
                <a:lnTo>
                  <a:pt x="8499" y="21207"/>
                </a:lnTo>
                <a:lnTo>
                  <a:pt x="9041" y="21404"/>
                </a:lnTo>
                <a:lnTo>
                  <a:pt x="9636" y="21404"/>
                </a:lnTo>
                <a:lnTo>
                  <a:pt x="10394" y="21469"/>
                </a:lnTo>
                <a:lnTo>
                  <a:pt x="10935" y="21600"/>
                </a:lnTo>
                <a:lnTo>
                  <a:pt x="11477" y="21469"/>
                </a:lnTo>
                <a:lnTo>
                  <a:pt x="12018" y="21338"/>
                </a:lnTo>
                <a:lnTo>
                  <a:pt x="12559" y="21404"/>
                </a:lnTo>
                <a:lnTo>
                  <a:pt x="13480" y="21011"/>
                </a:lnTo>
                <a:lnTo>
                  <a:pt x="14129" y="20815"/>
                </a:lnTo>
                <a:lnTo>
                  <a:pt x="14454" y="20422"/>
                </a:lnTo>
                <a:lnTo>
                  <a:pt x="14995" y="20487"/>
                </a:lnTo>
                <a:lnTo>
                  <a:pt x="15483" y="20684"/>
                </a:lnTo>
                <a:lnTo>
                  <a:pt x="16186" y="20815"/>
                </a:lnTo>
                <a:lnTo>
                  <a:pt x="17107" y="20553"/>
                </a:lnTo>
                <a:lnTo>
                  <a:pt x="17756" y="20422"/>
                </a:lnTo>
                <a:lnTo>
                  <a:pt x="18623" y="19964"/>
                </a:lnTo>
                <a:lnTo>
                  <a:pt x="19543" y="19244"/>
                </a:lnTo>
                <a:lnTo>
                  <a:pt x="20247" y="18458"/>
                </a:lnTo>
                <a:lnTo>
                  <a:pt x="20896" y="17215"/>
                </a:lnTo>
                <a:lnTo>
                  <a:pt x="21438" y="15775"/>
                </a:lnTo>
                <a:lnTo>
                  <a:pt x="21600" y="14204"/>
                </a:lnTo>
                <a:lnTo>
                  <a:pt x="21600" y="12960"/>
                </a:lnTo>
                <a:lnTo>
                  <a:pt x="21167" y="11585"/>
                </a:lnTo>
                <a:lnTo>
                  <a:pt x="20842" y="10538"/>
                </a:lnTo>
                <a:lnTo>
                  <a:pt x="20301" y="9556"/>
                </a:lnTo>
                <a:lnTo>
                  <a:pt x="19543" y="8771"/>
                </a:lnTo>
                <a:lnTo>
                  <a:pt x="19002" y="8182"/>
                </a:lnTo>
                <a:lnTo>
                  <a:pt x="18352" y="7724"/>
                </a:lnTo>
                <a:lnTo>
                  <a:pt x="17702" y="7135"/>
                </a:lnTo>
                <a:lnTo>
                  <a:pt x="17053" y="6938"/>
                </a:lnTo>
                <a:lnTo>
                  <a:pt x="16349" y="6676"/>
                </a:lnTo>
                <a:lnTo>
                  <a:pt x="15753" y="6545"/>
                </a:lnTo>
                <a:lnTo>
                  <a:pt x="15699" y="5760"/>
                </a:lnTo>
                <a:lnTo>
                  <a:pt x="15429" y="4516"/>
                </a:lnTo>
                <a:lnTo>
                  <a:pt x="15158" y="3796"/>
                </a:lnTo>
                <a:lnTo>
                  <a:pt x="14725" y="3011"/>
                </a:lnTo>
                <a:lnTo>
                  <a:pt x="14129" y="2225"/>
                </a:lnTo>
                <a:lnTo>
                  <a:pt x="13696" y="1636"/>
                </a:lnTo>
                <a:lnTo>
                  <a:pt x="12884" y="1047"/>
                </a:lnTo>
                <a:lnTo>
                  <a:pt x="12397" y="720"/>
                </a:lnTo>
                <a:lnTo>
                  <a:pt x="11802" y="458"/>
                </a:lnTo>
                <a:lnTo>
                  <a:pt x="11206" y="262"/>
                </a:lnTo>
                <a:lnTo>
                  <a:pt x="10448" y="65"/>
                </a:lnTo>
                <a:lnTo>
                  <a:pt x="10177" y="0"/>
                </a:lnTo>
                <a:close/>
              </a:path>
            </a:pathLst>
          </a:custGeom>
          <a:ln w="57150" cap="rnd">
            <a:solidFill>
              <a:srgbClr val="FF0000"/>
            </a:solidFill>
            <a:custDash>
              <a:ds d="100000" sp="200000"/>
            </a:custDash>
            <a:round/>
          </a:ln>
        </p:spPr>
        <p:txBody>
          <a:bodyPr lIns="0" tIns="0" rIns="0" bIns="0" anchor="ctr"/>
          <a:lstStyle/>
          <a:p>
            <a:pPr marL="0" marR="0" lvl="0" algn="ctr" defTabSz="584200">
              <a:defRPr sz="4200">
                <a:uFillTx/>
                <a:latin typeface="Gill Sans"/>
                <a:ea typeface="Gill Sans"/>
                <a:cs typeface="Gill Sans"/>
                <a:sym typeface="Gill Sans"/>
              </a:defRPr>
            </a:pPr>
            <a:endParaRPr b="0">
              <a:solidFill>
                <a:schemeClr val="tx1"/>
              </a:solidFill>
              <a:latin typeface="Gill Sans" charset="0"/>
              <a:ea typeface="Gill Sans" charset="0"/>
              <a:cs typeface="Gill Sans" charset="0"/>
            </a:endParaRPr>
          </a:p>
        </p:txBody>
      </p:sp>
      <p:sp>
        <p:nvSpPr>
          <p:cNvPr id="209" name="Shape 209"/>
          <p:cNvSpPr/>
          <p:nvPr/>
        </p:nvSpPr>
        <p:spPr>
          <a:xfrm>
            <a:off x="6019800" y="6121400"/>
            <a:ext cx="3200400" cy="692497"/>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lvl="0">
              <a:defRPr sz="1800">
                <a:uFillTx/>
              </a:defRPr>
            </a:pPr>
            <a:r>
              <a:rPr sz="1700" b="0" dirty="0">
                <a:solidFill>
                  <a:schemeClr val="tx1"/>
                </a:solidFill>
                <a:uFill>
                  <a:solidFill/>
                </a:uFill>
                <a:latin typeface="Gill Sans" charset="0"/>
                <a:ea typeface="Gill Sans" charset="0"/>
                <a:cs typeface="Gill Sans" charset="0"/>
                <a:sym typeface="Helvetica"/>
              </a:rPr>
              <a:t>C</a:t>
            </a:r>
            <a:r>
              <a:rPr sz="1700" b="0" dirty="0">
                <a:solidFill>
                  <a:schemeClr val="tx1"/>
                </a:solidFill>
                <a:uFill>
                  <a:solidFill/>
                </a:uFill>
                <a:latin typeface="Gill Sans" charset="0"/>
                <a:ea typeface="Gill Sans" charset="0"/>
                <a:cs typeface="Gill Sans" charset="0"/>
                <a:sym typeface="Symbol"/>
              </a:rPr>
              <a:t>β</a:t>
            </a:r>
            <a:r>
              <a:rPr sz="1400" b="0" dirty="0">
                <a:solidFill>
                  <a:schemeClr val="tx1"/>
                </a:solidFill>
                <a:uFill>
                  <a:solidFill/>
                </a:uFill>
                <a:latin typeface="Gill Sans" charset="0"/>
                <a:ea typeface="Gill Sans" charset="0"/>
                <a:cs typeface="Gill Sans" charset="0"/>
                <a:sym typeface="Helvetica"/>
              </a:rPr>
              <a:t> </a:t>
            </a:r>
            <a:r>
              <a:rPr lang="en-US" sz="1400" b="0" dirty="0">
                <a:solidFill>
                  <a:schemeClr val="tx1"/>
                </a:solidFill>
                <a:uFill>
                  <a:solidFill/>
                </a:uFill>
                <a:latin typeface="Gill Sans" charset="0"/>
                <a:ea typeface="Gill Sans" charset="0"/>
                <a:cs typeface="Gill Sans" charset="0"/>
                <a:sym typeface="Helvetica"/>
              </a:rPr>
              <a:t>is the main </a:t>
            </a:r>
            <a:r>
              <a:rPr lang="en-US" sz="1400" b="0" u="sng" dirty="0">
                <a:solidFill>
                  <a:schemeClr val="tx1"/>
                </a:solidFill>
                <a:uFill>
                  <a:solidFill/>
                </a:uFill>
                <a:latin typeface="Gill Sans" charset="0"/>
                <a:ea typeface="Gill Sans" charset="0"/>
                <a:cs typeface="Gill Sans" charset="0"/>
                <a:sym typeface="Helvetica"/>
              </a:rPr>
              <a:t>sidechain</a:t>
            </a:r>
            <a:r>
              <a:rPr lang="en-US" sz="1400" b="0" dirty="0">
                <a:solidFill>
                  <a:schemeClr val="tx1"/>
                </a:solidFill>
                <a:uFill>
                  <a:solidFill/>
                </a:uFill>
                <a:latin typeface="Gill Sans" charset="0"/>
                <a:ea typeface="Gill Sans" charset="0"/>
                <a:cs typeface="Gill Sans" charset="0"/>
                <a:sym typeface="Helvetica"/>
              </a:rPr>
              <a:t> size influence on steric hindrance.  Not much more hindrance for residues larger than </a:t>
            </a:r>
            <a:r>
              <a:rPr sz="1400" b="0" dirty="0">
                <a:solidFill>
                  <a:schemeClr val="tx1"/>
                </a:solidFill>
                <a:uFill>
                  <a:solidFill/>
                </a:uFill>
                <a:latin typeface="Gill Sans" charset="0"/>
                <a:ea typeface="Gill Sans" charset="0"/>
                <a:cs typeface="Gill Sans" charset="0"/>
                <a:sym typeface="Helvetica"/>
              </a:rPr>
              <a:t>CH</a:t>
            </a:r>
            <a:r>
              <a:rPr sz="1500" b="0" baseline="-5999" dirty="0">
                <a:solidFill>
                  <a:schemeClr val="tx1"/>
                </a:solidFill>
                <a:uFill>
                  <a:solidFill/>
                </a:uFill>
                <a:latin typeface="Gill Sans" charset="0"/>
                <a:ea typeface="Gill Sans" charset="0"/>
                <a:cs typeface="Gill Sans" charset="0"/>
                <a:sym typeface="Helvetica"/>
              </a:rPr>
              <a:t>3</a:t>
            </a:r>
            <a:r>
              <a:rPr sz="1400" b="0" dirty="0">
                <a:solidFill>
                  <a:schemeClr val="tx1"/>
                </a:solidFill>
                <a:uFill>
                  <a:solidFill/>
                </a:uFill>
                <a:latin typeface="Gill Sans" charset="0"/>
                <a:ea typeface="Gill Sans" charset="0"/>
                <a:cs typeface="Gill Sans" charset="0"/>
                <a:sym typeface="Helvetica"/>
              </a:rPr>
              <a:t> </a:t>
            </a:r>
          </a:p>
        </p:txBody>
      </p:sp>
      <p:sp>
        <p:nvSpPr>
          <p:cNvPr id="2" name="Rectangle 1"/>
          <p:cNvSpPr/>
          <p:nvPr/>
        </p:nvSpPr>
        <p:spPr>
          <a:xfrm>
            <a:off x="6964857" y="2482041"/>
            <a:ext cx="169368" cy="176237"/>
          </a:xfrm>
          <a:prstGeom prst="rect">
            <a:avLst/>
          </a:prstGeom>
          <a:solidFill>
            <a:srgbClr val="E7F3FE"/>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54" name="Rectangle 53"/>
          <p:cNvSpPr/>
          <p:nvPr/>
        </p:nvSpPr>
        <p:spPr>
          <a:xfrm>
            <a:off x="6990014" y="3962230"/>
            <a:ext cx="222664" cy="176237"/>
          </a:xfrm>
          <a:prstGeom prst="rect">
            <a:avLst/>
          </a:prstGeom>
          <a:solidFill>
            <a:srgbClr val="E7F3FE"/>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55" name="Rectangle 54"/>
          <p:cNvSpPr/>
          <p:nvPr/>
        </p:nvSpPr>
        <p:spPr>
          <a:xfrm>
            <a:off x="6997869" y="4227002"/>
            <a:ext cx="222664" cy="176237"/>
          </a:xfrm>
          <a:prstGeom prst="rect">
            <a:avLst/>
          </a:prstGeom>
          <a:solidFill>
            <a:srgbClr val="E7F3FE"/>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4" name="Oval 3"/>
          <p:cNvSpPr/>
          <p:nvPr/>
        </p:nvSpPr>
        <p:spPr>
          <a:xfrm>
            <a:off x="5041901" y="4138467"/>
            <a:ext cx="165099" cy="200308"/>
          </a:xfrm>
          <a:prstGeom prst="ellipse">
            <a:avLst/>
          </a:prstGeom>
          <a:solidFill>
            <a:srgbClr val="E6F2F7"/>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grpSp>
        <p:nvGrpSpPr>
          <p:cNvPr id="3" name="Group 2"/>
          <p:cNvGrpSpPr/>
          <p:nvPr/>
        </p:nvGrpSpPr>
        <p:grpSpPr>
          <a:xfrm>
            <a:off x="4916370" y="2378463"/>
            <a:ext cx="2394711" cy="2095479"/>
            <a:chOff x="4916370" y="2129088"/>
            <a:chExt cx="2394711" cy="2095479"/>
          </a:xfrm>
        </p:grpSpPr>
        <p:sp>
          <p:nvSpPr>
            <p:cNvPr id="211" name="Shape 211"/>
            <p:cNvSpPr/>
            <p:nvPr/>
          </p:nvSpPr>
          <p:spPr>
            <a:xfrm>
              <a:off x="6908407" y="3891142"/>
              <a:ext cx="402674" cy="3334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p>
              <a:pPr lvl="0">
                <a:defRPr sz="1800">
                  <a:uFillTx/>
                </a:defRPr>
              </a:pPr>
              <a:r>
                <a:rPr sz="1500" b="0">
                  <a:solidFill>
                    <a:schemeClr val="tx1"/>
                  </a:solidFill>
                  <a:uFill>
                    <a:solidFill/>
                  </a:uFill>
                  <a:latin typeface="Gill Sans" charset="0"/>
                  <a:ea typeface="Gill Sans" charset="0"/>
                  <a:cs typeface="Gill Sans" charset="0"/>
                  <a:sym typeface="Helvetica"/>
                </a:rPr>
                <a:t>C</a:t>
              </a:r>
              <a:r>
                <a:rPr sz="1200" b="0">
                  <a:solidFill>
                    <a:schemeClr val="tx1"/>
                  </a:solidFill>
                  <a:uFill>
                    <a:solidFill/>
                  </a:uFill>
                  <a:latin typeface="Gill Sans" charset="0"/>
                  <a:ea typeface="Gill Sans" charset="0"/>
                  <a:cs typeface="Gill Sans" charset="0"/>
                  <a:sym typeface="Helvetica"/>
                </a:rPr>
                <a:t>β</a:t>
              </a:r>
            </a:p>
          </p:txBody>
        </p:sp>
        <p:sp>
          <p:nvSpPr>
            <p:cNvPr id="212" name="Shape 212"/>
            <p:cNvSpPr/>
            <p:nvPr/>
          </p:nvSpPr>
          <p:spPr>
            <a:xfrm>
              <a:off x="6900009" y="3618802"/>
              <a:ext cx="402674" cy="3334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p>
              <a:pPr lvl="0">
                <a:defRPr sz="1800">
                  <a:uFillTx/>
                </a:defRPr>
              </a:pPr>
              <a:r>
                <a:rPr sz="1500" b="0">
                  <a:solidFill>
                    <a:schemeClr val="tx1"/>
                  </a:solidFill>
                  <a:uFill>
                    <a:solidFill/>
                  </a:uFill>
                  <a:latin typeface="Gill Sans" charset="0"/>
                  <a:ea typeface="Gill Sans" charset="0"/>
                  <a:cs typeface="Gill Sans" charset="0"/>
                  <a:sym typeface="Helvetica"/>
                </a:rPr>
                <a:t>C</a:t>
              </a:r>
              <a:r>
                <a:rPr sz="1200" b="0">
                  <a:solidFill>
                    <a:schemeClr val="tx1"/>
                  </a:solidFill>
                  <a:uFill>
                    <a:solidFill/>
                  </a:uFill>
                  <a:latin typeface="Gill Sans" charset="0"/>
                  <a:ea typeface="Gill Sans" charset="0"/>
                  <a:cs typeface="Gill Sans" charset="0"/>
                  <a:sym typeface="Helvetica"/>
                </a:rPr>
                <a:t>β</a:t>
              </a:r>
            </a:p>
          </p:txBody>
        </p:sp>
        <p:sp>
          <p:nvSpPr>
            <p:cNvPr id="213" name="Shape 213"/>
            <p:cNvSpPr/>
            <p:nvPr/>
          </p:nvSpPr>
          <p:spPr>
            <a:xfrm>
              <a:off x="6865753" y="2129088"/>
              <a:ext cx="402674" cy="3334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p>
              <a:pPr lvl="0">
                <a:defRPr sz="1800">
                  <a:uFillTx/>
                </a:defRPr>
              </a:pPr>
              <a:r>
                <a:rPr sz="1500" b="0">
                  <a:solidFill>
                    <a:schemeClr val="tx1"/>
                  </a:solidFill>
                  <a:uFill>
                    <a:solidFill/>
                  </a:uFill>
                  <a:latin typeface="Gill Sans" charset="0"/>
                  <a:ea typeface="Gill Sans" charset="0"/>
                  <a:cs typeface="Gill Sans" charset="0"/>
                  <a:sym typeface="Helvetica"/>
                </a:rPr>
                <a:t>C</a:t>
              </a:r>
              <a:r>
                <a:rPr sz="1200" b="0">
                  <a:solidFill>
                    <a:schemeClr val="tx1"/>
                  </a:solidFill>
                  <a:uFill>
                    <a:solidFill/>
                  </a:uFill>
                  <a:latin typeface="Gill Sans" charset="0"/>
                  <a:ea typeface="Gill Sans" charset="0"/>
                  <a:cs typeface="Gill Sans" charset="0"/>
                  <a:sym typeface="Helvetica"/>
                </a:rPr>
                <a:t>β</a:t>
              </a:r>
            </a:p>
          </p:txBody>
        </p:sp>
        <p:sp>
          <p:nvSpPr>
            <p:cNvPr id="210" name="Shape 210"/>
            <p:cNvSpPr/>
            <p:nvPr/>
          </p:nvSpPr>
          <p:spPr>
            <a:xfrm>
              <a:off x="4916370" y="3813184"/>
              <a:ext cx="402674" cy="33342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p>
              <a:pPr lvl="0">
                <a:defRPr sz="1800">
                  <a:uFillTx/>
                </a:defRPr>
              </a:pPr>
              <a:r>
                <a:rPr sz="1500" b="0">
                  <a:solidFill>
                    <a:schemeClr val="tx1"/>
                  </a:solidFill>
                  <a:uFill>
                    <a:solidFill/>
                  </a:uFill>
                  <a:latin typeface="Gill Sans" charset="0"/>
                  <a:ea typeface="Gill Sans" charset="0"/>
                  <a:cs typeface="Gill Sans" charset="0"/>
                  <a:sym typeface="Helvetica"/>
                </a:rPr>
                <a:t>C</a:t>
              </a:r>
              <a:r>
                <a:rPr sz="1200" b="0">
                  <a:solidFill>
                    <a:schemeClr val="tx1"/>
                  </a:solidFill>
                  <a:uFill>
                    <a:solidFill/>
                  </a:uFill>
                  <a:latin typeface="Gill Sans" charset="0"/>
                  <a:ea typeface="Gill Sans" charset="0"/>
                  <a:cs typeface="Gill Sans" charset="0"/>
                  <a:sym typeface="Helvetica"/>
                </a:rPr>
                <a:t>β</a:t>
              </a:r>
            </a:p>
          </p:txBody>
        </p:sp>
      </p:grpSp>
      <p:sp>
        <p:nvSpPr>
          <p:cNvPr id="5" name="TextBox 4"/>
          <p:cNvSpPr txBox="1"/>
          <p:nvPr/>
        </p:nvSpPr>
        <p:spPr>
          <a:xfrm>
            <a:off x="0" y="-15189"/>
            <a:ext cx="3248025" cy="37959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800" b="0" i="1" u="sng" strike="noStrike" cap="none" spc="0" normalizeH="0" dirty="0">
                <a:ln>
                  <a:noFill/>
                </a:ln>
                <a:solidFill>
                  <a:srgbClr val="0737F8"/>
                </a:solidFill>
                <a:effectLst/>
                <a:uFill>
                  <a:solidFill>
                    <a:srgbClr val="0737F8"/>
                  </a:solidFill>
                </a:uFill>
                <a:latin typeface="Gill Sans" charset="0"/>
                <a:ea typeface="Gill Sans" charset="0"/>
                <a:cs typeface="Gill Sans" charset="0"/>
                <a:sym typeface="Helvetica"/>
              </a:rPr>
              <a:t>Main protein folding constraint</a:t>
            </a:r>
          </a:p>
        </p:txBody>
      </p:sp>
      <p:sp>
        <p:nvSpPr>
          <p:cNvPr id="59" name="Rectangle 58"/>
          <p:cNvSpPr/>
          <p:nvPr/>
        </p:nvSpPr>
        <p:spPr>
          <a:xfrm>
            <a:off x="4408524" y="1963331"/>
            <a:ext cx="949489" cy="358643"/>
          </a:xfrm>
          <a:prstGeom prst="rect">
            <a:avLst/>
          </a:pr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60" name="Rectangle 59"/>
          <p:cNvSpPr/>
          <p:nvPr/>
        </p:nvSpPr>
        <p:spPr>
          <a:xfrm>
            <a:off x="4498340" y="3466702"/>
            <a:ext cx="949489" cy="358643"/>
          </a:xfrm>
          <a:prstGeom prst="rect">
            <a:avLst/>
          </a:pr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61" name="Rectangle 60"/>
          <p:cNvSpPr/>
          <p:nvPr/>
        </p:nvSpPr>
        <p:spPr>
          <a:xfrm>
            <a:off x="469900" y="3490259"/>
            <a:ext cx="949489" cy="358643"/>
          </a:xfrm>
          <a:prstGeom prst="rect">
            <a:avLst/>
          </a:pr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62" name="Rectangle 61"/>
          <p:cNvSpPr/>
          <p:nvPr/>
        </p:nvSpPr>
        <p:spPr>
          <a:xfrm>
            <a:off x="532144" y="1678464"/>
            <a:ext cx="946314" cy="608601"/>
          </a:xfrm>
          <a:prstGeom prst="rect">
            <a:avLst/>
          </a:pr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6" name="Rectangle 5"/>
          <p:cNvSpPr/>
          <p:nvPr/>
        </p:nvSpPr>
        <p:spPr>
          <a:xfrm>
            <a:off x="4458162" y="1642268"/>
            <a:ext cx="899852" cy="204604"/>
          </a:xfrm>
          <a:prstGeom prst="rect">
            <a:avLst/>
          </a:pr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grpSp>
        <p:nvGrpSpPr>
          <p:cNvPr id="9" name="Group 8"/>
          <p:cNvGrpSpPr/>
          <p:nvPr/>
        </p:nvGrpSpPr>
        <p:grpSpPr>
          <a:xfrm>
            <a:off x="1729061" y="898356"/>
            <a:ext cx="7419321" cy="3705025"/>
            <a:chOff x="1729061" y="898356"/>
            <a:chExt cx="7419321" cy="3705025"/>
          </a:xfrm>
        </p:grpSpPr>
        <p:grpSp>
          <p:nvGrpSpPr>
            <p:cNvPr id="177" name="Group 177"/>
            <p:cNvGrpSpPr/>
            <p:nvPr/>
          </p:nvGrpSpPr>
          <p:grpSpPr>
            <a:xfrm>
              <a:off x="1729061" y="903517"/>
              <a:ext cx="7419321" cy="3699864"/>
              <a:chOff x="-480739" y="-3148"/>
              <a:chExt cx="7419321" cy="3699864"/>
            </a:xfrm>
          </p:grpSpPr>
          <p:sp>
            <p:nvSpPr>
              <p:cNvPr id="172" name="Shape 172"/>
              <p:cNvSpPr/>
              <p:nvPr/>
            </p:nvSpPr>
            <p:spPr>
              <a:xfrm>
                <a:off x="5170710" y="724916"/>
                <a:ext cx="304800" cy="29718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965" y="0"/>
                      <a:pt x="10800" y="806"/>
                      <a:pt x="10800" y="1800"/>
                    </a:cubicBezTo>
                    <a:lnTo>
                      <a:pt x="10800" y="9000"/>
                    </a:lnTo>
                    <a:cubicBezTo>
                      <a:pt x="10800" y="9994"/>
                      <a:pt x="15635" y="10800"/>
                      <a:pt x="21600" y="10800"/>
                    </a:cubicBezTo>
                    <a:cubicBezTo>
                      <a:pt x="15635" y="10800"/>
                      <a:pt x="10800" y="11606"/>
                      <a:pt x="10800" y="12600"/>
                    </a:cubicBezTo>
                    <a:lnTo>
                      <a:pt x="10800" y="19800"/>
                    </a:lnTo>
                    <a:cubicBezTo>
                      <a:pt x="10800" y="20794"/>
                      <a:pt x="5965" y="21600"/>
                      <a:pt x="0" y="21600"/>
                    </a:cubicBezTo>
                  </a:path>
                </a:pathLst>
              </a:custGeom>
              <a:noFill/>
              <a:ln w="9525" cap="flat">
                <a:solidFill>
                  <a:srgbClr val="000000"/>
                </a:solidFill>
                <a:prstDash val="solid"/>
                <a:round/>
              </a:ln>
              <a:effectLst/>
            </p:spPr>
            <p:txBody>
              <a:bodyPr wrap="square" lIns="0" tIns="0" rIns="0" bIns="0" numCol="1" anchor="ctr">
                <a:noAutofit/>
              </a:bodyPr>
              <a:lstStyle/>
              <a:p>
                <a:pPr lvl="0"/>
                <a:endParaRPr b="0">
                  <a:solidFill>
                    <a:schemeClr val="tx1"/>
                  </a:solidFill>
                  <a:latin typeface="Gill Sans" charset="0"/>
                  <a:ea typeface="Gill Sans" charset="0"/>
                  <a:cs typeface="Gill Sans" charset="0"/>
                </a:endParaRPr>
              </a:p>
            </p:txBody>
          </p:sp>
          <p:sp>
            <p:nvSpPr>
              <p:cNvPr id="173" name="Shape 173"/>
              <p:cNvSpPr/>
              <p:nvPr/>
            </p:nvSpPr>
            <p:spPr>
              <a:xfrm>
                <a:off x="5401882" y="1402803"/>
                <a:ext cx="1536700" cy="73866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900"/>
                  </a:spcBef>
                  <a:buClr>
                    <a:srgbClr val="000000"/>
                  </a:buClr>
                  <a:buFont typeface="Helvetica"/>
                  <a:defRPr sz="1800">
                    <a:uFillTx/>
                  </a:defRPr>
                </a:pPr>
                <a:r>
                  <a:rPr sz="1600" b="0" dirty="0">
                    <a:solidFill>
                      <a:schemeClr val="tx1"/>
                    </a:solidFill>
                    <a:uFill>
                      <a:solidFill/>
                    </a:uFill>
                    <a:latin typeface="Gill Sans" charset="0"/>
                    <a:ea typeface="Gill Sans" charset="0"/>
                    <a:cs typeface="Gill Sans" charset="0"/>
                    <a:sym typeface="Helvetica"/>
                  </a:rPr>
                  <a:t>S</a:t>
                </a:r>
                <a:r>
                  <a:rPr lang="en-US" sz="1600" b="0" dirty="0">
                    <a:solidFill>
                      <a:schemeClr val="tx1"/>
                    </a:solidFill>
                    <a:uFill>
                      <a:solidFill/>
                    </a:uFill>
                    <a:latin typeface="Gill Sans" charset="0"/>
                    <a:ea typeface="Gill Sans" charset="0"/>
                    <a:cs typeface="Gill Sans" charset="0"/>
                    <a:sym typeface="Helvetica"/>
                  </a:rPr>
                  <a:t>howing the atoms </a:t>
                </a:r>
                <a:r>
                  <a:rPr lang="en-US" sz="1600" b="0" u="sng" dirty="0">
                    <a:solidFill>
                      <a:schemeClr val="tx1"/>
                    </a:solidFill>
                    <a:uFill>
                      <a:solidFill/>
                    </a:uFill>
                    <a:latin typeface="Gill Sans" charset="0"/>
                    <a:ea typeface="Gill Sans" charset="0"/>
                    <a:cs typeface="Gill Sans" charset="0"/>
                    <a:sym typeface="Helvetica"/>
                  </a:rPr>
                  <a:t>with</a:t>
                </a:r>
                <a:r>
                  <a:rPr lang="en-US" sz="1600" b="0" dirty="0">
                    <a:solidFill>
                      <a:schemeClr val="tx1"/>
                    </a:solidFill>
                    <a:uFill>
                      <a:solidFill/>
                    </a:uFill>
                    <a:latin typeface="Gill Sans" charset="0"/>
                    <a:ea typeface="Gill Sans" charset="0"/>
                    <a:cs typeface="Gill Sans" charset="0"/>
                    <a:sym typeface="Helvetica"/>
                  </a:rPr>
                  <a:t> steric hindrance</a:t>
                </a:r>
              </a:p>
            </p:txBody>
          </p:sp>
          <p:sp>
            <p:nvSpPr>
              <p:cNvPr id="174" name="Shape 174"/>
              <p:cNvSpPr/>
              <p:nvPr/>
            </p:nvSpPr>
            <p:spPr>
              <a:xfrm flipH="1">
                <a:off x="-480739" y="-3148"/>
                <a:ext cx="1524000" cy="1524000"/>
              </a:xfrm>
              <a:prstGeom prst="line">
                <a:avLst/>
              </a:prstGeom>
              <a:noFill/>
              <a:ln w="28575" cap="flat">
                <a:solidFill>
                  <a:srgbClr val="767676"/>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b="0">
                  <a:solidFill>
                    <a:schemeClr val="tx1"/>
                  </a:solidFill>
                  <a:latin typeface="Gill Sans" charset="0"/>
                  <a:ea typeface="Gill Sans" charset="0"/>
                  <a:cs typeface="Gill Sans" charset="0"/>
                </a:endParaRPr>
              </a:p>
            </p:txBody>
          </p:sp>
        </p:grpSp>
        <p:cxnSp>
          <p:nvCxnSpPr>
            <p:cNvPr id="8" name="Straight Arrow Connector 7"/>
            <p:cNvCxnSpPr/>
            <p:nvPr/>
          </p:nvCxnSpPr>
          <p:spPr>
            <a:xfrm>
              <a:off x="4272048" y="898356"/>
              <a:ext cx="1937697" cy="1501944"/>
            </a:xfrm>
            <a:prstGeom prst="straightConnector1">
              <a:avLst/>
            </a:prstGeom>
            <a:noFill/>
            <a:ln w="28575" cap="flat">
              <a:solidFill>
                <a:srgbClr val="000000"/>
              </a:solidFill>
              <a:prstDash val="solid"/>
              <a:round/>
              <a:tailEnd type="triangle"/>
            </a:ln>
            <a:effectLst/>
          </p:spPr>
          <p:style>
            <a:lnRef idx="0">
              <a:scrgbClr r="0" g="0" b="0"/>
            </a:lnRef>
            <a:fillRef idx="0">
              <a:scrgbClr r="0" g="0" b="0"/>
            </a:fillRef>
            <a:effectRef idx="0">
              <a:scrgbClr r="0" g="0" b="0"/>
            </a:effectRef>
            <a:fontRef idx="none"/>
          </p:style>
        </p:cxnSp>
      </p:grpSp>
      <p:sp>
        <p:nvSpPr>
          <p:cNvPr id="65" name="TextBox 64">
            <a:extLst>
              <a:ext uri="{FF2B5EF4-FFF2-40B4-BE49-F238E27FC236}">
                <a16:creationId xmlns:a16="http://schemas.microsoft.com/office/drawing/2014/main" id="{A1BA8194-7576-FA48-8D7C-D2F45F4FD254}"/>
              </a:ext>
            </a:extLst>
          </p:cNvPr>
          <p:cNvSpPr txBox="1"/>
          <p:nvPr/>
        </p:nvSpPr>
        <p:spPr>
          <a:xfrm>
            <a:off x="543057" y="1879090"/>
            <a:ext cx="1133535" cy="74892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400" b="0" u="none" strike="noStrike" cap="none" spc="0" normalizeH="0" baseline="0" dirty="0">
                <a:ln>
                  <a:noFill/>
                </a:ln>
                <a:solidFill>
                  <a:srgbClr val="0541E0"/>
                </a:solidFill>
                <a:effectLst/>
                <a:uFill>
                  <a:solidFill>
                    <a:srgbClr val="000000"/>
                  </a:solidFill>
                </a:uFill>
                <a:latin typeface="Gill Sans" charset="0"/>
                <a:ea typeface="Gill Sans" charset="0"/>
                <a:cs typeface="Gill Sans" charset="0"/>
                <a:sym typeface="Helvetica"/>
              </a:rPr>
              <a:t>ALLOWED = No steric      hindrance</a:t>
            </a:r>
          </a:p>
        </p:txBody>
      </p:sp>
      <p:sp>
        <p:nvSpPr>
          <p:cNvPr id="69" name="Shape 207">
            <a:extLst>
              <a:ext uri="{FF2B5EF4-FFF2-40B4-BE49-F238E27FC236}">
                <a16:creationId xmlns:a16="http://schemas.microsoft.com/office/drawing/2014/main" id="{23441C4B-2B5E-3149-9892-21510259650F}"/>
              </a:ext>
            </a:extLst>
          </p:cNvPr>
          <p:cNvSpPr/>
          <p:nvPr/>
        </p:nvSpPr>
        <p:spPr>
          <a:xfrm rot="38492">
            <a:off x="8407679" y="5500239"/>
            <a:ext cx="685801" cy="6604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ln w="57150" cap="rnd">
            <a:solidFill>
              <a:srgbClr val="FF0000"/>
            </a:solidFill>
            <a:custDash>
              <a:ds d="100000" sp="200000"/>
            </a:custDash>
            <a:round/>
          </a:ln>
        </p:spPr>
        <p:txBody>
          <a:bodyPr lIns="0" tIns="0" rIns="0" bIns="0" anchor="ctr"/>
          <a:lstStyle/>
          <a:p>
            <a:pPr lvl="0"/>
            <a:endParaRPr b="0">
              <a:solidFill>
                <a:schemeClr val="tx1"/>
              </a:solidFill>
              <a:latin typeface="Gill Sans" charset="0"/>
              <a:ea typeface="Gill Sans" charset="0"/>
              <a:cs typeface="Gill Sans" charset="0"/>
            </a:endParaRPr>
          </a:p>
        </p:txBody>
      </p:sp>
      <p:pic>
        <p:nvPicPr>
          <p:cNvPr id="70" name="droppedImage.tiff">
            <a:extLst>
              <a:ext uri="{FF2B5EF4-FFF2-40B4-BE49-F238E27FC236}">
                <a16:creationId xmlns:a16="http://schemas.microsoft.com/office/drawing/2014/main" id="{D5D5B796-3890-E64B-A10E-DE812BBFFBA5}"/>
              </a:ext>
            </a:extLst>
          </p:cNvPr>
          <p:cNvPicPr/>
          <p:nvPr/>
        </p:nvPicPr>
        <p:blipFill rotWithShape="1">
          <a:blip r:embed="rId2"/>
          <a:srcRect r="38276"/>
          <a:stretch/>
        </p:blipFill>
        <p:spPr>
          <a:xfrm>
            <a:off x="6577672" y="1013100"/>
            <a:ext cx="745446" cy="588376"/>
          </a:xfrm>
          <a:prstGeom prst="rect">
            <a:avLst/>
          </a:prstGeom>
          <a:ln>
            <a:round/>
          </a:ln>
        </p:spPr>
      </p:pic>
      <p:sp>
        <p:nvSpPr>
          <p:cNvPr id="11" name="TextBox 10">
            <a:extLst>
              <a:ext uri="{FF2B5EF4-FFF2-40B4-BE49-F238E27FC236}">
                <a16:creationId xmlns:a16="http://schemas.microsoft.com/office/drawing/2014/main" id="{539F35D0-C9D9-C645-CD6A-251B65A7BFA9}"/>
              </a:ext>
            </a:extLst>
          </p:cNvPr>
          <p:cNvSpPr txBox="1"/>
          <p:nvPr/>
        </p:nvSpPr>
        <p:spPr>
          <a:xfrm>
            <a:off x="2454275" y="1806884"/>
            <a:ext cx="1133535" cy="74892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400" b="0" u="none" strike="noStrike" cap="none" spc="0" normalizeH="0" baseline="0" dirty="0">
                <a:ln>
                  <a:noFill/>
                </a:ln>
                <a:solidFill>
                  <a:srgbClr val="0541E0"/>
                </a:solidFill>
                <a:effectLst/>
                <a:uFill>
                  <a:solidFill>
                    <a:srgbClr val="000000"/>
                  </a:solidFill>
                </a:uFill>
                <a:latin typeface="Gill Sans" charset="0"/>
                <a:ea typeface="Gill Sans" charset="0"/>
                <a:cs typeface="Gill Sans" charset="0"/>
                <a:sym typeface="Helvetica"/>
              </a:rPr>
              <a:t>ALLOWED = No steric      hindrance</a:t>
            </a:r>
          </a:p>
        </p:txBody>
      </p:sp>
      <p:sp>
        <p:nvSpPr>
          <p:cNvPr id="13" name="TextBox 12">
            <a:extLst>
              <a:ext uri="{FF2B5EF4-FFF2-40B4-BE49-F238E27FC236}">
                <a16:creationId xmlns:a16="http://schemas.microsoft.com/office/drawing/2014/main" id="{EA9A2526-0E31-6CBD-EDF9-DB3655D59F38}"/>
              </a:ext>
            </a:extLst>
          </p:cNvPr>
          <p:cNvSpPr txBox="1"/>
          <p:nvPr/>
        </p:nvSpPr>
        <p:spPr>
          <a:xfrm>
            <a:off x="459010" y="3600943"/>
            <a:ext cx="1133535" cy="74892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400" b="0" u="none" strike="noStrike" cap="none" spc="0" normalizeH="0" baseline="0" dirty="0">
                <a:ln>
                  <a:noFill/>
                </a:ln>
                <a:solidFill>
                  <a:srgbClr val="0541E0"/>
                </a:solidFill>
                <a:effectLst/>
                <a:uFill>
                  <a:solidFill>
                    <a:srgbClr val="000000"/>
                  </a:solidFill>
                </a:uFill>
                <a:latin typeface="Gill Sans" charset="0"/>
                <a:ea typeface="Gill Sans" charset="0"/>
                <a:cs typeface="Gill Sans" charset="0"/>
                <a:sym typeface="Helvetica"/>
              </a:rPr>
              <a:t>ALLOWED = No steric      hindrance</a:t>
            </a:r>
          </a:p>
        </p:txBody>
      </p:sp>
      <p:sp>
        <p:nvSpPr>
          <p:cNvPr id="14" name="TextBox 13">
            <a:extLst>
              <a:ext uri="{FF2B5EF4-FFF2-40B4-BE49-F238E27FC236}">
                <a16:creationId xmlns:a16="http://schemas.microsoft.com/office/drawing/2014/main" id="{B3261FA7-66A5-A7A2-091A-24CEE86A9278}"/>
              </a:ext>
            </a:extLst>
          </p:cNvPr>
          <p:cNvSpPr txBox="1"/>
          <p:nvPr/>
        </p:nvSpPr>
        <p:spPr>
          <a:xfrm>
            <a:off x="2377993" y="3803248"/>
            <a:ext cx="1133535" cy="74892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400" b="0" u="none" strike="noStrike" cap="none" spc="0" normalizeH="0" baseline="0" dirty="0">
                <a:ln>
                  <a:noFill/>
                </a:ln>
                <a:solidFill>
                  <a:srgbClr val="0541E0"/>
                </a:solidFill>
                <a:effectLst/>
                <a:uFill>
                  <a:solidFill>
                    <a:srgbClr val="000000"/>
                  </a:solidFill>
                </a:uFill>
                <a:latin typeface="Gill Sans" charset="0"/>
                <a:ea typeface="Gill Sans" charset="0"/>
                <a:cs typeface="Gill Sans" charset="0"/>
                <a:sym typeface="Helvetica"/>
              </a:rPr>
              <a:t>ALLOWED = No steric      hindrance</a:t>
            </a:r>
          </a:p>
        </p:txBody>
      </p:sp>
      <p:sp>
        <p:nvSpPr>
          <p:cNvPr id="15" name="TextBox 14">
            <a:extLst>
              <a:ext uri="{FF2B5EF4-FFF2-40B4-BE49-F238E27FC236}">
                <a16:creationId xmlns:a16="http://schemas.microsoft.com/office/drawing/2014/main" id="{E61892B6-14E4-676E-C6DF-40D0E0C412E6}"/>
              </a:ext>
            </a:extLst>
          </p:cNvPr>
          <p:cNvSpPr txBox="1"/>
          <p:nvPr/>
        </p:nvSpPr>
        <p:spPr>
          <a:xfrm>
            <a:off x="4436425" y="1841335"/>
            <a:ext cx="1133535" cy="74892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400" b="0" u="none" strike="noStrike" cap="none" spc="0" normalizeH="0" baseline="0" dirty="0">
                <a:ln>
                  <a:noFill/>
                </a:ln>
                <a:solidFill>
                  <a:srgbClr val="0541E0"/>
                </a:solidFill>
                <a:effectLst/>
                <a:uFill>
                  <a:solidFill>
                    <a:srgbClr val="000000"/>
                  </a:solidFill>
                </a:uFill>
                <a:latin typeface="Gill Sans" charset="0"/>
                <a:ea typeface="Gill Sans" charset="0"/>
                <a:cs typeface="Gill Sans" charset="0"/>
                <a:sym typeface="Helvetica"/>
              </a:rPr>
              <a:t>ALLOWED = No steric      hindrance</a:t>
            </a:r>
          </a:p>
        </p:txBody>
      </p:sp>
      <p:sp>
        <p:nvSpPr>
          <p:cNvPr id="16" name="TextBox 15">
            <a:extLst>
              <a:ext uri="{FF2B5EF4-FFF2-40B4-BE49-F238E27FC236}">
                <a16:creationId xmlns:a16="http://schemas.microsoft.com/office/drawing/2014/main" id="{B6A9A662-13DD-527C-7623-B3A33CB52292}"/>
              </a:ext>
            </a:extLst>
          </p:cNvPr>
          <p:cNvSpPr txBox="1"/>
          <p:nvPr/>
        </p:nvSpPr>
        <p:spPr>
          <a:xfrm>
            <a:off x="4527974" y="3325511"/>
            <a:ext cx="1133535" cy="74892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400" b="0" u="none" strike="noStrike" cap="none" spc="0" normalizeH="0" baseline="0" dirty="0">
                <a:ln>
                  <a:noFill/>
                </a:ln>
                <a:solidFill>
                  <a:srgbClr val="0541E0"/>
                </a:solidFill>
                <a:effectLst/>
                <a:uFill>
                  <a:solidFill>
                    <a:srgbClr val="000000"/>
                  </a:solidFill>
                </a:uFill>
                <a:latin typeface="Gill Sans" charset="0"/>
                <a:ea typeface="Gill Sans" charset="0"/>
                <a:cs typeface="Gill Sans" charset="0"/>
                <a:sym typeface="Helvetica"/>
              </a:rPr>
              <a:t>ALLOWED = No steric      hindrance</a:t>
            </a:r>
          </a:p>
        </p:txBody>
      </p:sp>
      <p:sp>
        <p:nvSpPr>
          <p:cNvPr id="17" name="TextBox 16">
            <a:extLst>
              <a:ext uri="{FF2B5EF4-FFF2-40B4-BE49-F238E27FC236}">
                <a16:creationId xmlns:a16="http://schemas.microsoft.com/office/drawing/2014/main" id="{4F469FE8-EAF1-A35A-D3D4-4BFC6210EF7A}"/>
              </a:ext>
            </a:extLst>
          </p:cNvPr>
          <p:cNvSpPr txBox="1"/>
          <p:nvPr/>
        </p:nvSpPr>
        <p:spPr>
          <a:xfrm>
            <a:off x="6660685" y="281738"/>
            <a:ext cx="2032929"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737F8"/>
                </a:solidFill>
                <a:effectLst/>
                <a:uFill>
                  <a:solidFill>
                    <a:srgbClr val="000000"/>
                  </a:solidFill>
                </a:uFill>
                <a:latin typeface="Helvetica"/>
                <a:ea typeface="Helvetica"/>
                <a:cs typeface="Helvetica"/>
                <a:sym typeface="Helvetica"/>
              </a:rPr>
              <a:t>ALLOWED </a:t>
            </a:r>
            <a:r>
              <a:rPr kumimoji="0" lang="en-US" sz="2000" b="1" i="0" u="none" strike="noStrike" cap="none" spc="0" normalizeH="0" baseline="0" dirty="0" err="1">
                <a:ln>
                  <a:noFill/>
                </a:ln>
                <a:solidFill>
                  <a:srgbClr val="0737F8"/>
                </a:solidFill>
                <a:effectLst/>
                <a:uFill>
                  <a:solidFill>
                    <a:srgbClr val="000000"/>
                  </a:solidFill>
                </a:uFill>
                <a:latin typeface="Symbol" pitchFamily="2" charset="2"/>
                <a:sym typeface="Helvetica"/>
              </a:rPr>
              <a:t>f,y</a:t>
            </a:r>
            <a:r>
              <a:rPr kumimoji="0" lang="en-US" sz="2000" b="1" i="0" u="none" strike="noStrike" cap="none" spc="0" normalizeH="0" baseline="0" dirty="0">
                <a:ln>
                  <a:noFill/>
                </a:ln>
                <a:solidFill>
                  <a:srgbClr val="0737F8"/>
                </a:solidFill>
                <a:effectLst/>
                <a:uFill>
                  <a:solidFill>
                    <a:srgbClr val="000000"/>
                  </a:solidFill>
                </a:uFill>
                <a:latin typeface="Symbol" pitchFamily="2" charset="2"/>
                <a:sym typeface="Helvetica"/>
              </a:rPr>
              <a:t>!</a:t>
            </a:r>
          </a:p>
        </p:txBody>
      </p:sp>
    </p:spTree>
    <p:extLst>
      <p:ext uri="{BB962C8B-B14F-4D97-AF65-F5344CB8AC3E}">
        <p14:creationId xmlns:p14="http://schemas.microsoft.com/office/powerpoint/2010/main" val="573525027"/>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20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20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20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16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18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p:tmAbs val="0"/>
                                  </p:iterate>
                                  <p:childTnLst>
                                    <p:set>
                                      <p:cBhvr>
                                        <p:cTn id="34" fill="hold"/>
                                        <p:tgtEl>
                                          <p:spTgt spid="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0" animBg="1" advAuto="0"/>
      <p:bldP spid="171" grpId="0" advAuto="0"/>
      <p:bldP spid="180" grpId="0" advAuto="0"/>
      <p:bldP spid="193" grpId="0" animBg="1" advAuto="0"/>
      <p:bldP spid="205" grpId="0" animBg="1" advAuto="0"/>
      <p:bldP spid="208" grpId="0" animBg="1" advAuto="0"/>
      <p:bldP spid="209" grpId="0"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Shape 216"/>
          <p:cNvSpPr>
            <a:spLocks noGrp="1"/>
          </p:cNvSpPr>
          <p:nvPr>
            <p:ph type="title"/>
          </p:nvPr>
        </p:nvSpPr>
        <p:spPr>
          <a:xfrm>
            <a:off x="-270464" y="-79090"/>
            <a:ext cx="9144000" cy="457200"/>
          </a:xfrm>
          <a:prstGeom prst="rect">
            <a:avLst/>
          </a:prstGeom>
        </p:spPr>
        <p:txBody>
          <a:bodyPr/>
          <a:lstStyle>
            <a:lvl1pPr>
              <a:defRPr sz="2000" b="1">
                <a:latin typeface="Helvetica"/>
                <a:ea typeface="Helvetica"/>
                <a:cs typeface="Helvetica"/>
                <a:sym typeface="Helvetica"/>
              </a:defRPr>
            </a:lvl1pPr>
          </a:lstStyle>
          <a:p>
            <a:pPr lvl="0">
              <a:defRPr sz="1800" b="0">
                <a:uFillTx/>
              </a:defRPr>
            </a:pPr>
            <a:r>
              <a:rPr sz="2200" b="0" dirty="0">
                <a:uFill>
                  <a:solidFill/>
                </a:uFill>
                <a:latin typeface="Gill Sans" charset="0"/>
                <a:ea typeface="Gill Sans" charset="0"/>
                <a:cs typeface="Gill Sans" charset="0"/>
              </a:rPr>
              <a:t>R</a:t>
            </a:r>
            <a:r>
              <a:rPr lang="en-US" sz="2200" b="0" dirty="0">
                <a:uFill>
                  <a:solidFill/>
                </a:uFill>
                <a:latin typeface="Gill Sans" charset="0"/>
                <a:ea typeface="Gill Sans" charset="0"/>
                <a:cs typeface="Gill Sans" charset="0"/>
              </a:rPr>
              <a:t>amachandran map: let's add more reality</a:t>
            </a:r>
          </a:p>
        </p:txBody>
      </p:sp>
      <p:sp>
        <p:nvSpPr>
          <p:cNvPr id="217" name="Shape 217"/>
          <p:cNvSpPr/>
          <p:nvPr/>
        </p:nvSpPr>
        <p:spPr>
          <a:xfrm>
            <a:off x="3175" y="5308598"/>
            <a:ext cx="5160964" cy="769441"/>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lvl="0">
              <a:spcBef>
                <a:spcPts val="900"/>
              </a:spcBef>
              <a:buClr>
                <a:srgbClr val="1E31E3"/>
              </a:buClr>
              <a:buFont typeface="Helvetica"/>
              <a:defRPr sz="1800">
                <a:uFillTx/>
              </a:defRPr>
            </a:pPr>
            <a:r>
              <a:rPr sz="1600" b="0" dirty="0">
                <a:solidFill>
                  <a:schemeClr val="tx1"/>
                </a:solidFill>
                <a:uFill>
                  <a:solidFill>
                    <a:srgbClr val="1E31E3"/>
                  </a:solidFill>
                </a:uFill>
                <a:latin typeface="Gill Sans" charset="0"/>
                <a:ea typeface="Gill Sans" charset="0"/>
                <a:cs typeface="Gill Sans" charset="0"/>
                <a:sym typeface="Helvetica"/>
              </a:rPr>
              <a:t>G</a:t>
            </a:r>
            <a:r>
              <a:rPr lang="en-US" sz="1600" b="0" dirty="0">
                <a:solidFill>
                  <a:schemeClr val="tx1"/>
                </a:solidFill>
                <a:uFill>
                  <a:solidFill>
                    <a:srgbClr val="1E31E3"/>
                  </a:solidFill>
                </a:uFill>
                <a:latin typeface="Gill Sans" charset="0"/>
                <a:ea typeface="Gill Sans" charset="0"/>
                <a:cs typeface="Gill Sans" charset="0"/>
                <a:sym typeface="Helvetica"/>
              </a:rPr>
              <a:t>iven the 6 types of interactions, the peptide bond constraints, and the real size of atoms, </a:t>
            </a:r>
            <a:r>
              <a:rPr lang="en-US" b="0" dirty="0">
                <a:solidFill>
                  <a:schemeClr val="tx1"/>
                </a:solidFill>
                <a:uFill>
                  <a:solidFill>
                    <a:srgbClr val="1E31E3"/>
                  </a:solidFill>
                </a:uFill>
                <a:latin typeface="Gill Sans" charset="0"/>
                <a:ea typeface="Gill Sans" charset="0"/>
                <a:cs typeface="Gill Sans" charset="0"/>
                <a:sym typeface="Chalkboard"/>
              </a:rPr>
              <a:t>only 4 types</a:t>
            </a:r>
            <a:r>
              <a:rPr lang="en-US" sz="1600" b="0" dirty="0">
                <a:solidFill>
                  <a:schemeClr val="tx1"/>
                </a:solidFill>
                <a:uFill>
                  <a:solidFill>
                    <a:srgbClr val="1E31E3"/>
                  </a:solidFill>
                </a:uFill>
                <a:latin typeface="Gill Sans" charset="0"/>
                <a:ea typeface="Gill Sans" charset="0"/>
                <a:cs typeface="Gill Sans" charset="0"/>
                <a:sym typeface="Helvetica"/>
              </a:rPr>
              <a:t> of </a:t>
            </a:r>
            <a:r>
              <a:rPr lang="en-US" sz="1600" b="0" dirty="0">
                <a:solidFill>
                  <a:schemeClr val="tx1"/>
                </a:solidFill>
                <a:uFill>
                  <a:solidFill>
                    <a:srgbClr val="1E31E3"/>
                  </a:solidFill>
                </a:uFill>
                <a:latin typeface="Gill Sans" charset="0"/>
                <a:ea typeface="Gill Sans" charset="0"/>
                <a:cs typeface="Gill Sans" charset="0"/>
              </a:rPr>
              <a:t>recognizeable</a:t>
            </a:r>
            <a:r>
              <a:rPr lang="en-US" sz="1600" b="0" dirty="0">
                <a:solidFill>
                  <a:schemeClr val="tx1"/>
                </a:solidFill>
                <a:uFill>
                  <a:solidFill>
                    <a:srgbClr val="1E31E3"/>
                  </a:solidFill>
                </a:uFill>
                <a:latin typeface="Gill Sans" charset="0"/>
                <a:ea typeface="Gill Sans" charset="0"/>
                <a:cs typeface="Gill Sans" charset="0"/>
                <a:sym typeface="Helvetica"/>
              </a:rPr>
              <a:t> </a:t>
            </a:r>
            <a:r>
              <a:rPr sz="1600" b="0" dirty="0">
                <a:solidFill>
                  <a:schemeClr val="tx1"/>
                </a:solidFill>
                <a:uFill>
                  <a:solidFill>
                    <a:srgbClr val="1E31E3"/>
                  </a:solidFill>
                </a:uFill>
                <a:latin typeface="Gill Sans" charset="0"/>
                <a:ea typeface="Gill Sans" charset="0"/>
                <a:cs typeface="Gill Sans" charset="0"/>
                <a:sym typeface="Helvetica"/>
              </a:rPr>
              <a:t>II </a:t>
            </a:r>
            <a:r>
              <a:rPr lang="en-US" sz="1600" b="0" dirty="0">
                <a:solidFill>
                  <a:schemeClr val="tx1"/>
                </a:solidFill>
                <a:uFill>
                  <a:solidFill>
                    <a:srgbClr val="1E31E3"/>
                  </a:solidFill>
                </a:uFill>
                <a:latin typeface="Gill Sans" charset="0"/>
                <a:ea typeface="Gill Sans" charset="0"/>
                <a:cs typeface="Gill Sans" charset="0"/>
                <a:sym typeface="Helvetica"/>
              </a:rPr>
              <a:t>structures are found:</a:t>
            </a:r>
          </a:p>
        </p:txBody>
      </p:sp>
      <p:sp>
        <p:nvSpPr>
          <p:cNvPr id="218" name="Shape 218"/>
          <p:cNvSpPr/>
          <p:nvPr/>
        </p:nvSpPr>
        <p:spPr>
          <a:xfrm>
            <a:off x="154878" y="6144976"/>
            <a:ext cx="5160964" cy="276999"/>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lvl="0">
              <a:spcBef>
                <a:spcPts val="900"/>
              </a:spcBef>
              <a:buClr>
                <a:srgbClr val="1E31E3"/>
              </a:buClr>
              <a:buFont typeface="Symbol"/>
              <a:defRPr sz="1800">
                <a:uFillTx/>
              </a:defRPr>
            </a:pPr>
            <a:r>
              <a:rPr lang="el-GR" sz="1600" b="0" dirty="0">
                <a:solidFill>
                  <a:schemeClr val="tx1"/>
                </a:solidFill>
                <a:uFill>
                  <a:solidFill>
                    <a:srgbClr val="1E31E3"/>
                  </a:solidFill>
                </a:uFill>
                <a:latin typeface="Gill Sans" charset="0"/>
                <a:ea typeface="Gill Sans" charset="0"/>
                <a:cs typeface="Gill Sans" charset="0"/>
              </a:rPr>
              <a:t>α</a:t>
            </a:r>
            <a:r>
              <a:rPr lang="en-US" sz="1600" b="0" dirty="0">
                <a:solidFill>
                  <a:schemeClr val="tx1"/>
                </a:solidFill>
                <a:uFill>
                  <a:solidFill>
                    <a:srgbClr val="1E31E3"/>
                  </a:solidFill>
                </a:uFill>
                <a:latin typeface="Gill Sans" charset="0"/>
                <a:ea typeface="Gill Sans" charset="0"/>
                <a:cs typeface="Gill Sans" charset="0"/>
              </a:rPr>
              <a:t>-h</a:t>
            </a:r>
            <a:r>
              <a:rPr lang="en-US" sz="1600" b="0" dirty="0">
                <a:solidFill>
                  <a:schemeClr val="tx1"/>
                </a:solidFill>
                <a:uFill>
                  <a:solidFill>
                    <a:srgbClr val="1E31E3"/>
                  </a:solidFill>
                </a:uFill>
                <a:latin typeface="Gill Sans" charset="0"/>
                <a:ea typeface="Gill Sans" charset="0"/>
                <a:cs typeface="Gill Sans" charset="0"/>
                <a:sym typeface="Helvetica"/>
              </a:rPr>
              <a:t>elix,</a:t>
            </a:r>
            <a:r>
              <a:rPr lang="en-US" b="0" dirty="0">
                <a:solidFill>
                  <a:schemeClr val="tx1"/>
                </a:solidFill>
                <a:uFill>
                  <a:solidFill>
                    <a:srgbClr val="1E31E3"/>
                  </a:solidFill>
                </a:uFill>
                <a:latin typeface="Gill Sans" charset="0"/>
                <a:ea typeface="Gill Sans" charset="0"/>
                <a:cs typeface="Gill Sans" charset="0"/>
                <a:sym typeface="Symbol"/>
              </a:rPr>
              <a:t> β</a:t>
            </a:r>
            <a:r>
              <a:rPr lang="en-US" sz="1600" b="0" dirty="0">
                <a:solidFill>
                  <a:schemeClr val="tx1"/>
                </a:solidFill>
                <a:uFill>
                  <a:solidFill>
                    <a:srgbClr val="1E31E3"/>
                  </a:solidFill>
                </a:uFill>
                <a:latin typeface="Gill Sans" charset="0"/>
                <a:ea typeface="Gill Sans" charset="0"/>
                <a:cs typeface="Gill Sans" charset="0"/>
                <a:sym typeface="Helvetica"/>
              </a:rPr>
              <a:t>-sheet, turns, and collagen (= </a:t>
            </a:r>
            <a:r>
              <a:rPr lang="en-US" sz="1600" b="0" dirty="0" err="1">
                <a:solidFill>
                  <a:schemeClr val="tx1"/>
                </a:solidFill>
                <a:uFill>
                  <a:solidFill>
                    <a:srgbClr val="1E31E3"/>
                  </a:solidFill>
                </a:uFill>
                <a:latin typeface="Gill Sans" charset="0"/>
                <a:ea typeface="Gill Sans" charset="0"/>
                <a:cs typeface="Gill Sans" charset="0"/>
                <a:sym typeface="Helvetica"/>
              </a:rPr>
              <a:t>polyPro</a:t>
            </a:r>
            <a:r>
              <a:rPr lang="en-US" sz="1600" b="0" dirty="0">
                <a:solidFill>
                  <a:schemeClr val="tx1"/>
                </a:solidFill>
                <a:uFill>
                  <a:solidFill>
                    <a:srgbClr val="1E31E3"/>
                  </a:solidFill>
                </a:uFill>
                <a:latin typeface="Gill Sans" charset="0"/>
                <a:ea typeface="Gill Sans" charset="0"/>
                <a:cs typeface="Gill Sans" charset="0"/>
                <a:sym typeface="Helvetica"/>
              </a:rPr>
              <a:t> type II helix!):</a:t>
            </a:r>
          </a:p>
        </p:txBody>
      </p:sp>
      <p:sp>
        <p:nvSpPr>
          <p:cNvPr id="220" name="Shape 220"/>
          <p:cNvSpPr/>
          <p:nvPr/>
        </p:nvSpPr>
        <p:spPr>
          <a:xfrm>
            <a:off x="331604" y="244434"/>
            <a:ext cx="2825750" cy="461665"/>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lvl="0">
              <a:buClr>
                <a:srgbClr val="000000"/>
              </a:buClr>
              <a:buFont typeface="Helvetica"/>
              <a:defRPr sz="1800">
                <a:uFillTx/>
              </a:defRPr>
            </a:pPr>
            <a:r>
              <a:rPr sz="1400" b="0" dirty="0">
                <a:uFill>
                  <a:solidFill/>
                </a:uFill>
                <a:latin typeface="Gill Sans" charset="0"/>
                <a:ea typeface="Gill Sans" charset="0"/>
                <a:cs typeface="Gill Sans" charset="0"/>
                <a:sym typeface="Helvetica"/>
              </a:rPr>
              <a:t>M</a:t>
            </a:r>
            <a:r>
              <a:rPr lang="en-US" sz="1400" b="0" dirty="0">
                <a:uFill>
                  <a:solidFill/>
                </a:uFill>
                <a:latin typeface="Gill Sans" charset="0"/>
                <a:ea typeface="Gill Sans" charset="0"/>
                <a:cs typeface="Gill Sans" charset="0"/>
                <a:sym typeface="Helvetica"/>
              </a:rPr>
              <a:t>ap </a:t>
            </a:r>
            <a:r>
              <a:rPr lang="en-US" sz="1600" b="0" u="sng" dirty="0">
                <a:solidFill>
                  <a:srgbClr val="DD33C5"/>
                </a:solidFill>
                <a:uFill>
                  <a:solidFill>
                    <a:srgbClr val="DD33C5"/>
                  </a:solidFill>
                </a:uFill>
                <a:latin typeface="Gill Sans" charset="0"/>
                <a:ea typeface="Gill Sans" charset="0"/>
                <a:cs typeface="Gill Sans" charset="0"/>
                <a:sym typeface="Chalkboard"/>
              </a:rPr>
              <a:t>calculated</a:t>
            </a:r>
            <a:r>
              <a:rPr lang="en-US" sz="1400" b="0" dirty="0">
                <a:uFill>
                  <a:solidFill/>
                </a:uFill>
                <a:latin typeface="Gill Sans" charset="0"/>
                <a:ea typeface="Gill Sans" charset="0"/>
                <a:cs typeface="Gill Sans" charset="0"/>
                <a:sym typeface="Helvetica"/>
              </a:rPr>
              <a:t> for poly</a:t>
            </a:r>
            <a:r>
              <a:rPr sz="1400" b="0" dirty="0">
                <a:uFill>
                  <a:solidFill/>
                </a:uFill>
                <a:latin typeface="Gill Sans" charset="0"/>
                <a:ea typeface="Gill Sans" charset="0"/>
                <a:cs typeface="Gill Sans" charset="0"/>
                <a:sym typeface="Helvetica"/>
              </a:rPr>
              <a:t>(A</a:t>
            </a:r>
            <a:r>
              <a:rPr lang="en-US" sz="1400" b="0" dirty="0">
                <a:uFill>
                  <a:solidFill/>
                </a:uFill>
                <a:latin typeface="Gill Sans" charset="0"/>
                <a:ea typeface="Gill Sans" charset="0"/>
                <a:cs typeface="Gill Sans" charset="0"/>
                <a:sym typeface="Helvetica"/>
              </a:rPr>
              <a:t>la</a:t>
            </a:r>
            <a:r>
              <a:rPr sz="1400" b="0" dirty="0">
                <a:uFill>
                  <a:solidFill/>
                </a:uFill>
                <a:latin typeface="Gill Sans" charset="0"/>
                <a:ea typeface="Gill Sans" charset="0"/>
                <a:cs typeface="Gill Sans" charset="0"/>
                <a:sym typeface="Helvetica"/>
              </a:rPr>
              <a:t>).  A</a:t>
            </a:r>
            <a:r>
              <a:rPr lang="en-US" sz="1400" b="0" dirty="0">
                <a:uFill>
                  <a:solidFill/>
                </a:uFill>
                <a:latin typeface="Gill Sans" charset="0"/>
                <a:ea typeface="Gill Sans" charset="0"/>
                <a:cs typeface="Gill Sans" charset="0"/>
                <a:sym typeface="Helvetica"/>
              </a:rPr>
              <a:t>llowed regions are "boxed</a:t>
            </a:r>
            <a:r>
              <a:rPr sz="1400" b="0" dirty="0">
                <a:uFill>
                  <a:solidFill/>
                </a:uFill>
                <a:latin typeface="Gill Sans" charset="0"/>
                <a:ea typeface="Gill Sans" charset="0"/>
                <a:cs typeface="Gill Sans" charset="0"/>
                <a:sym typeface="Helvetica"/>
              </a:rPr>
              <a:t>"</a:t>
            </a:r>
          </a:p>
        </p:txBody>
      </p:sp>
      <p:grpSp>
        <p:nvGrpSpPr>
          <p:cNvPr id="232" name="Group 232"/>
          <p:cNvGrpSpPr/>
          <p:nvPr/>
        </p:nvGrpSpPr>
        <p:grpSpPr>
          <a:xfrm>
            <a:off x="5473700" y="673100"/>
            <a:ext cx="3684230" cy="3368843"/>
            <a:chOff x="0" y="0"/>
            <a:chExt cx="3684229" cy="3368841"/>
          </a:xfrm>
        </p:grpSpPr>
        <p:pic>
          <p:nvPicPr>
            <p:cNvPr id="222" name="image.pdf"/>
            <p:cNvPicPr/>
            <p:nvPr/>
          </p:nvPicPr>
          <p:blipFill>
            <a:blip r:embed="rId2"/>
            <a:stretch>
              <a:fillRect/>
            </a:stretch>
          </p:blipFill>
          <p:spPr>
            <a:xfrm>
              <a:off x="536704" y="34919"/>
              <a:ext cx="2863131" cy="3022676"/>
            </a:xfrm>
            <a:prstGeom prst="rect">
              <a:avLst/>
            </a:prstGeom>
            <a:ln w="12700" cap="flat">
              <a:noFill/>
              <a:miter lim="400000"/>
            </a:ln>
            <a:effectLst/>
          </p:spPr>
        </p:pic>
        <p:grpSp>
          <p:nvGrpSpPr>
            <p:cNvPr id="227" name="Group 227"/>
            <p:cNvGrpSpPr/>
            <p:nvPr/>
          </p:nvGrpSpPr>
          <p:grpSpPr>
            <a:xfrm>
              <a:off x="308499" y="3044499"/>
              <a:ext cx="3375730" cy="324342"/>
              <a:chOff x="0" y="0"/>
              <a:chExt cx="3375728" cy="324341"/>
            </a:xfrm>
          </p:grpSpPr>
          <p:sp>
            <p:nvSpPr>
              <p:cNvPr id="223" name="Shape 223"/>
              <p:cNvSpPr/>
              <p:nvPr/>
            </p:nvSpPr>
            <p:spPr>
              <a:xfrm>
                <a:off x="2651827" y="0"/>
                <a:ext cx="723901" cy="123111"/>
              </a:xfrm>
              <a:prstGeom prst="rect">
                <a:avLst/>
              </a:prstGeom>
              <a:solidFill>
                <a:srgbClr val="FFFFFF"/>
              </a:solid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500"/>
                  </a:spcBef>
                  <a:buClr>
                    <a:srgbClr val="000000"/>
                  </a:buClr>
                  <a:buFont typeface="Helvetica"/>
                  <a:defRPr sz="1800">
                    <a:uFillTx/>
                  </a:defRPr>
                </a:pPr>
                <a:r>
                  <a:rPr sz="800" b="0">
                    <a:uFill>
                      <a:solidFill/>
                    </a:uFill>
                    <a:latin typeface="Gill Sans" charset="0"/>
                    <a:ea typeface="Gill Sans" charset="0"/>
                    <a:cs typeface="Gill Sans" charset="0"/>
                    <a:sym typeface="Helvetica"/>
                  </a:rPr>
                  <a:t>+180</a:t>
                </a:r>
                <a:r>
                  <a:rPr sz="900" b="0" baseline="19999">
                    <a:uFill>
                      <a:solidFill/>
                    </a:uFill>
                    <a:latin typeface="Gill Sans" charset="0"/>
                    <a:ea typeface="Gill Sans" charset="0"/>
                    <a:cs typeface="Gill Sans" charset="0"/>
                    <a:sym typeface="Helvetica"/>
                  </a:rPr>
                  <a:t>o</a:t>
                </a:r>
              </a:p>
            </p:txBody>
          </p:sp>
          <p:sp>
            <p:nvSpPr>
              <p:cNvPr id="224" name="Shape 224"/>
              <p:cNvSpPr/>
              <p:nvPr/>
            </p:nvSpPr>
            <p:spPr>
              <a:xfrm>
                <a:off x="0" y="13094"/>
                <a:ext cx="723900" cy="123111"/>
              </a:xfrm>
              <a:prstGeom prst="rect">
                <a:avLst/>
              </a:prstGeom>
              <a:solidFill>
                <a:srgbClr val="FFFFFF"/>
              </a:solid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500"/>
                  </a:spcBef>
                  <a:buClr>
                    <a:srgbClr val="000000"/>
                  </a:buClr>
                  <a:buFont typeface="Helvetica"/>
                  <a:defRPr sz="1800">
                    <a:uFillTx/>
                  </a:defRPr>
                </a:pPr>
                <a:r>
                  <a:rPr sz="800" b="0">
                    <a:uFill>
                      <a:solidFill/>
                    </a:uFill>
                    <a:latin typeface="Gill Sans" charset="0"/>
                    <a:ea typeface="Gill Sans" charset="0"/>
                    <a:cs typeface="Gill Sans" charset="0"/>
                    <a:sym typeface="Helvetica"/>
                  </a:rPr>
                  <a:t>-180</a:t>
                </a:r>
                <a:r>
                  <a:rPr sz="900" b="0" baseline="19999">
                    <a:uFill>
                      <a:solidFill/>
                    </a:uFill>
                    <a:latin typeface="Gill Sans" charset="0"/>
                    <a:ea typeface="Gill Sans" charset="0"/>
                    <a:cs typeface="Gill Sans" charset="0"/>
                    <a:sym typeface="Helvetica"/>
                  </a:rPr>
                  <a:t>o</a:t>
                </a:r>
              </a:p>
            </p:txBody>
          </p:sp>
          <p:sp>
            <p:nvSpPr>
              <p:cNvPr id="225" name="Shape 225"/>
              <p:cNvSpPr/>
              <p:nvPr/>
            </p:nvSpPr>
            <p:spPr>
              <a:xfrm>
                <a:off x="1233997" y="139675"/>
                <a:ext cx="520701" cy="184666"/>
              </a:xfrm>
              <a:prstGeom prst="rect">
                <a:avLst/>
              </a:prstGeom>
              <a:solidFill>
                <a:srgbClr val="FFFFFF"/>
              </a:solid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spcBef>
                    <a:spcPts val="600"/>
                  </a:spcBef>
                  <a:buClr>
                    <a:srgbClr val="000000"/>
                  </a:buClr>
                  <a:buFont typeface="Symbol"/>
                  <a:defRPr sz="1200">
                    <a:latin typeface="Symbol"/>
                    <a:ea typeface="Symbol"/>
                    <a:cs typeface="Symbol"/>
                    <a:sym typeface="Symbol"/>
                  </a:defRPr>
                </a:lvl1pPr>
              </a:lstStyle>
              <a:p>
                <a:pPr lvl="0">
                  <a:defRPr sz="1800">
                    <a:uFillTx/>
                  </a:defRPr>
                </a:pPr>
                <a:r>
                  <a:rPr sz="1200" b="0">
                    <a:uFill>
                      <a:solidFill/>
                    </a:uFill>
                    <a:latin typeface="Gill Sans" charset="0"/>
                    <a:ea typeface="Gill Sans" charset="0"/>
                    <a:cs typeface="Gill Sans" charset="0"/>
                  </a:rPr>
                  <a:t>φ</a:t>
                </a:r>
              </a:p>
            </p:txBody>
          </p:sp>
          <p:sp>
            <p:nvSpPr>
              <p:cNvPr id="226" name="Shape 226"/>
              <p:cNvSpPr/>
              <p:nvPr/>
            </p:nvSpPr>
            <p:spPr>
              <a:xfrm>
                <a:off x="1493898" y="0"/>
                <a:ext cx="520701" cy="12311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500"/>
                  </a:spcBef>
                  <a:buClr>
                    <a:srgbClr val="000000"/>
                  </a:buClr>
                  <a:buFont typeface="Helvetica"/>
                  <a:defRPr sz="1800">
                    <a:uFillTx/>
                  </a:defRPr>
                </a:pPr>
                <a:r>
                  <a:rPr sz="800" b="0">
                    <a:uFill>
                      <a:solidFill/>
                    </a:uFill>
                    <a:latin typeface="Gill Sans" charset="0"/>
                    <a:ea typeface="Gill Sans" charset="0"/>
                    <a:cs typeface="Gill Sans" charset="0"/>
                    <a:sym typeface="Helvetica"/>
                  </a:rPr>
                  <a:t>0</a:t>
                </a:r>
                <a:r>
                  <a:rPr sz="900" b="0" baseline="19999">
                    <a:uFill>
                      <a:solidFill/>
                    </a:uFill>
                    <a:latin typeface="Gill Sans" charset="0"/>
                    <a:ea typeface="Gill Sans" charset="0"/>
                    <a:cs typeface="Gill Sans" charset="0"/>
                    <a:sym typeface="Helvetica"/>
                  </a:rPr>
                  <a:t>o</a:t>
                </a:r>
              </a:p>
            </p:txBody>
          </p:sp>
        </p:grpSp>
        <p:sp>
          <p:nvSpPr>
            <p:cNvPr id="228" name="Shape 228"/>
            <p:cNvSpPr/>
            <p:nvPr/>
          </p:nvSpPr>
          <p:spPr>
            <a:xfrm>
              <a:off x="0" y="0"/>
              <a:ext cx="723900" cy="12311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500"/>
                </a:spcBef>
                <a:buClr>
                  <a:srgbClr val="000000"/>
                </a:buClr>
                <a:buFont typeface="Helvetica"/>
                <a:defRPr sz="1800">
                  <a:uFillTx/>
                </a:defRPr>
              </a:pPr>
              <a:r>
                <a:rPr sz="800" b="0" dirty="0">
                  <a:uFill>
                    <a:solidFill/>
                  </a:uFill>
                  <a:latin typeface="Gill Sans" charset="0"/>
                  <a:ea typeface="Gill Sans" charset="0"/>
                  <a:cs typeface="Gill Sans" charset="0"/>
                  <a:sym typeface="Helvetica"/>
                </a:rPr>
                <a:t>+180</a:t>
              </a:r>
              <a:r>
                <a:rPr sz="900" b="0" baseline="19999" dirty="0">
                  <a:uFill>
                    <a:solidFill/>
                  </a:uFill>
                  <a:latin typeface="Gill Sans" charset="0"/>
                  <a:ea typeface="Gill Sans" charset="0"/>
                  <a:cs typeface="Gill Sans" charset="0"/>
                  <a:sym typeface="Helvetica"/>
                </a:rPr>
                <a:t>o</a:t>
              </a:r>
            </a:p>
          </p:txBody>
        </p:sp>
        <p:sp>
          <p:nvSpPr>
            <p:cNvPr id="229" name="Shape 229"/>
            <p:cNvSpPr/>
            <p:nvPr/>
          </p:nvSpPr>
          <p:spPr>
            <a:xfrm>
              <a:off x="19017" y="2861174"/>
              <a:ext cx="723901" cy="12311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500"/>
                </a:spcBef>
                <a:buClr>
                  <a:srgbClr val="000000"/>
                </a:buClr>
                <a:buFont typeface="Helvetica"/>
                <a:defRPr sz="1800">
                  <a:uFillTx/>
                </a:defRPr>
              </a:pPr>
              <a:r>
                <a:rPr sz="800" b="0" dirty="0">
                  <a:uFill>
                    <a:solidFill/>
                  </a:uFill>
                  <a:latin typeface="Gill Sans" charset="0"/>
                  <a:ea typeface="Gill Sans" charset="0"/>
                  <a:cs typeface="Gill Sans" charset="0"/>
                  <a:sym typeface="Helvetica"/>
                </a:rPr>
                <a:t>-180</a:t>
              </a:r>
              <a:r>
                <a:rPr sz="900" b="0" baseline="19999" dirty="0">
                  <a:uFill>
                    <a:solidFill/>
                  </a:uFill>
                  <a:latin typeface="Gill Sans" charset="0"/>
                  <a:ea typeface="Gill Sans" charset="0"/>
                  <a:cs typeface="Gill Sans" charset="0"/>
                  <a:sym typeface="Helvetica"/>
                </a:rPr>
                <a:t>o</a:t>
              </a:r>
            </a:p>
          </p:txBody>
        </p:sp>
        <p:sp>
          <p:nvSpPr>
            <p:cNvPr id="230" name="Shape 230"/>
            <p:cNvSpPr/>
            <p:nvPr/>
          </p:nvSpPr>
          <p:spPr>
            <a:xfrm>
              <a:off x="88746" y="1152326"/>
              <a:ext cx="520701" cy="18466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spcBef>
                  <a:spcPts val="600"/>
                </a:spcBef>
                <a:buClr>
                  <a:srgbClr val="000000"/>
                </a:buClr>
                <a:buFont typeface="Symbol"/>
                <a:defRPr sz="1200">
                  <a:latin typeface="Symbol"/>
                  <a:ea typeface="Symbol"/>
                  <a:cs typeface="Symbol"/>
                  <a:sym typeface="Symbol"/>
                </a:defRPr>
              </a:lvl1pPr>
            </a:lstStyle>
            <a:p>
              <a:pPr lvl="0">
                <a:defRPr sz="1800">
                  <a:uFillTx/>
                </a:defRPr>
              </a:pPr>
              <a:r>
                <a:rPr sz="1200" b="0" dirty="0" err="1">
                  <a:uFill>
                    <a:solidFill/>
                  </a:uFill>
                  <a:latin typeface="Gill Sans" charset="0"/>
                  <a:ea typeface="Gill Sans" charset="0"/>
                  <a:cs typeface="Gill Sans" charset="0"/>
                </a:rPr>
                <a:t>Ψ</a:t>
              </a:r>
              <a:endParaRPr sz="1200" b="0" dirty="0">
                <a:uFill>
                  <a:solidFill/>
                </a:uFill>
                <a:latin typeface="Gill Sans" charset="0"/>
                <a:ea typeface="Gill Sans" charset="0"/>
                <a:cs typeface="Gill Sans" charset="0"/>
              </a:endParaRPr>
            </a:p>
          </p:txBody>
        </p:sp>
        <p:sp>
          <p:nvSpPr>
            <p:cNvPr id="231" name="Shape 231"/>
            <p:cNvSpPr/>
            <p:nvPr/>
          </p:nvSpPr>
          <p:spPr>
            <a:xfrm>
              <a:off x="259900" y="1414219"/>
              <a:ext cx="520701" cy="12311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500"/>
                </a:spcBef>
                <a:buClr>
                  <a:srgbClr val="000000"/>
                </a:buClr>
                <a:buFont typeface="Helvetica"/>
                <a:defRPr sz="1800">
                  <a:uFillTx/>
                </a:defRPr>
              </a:pPr>
              <a:r>
                <a:rPr sz="800" b="0">
                  <a:uFill>
                    <a:solidFill/>
                  </a:uFill>
                  <a:latin typeface="Gill Sans" charset="0"/>
                  <a:ea typeface="Gill Sans" charset="0"/>
                  <a:cs typeface="Gill Sans" charset="0"/>
                  <a:sym typeface="Helvetica"/>
                </a:rPr>
                <a:t>0</a:t>
              </a:r>
              <a:r>
                <a:rPr sz="900" b="0" baseline="19999">
                  <a:uFill>
                    <a:solidFill/>
                  </a:uFill>
                  <a:latin typeface="Gill Sans" charset="0"/>
                  <a:ea typeface="Gill Sans" charset="0"/>
                  <a:cs typeface="Gill Sans" charset="0"/>
                  <a:sym typeface="Helvetica"/>
                </a:rPr>
                <a:t>o</a:t>
              </a:r>
            </a:p>
          </p:txBody>
        </p:sp>
      </p:grpSp>
      <p:sp>
        <p:nvSpPr>
          <p:cNvPr id="233" name="Shape 233"/>
          <p:cNvSpPr/>
          <p:nvPr/>
        </p:nvSpPr>
        <p:spPr>
          <a:xfrm>
            <a:off x="5209135" y="306104"/>
            <a:ext cx="4085068" cy="276999"/>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lvl="0">
              <a:spcBef>
                <a:spcPts val="1200"/>
              </a:spcBef>
              <a:buClr>
                <a:srgbClr val="DD33C5"/>
              </a:buClr>
              <a:buFont typeface="Chalkboard"/>
              <a:defRPr sz="1800">
                <a:uFillTx/>
              </a:defRPr>
            </a:pPr>
            <a:r>
              <a:rPr sz="1600" b="0" u="sng" dirty="0">
                <a:solidFill>
                  <a:srgbClr val="DD33C5"/>
                </a:solidFill>
                <a:uFill>
                  <a:solidFill>
                    <a:srgbClr val="DD33C5"/>
                  </a:solidFill>
                </a:uFill>
                <a:latin typeface="Gill Sans" charset="0"/>
                <a:ea typeface="Gill Sans" charset="0"/>
                <a:cs typeface="Gill Sans" charset="0"/>
                <a:sym typeface="Chalkboard"/>
              </a:rPr>
              <a:t>R</a:t>
            </a:r>
            <a:r>
              <a:rPr lang="en-US" sz="1600" b="0" u="sng" dirty="0">
                <a:solidFill>
                  <a:srgbClr val="DD33C5"/>
                </a:solidFill>
                <a:uFill>
                  <a:solidFill>
                    <a:srgbClr val="DD33C5"/>
                  </a:solidFill>
                </a:uFill>
                <a:latin typeface="Gill Sans" charset="0"/>
                <a:ea typeface="Gill Sans" charset="0"/>
                <a:cs typeface="Gill Sans" charset="0"/>
                <a:sym typeface="Chalkboard"/>
              </a:rPr>
              <a:t>eal data</a:t>
            </a:r>
            <a:r>
              <a:rPr lang="en-US" sz="1400" b="0" dirty="0">
                <a:uFill>
                  <a:solidFill/>
                </a:uFill>
                <a:latin typeface="Gill Sans" charset="0"/>
                <a:ea typeface="Gill Sans" charset="0"/>
                <a:cs typeface="Gill Sans" charset="0"/>
                <a:sym typeface="Helvetica"/>
              </a:rPr>
              <a:t>: plot of </a:t>
            </a:r>
            <a:r>
              <a:rPr lang="en-US" sz="1600" b="0" dirty="0">
                <a:uFill>
                  <a:solidFill/>
                </a:uFill>
                <a:latin typeface="Gill Sans" charset="0"/>
                <a:ea typeface="Gill Sans" charset="0"/>
                <a:cs typeface="Gill Sans" charset="0"/>
                <a:sym typeface="Symbol"/>
              </a:rPr>
              <a:t>φ, ψ</a:t>
            </a:r>
            <a:r>
              <a:rPr lang="en-US" b="0" dirty="0">
                <a:uFill>
                  <a:solidFill/>
                </a:uFill>
                <a:latin typeface="Gill Sans" charset="0"/>
                <a:ea typeface="Gill Sans" charset="0"/>
                <a:cs typeface="Gill Sans" charset="0"/>
                <a:sym typeface="Helvetica"/>
              </a:rPr>
              <a:t> </a:t>
            </a:r>
            <a:r>
              <a:rPr lang="en-US" sz="1400" b="0" dirty="0">
                <a:uFill>
                  <a:solidFill/>
                </a:uFill>
                <a:latin typeface="Gill Sans" charset="0"/>
                <a:ea typeface="Gill Sans" charset="0"/>
                <a:cs typeface="Gill Sans" charset="0"/>
                <a:sym typeface="Helvetica"/>
              </a:rPr>
              <a:t>for a few hundred proteins </a:t>
            </a:r>
          </a:p>
        </p:txBody>
      </p:sp>
      <p:sp>
        <p:nvSpPr>
          <p:cNvPr id="234" name="Shape 234"/>
          <p:cNvSpPr/>
          <p:nvPr/>
        </p:nvSpPr>
        <p:spPr>
          <a:xfrm>
            <a:off x="2976030" y="1099832"/>
            <a:ext cx="2443163" cy="90794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900"/>
              </a:spcBef>
              <a:buClr>
                <a:srgbClr val="1E31E3"/>
              </a:buClr>
              <a:buFont typeface="Helvetica"/>
              <a:defRPr sz="1800">
                <a:uFillTx/>
              </a:defRPr>
            </a:pPr>
            <a:r>
              <a:rPr sz="1400" b="0" dirty="0">
                <a:solidFill>
                  <a:srgbClr val="0541E0"/>
                </a:solidFill>
                <a:uFill>
                  <a:solidFill>
                    <a:srgbClr val="1E31E3"/>
                  </a:solidFill>
                </a:uFill>
                <a:latin typeface="Gill Sans" charset="0"/>
                <a:ea typeface="Gill Sans" charset="0"/>
                <a:cs typeface="Gill Sans" charset="0"/>
                <a:sym typeface="Helvetica"/>
              </a:rPr>
              <a:t>E</a:t>
            </a:r>
            <a:r>
              <a:rPr lang="en-US" sz="1400" b="0" dirty="0">
                <a:solidFill>
                  <a:srgbClr val="0541E0"/>
                </a:solidFill>
                <a:uFill>
                  <a:solidFill>
                    <a:srgbClr val="1E31E3"/>
                  </a:solidFill>
                </a:uFill>
                <a:latin typeface="Gill Sans" charset="0"/>
                <a:ea typeface="Gill Sans" charset="0"/>
                <a:cs typeface="Gill Sans" charset="0"/>
                <a:sym typeface="Helvetica"/>
              </a:rPr>
              <a:t>quivalent to allowing a little steric contact, or small distortions of peptide bond so more </a:t>
            </a:r>
            <a:r>
              <a:rPr lang="en-US" sz="1700" b="0" dirty="0">
                <a:solidFill>
                  <a:srgbClr val="0541E0"/>
                </a:solidFill>
                <a:uFill>
                  <a:solidFill>
                    <a:srgbClr val="1E31E3"/>
                  </a:solidFill>
                </a:uFill>
                <a:latin typeface="Gill Sans" charset="0"/>
                <a:ea typeface="Gill Sans" charset="0"/>
                <a:cs typeface="Gill Sans" charset="0"/>
                <a:sym typeface="Symbol"/>
              </a:rPr>
              <a:t>φ,ψ</a:t>
            </a:r>
            <a:r>
              <a:rPr lang="en-US" sz="1400" b="0" dirty="0">
                <a:solidFill>
                  <a:srgbClr val="0541E0"/>
                </a:solidFill>
                <a:uFill>
                  <a:solidFill>
                    <a:srgbClr val="1E31E3"/>
                  </a:solidFill>
                </a:uFill>
                <a:latin typeface="Gill Sans" charset="0"/>
                <a:ea typeface="Gill Sans" charset="0"/>
                <a:cs typeface="Gill Sans" charset="0"/>
                <a:sym typeface="Helvetica"/>
              </a:rPr>
              <a:t> angles are allowed</a:t>
            </a:r>
            <a:r>
              <a:rPr sz="1400" b="0" dirty="0">
                <a:solidFill>
                  <a:srgbClr val="0541E0"/>
                </a:solidFill>
                <a:uFill>
                  <a:solidFill>
                    <a:srgbClr val="1E31E3"/>
                  </a:solidFill>
                </a:uFill>
                <a:latin typeface="Gill Sans" charset="0"/>
                <a:ea typeface="Gill Sans" charset="0"/>
                <a:cs typeface="Gill Sans" charset="0"/>
                <a:sym typeface="Helvetica"/>
              </a:rPr>
              <a:t>.</a:t>
            </a:r>
          </a:p>
        </p:txBody>
      </p:sp>
      <p:sp>
        <p:nvSpPr>
          <p:cNvPr id="273" name="Shape 273"/>
          <p:cNvSpPr/>
          <p:nvPr/>
        </p:nvSpPr>
        <p:spPr>
          <a:xfrm>
            <a:off x="1752600" y="1219200"/>
            <a:ext cx="609600" cy="533400"/>
          </a:xfrm>
          <a:prstGeom prst="rect">
            <a:avLst/>
          </a:prstGeom>
          <a:solidFill>
            <a:srgbClr val="FFFFFF"/>
          </a:solidFill>
          <a:ln>
            <a:miter lim="400000"/>
          </a:ln>
        </p:spPr>
        <p:txBody>
          <a:bodyPr lIns="0" tIns="0" rIns="0" bIns="0" anchor="ctr"/>
          <a:lstStyle/>
          <a:p>
            <a:pPr lvl="0"/>
            <a:endParaRPr b="0">
              <a:latin typeface="Gill Sans" charset="0"/>
              <a:ea typeface="Gill Sans" charset="0"/>
              <a:cs typeface="Gill Sans" charset="0"/>
            </a:endParaRPr>
          </a:p>
        </p:txBody>
      </p:sp>
      <p:sp>
        <p:nvSpPr>
          <p:cNvPr id="274" name="Shape 274"/>
          <p:cNvSpPr/>
          <p:nvPr/>
        </p:nvSpPr>
        <p:spPr>
          <a:xfrm>
            <a:off x="2984499" y="2940050"/>
            <a:ext cx="2863131" cy="850900"/>
          </a:xfrm>
          <a:prstGeom prst="rect">
            <a:avLst/>
          </a:prstGeom>
          <a:solidFill>
            <a:srgbClr val="FFFFFF"/>
          </a:solidFill>
          <a:ln>
            <a:miter lim="400000"/>
          </a:ln>
        </p:spPr>
        <p:txBody>
          <a:bodyPr lIns="0" tIns="0" rIns="0" bIns="0" anchor="ctr"/>
          <a:lstStyle/>
          <a:p>
            <a:pPr lvl="0"/>
            <a:r>
              <a:rPr lang="en-US" sz="1600" dirty="0">
                <a:solidFill>
                  <a:srgbClr val="FF0000"/>
                </a:solidFill>
                <a:latin typeface="Helvetica" pitchFamily="2" charset="0"/>
                <a:ea typeface="Gill Sans" charset="0"/>
                <a:cs typeface="Gill Sans" charset="0"/>
              </a:rPr>
              <a:t>NOTE: Ramachandran map has NO SEQUENCE info!!!</a:t>
            </a:r>
            <a:endParaRPr sz="1600" dirty="0">
              <a:solidFill>
                <a:srgbClr val="FF0000"/>
              </a:solidFill>
              <a:latin typeface="Helvetica" pitchFamily="2" charset="0"/>
              <a:ea typeface="Gill Sans" charset="0"/>
              <a:cs typeface="Gill Sans" charset="0"/>
            </a:endParaRPr>
          </a:p>
        </p:txBody>
      </p:sp>
      <p:grpSp>
        <p:nvGrpSpPr>
          <p:cNvPr id="278" name="Group 278"/>
          <p:cNvGrpSpPr/>
          <p:nvPr/>
        </p:nvGrpSpPr>
        <p:grpSpPr>
          <a:xfrm>
            <a:off x="7773440" y="1599921"/>
            <a:ext cx="1384490" cy="2954647"/>
            <a:chOff x="1080540" y="20051"/>
            <a:chExt cx="1384490" cy="2954646"/>
          </a:xfrm>
        </p:grpSpPr>
        <p:sp>
          <p:nvSpPr>
            <p:cNvPr id="275" name="Shape 275"/>
            <p:cNvSpPr/>
            <p:nvPr/>
          </p:nvSpPr>
          <p:spPr>
            <a:xfrm rot="19800000">
              <a:off x="1080540" y="20051"/>
              <a:ext cx="304801" cy="8382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noFill/>
            <a:ln w="57150" cap="flat">
              <a:solidFill>
                <a:srgbClr val="1E31E3"/>
              </a:solidFill>
              <a:prstDash val="sysDot"/>
              <a:round/>
            </a:ln>
            <a:effectLst/>
          </p:spPr>
          <p:txBody>
            <a:bodyPr wrap="square" lIns="0" tIns="0" rIns="0" bIns="0" numCol="1" anchor="ctr">
              <a:noAutofit/>
            </a:bodyPr>
            <a:lstStyle/>
            <a:p>
              <a:pPr lvl="0"/>
              <a:endParaRPr b="0">
                <a:latin typeface="Gill Sans" charset="0"/>
                <a:ea typeface="Gill Sans" charset="0"/>
                <a:cs typeface="Gill Sans" charset="0"/>
              </a:endParaRPr>
            </a:p>
          </p:txBody>
        </p:sp>
        <p:sp>
          <p:nvSpPr>
            <p:cNvPr id="276" name="Shape 276"/>
            <p:cNvSpPr/>
            <p:nvPr/>
          </p:nvSpPr>
          <p:spPr>
            <a:xfrm>
              <a:off x="1232940" y="2359144"/>
              <a:ext cx="1232090" cy="61555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900"/>
                </a:spcBef>
                <a:buClr>
                  <a:srgbClr val="1E31E3"/>
                </a:buClr>
                <a:buFont typeface="Helvetica"/>
                <a:defRPr sz="1800">
                  <a:uFillTx/>
                </a:defRPr>
              </a:pPr>
              <a:r>
                <a:rPr sz="1600" b="0" dirty="0" err="1">
                  <a:solidFill>
                    <a:schemeClr val="tx1"/>
                  </a:solidFill>
                  <a:uFill>
                    <a:solidFill>
                      <a:srgbClr val="1E31E3"/>
                    </a:solidFill>
                  </a:uFill>
                  <a:latin typeface="Gill Sans" charset="0"/>
                  <a:ea typeface="Gill Sans" charset="0"/>
                  <a:cs typeface="Gill Sans" charset="0"/>
                  <a:sym typeface="Helvetica"/>
                </a:rPr>
                <a:t>G</a:t>
              </a:r>
              <a:r>
                <a:rPr lang="en-US" sz="1600" b="0" dirty="0" err="1">
                  <a:solidFill>
                    <a:schemeClr val="tx1"/>
                  </a:solidFill>
                  <a:uFill>
                    <a:solidFill>
                      <a:srgbClr val="1E31E3"/>
                    </a:solidFill>
                  </a:uFill>
                  <a:latin typeface="Gill Sans" charset="0"/>
                  <a:ea typeface="Gill Sans" charset="0"/>
                  <a:cs typeface="Gill Sans" charset="0"/>
                  <a:sym typeface="Helvetica"/>
                </a:rPr>
                <a:t>ly</a:t>
              </a:r>
              <a:r>
                <a:rPr lang="en-US" sz="1600" b="0" dirty="0">
                  <a:solidFill>
                    <a:schemeClr val="tx1"/>
                  </a:solidFill>
                  <a:uFill>
                    <a:solidFill>
                      <a:srgbClr val="1E31E3"/>
                    </a:solidFill>
                  </a:uFill>
                  <a:latin typeface="Gill Sans" charset="0"/>
                  <a:ea typeface="Gill Sans" charset="0"/>
                  <a:cs typeface="Gill Sans" charset="0"/>
                  <a:sym typeface="Helvetica"/>
                </a:rPr>
                <a:t> </a:t>
              </a:r>
              <a:r>
                <a:rPr dirty="0">
                  <a:solidFill>
                    <a:schemeClr val="tx1"/>
                  </a:solidFill>
                  <a:uFill>
                    <a:solidFill>
                      <a:srgbClr val="1E31E3"/>
                    </a:solidFill>
                  </a:uFill>
                  <a:latin typeface="Gill Sans" charset="0"/>
                  <a:ea typeface="Gill Sans" charset="0"/>
                  <a:cs typeface="Gill Sans" charset="0"/>
                  <a:sym typeface="Symbol"/>
                </a:rPr>
                <a:t>∴</a:t>
              </a:r>
              <a:r>
                <a:rPr sz="2400" b="0" dirty="0">
                  <a:solidFill>
                    <a:schemeClr val="tx1"/>
                  </a:solidFill>
                  <a:uFill>
                    <a:solidFill>
                      <a:srgbClr val="1E31E3"/>
                    </a:solidFill>
                  </a:uFill>
                  <a:latin typeface="Gill Sans" charset="0"/>
                  <a:ea typeface="Gill Sans" charset="0"/>
                  <a:cs typeface="Gill Sans" charset="0"/>
                  <a:sym typeface="Symbol"/>
                </a:rPr>
                <a:t>    </a:t>
              </a:r>
              <a:r>
                <a:rPr lang="en-US" sz="1600" b="0" dirty="0">
                  <a:solidFill>
                    <a:schemeClr val="tx1"/>
                  </a:solidFill>
                  <a:uFill>
                    <a:solidFill>
                      <a:srgbClr val="1E31E3"/>
                    </a:solidFill>
                  </a:uFill>
                  <a:latin typeface="Gill Sans" charset="0"/>
                  <a:ea typeface="Gill Sans" charset="0"/>
                  <a:cs typeface="Gill Sans" charset="0"/>
                  <a:sym typeface="Helvetica"/>
                </a:rPr>
                <a:t>allowed</a:t>
              </a:r>
              <a:r>
                <a:rPr sz="1600" b="0" dirty="0">
                  <a:solidFill>
                    <a:srgbClr val="1E31E3"/>
                  </a:solidFill>
                  <a:uFill>
                    <a:solidFill>
                      <a:srgbClr val="1E31E3"/>
                    </a:solidFill>
                  </a:uFill>
                  <a:latin typeface="Gill Sans" charset="0"/>
                  <a:ea typeface="Gill Sans" charset="0"/>
                  <a:cs typeface="Gill Sans" charset="0"/>
                  <a:sym typeface="Helvetica"/>
                </a:rPr>
                <a:t> </a:t>
              </a:r>
              <a:r>
                <a:rPr sz="1600" b="0" dirty="0">
                  <a:solidFill>
                    <a:schemeClr val="tx1"/>
                  </a:solidFill>
                  <a:uFill>
                    <a:solidFill>
                      <a:srgbClr val="1E31E3"/>
                    </a:solidFill>
                  </a:uFill>
                  <a:latin typeface="Gill Sans" charset="0"/>
                  <a:ea typeface="Gill Sans" charset="0"/>
                  <a:cs typeface="Gill Sans" charset="0"/>
                  <a:sym typeface="Helvetica"/>
                </a:rPr>
                <a:t>Φ,Ψ</a:t>
              </a:r>
            </a:p>
          </p:txBody>
        </p:sp>
        <p:sp>
          <p:nvSpPr>
            <p:cNvPr id="277" name="Shape 277"/>
            <p:cNvSpPr/>
            <p:nvPr/>
          </p:nvSpPr>
          <p:spPr>
            <a:xfrm flipH="1" flipV="1">
              <a:off x="1468437" y="968066"/>
              <a:ext cx="220663" cy="1490664"/>
            </a:xfrm>
            <a:prstGeom prst="line">
              <a:avLst/>
            </a:prstGeom>
            <a:noFill/>
            <a:ln w="38100" cap="flat">
              <a:solidFill>
                <a:srgbClr val="1E31E3"/>
              </a:solidFill>
              <a:prstDash val="solid"/>
              <a:round/>
              <a:tailEnd type="triangle" w="med" len="med"/>
            </a:ln>
            <a:effectLst/>
          </p:spPr>
          <p:txBody>
            <a:bodyPr wrap="square" lIns="0" tIns="0" rIns="0" bIns="0" numCol="1" anchor="t">
              <a:noAutofit/>
            </a:bodyPr>
            <a:lstStyle/>
            <a:p>
              <a:pPr marL="0" marR="0" lvl="0" defTabSz="457200">
                <a:defRPr sz="1200">
                  <a:uFillTx/>
                  <a:latin typeface="Helvetica"/>
                  <a:ea typeface="Helvetica"/>
                  <a:cs typeface="Helvetica"/>
                  <a:sym typeface="Helvetica"/>
                </a:defRPr>
              </a:pPr>
              <a:endParaRPr b="0">
                <a:latin typeface="Gill Sans" charset="0"/>
                <a:ea typeface="Gill Sans" charset="0"/>
                <a:cs typeface="Gill Sans" charset="0"/>
              </a:endParaRPr>
            </a:p>
          </p:txBody>
        </p:sp>
      </p:grpSp>
      <p:pic>
        <p:nvPicPr>
          <p:cNvPr id="279" name="Rama 3 BLUR.png"/>
          <p:cNvPicPr/>
          <p:nvPr/>
        </p:nvPicPr>
        <p:blipFill>
          <a:blip r:embed="rId3"/>
          <a:stretch>
            <a:fillRect/>
          </a:stretch>
        </p:blipFill>
        <p:spPr>
          <a:xfrm>
            <a:off x="7283440" y="5044775"/>
            <a:ext cx="1758960" cy="1727201"/>
          </a:xfrm>
          <a:prstGeom prst="rect">
            <a:avLst/>
          </a:prstGeom>
          <a:ln>
            <a:round/>
          </a:ln>
        </p:spPr>
      </p:pic>
      <p:sp>
        <p:nvSpPr>
          <p:cNvPr id="280" name="Shape 280"/>
          <p:cNvSpPr/>
          <p:nvPr/>
        </p:nvSpPr>
        <p:spPr>
          <a:xfrm>
            <a:off x="5473700" y="5595260"/>
            <a:ext cx="2258488" cy="692497"/>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lvl="0">
              <a:spcBef>
                <a:spcPts val="900"/>
              </a:spcBef>
              <a:buClr>
                <a:srgbClr val="1E31E3"/>
              </a:buClr>
              <a:buFont typeface="Helvetica"/>
              <a:defRPr sz="1800">
                <a:uFillTx/>
              </a:defRPr>
            </a:pPr>
            <a:r>
              <a:rPr sz="1500" b="0" dirty="0">
                <a:solidFill>
                  <a:schemeClr val="tx1"/>
                </a:solidFill>
                <a:uFill>
                  <a:solidFill>
                    <a:srgbClr val="1E31E3"/>
                  </a:solidFill>
                </a:uFill>
                <a:latin typeface="Gill Sans" charset="0"/>
                <a:ea typeface="Gill Sans" charset="0"/>
                <a:cs typeface="Gill Sans" charset="0"/>
                <a:sym typeface="Helvetica"/>
              </a:rPr>
              <a:t>A </a:t>
            </a:r>
            <a:r>
              <a:rPr lang="en-US" sz="1500" b="0" dirty="0">
                <a:solidFill>
                  <a:schemeClr val="tx1"/>
                </a:solidFill>
                <a:uFill>
                  <a:solidFill>
                    <a:srgbClr val="1E31E3"/>
                  </a:solidFill>
                </a:uFill>
                <a:latin typeface="Gill Sans" charset="0"/>
                <a:ea typeface="Gill Sans" charset="0"/>
                <a:cs typeface="Gill Sans" charset="0"/>
                <a:sym typeface="Helvetica"/>
              </a:rPr>
              <a:t>good guess of the Ramachandran map of a </a:t>
            </a:r>
            <a:r>
              <a:rPr lang="en-US" sz="1500" b="0" dirty="0">
                <a:solidFill>
                  <a:schemeClr val="tx1"/>
                </a:solidFill>
                <a:uFill>
                  <a:solidFill>
                    <a:srgbClr val="E52FA9"/>
                  </a:solidFill>
                </a:uFill>
                <a:latin typeface="Gill Sans" charset="0"/>
                <a:ea typeface="Gill Sans" charset="0"/>
                <a:cs typeface="Gill Sans" charset="0"/>
                <a:sym typeface="Helvetica"/>
              </a:rPr>
              <a:t>fully </a:t>
            </a:r>
            <a:r>
              <a:rPr lang="en-US" sz="1500" b="0" u="sng" dirty="0">
                <a:solidFill>
                  <a:schemeClr val="tx1"/>
                </a:solidFill>
                <a:uFill>
                  <a:solidFill/>
                </a:uFill>
                <a:latin typeface="Gill Sans" charset="0"/>
                <a:ea typeface="Gill Sans" charset="0"/>
                <a:cs typeface="Gill Sans" charset="0"/>
              </a:rPr>
              <a:t>unfolded</a:t>
            </a:r>
            <a:r>
              <a:rPr lang="en-US" sz="1500" b="0" dirty="0">
                <a:solidFill>
                  <a:schemeClr val="tx1"/>
                </a:solidFill>
                <a:uFill>
                  <a:solidFill>
                    <a:srgbClr val="E52FA9"/>
                  </a:solidFill>
                </a:uFill>
                <a:latin typeface="Gill Sans" charset="0"/>
                <a:ea typeface="Gill Sans" charset="0"/>
                <a:cs typeface="Gill Sans" charset="0"/>
                <a:sym typeface="Helvetica"/>
              </a:rPr>
              <a:t> protein</a:t>
            </a:r>
            <a:r>
              <a:rPr lang="en-US" sz="1500" b="0" dirty="0">
                <a:solidFill>
                  <a:schemeClr val="tx1"/>
                </a:solidFill>
                <a:uFill>
                  <a:solidFill>
                    <a:srgbClr val="1E31E3"/>
                  </a:solidFill>
                </a:uFill>
                <a:latin typeface="Gill Sans" charset="0"/>
                <a:ea typeface="Gill Sans" charset="0"/>
                <a:cs typeface="Gill Sans" charset="0"/>
                <a:sym typeface="Helvetica"/>
              </a:rPr>
              <a:t> </a:t>
            </a:r>
            <a:endParaRPr sz="1500" b="0" dirty="0">
              <a:solidFill>
                <a:schemeClr val="tx1"/>
              </a:solidFill>
              <a:uFill>
                <a:solidFill>
                  <a:srgbClr val="1E31E3"/>
                </a:solidFill>
              </a:uFill>
              <a:latin typeface="Gill Sans" charset="0"/>
              <a:ea typeface="Gill Sans" charset="0"/>
              <a:cs typeface="Gill Sans" charset="0"/>
              <a:sym typeface="Helvetica"/>
            </a:endParaRPr>
          </a:p>
        </p:txBody>
      </p:sp>
      <p:sp>
        <p:nvSpPr>
          <p:cNvPr id="281" name="Shape 281"/>
          <p:cNvSpPr/>
          <p:nvPr/>
        </p:nvSpPr>
        <p:spPr>
          <a:xfrm>
            <a:off x="1460500" y="3162300"/>
            <a:ext cx="1155700" cy="520700"/>
          </a:xfrm>
          <a:prstGeom prst="rect">
            <a:avLst/>
          </a:prstGeom>
          <a:solidFill>
            <a:srgbClr val="FFFFFF"/>
          </a:solidFill>
          <a:ln>
            <a:miter lim="400000"/>
          </a:ln>
        </p:spPr>
        <p:txBody>
          <a:bodyPr lIns="0" tIns="0" rIns="0" bIns="0" anchor="ctr"/>
          <a:lstStyle/>
          <a:p>
            <a:pPr lvl="0"/>
            <a:endParaRPr b="0">
              <a:latin typeface="Gill Sans" charset="0"/>
              <a:ea typeface="Gill Sans" charset="0"/>
              <a:cs typeface="Gill Sans" charset="0"/>
            </a:endParaRPr>
          </a:p>
        </p:txBody>
      </p:sp>
      <p:sp>
        <p:nvSpPr>
          <p:cNvPr id="282" name="Shape 282"/>
          <p:cNvSpPr/>
          <p:nvPr/>
        </p:nvSpPr>
        <p:spPr>
          <a:xfrm>
            <a:off x="1587500" y="812800"/>
            <a:ext cx="1155700" cy="520700"/>
          </a:xfrm>
          <a:prstGeom prst="rect">
            <a:avLst/>
          </a:prstGeom>
          <a:solidFill>
            <a:srgbClr val="FFFFFF"/>
          </a:solidFill>
          <a:ln>
            <a:miter lim="400000"/>
          </a:ln>
        </p:spPr>
        <p:txBody>
          <a:bodyPr lIns="0" tIns="0" rIns="0" bIns="0" anchor="ctr"/>
          <a:lstStyle/>
          <a:p>
            <a:pPr lvl="0"/>
            <a:endParaRPr b="0">
              <a:latin typeface="Gill Sans" charset="0"/>
              <a:ea typeface="Gill Sans" charset="0"/>
              <a:cs typeface="Gill Sans" charset="0"/>
            </a:endParaRPr>
          </a:p>
        </p:txBody>
      </p:sp>
      <p:sp>
        <p:nvSpPr>
          <p:cNvPr id="284" name="Shape 284"/>
          <p:cNvSpPr/>
          <p:nvPr/>
        </p:nvSpPr>
        <p:spPr>
          <a:xfrm>
            <a:off x="-28197" y="4639472"/>
            <a:ext cx="4538664" cy="595035"/>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p>
            <a:pPr lvl="0">
              <a:spcBef>
                <a:spcPts val="900"/>
              </a:spcBef>
              <a:buClr>
                <a:srgbClr val="1E31E3"/>
              </a:buClr>
              <a:buFont typeface="Helvetica"/>
              <a:defRPr sz="1800">
                <a:uFillTx/>
              </a:defRPr>
            </a:pPr>
            <a:r>
              <a:rPr sz="1600" b="0" dirty="0">
                <a:solidFill>
                  <a:schemeClr val="tx1"/>
                </a:solidFill>
                <a:uFill>
                  <a:solidFill>
                    <a:schemeClr val="tx1"/>
                  </a:solidFill>
                </a:uFill>
                <a:latin typeface="Gill Sans" charset="0"/>
                <a:ea typeface="Gill Sans" charset="0"/>
                <a:cs typeface="Gill Sans" charset="0"/>
                <a:sym typeface="Helvetica"/>
              </a:rPr>
              <a:t>S</a:t>
            </a:r>
            <a:r>
              <a:rPr lang="en-US" sz="1600" b="0" dirty="0">
                <a:solidFill>
                  <a:schemeClr val="tx1"/>
                </a:solidFill>
                <a:uFill>
                  <a:solidFill>
                    <a:schemeClr val="tx1"/>
                  </a:solidFill>
                </a:uFill>
                <a:latin typeface="Gill Sans" charset="0"/>
                <a:ea typeface="Gill Sans" charset="0"/>
                <a:cs typeface="Gill Sans" charset="0"/>
                <a:sym typeface="Helvetica"/>
              </a:rPr>
              <a:t>maller runs of characteristic </a:t>
            </a:r>
            <a:r>
              <a:rPr lang="en-US" sz="1600" b="0" dirty="0" err="1">
                <a:solidFill>
                  <a:schemeClr val="tx1"/>
                </a:solidFill>
                <a:uFill>
                  <a:solidFill>
                    <a:schemeClr val="tx1"/>
                  </a:solidFill>
                </a:uFill>
                <a:latin typeface="Gill Sans" charset="0"/>
                <a:ea typeface="Gill Sans" charset="0"/>
                <a:cs typeface="Gill Sans" charset="0"/>
                <a:sym typeface="Symbol"/>
              </a:rPr>
              <a:t>φ</a:t>
            </a:r>
            <a:r>
              <a:rPr lang="en-US" sz="1600" b="0" dirty="0">
                <a:solidFill>
                  <a:schemeClr val="tx1"/>
                </a:solidFill>
                <a:uFill>
                  <a:solidFill>
                    <a:schemeClr val="tx1"/>
                  </a:solidFill>
                </a:uFill>
                <a:latin typeface="Gill Sans" charset="0"/>
                <a:ea typeface="Gill Sans" charset="0"/>
                <a:cs typeface="Gill Sans" charset="0"/>
                <a:sym typeface="Symbol"/>
              </a:rPr>
              <a:t>, </a:t>
            </a:r>
            <a:r>
              <a:rPr lang="en-US" sz="1600" b="0" dirty="0" err="1">
                <a:solidFill>
                  <a:schemeClr val="tx1"/>
                </a:solidFill>
                <a:uFill>
                  <a:solidFill>
                    <a:schemeClr val="tx1"/>
                  </a:solidFill>
                </a:uFill>
                <a:latin typeface="Gill Sans" charset="0"/>
                <a:ea typeface="Gill Sans" charset="0"/>
                <a:cs typeface="Gill Sans" charset="0"/>
                <a:sym typeface="Symbol"/>
              </a:rPr>
              <a:t>ψ</a:t>
            </a:r>
            <a:r>
              <a:rPr lang="en-US" sz="1600" b="0" dirty="0">
                <a:solidFill>
                  <a:schemeClr val="tx1"/>
                </a:solidFill>
                <a:uFill>
                  <a:solidFill>
                    <a:schemeClr val="tx1"/>
                  </a:solidFill>
                </a:uFill>
                <a:latin typeface="Gill Sans" charset="0"/>
                <a:ea typeface="Gill Sans" charset="0"/>
                <a:cs typeface="Gill Sans" charset="0"/>
              </a:rPr>
              <a:t> values are </a:t>
            </a:r>
            <a:r>
              <a:rPr lang="en-US" sz="1600" b="0" dirty="0">
                <a:solidFill>
                  <a:schemeClr val="tx1"/>
                </a:solidFill>
                <a:uFill>
                  <a:solidFill>
                    <a:schemeClr val="tx1"/>
                  </a:solidFill>
                </a:uFill>
                <a:latin typeface="Gill Sans" charset="0"/>
                <a:ea typeface="Gill Sans" charset="0"/>
                <a:cs typeface="Gill Sans" charset="0"/>
                <a:sym typeface="Helvetica"/>
              </a:rPr>
              <a:t>called </a:t>
            </a:r>
            <a:r>
              <a:rPr lang="en-US" sz="1600" b="0" u="sng" dirty="0">
                <a:solidFill>
                  <a:schemeClr val="tx1"/>
                </a:solidFill>
                <a:uFill>
                  <a:solidFill>
                    <a:schemeClr val="tx1"/>
                  </a:solidFill>
                </a:uFill>
                <a:latin typeface="Gill Sans" charset="0"/>
                <a:ea typeface="Gill Sans" charset="0"/>
                <a:cs typeface="Gill Sans" charset="0"/>
                <a:sym typeface="Helvetica"/>
              </a:rPr>
              <a:t>secondary structure, abbreviated </a:t>
            </a:r>
            <a:r>
              <a:rPr sz="1600" b="0" u="sng" dirty="0">
                <a:solidFill>
                  <a:schemeClr val="tx1"/>
                </a:solidFill>
                <a:uFill>
                  <a:solidFill>
                    <a:schemeClr val="tx1"/>
                  </a:solidFill>
                </a:uFill>
                <a:latin typeface="Gill Sans" charset="0"/>
                <a:ea typeface="Gill Sans" charset="0"/>
                <a:cs typeface="Gill Sans" charset="0"/>
                <a:sym typeface="Helvetica"/>
              </a:rPr>
              <a:t>"II"</a:t>
            </a:r>
          </a:p>
        </p:txBody>
      </p:sp>
      <p:sp>
        <p:nvSpPr>
          <p:cNvPr id="285" name="Shape 285"/>
          <p:cNvSpPr/>
          <p:nvPr/>
        </p:nvSpPr>
        <p:spPr>
          <a:xfrm>
            <a:off x="7492470" y="930429"/>
            <a:ext cx="609601" cy="523876"/>
          </a:xfrm>
          <a:prstGeom prst="rect">
            <a:avLst/>
          </a:prstGeom>
          <a:solidFill>
            <a:srgbClr val="FFFFFF">
              <a:alpha val="64395"/>
            </a:srgbClr>
          </a:solidFill>
          <a:ln>
            <a:miter lim="400000"/>
          </a:ln>
        </p:spPr>
        <p:txBody>
          <a:bodyPr lIns="0" tIns="0" rIns="0" bIns="0" anchor="ctr"/>
          <a:lstStyle/>
          <a:p>
            <a:pPr lvl="0"/>
            <a:endParaRPr b="0">
              <a:latin typeface="Gill Sans" charset="0"/>
              <a:ea typeface="Gill Sans" charset="0"/>
              <a:cs typeface="Gill Sans" charset="0"/>
            </a:endParaRPr>
          </a:p>
        </p:txBody>
      </p:sp>
      <p:sp>
        <p:nvSpPr>
          <p:cNvPr id="286" name="Shape 286"/>
          <p:cNvSpPr/>
          <p:nvPr/>
        </p:nvSpPr>
        <p:spPr>
          <a:xfrm>
            <a:off x="8246003" y="812799"/>
            <a:ext cx="609601" cy="523876"/>
          </a:xfrm>
          <a:prstGeom prst="rect">
            <a:avLst/>
          </a:prstGeom>
          <a:solidFill>
            <a:srgbClr val="FFFFFF">
              <a:alpha val="64395"/>
            </a:srgbClr>
          </a:solidFill>
          <a:ln>
            <a:miter lim="400000"/>
          </a:ln>
        </p:spPr>
        <p:txBody>
          <a:bodyPr lIns="0" tIns="0" rIns="0" bIns="0" anchor="ctr"/>
          <a:lstStyle/>
          <a:p>
            <a:pPr lvl="0"/>
            <a:endParaRPr b="0">
              <a:latin typeface="Gill Sans" charset="0"/>
              <a:ea typeface="Gill Sans" charset="0"/>
              <a:cs typeface="Gill Sans" charset="0"/>
            </a:endParaRPr>
          </a:p>
        </p:txBody>
      </p:sp>
      <p:sp>
        <p:nvSpPr>
          <p:cNvPr id="287" name="Shape 287"/>
          <p:cNvSpPr/>
          <p:nvPr/>
        </p:nvSpPr>
        <p:spPr>
          <a:xfrm>
            <a:off x="8246003" y="1583382"/>
            <a:ext cx="609601" cy="523876"/>
          </a:xfrm>
          <a:prstGeom prst="rect">
            <a:avLst/>
          </a:prstGeom>
          <a:solidFill>
            <a:srgbClr val="FFFFFF">
              <a:alpha val="64395"/>
            </a:srgbClr>
          </a:solidFill>
          <a:ln>
            <a:miter lim="400000"/>
          </a:ln>
        </p:spPr>
        <p:txBody>
          <a:bodyPr lIns="0" tIns="0" rIns="0" bIns="0" anchor="ctr"/>
          <a:lstStyle/>
          <a:p>
            <a:pPr lvl="0"/>
            <a:endParaRPr b="0">
              <a:latin typeface="Gill Sans" charset="0"/>
              <a:ea typeface="Gill Sans" charset="0"/>
              <a:cs typeface="Gill Sans" charset="0"/>
            </a:endParaRPr>
          </a:p>
        </p:txBody>
      </p:sp>
      <p:sp>
        <p:nvSpPr>
          <p:cNvPr id="288" name="Shape 288"/>
          <p:cNvSpPr/>
          <p:nvPr/>
        </p:nvSpPr>
        <p:spPr>
          <a:xfrm>
            <a:off x="8246003" y="2350453"/>
            <a:ext cx="609601" cy="523876"/>
          </a:xfrm>
          <a:prstGeom prst="rect">
            <a:avLst/>
          </a:prstGeom>
          <a:solidFill>
            <a:srgbClr val="FFFFFF">
              <a:alpha val="64395"/>
            </a:srgbClr>
          </a:solidFill>
          <a:ln>
            <a:miter lim="400000"/>
          </a:ln>
        </p:spPr>
        <p:txBody>
          <a:bodyPr lIns="0" tIns="0" rIns="0" bIns="0" anchor="ctr"/>
          <a:lstStyle/>
          <a:p>
            <a:pPr lvl="0"/>
            <a:endParaRPr b="0">
              <a:latin typeface="Gill Sans" charset="0"/>
              <a:ea typeface="Gill Sans" charset="0"/>
              <a:cs typeface="Gill Sans" charset="0"/>
            </a:endParaRPr>
          </a:p>
        </p:txBody>
      </p:sp>
      <p:sp>
        <p:nvSpPr>
          <p:cNvPr id="289" name="Shape 289"/>
          <p:cNvSpPr/>
          <p:nvPr/>
        </p:nvSpPr>
        <p:spPr>
          <a:xfrm>
            <a:off x="6038850" y="3021695"/>
            <a:ext cx="609601" cy="317501"/>
          </a:xfrm>
          <a:prstGeom prst="rect">
            <a:avLst/>
          </a:prstGeom>
          <a:solidFill>
            <a:srgbClr val="FFFFFF">
              <a:alpha val="64395"/>
            </a:srgbClr>
          </a:solidFill>
          <a:ln>
            <a:miter lim="400000"/>
          </a:ln>
        </p:spPr>
        <p:txBody>
          <a:bodyPr lIns="0" tIns="0" rIns="0" bIns="0" anchor="ctr"/>
          <a:lstStyle/>
          <a:p>
            <a:pPr lvl="0"/>
            <a:endParaRPr b="0">
              <a:latin typeface="Gill Sans" charset="0"/>
              <a:ea typeface="Gill Sans" charset="0"/>
              <a:cs typeface="Gill Sans" charset="0"/>
            </a:endParaRPr>
          </a:p>
        </p:txBody>
      </p:sp>
      <p:sp>
        <p:nvSpPr>
          <p:cNvPr id="290" name="Shape 290"/>
          <p:cNvSpPr/>
          <p:nvPr/>
        </p:nvSpPr>
        <p:spPr>
          <a:xfrm>
            <a:off x="6810375" y="3021695"/>
            <a:ext cx="609601" cy="317501"/>
          </a:xfrm>
          <a:prstGeom prst="rect">
            <a:avLst/>
          </a:prstGeom>
          <a:solidFill>
            <a:srgbClr val="FFFFFF">
              <a:alpha val="64395"/>
            </a:srgbClr>
          </a:solidFill>
          <a:ln>
            <a:miter lim="400000"/>
          </a:ln>
        </p:spPr>
        <p:txBody>
          <a:bodyPr lIns="0" tIns="0" rIns="0" bIns="0" anchor="ctr"/>
          <a:lstStyle/>
          <a:p>
            <a:pPr lvl="0"/>
            <a:endParaRPr b="0">
              <a:latin typeface="Gill Sans" charset="0"/>
              <a:ea typeface="Gill Sans" charset="0"/>
              <a:cs typeface="Gill Sans" charset="0"/>
            </a:endParaRPr>
          </a:p>
        </p:txBody>
      </p:sp>
      <p:sp>
        <p:nvSpPr>
          <p:cNvPr id="291" name="Shape 291"/>
          <p:cNvSpPr/>
          <p:nvPr/>
        </p:nvSpPr>
        <p:spPr>
          <a:xfrm>
            <a:off x="7581900" y="2524918"/>
            <a:ext cx="430742" cy="317501"/>
          </a:xfrm>
          <a:prstGeom prst="rect">
            <a:avLst/>
          </a:prstGeom>
          <a:solidFill>
            <a:srgbClr val="FFFFFF">
              <a:alpha val="64395"/>
            </a:srgbClr>
          </a:solidFill>
          <a:ln>
            <a:miter lim="400000"/>
          </a:ln>
        </p:spPr>
        <p:txBody>
          <a:bodyPr lIns="0" tIns="0" rIns="0" bIns="0" anchor="ctr"/>
          <a:lstStyle/>
          <a:p>
            <a:pPr lvl="0"/>
            <a:endParaRPr b="0">
              <a:latin typeface="Gill Sans" charset="0"/>
              <a:ea typeface="Gill Sans" charset="0"/>
              <a:cs typeface="Gill Sans" charset="0"/>
            </a:endParaRPr>
          </a:p>
        </p:txBody>
      </p:sp>
      <p:sp>
        <p:nvSpPr>
          <p:cNvPr id="219" name="Shape 219"/>
          <p:cNvSpPr/>
          <p:nvPr/>
        </p:nvSpPr>
        <p:spPr>
          <a:xfrm>
            <a:off x="36128" y="3797728"/>
            <a:ext cx="5831023" cy="769441"/>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lvl="0">
              <a:spcBef>
                <a:spcPts val="900"/>
              </a:spcBef>
              <a:buClr>
                <a:srgbClr val="1E31E3"/>
              </a:buClr>
              <a:buFont typeface="Helvetica"/>
              <a:defRPr sz="1800">
                <a:uFillTx/>
              </a:defRPr>
            </a:pPr>
            <a:r>
              <a:rPr sz="1600" b="0" dirty="0">
                <a:solidFill>
                  <a:schemeClr val="tx1"/>
                </a:solidFill>
                <a:uFill>
                  <a:solidFill>
                    <a:schemeClr val="tx1"/>
                  </a:solidFill>
                </a:uFill>
                <a:latin typeface="Gill Sans" charset="0"/>
                <a:ea typeface="Gill Sans" charset="0"/>
                <a:cs typeface="Gill Sans" charset="0"/>
                <a:sym typeface="Helvetica"/>
              </a:rPr>
              <a:t>A</a:t>
            </a:r>
            <a:r>
              <a:rPr lang="en-US" sz="1600" b="0" dirty="0">
                <a:solidFill>
                  <a:schemeClr val="tx1"/>
                </a:solidFill>
                <a:uFill>
                  <a:solidFill>
                    <a:schemeClr val="tx1"/>
                  </a:solidFill>
                </a:uFill>
                <a:latin typeface="Gill Sans" charset="0"/>
                <a:ea typeface="Gill Sans" charset="0"/>
                <a:cs typeface="Gill Sans" charset="0"/>
                <a:sym typeface="Helvetica"/>
              </a:rPr>
              <a:t>ll proteins: complete </a:t>
            </a:r>
            <a:r>
              <a:rPr lang="en-US" sz="1600" dirty="0">
                <a:solidFill>
                  <a:srgbClr val="FF0000"/>
                </a:solidFill>
                <a:uFill>
                  <a:solidFill>
                    <a:schemeClr val="tx1"/>
                  </a:solidFill>
                </a:uFill>
                <a:latin typeface="Gill Sans" charset="0"/>
                <a:ea typeface="Gill Sans" charset="0"/>
                <a:cs typeface="Gill Sans" charset="0"/>
                <a:sym typeface="Helvetica"/>
              </a:rPr>
              <a:t>sequence</a:t>
            </a:r>
            <a:r>
              <a:rPr lang="en-US" sz="1600" b="0" dirty="0">
                <a:solidFill>
                  <a:schemeClr val="tx1"/>
                </a:solidFill>
                <a:uFill>
                  <a:solidFill>
                    <a:schemeClr val="tx1"/>
                  </a:solidFill>
                </a:uFill>
                <a:latin typeface="Gill Sans" charset="0"/>
                <a:ea typeface="Gill Sans" charset="0"/>
                <a:cs typeface="Gill Sans" charset="0"/>
                <a:sym typeface="Helvetica"/>
              </a:rPr>
              <a:t> </a:t>
            </a:r>
            <a:r>
              <a:rPr lang="en-US" sz="1600" dirty="0">
                <a:solidFill>
                  <a:srgbClr val="FF0000"/>
                </a:solidFill>
                <a:uFill>
                  <a:solidFill>
                    <a:schemeClr val="tx1"/>
                  </a:solidFill>
                </a:uFill>
                <a:latin typeface="Gill Sans" charset="0"/>
                <a:ea typeface="Gill Sans" charset="0"/>
                <a:cs typeface="Gill Sans" charset="0"/>
                <a:sym typeface="Helvetica"/>
              </a:rPr>
              <a:t>of </a:t>
            </a:r>
            <a:r>
              <a:rPr lang="en-US" dirty="0">
                <a:solidFill>
                  <a:srgbClr val="FF0000"/>
                </a:solidFill>
                <a:uFill>
                  <a:solidFill>
                    <a:schemeClr val="tx1"/>
                  </a:solidFill>
                </a:uFill>
                <a:latin typeface="Gill Sans" charset="0"/>
                <a:ea typeface="Gill Sans" charset="0"/>
                <a:cs typeface="Gill Sans" charset="0"/>
                <a:sym typeface="Symbol"/>
              </a:rPr>
              <a:t>φ, ψ</a:t>
            </a:r>
            <a:r>
              <a:rPr lang="en-US" sz="1600" dirty="0">
                <a:solidFill>
                  <a:srgbClr val="FF0000"/>
                </a:solidFill>
                <a:uFill>
                  <a:solidFill>
                    <a:schemeClr val="tx1"/>
                  </a:solidFill>
                </a:uFill>
                <a:latin typeface="Gill Sans" charset="0"/>
                <a:ea typeface="Gill Sans" charset="0"/>
                <a:cs typeface="Gill Sans" charset="0"/>
                <a:sym typeface="Helvetica"/>
              </a:rPr>
              <a:t> values </a:t>
            </a:r>
            <a:r>
              <a:rPr lang="en-US" sz="1600" b="0" dirty="0">
                <a:solidFill>
                  <a:schemeClr val="tx1"/>
                </a:solidFill>
                <a:uFill>
                  <a:solidFill>
                    <a:schemeClr val="tx1"/>
                  </a:solidFill>
                </a:uFill>
                <a:latin typeface="Gill Sans" charset="0"/>
                <a:ea typeface="Gill Sans" charset="0"/>
                <a:cs typeface="Gill Sans" charset="0"/>
                <a:sym typeface="Helvetica"/>
              </a:rPr>
              <a:t>defines 3D </a:t>
            </a:r>
            <a:r>
              <a:rPr lang="en-US" sz="1600" b="0" u="sng" dirty="0">
                <a:solidFill>
                  <a:schemeClr val="tx1"/>
                </a:solidFill>
                <a:uFill>
                  <a:solidFill>
                    <a:schemeClr val="tx1"/>
                  </a:solidFill>
                </a:uFill>
                <a:latin typeface="Gill Sans" charset="0"/>
                <a:ea typeface="Gill Sans" charset="0"/>
                <a:cs typeface="Gill Sans" charset="0"/>
                <a:sym typeface="Helvetica"/>
              </a:rPr>
              <a:t>path</a:t>
            </a:r>
            <a:r>
              <a:rPr lang="en-US" sz="1600" b="0" dirty="0">
                <a:solidFill>
                  <a:schemeClr val="tx1"/>
                </a:solidFill>
                <a:uFill>
                  <a:solidFill>
                    <a:schemeClr val="tx1"/>
                  </a:solidFill>
                </a:uFill>
                <a:latin typeface="Gill Sans" charset="0"/>
                <a:ea typeface="Gill Sans" charset="0"/>
                <a:cs typeface="Gill Sans" charset="0"/>
                <a:sym typeface="Helvetica"/>
              </a:rPr>
              <a:t> of the polypeptide chain (but not the sidechain conformations!).  Full 3D structure of one polypeptide chain is </a:t>
            </a:r>
            <a:r>
              <a:rPr lang="en-US" sz="1600" b="0" u="sng" dirty="0">
                <a:solidFill>
                  <a:schemeClr val="tx1"/>
                </a:solidFill>
                <a:uFill>
                  <a:solidFill>
                    <a:schemeClr val="tx1"/>
                  </a:solidFill>
                </a:uFill>
                <a:latin typeface="Gill Sans" charset="0"/>
                <a:ea typeface="Gill Sans" charset="0"/>
                <a:cs typeface="Gill Sans" charset="0"/>
                <a:sym typeface="Helvetica"/>
              </a:rPr>
              <a:t>tertiary structure (“III”)</a:t>
            </a:r>
            <a:r>
              <a:rPr lang="en-US" sz="1600" b="0" dirty="0">
                <a:solidFill>
                  <a:schemeClr val="tx1"/>
                </a:solidFill>
                <a:uFill>
                  <a:solidFill>
                    <a:schemeClr val="tx1"/>
                  </a:solidFill>
                </a:uFill>
                <a:latin typeface="Gill Sans" charset="0"/>
                <a:ea typeface="Gill Sans" charset="0"/>
                <a:cs typeface="Gill Sans" charset="0"/>
                <a:sym typeface="Helvetica"/>
              </a:rPr>
              <a:t>.</a:t>
            </a:r>
            <a:endParaRPr sz="1600" b="0" u="sng" dirty="0">
              <a:solidFill>
                <a:schemeClr val="tx1"/>
              </a:solidFill>
              <a:uFill>
                <a:solidFill>
                  <a:schemeClr val="tx1"/>
                </a:solidFill>
              </a:uFill>
              <a:latin typeface="Gill Sans" charset="0"/>
              <a:ea typeface="Gill Sans" charset="0"/>
              <a:cs typeface="Gill Sans" charset="0"/>
              <a:sym typeface="Helvetica"/>
            </a:endParaRPr>
          </a:p>
        </p:txBody>
      </p:sp>
      <p:sp>
        <p:nvSpPr>
          <p:cNvPr id="2" name="Rectangle 1"/>
          <p:cNvSpPr/>
          <p:nvPr/>
        </p:nvSpPr>
        <p:spPr>
          <a:xfrm>
            <a:off x="476250" y="1092201"/>
            <a:ext cx="341313" cy="241299"/>
          </a:xfrm>
          <a:prstGeom prst="rect">
            <a:avLst/>
          </a:pr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78" name="Rectangle 77"/>
          <p:cNvSpPr/>
          <p:nvPr/>
        </p:nvSpPr>
        <p:spPr>
          <a:xfrm>
            <a:off x="567532" y="2570165"/>
            <a:ext cx="341313" cy="241299"/>
          </a:xfrm>
          <a:prstGeom prst="rect">
            <a:avLst/>
          </a:pr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79" name="Rectangle 78"/>
          <p:cNvSpPr/>
          <p:nvPr/>
        </p:nvSpPr>
        <p:spPr>
          <a:xfrm>
            <a:off x="1383260" y="3456158"/>
            <a:ext cx="890519" cy="241299"/>
          </a:xfrm>
          <a:prstGeom prst="rect">
            <a:avLst/>
          </a:pr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pic>
        <p:nvPicPr>
          <p:cNvPr id="3" name="Picture 2">
            <a:extLst>
              <a:ext uri="{FF2B5EF4-FFF2-40B4-BE49-F238E27FC236}">
                <a16:creationId xmlns:a16="http://schemas.microsoft.com/office/drawing/2014/main" id="{BB5015C2-AEEF-2F4C-99DC-572817E44E28}"/>
              </a:ext>
            </a:extLst>
          </p:cNvPr>
          <p:cNvPicPr>
            <a:picLocks noChangeAspect="1"/>
          </p:cNvPicPr>
          <p:nvPr/>
        </p:nvPicPr>
        <p:blipFill>
          <a:blip r:embed="rId4"/>
          <a:stretch>
            <a:fillRect/>
          </a:stretch>
        </p:blipFill>
        <p:spPr>
          <a:xfrm>
            <a:off x="-42150" y="763463"/>
            <a:ext cx="3022600" cy="3048000"/>
          </a:xfrm>
          <a:prstGeom prst="rect">
            <a:avLst/>
          </a:prstGeom>
        </p:spPr>
      </p:pic>
      <p:pic>
        <p:nvPicPr>
          <p:cNvPr id="5" name="Picture 4">
            <a:extLst>
              <a:ext uri="{FF2B5EF4-FFF2-40B4-BE49-F238E27FC236}">
                <a16:creationId xmlns:a16="http://schemas.microsoft.com/office/drawing/2014/main" id="{8AB81705-310E-2641-B9F0-5F2818253A02}"/>
              </a:ext>
            </a:extLst>
          </p:cNvPr>
          <p:cNvPicPr>
            <a:picLocks noChangeAspect="1"/>
          </p:cNvPicPr>
          <p:nvPr/>
        </p:nvPicPr>
        <p:blipFill>
          <a:blip r:embed="rId5"/>
          <a:stretch>
            <a:fillRect/>
          </a:stretch>
        </p:blipFill>
        <p:spPr>
          <a:xfrm>
            <a:off x="8670" y="764183"/>
            <a:ext cx="1155700" cy="2959100"/>
          </a:xfrm>
          <a:prstGeom prst="rect">
            <a:avLst/>
          </a:prstGeom>
        </p:spPr>
      </p:pic>
      <p:grpSp>
        <p:nvGrpSpPr>
          <p:cNvPr id="7" name="Group 6">
            <a:extLst>
              <a:ext uri="{FF2B5EF4-FFF2-40B4-BE49-F238E27FC236}">
                <a16:creationId xmlns:a16="http://schemas.microsoft.com/office/drawing/2014/main" id="{F5FBBA63-5B1E-214B-BF9A-4A506592D6CD}"/>
              </a:ext>
            </a:extLst>
          </p:cNvPr>
          <p:cNvGrpSpPr/>
          <p:nvPr/>
        </p:nvGrpSpPr>
        <p:grpSpPr>
          <a:xfrm>
            <a:off x="1367002" y="1444713"/>
            <a:ext cx="1603711" cy="533479"/>
            <a:chOff x="1367002" y="1444713"/>
            <a:chExt cx="1603711" cy="533479"/>
          </a:xfrm>
        </p:grpSpPr>
        <p:cxnSp>
          <p:nvCxnSpPr>
            <p:cNvPr id="4" name="Straight Connector 3"/>
            <p:cNvCxnSpPr/>
            <p:nvPr/>
          </p:nvCxnSpPr>
          <p:spPr>
            <a:xfrm>
              <a:off x="1367002" y="1721960"/>
              <a:ext cx="445586" cy="0"/>
            </a:xfrm>
            <a:prstGeom prst="line">
              <a:avLst/>
            </a:prstGeom>
            <a:noFill/>
            <a:ln w="28575" cap="flat">
              <a:solidFill>
                <a:srgbClr val="000000"/>
              </a:solidFill>
              <a:prstDash val="solid"/>
              <a:round/>
            </a:ln>
            <a:effectLst/>
          </p:spPr>
          <p:style>
            <a:lnRef idx="0">
              <a:scrgbClr r="0" g="0" b="0"/>
            </a:lnRef>
            <a:fillRef idx="0">
              <a:scrgbClr r="0" g="0" b="0"/>
            </a:fillRef>
            <a:effectRef idx="0">
              <a:scrgbClr r="0" g="0" b="0"/>
            </a:effectRef>
            <a:fontRef idx="none"/>
          </p:style>
        </p:cxnSp>
        <p:sp>
          <p:nvSpPr>
            <p:cNvPr id="6" name="TextBox 5"/>
            <p:cNvSpPr txBox="1"/>
            <p:nvPr/>
          </p:nvSpPr>
          <p:spPr>
            <a:xfrm>
              <a:off x="1818987" y="1444713"/>
              <a:ext cx="1151726" cy="53347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400" b="0" u="none" strike="noStrike" cap="none" spc="0" normalizeH="0" baseline="0" dirty="0">
                  <a:ln>
                    <a:noFill/>
                  </a:ln>
                  <a:solidFill>
                    <a:srgbClr val="000000"/>
                  </a:solidFill>
                  <a:effectLst/>
                  <a:uFill>
                    <a:solidFill>
                      <a:srgbClr val="000000"/>
                    </a:solidFill>
                  </a:uFill>
                  <a:latin typeface="Gill Sans" charset="0"/>
                  <a:ea typeface="Gill Sans" charset="0"/>
                  <a:cs typeface="Gill Sans" charset="0"/>
                  <a:sym typeface="Helvetica"/>
                </a:rPr>
                <a:t>atoms</a:t>
              </a:r>
              <a:r>
                <a:rPr kumimoji="0" lang="en-US" sz="1400" b="0" u="none" strike="noStrike" cap="none" spc="0" normalizeH="0" dirty="0">
                  <a:ln>
                    <a:noFill/>
                  </a:ln>
                  <a:solidFill>
                    <a:srgbClr val="000000"/>
                  </a:solidFill>
                  <a:effectLst/>
                  <a:uFill>
                    <a:solidFill>
                      <a:srgbClr val="000000"/>
                    </a:solidFill>
                  </a:uFill>
                  <a:latin typeface="Gill Sans" charset="0"/>
                  <a:ea typeface="Gill Sans" charset="0"/>
                  <a:cs typeface="Gill Sans" charset="0"/>
                  <a:sym typeface="Helvetica"/>
                </a:rPr>
                <a:t> are    hard spheres</a:t>
              </a:r>
              <a:endParaRPr kumimoji="0" lang="en-US" sz="1400" b="0" u="none" strike="noStrike" cap="none" spc="0" normalizeH="0" baseline="0" dirty="0">
                <a:ln>
                  <a:noFill/>
                </a:ln>
                <a:solidFill>
                  <a:srgbClr val="000000"/>
                </a:solidFill>
                <a:effectLst/>
                <a:uFill>
                  <a:solidFill>
                    <a:srgbClr val="000000"/>
                  </a:solidFill>
                </a:uFill>
                <a:latin typeface="Gill Sans" charset="0"/>
                <a:ea typeface="Gill Sans" charset="0"/>
                <a:cs typeface="Gill Sans" charset="0"/>
                <a:sym typeface="Helvetica"/>
              </a:endParaRPr>
            </a:p>
          </p:txBody>
        </p:sp>
      </p:grpSp>
      <p:grpSp>
        <p:nvGrpSpPr>
          <p:cNvPr id="8" name="Group 7">
            <a:extLst>
              <a:ext uri="{FF2B5EF4-FFF2-40B4-BE49-F238E27FC236}">
                <a16:creationId xmlns:a16="http://schemas.microsoft.com/office/drawing/2014/main" id="{106116F3-5C93-6544-9031-265FC0EEEF24}"/>
              </a:ext>
            </a:extLst>
          </p:cNvPr>
          <p:cNvGrpSpPr/>
          <p:nvPr/>
        </p:nvGrpSpPr>
        <p:grpSpPr>
          <a:xfrm>
            <a:off x="1387754" y="1902279"/>
            <a:ext cx="1603711" cy="748923"/>
            <a:chOff x="3928436" y="2417293"/>
            <a:chExt cx="1603711" cy="748923"/>
          </a:xfrm>
        </p:grpSpPr>
        <p:cxnSp>
          <p:nvCxnSpPr>
            <p:cNvPr id="84" name="Straight Connector 83"/>
            <p:cNvCxnSpPr/>
            <p:nvPr/>
          </p:nvCxnSpPr>
          <p:spPr>
            <a:xfrm>
              <a:off x="3928436" y="2676629"/>
              <a:ext cx="432204" cy="4468"/>
            </a:xfrm>
            <a:prstGeom prst="line">
              <a:avLst/>
            </a:prstGeom>
            <a:noFill/>
            <a:ln w="38100" cap="flat">
              <a:solidFill>
                <a:srgbClr val="1855FF"/>
              </a:solidFill>
              <a:prstDash val="sysDot"/>
              <a:round/>
            </a:ln>
            <a:effectLst/>
          </p:spPr>
          <p:style>
            <a:lnRef idx="0">
              <a:scrgbClr r="0" g="0" b="0"/>
            </a:lnRef>
            <a:fillRef idx="0">
              <a:scrgbClr r="0" g="0" b="0"/>
            </a:fillRef>
            <a:effectRef idx="0">
              <a:scrgbClr r="0" g="0" b="0"/>
            </a:effectRef>
            <a:fontRef idx="none"/>
          </p:style>
        </p:cxnSp>
        <p:sp>
          <p:nvSpPr>
            <p:cNvPr id="91" name="TextBox 90"/>
            <p:cNvSpPr txBox="1"/>
            <p:nvPr/>
          </p:nvSpPr>
          <p:spPr>
            <a:xfrm>
              <a:off x="4380421" y="2417293"/>
              <a:ext cx="1151726" cy="74892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1400" b="0" u="none" strike="noStrike" cap="none" spc="0" normalizeH="0" baseline="0" dirty="0">
                  <a:ln>
                    <a:noFill/>
                  </a:ln>
                  <a:solidFill>
                    <a:srgbClr val="0541E0"/>
                  </a:solidFill>
                  <a:effectLst/>
                  <a:uFill>
                    <a:solidFill>
                      <a:srgbClr val="000000"/>
                    </a:solidFill>
                  </a:uFill>
                  <a:latin typeface="Gill Sans" charset="0"/>
                  <a:ea typeface="Gill Sans" charset="0"/>
                  <a:cs typeface="Gill Sans" charset="0"/>
                  <a:sym typeface="Helvetica"/>
                </a:rPr>
                <a:t>atoms</a:t>
              </a:r>
              <a:r>
                <a:rPr kumimoji="0" lang="en-US" sz="1400" b="0" u="none" strike="noStrike" cap="none" spc="0" normalizeH="0" dirty="0">
                  <a:ln>
                    <a:noFill/>
                  </a:ln>
                  <a:solidFill>
                    <a:srgbClr val="0541E0"/>
                  </a:solidFill>
                  <a:effectLst/>
                  <a:uFill>
                    <a:solidFill>
                      <a:srgbClr val="000000"/>
                    </a:solidFill>
                  </a:uFill>
                  <a:latin typeface="Gill Sans" charset="0"/>
                  <a:ea typeface="Gill Sans" charset="0"/>
                  <a:cs typeface="Gill Sans" charset="0"/>
                  <a:sym typeface="Helvetica"/>
                </a:rPr>
                <a:t> are    smaller        hard spheres</a:t>
              </a:r>
              <a:endParaRPr kumimoji="0" lang="en-US" sz="1400" b="0" u="none" strike="noStrike" cap="none" spc="0" normalizeH="0" baseline="0" dirty="0">
                <a:ln>
                  <a:noFill/>
                </a:ln>
                <a:solidFill>
                  <a:srgbClr val="0541E0"/>
                </a:solidFill>
                <a:effectLst/>
                <a:uFill>
                  <a:solidFill>
                    <a:srgbClr val="000000"/>
                  </a:solidFill>
                </a:uFill>
                <a:latin typeface="Gill Sans" charset="0"/>
                <a:ea typeface="Gill Sans" charset="0"/>
                <a:cs typeface="Gill Sans" charset="0"/>
                <a:sym typeface="Helvetica"/>
              </a:endParaRPr>
            </a:p>
          </p:txBody>
        </p:sp>
      </p:grpSp>
      <p:grpSp>
        <p:nvGrpSpPr>
          <p:cNvPr id="10" name="Group 9">
            <a:extLst>
              <a:ext uri="{FF2B5EF4-FFF2-40B4-BE49-F238E27FC236}">
                <a16:creationId xmlns:a16="http://schemas.microsoft.com/office/drawing/2014/main" id="{AEC5A5C2-AD2A-F645-AF03-10A8ED6ED827}"/>
              </a:ext>
            </a:extLst>
          </p:cNvPr>
          <p:cNvGrpSpPr/>
          <p:nvPr/>
        </p:nvGrpSpPr>
        <p:grpSpPr>
          <a:xfrm>
            <a:off x="78678" y="6421975"/>
            <a:ext cx="6118922" cy="350001"/>
            <a:chOff x="78678" y="6421975"/>
            <a:chExt cx="6118922" cy="350001"/>
          </a:xfrm>
        </p:grpSpPr>
        <p:sp>
          <p:nvSpPr>
            <p:cNvPr id="50" name="Shape 218">
              <a:extLst>
                <a:ext uri="{FF2B5EF4-FFF2-40B4-BE49-F238E27FC236}">
                  <a16:creationId xmlns:a16="http://schemas.microsoft.com/office/drawing/2014/main" id="{7C1C57C3-C033-B74B-A4EB-B99DDA985871}"/>
                </a:ext>
              </a:extLst>
            </p:cNvPr>
            <p:cNvSpPr/>
            <p:nvPr/>
          </p:nvSpPr>
          <p:spPr>
            <a:xfrm>
              <a:off x="132472" y="6447376"/>
              <a:ext cx="6065128" cy="246221"/>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lvl="0">
                <a:spcBef>
                  <a:spcPts val="900"/>
                </a:spcBef>
                <a:buClr>
                  <a:srgbClr val="1E31E3"/>
                </a:buClr>
                <a:buFont typeface="Symbol"/>
                <a:defRPr sz="1800">
                  <a:uFillTx/>
                </a:defRPr>
              </a:pPr>
              <a:r>
                <a:rPr lang="en-US" sz="1600" b="0" dirty="0">
                  <a:solidFill>
                    <a:schemeClr val="tx1"/>
                  </a:solidFill>
                  <a:uFill>
                    <a:solidFill>
                      <a:srgbClr val="1E31E3"/>
                    </a:solidFill>
                  </a:uFill>
                  <a:latin typeface="Gill Sans" charset="0"/>
                  <a:ea typeface="Gill Sans" charset="0"/>
                  <a:cs typeface="Gill Sans" charset="0"/>
                </a:rPr>
                <a:t>These </a:t>
              </a:r>
              <a:r>
                <a:rPr lang="en-US" sz="1600" b="0" i="1" u="sng" dirty="0">
                  <a:solidFill>
                    <a:srgbClr val="0541E0"/>
                  </a:solidFill>
                  <a:uFill>
                    <a:solidFill>
                      <a:srgbClr val="1E31E3"/>
                    </a:solidFill>
                  </a:uFill>
                  <a:latin typeface="Gill Sans" charset="0"/>
                  <a:ea typeface="Gill Sans" charset="0"/>
                  <a:cs typeface="Gill Sans" charset="0"/>
                </a:rPr>
                <a:t>all</a:t>
              </a:r>
              <a:r>
                <a:rPr lang="en-US" sz="1600" b="0" dirty="0">
                  <a:solidFill>
                    <a:schemeClr val="tx1"/>
                  </a:solidFill>
                  <a:uFill>
                    <a:solidFill>
                      <a:srgbClr val="1E31E3"/>
                    </a:solidFill>
                  </a:uFill>
                  <a:latin typeface="Gill Sans" charset="0"/>
                  <a:ea typeface="Gill Sans" charset="0"/>
                  <a:cs typeface="Gill Sans" charset="0"/>
                </a:rPr>
                <a:t> have </a:t>
              </a:r>
              <a:r>
                <a:rPr lang="en-US" sz="1600" b="0" dirty="0" err="1">
                  <a:solidFill>
                    <a:schemeClr val="tx1"/>
                  </a:solidFill>
                  <a:uFill>
                    <a:solidFill>
                      <a:schemeClr val="tx1"/>
                    </a:solidFill>
                  </a:uFill>
                  <a:latin typeface="Gill Sans" charset="0"/>
                  <a:ea typeface="Gill Sans" charset="0"/>
                  <a:cs typeface="Gill Sans" charset="0"/>
                  <a:sym typeface="Symbol"/>
                </a:rPr>
                <a:t>φ</a:t>
              </a:r>
              <a:r>
                <a:rPr lang="en-US" sz="1600" b="0" dirty="0">
                  <a:solidFill>
                    <a:schemeClr val="tx1"/>
                  </a:solidFill>
                  <a:uFill>
                    <a:solidFill>
                      <a:schemeClr val="tx1"/>
                    </a:solidFill>
                  </a:uFill>
                  <a:latin typeface="Gill Sans" charset="0"/>
                  <a:ea typeface="Gill Sans" charset="0"/>
                  <a:cs typeface="Gill Sans" charset="0"/>
                  <a:sym typeface="Symbol"/>
                </a:rPr>
                <a:t>, </a:t>
              </a:r>
              <a:r>
                <a:rPr lang="en-US" sz="1600" b="0" dirty="0" err="1">
                  <a:solidFill>
                    <a:schemeClr val="tx1"/>
                  </a:solidFill>
                  <a:uFill>
                    <a:solidFill>
                      <a:schemeClr val="tx1"/>
                    </a:solidFill>
                  </a:uFill>
                  <a:latin typeface="Gill Sans" charset="0"/>
                  <a:ea typeface="Gill Sans" charset="0"/>
                  <a:cs typeface="Gill Sans" charset="0"/>
                  <a:sym typeface="Symbol"/>
                </a:rPr>
                <a:t>ψ</a:t>
              </a:r>
              <a:r>
                <a:rPr lang="en-US" sz="1600" b="0" dirty="0">
                  <a:solidFill>
                    <a:schemeClr val="tx1"/>
                  </a:solidFill>
                  <a:uFill>
                    <a:solidFill>
                      <a:schemeClr val="tx1"/>
                    </a:solidFill>
                  </a:uFill>
                  <a:latin typeface="Gill Sans" charset="0"/>
                  <a:ea typeface="Gill Sans" charset="0"/>
                  <a:cs typeface="Gill Sans" charset="0"/>
                </a:rPr>
                <a:t> values within the “no steric hindrance” regions</a:t>
              </a:r>
              <a:r>
                <a:rPr lang="en-US" sz="1600" b="0" dirty="0">
                  <a:solidFill>
                    <a:schemeClr val="tx1"/>
                  </a:solidFill>
                  <a:uFill>
                    <a:solidFill>
                      <a:srgbClr val="1E31E3"/>
                    </a:solidFill>
                  </a:uFill>
                  <a:latin typeface="Gill Sans" charset="0"/>
                  <a:ea typeface="Gill Sans" charset="0"/>
                  <a:cs typeface="Gill Sans" charset="0"/>
                </a:rPr>
                <a:t> </a:t>
              </a:r>
              <a:endParaRPr lang="en-US" sz="1600" b="0" dirty="0">
                <a:solidFill>
                  <a:schemeClr val="tx1"/>
                </a:solidFill>
                <a:uFill>
                  <a:solidFill>
                    <a:srgbClr val="1E31E3"/>
                  </a:solidFill>
                </a:uFill>
                <a:latin typeface="Gill Sans" charset="0"/>
                <a:ea typeface="Gill Sans" charset="0"/>
                <a:cs typeface="Gill Sans" charset="0"/>
                <a:sym typeface="Helvetica"/>
              </a:endParaRPr>
            </a:p>
          </p:txBody>
        </p:sp>
        <p:sp>
          <p:nvSpPr>
            <p:cNvPr id="9" name="Rectangle 8">
              <a:extLst>
                <a:ext uri="{FF2B5EF4-FFF2-40B4-BE49-F238E27FC236}">
                  <a16:creationId xmlns:a16="http://schemas.microsoft.com/office/drawing/2014/main" id="{8A6280F3-2451-B545-A692-23AD484A36BA}"/>
                </a:ext>
              </a:extLst>
            </p:cNvPr>
            <p:cNvSpPr/>
            <p:nvPr/>
          </p:nvSpPr>
          <p:spPr>
            <a:xfrm>
              <a:off x="78678" y="6421975"/>
              <a:ext cx="5703521" cy="350001"/>
            </a:xfrm>
            <a:prstGeom prst="rect">
              <a:avLst/>
            </a:prstGeom>
            <a:noFill/>
            <a:ln w="9525" cap="flat">
              <a:solidFill>
                <a:srgbClr val="0737F8"/>
              </a:solid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grpSp>
      <p:sp>
        <p:nvSpPr>
          <p:cNvPr id="11" name="TextBox 10">
            <a:extLst>
              <a:ext uri="{FF2B5EF4-FFF2-40B4-BE49-F238E27FC236}">
                <a16:creationId xmlns:a16="http://schemas.microsoft.com/office/drawing/2014/main" id="{15BD8750-170B-F248-B817-CEFDC2D0EB72}"/>
              </a:ext>
            </a:extLst>
          </p:cNvPr>
          <p:cNvSpPr txBox="1"/>
          <p:nvPr/>
        </p:nvSpPr>
        <p:spPr>
          <a:xfrm>
            <a:off x="3439423" y="2239022"/>
            <a:ext cx="2618024"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lang="en-US" dirty="0">
                <a:solidFill>
                  <a:srgbClr val="000000"/>
                </a:solidFill>
                <a:uFill>
                  <a:solidFill>
                    <a:srgbClr val="000000"/>
                  </a:solidFill>
                </a:uFill>
              </a:rPr>
              <a:t>Observed (allowed) </a:t>
            </a:r>
            <a:endPar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cxnSp>
        <p:nvCxnSpPr>
          <p:cNvPr id="13" name="Straight Arrow Connector 12">
            <a:extLst>
              <a:ext uri="{FF2B5EF4-FFF2-40B4-BE49-F238E27FC236}">
                <a16:creationId xmlns:a16="http://schemas.microsoft.com/office/drawing/2014/main" id="{2BCB13FF-4687-7C4C-B626-29C201528434}"/>
              </a:ext>
            </a:extLst>
          </p:cNvPr>
          <p:cNvCxnSpPr>
            <a:cxnSpLocks/>
          </p:cNvCxnSpPr>
          <p:nvPr/>
        </p:nvCxnSpPr>
        <p:spPr>
          <a:xfrm flipV="1">
            <a:off x="5867151" y="1197203"/>
            <a:ext cx="669206" cy="1134975"/>
          </a:xfrm>
          <a:prstGeom prst="straightConnector1">
            <a:avLst/>
          </a:prstGeom>
          <a:noFill/>
          <a:ln w="76200" cap="flat">
            <a:solidFill>
              <a:srgbClr val="FF0000"/>
            </a:solidFill>
            <a:prstDash val="solid"/>
            <a:round/>
            <a:tailEnd type="triangle"/>
          </a:ln>
          <a:effectLst/>
        </p:spPr>
        <p:style>
          <a:lnRef idx="0">
            <a:scrgbClr r="0" g="0" b="0"/>
          </a:lnRef>
          <a:fillRef idx="0">
            <a:scrgbClr r="0" g="0" b="0"/>
          </a:fillRef>
          <a:effectRef idx="0">
            <a:scrgbClr r="0" g="0" b="0"/>
          </a:effectRef>
          <a:fontRef idx="none"/>
        </p:style>
      </p:cxnSp>
      <p:cxnSp>
        <p:nvCxnSpPr>
          <p:cNvPr id="57" name="Straight Arrow Connector 56">
            <a:extLst>
              <a:ext uri="{FF2B5EF4-FFF2-40B4-BE49-F238E27FC236}">
                <a16:creationId xmlns:a16="http://schemas.microsoft.com/office/drawing/2014/main" id="{1E9A1D2A-30AC-0B4F-9B8F-CC3B19A2982A}"/>
              </a:ext>
            </a:extLst>
          </p:cNvPr>
          <p:cNvCxnSpPr>
            <a:cxnSpLocks/>
          </p:cNvCxnSpPr>
          <p:nvPr/>
        </p:nvCxnSpPr>
        <p:spPr>
          <a:xfrm flipV="1">
            <a:off x="5904329" y="2416617"/>
            <a:ext cx="954387" cy="93788"/>
          </a:xfrm>
          <a:prstGeom prst="straightConnector1">
            <a:avLst/>
          </a:prstGeom>
          <a:noFill/>
          <a:ln w="76200" cap="flat">
            <a:solidFill>
              <a:srgbClr val="FF0000"/>
            </a:solidFill>
            <a:prstDash val="solid"/>
            <a:round/>
            <a:tailEnd type="triangle"/>
          </a:ln>
          <a:effectLst/>
        </p:spPr>
        <p:style>
          <a:lnRef idx="0">
            <a:scrgbClr r="0" g="0" b="0"/>
          </a:lnRef>
          <a:fillRef idx="0">
            <a:scrgbClr r="0" g="0" b="0"/>
          </a:fillRef>
          <a:effectRef idx="0">
            <a:scrgbClr r="0" g="0" b="0"/>
          </a:effectRef>
          <a:fontRef idx="none"/>
        </p:style>
      </p:cxnSp>
      <p:cxnSp>
        <p:nvCxnSpPr>
          <p:cNvPr id="60" name="Straight Arrow Connector 59">
            <a:extLst>
              <a:ext uri="{FF2B5EF4-FFF2-40B4-BE49-F238E27FC236}">
                <a16:creationId xmlns:a16="http://schemas.microsoft.com/office/drawing/2014/main" id="{C52DBE09-6CFE-6D41-A1A0-4E933B3A9C4D}"/>
              </a:ext>
            </a:extLst>
          </p:cNvPr>
          <p:cNvCxnSpPr>
            <a:cxnSpLocks/>
          </p:cNvCxnSpPr>
          <p:nvPr/>
        </p:nvCxnSpPr>
        <p:spPr>
          <a:xfrm flipV="1">
            <a:off x="5904329" y="2019022"/>
            <a:ext cx="1935105" cy="385861"/>
          </a:xfrm>
          <a:prstGeom prst="straightConnector1">
            <a:avLst/>
          </a:prstGeom>
          <a:noFill/>
          <a:ln w="76200" cap="flat">
            <a:solidFill>
              <a:srgbClr val="FF0000"/>
            </a:solidFill>
            <a:prstDash val="solid"/>
            <a:round/>
            <a:tailEnd type="triangle"/>
          </a:ln>
          <a:effectLst/>
        </p:spPr>
        <p:style>
          <a:lnRef idx="0">
            <a:scrgbClr r="0" g="0" b="0"/>
          </a:lnRef>
          <a:fillRef idx="0">
            <a:scrgbClr r="0" g="0" b="0"/>
          </a:fillRef>
          <a:effectRef idx="0">
            <a:scrgbClr r="0" g="0" b="0"/>
          </a:effectRef>
          <a:fontRef idx="none"/>
        </p:style>
      </p:cxnSp>
      <p:cxnSp>
        <p:nvCxnSpPr>
          <p:cNvPr id="65" name="Straight Arrow Connector 64">
            <a:extLst>
              <a:ext uri="{FF2B5EF4-FFF2-40B4-BE49-F238E27FC236}">
                <a16:creationId xmlns:a16="http://schemas.microsoft.com/office/drawing/2014/main" id="{D8B066E6-4809-7D42-9339-8B1756A4BD81}"/>
              </a:ext>
            </a:extLst>
          </p:cNvPr>
          <p:cNvCxnSpPr>
            <a:cxnSpLocks/>
          </p:cNvCxnSpPr>
          <p:nvPr/>
        </p:nvCxnSpPr>
        <p:spPr>
          <a:xfrm>
            <a:off x="5948516" y="2594309"/>
            <a:ext cx="419033" cy="987363"/>
          </a:xfrm>
          <a:prstGeom prst="straightConnector1">
            <a:avLst/>
          </a:prstGeom>
          <a:noFill/>
          <a:ln w="76200" cap="flat">
            <a:solidFill>
              <a:srgbClr val="FF0000"/>
            </a:solidFill>
            <a:prstDash val="solid"/>
            <a:round/>
            <a:tailEnd type="triangle"/>
          </a:ln>
          <a:effectLst/>
        </p:spPr>
        <p:style>
          <a:lnRef idx="0">
            <a:scrgbClr r="0" g="0" b="0"/>
          </a:lnRef>
          <a:fillRef idx="0">
            <a:scrgbClr r="0" g="0" b="0"/>
          </a:fillRef>
          <a:effectRef idx="0">
            <a:scrgbClr r="0" g="0" b="0"/>
          </a:effectRef>
          <a:fontRef idx="none"/>
        </p:style>
      </p:cxnSp>
      <p:sp>
        <p:nvSpPr>
          <p:cNvPr id="12" name="TextBox 11">
            <a:extLst>
              <a:ext uri="{FF2B5EF4-FFF2-40B4-BE49-F238E27FC236}">
                <a16:creationId xmlns:a16="http://schemas.microsoft.com/office/drawing/2014/main" id="{BC7544DE-AC10-0871-F659-15E4B55DA39C}"/>
              </a:ext>
            </a:extLst>
          </p:cNvPr>
          <p:cNvSpPr txBox="1"/>
          <p:nvPr/>
        </p:nvSpPr>
        <p:spPr>
          <a:xfrm>
            <a:off x="3486219" y="2545224"/>
            <a:ext cx="2582735" cy="47192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r>
              <a:rPr kumimoji="0" lang="en-US" sz="1200" b="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rPr>
              <a:t>Each dot is a </a:t>
            </a:r>
            <a:r>
              <a:rPr lang="en-US" sz="1200" b="0" dirty="0" err="1">
                <a:latin typeface="Gill Sans" charset="0"/>
                <a:ea typeface="Gill Sans" charset="0"/>
                <a:cs typeface="Gill Sans" charset="0"/>
                <a:sym typeface="Symbol"/>
              </a:rPr>
              <a:t>φ</a:t>
            </a:r>
            <a:r>
              <a:rPr lang="en-US" sz="1200" b="0" dirty="0">
                <a:latin typeface="Gill Sans" charset="0"/>
                <a:ea typeface="Gill Sans" charset="0"/>
                <a:cs typeface="Gill Sans" charset="0"/>
                <a:sym typeface="Symbol"/>
              </a:rPr>
              <a:t>, </a:t>
            </a:r>
            <a:r>
              <a:rPr lang="en-US" sz="1200" b="0" dirty="0" err="1">
                <a:latin typeface="Gill Sans" charset="0"/>
                <a:ea typeface="Gill Sans" charset="0"/>
                <a:cs typeface="Gill Sans" charset="0"/>
                <a:sym typeface="Symbol"/>
              </a:rPr>
              <a:t>ψ</a:t>
            </a:r>
            <a:r>
              <a:rPr lang="en-US" sz="1200" b="0" dirty="0">
                <a:latin typeface="Gill Sans" charset="0"/>
                <a:ea typeface="Gill Sans" charset="0"/>
                <a:cs typeface="Gill Sans" charset="0"/>
              </a:rPr>
              <a:t> pair for an amino acid residue in a real protein!</a:t>
            </a:r>
            <a:endParaRPr kumimoji="0" lang="en-US" sz="1200" b="0"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Tree>
    <p:extLst>
      <p:ext uri="{BB962C8B-B14F-4D97-AF65-F5344CB8AC3E}">
        <p14:creationId xmlns:p14="http://schemas.microsoft.com/office/powerpoint/2010/main" val="1328521053"/>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0"/>
                                        </p:tgtEl>
                                        <p:attrNameLst>
                                          <p:attrName>style.visibility</p:attrName>
                                        </p:attrNameLst>
                                      </p:cBhvr>
                                      <p:to>
                                        <p:strVal val="visible"/>
                                      </p:to>
                                    </p:set>
                                  </p:childTnLst>
                                </p:cTn>
                              </p:par>
                              <p:par>
                                <p:cTn id="7" presetID="9" presetClass="exit" presetSubtype="0" fill="hold" grpId="0" nodeType="withEffect">
                                  <p:stCondLst>
                                    <p:cond delay="0"/>
                                  </p:stCondLst>
                                  <p:childTnLst>
                                    <p:animEffect transition="out" filter="dissolve">
                                      <p:cBhvr>
                                        <p:cTn id="8" dur="500"/>
                                        <p:tgtEl>
                                          <p:spTgt spid="216"/>
                                        </p:tgtEl>
                                      </p:cBhvr>
                                    </p:animEffect>
                                    <p:set>
                                      <p:cBhvr>
                                        <p:cTn id="9" dur="1" fill="hold">
                                          <p:stCondLst>
                                            <p:cond delay="499"/>
                                          </p:stCondLst>
                                        </p:cTn>
                                        <p:tgtEl>
                                          <p:spTgt spid="216"/>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3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dissolve">
                                      <p:cBhvr>
                                        <p:cTn id="18" dur="500"/>
                                        <p:tgtEl>
                                          <p:spTgt spid="11"/>
                                        </p:tgtEl>
                                      </p:cBhvr>
                                    </p:animEffect>
                                  </p:childTnLst>
                                </p:cTn>
                              </p:par>
                              <p:par>
                                <p:cTn id="19" presetID="9"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par>
                                <p:cTn id="22" presetID="9" presetClass="entr" presetSubtype="0" fill="hold" nodeType="with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dissolve">
                                      <p:cBhvr>
                                        <p:cTn id="24" dur="500"/>
                                        <p:tgtEl>
                                          <p:spTgt spid="60"/>
                                        </p:tgtEl>
                                      </p:cBhvr>
                                    </p:animEffect>
                                  </p:childTnLst>
                                </p:cTn>
                              </p:par>
                              <p:par>
                                <p:cTn id="25" presetID="9" presetClass="entr" presetSubtype="0" fill="hold" nodeType="with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par>
                                <p:cTn id="28" presetID="9" presetClass="entr" presetSubtype="0" fill="hold" nodeType="with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dissolve">
                                      <p:cBhvr>
                                        <p:cTn id="30" dur="500"/>
                                        <p:tgtEl>
                                          <p:spTgt spid="65"/>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dissolv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iterate>
                                    <p:tmAbs val="0"/>
                                  </p:iterate>
                                  <p:childTnLst>
                                    <p:set>
                                      <p:cBhvr>
                                        <p:cTn id="37" fill="hold"/>
                                        <p:tgtEl>
                                          <p:spTgt spid="27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3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iterate>
                                    <p:tmAbs val="0"/>
                                  </p:iterate>
                                  <p:childTnLst>
                                    <p:set>
                                      <p:cBhvr>
                                        <p:cTn id="49" fill="hold"/>
                                        <p:tgtEl>
                                          <p:spTgt spid="28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iterate>
                                    <p:tmAbs val="0"/>
                                  </p:iterate>
                                  <p:childTnLst>
                                    <p:set>
                                      <p:cBhvr>
                                        <p:cTn id="53" fill="hold"/>
                                        <p:tgtEl>
                                          <p:spTgt spid="21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274"/>
                                        </p:tgtEl>
                                        <p:attrNameLst>
                                          <p:attrName>style.visibility</p:attrName>
                                        </p:attrNameLst>
                                      </p:cBhvr>
                                      <p:to>
                                        <p:strVal val="visible"/>
                                      </p:to>
                                    </p:set>
                                    <p:anim calcmode="lin" valueType="num">
                                      <p:cBhvr additive="base">
                                        <p:cTn id="58" dur="500" fill="hold"/>
                                        <p:tgtEl>
                                          <p:spTgt spid="274"/>
                                        </p:tgtEl>
                                        <p:attrNameLst>
                                          <p:attrName>ppt_x</p:attrName>
                                        </p:attrNameLst>
                                      </p:cBhvr>
                                      <p:tavLst>
                                        <p:tav tm="0">
                                          <p:val>
                                            <p:strVal val="#ppt_x"/>
                                          </p:val>
                                        </p:tav>
                                        <p:tav tm="100000">
                                          <p:val>
                                            <p:strVal val="#ppt_x"/>
                                          </p:val>
                                        </p:tav>
                                      </p:tavLst>
                                    </p:anim>
                                    <p:anim calcmode="lin" valueType="num">
                                      <p:cBhvr additive="base">
                                        <p:cTn id="59" dur="500" fill="hold"/>
                                        <p:tgtEl>
                                          <p:spTgt spid="274"/>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iterate>
                                    <p:tmAbs val="0"/>
                                  </p:iterate>
                                  <p:childTnLst>
                                    <p:set>
                                      <p:cBhvr>
                                        <p:cTn id="63" fill="hold"/>
                                        <p:tgtEl>
                                          <p:spTgt spid="284"/>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iterate>
                                    <p:tmAbs val="0"/>
                                  </p:iterate>
                                  <p:childTnLst>
                                    <p:set>
                                      <p:cBhvr>
                                        <p:cTn id="67" fill="hold"/>
                                        <p:tgtEl>
                                          <p:spTgt spid="217"/>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iterate>
                                    <p:tmAbs val="0"/>
                                  </p:iterate>
                                  <p:childTnLst>
                                    <p:set>
                                      <p:cBhvr>
                                        <p:cTn id="71" fill="hold"/>
                                        <p:tgtEl>
                                          <p:spTgt spid="218"/>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 grpId="0" animBg="1"/>
      <p:bldP spid="217" grpId="0" animBg="1" advAuto="0"/>
      <p:bldP spid="218" grpId="0" animBg="1" advAuto="0"/>
      <p:bldP spid="220" grpId="0" animBg="1"/>
      <p:bldP spid="233" grpId="0" animBg="1"/>
      <p:bldP spid="234" grpId="0"/>
      <p:bldP spid="274" grpId="0" animBg="1"/>
      <p:bldP spid="278" grpId="0" animBg="1" advAuto="0"/>
      <p:bldP spid="280" grpId="0" animBg="1" advAuto="0"/>
      <p:bldP spid="284" grpId="0" animBg="1" advAuto="0"/>
      <p:bldP spid="219" grpId="0" animBg="1" advAuto="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3" name="image.png"/>
          <p:cNvPicPr/>
          <p:nvPr/>
        </p:nvPicPr>
        <p:blipFill>
          <a:blip r:embed="rId2"/>
          <a:stretch>
            <a:fillRect/>
          </a:stretch>
        </p:blipFill>
        <p:spPr>
          <a:xfrm>
            <a:off x="-39688" y="381000"/>
            <a:ext cx="2630488" cy="6329363"/>
          </a:xfrm>
          <a:prstGeom prst="rect">
            <a:avLst/>
          </a:prstGeom>
          <a:ln w="12700">
            <a:miter lim="400000"/>
          </a:ln>
        </p:spPr>
      </p:pic>
      <p:sp>
        <p:nvSpPr>
          <p:cNvPr id="2" name="TextBox 1">
            <a:extLst>
              <a:ext uri="{FF2B5EF4-FFF2-40B4-BE49-F238E27FC236}">
                <a16:creationId xmlns:a16="http://schemas.microsoft.com/office/drawing/2014/main" id="{222C6AE4-75B2-ECA1-B388-2A6EE6CD4C7D}"/>
              </a:ext>
            </a:extLst>
          </p:cNvPr>
          <p:cNvSpPr txBox="1"/>
          <p:nvPr/>
        </p:nvSpPr>
        <p:spPr>
          <a:xfrm>
            <a:off x="2357490" y="6289682"/>
            <a:ext cx="2135521"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541E0"/>
                </a:solidFill>
                <a:effectLst/>
                <a:uFill>
                  <a:solidFill>
                    <a:srgbClr val="000000"/>
                  </a:solidFill>
                </a:uFill>
                <a:latin typeface="Helvetica"/>
                <a:ea typeface="Helvetica"/>
                <a:cs typeface="Helvetica"/>
                <a:sym typeface="Helvetica"/>
              </a:rPr>
              <a:t>Amino terminus</a:t>
            </a:r>
          </a:p>
        </p:txBody>
      </p:sp>
      <p:pic>
        <p:nvPicPr>
          <p:cNvPr id="294" name="image.png"/>
          <p:cNvPicPr/>
          <p:nvPr/>
        </p:nvPicPr>
        <p:blipFill>
          <a:blip r:embed="rId3"/>
          <a:stretch>
            <a:fillRect/>
          </a:stretch>
        </p:blipFill>
        <p:spPr>
          <a:xfrm>
            <a:off x="2322512" y="552608"/>
            <a:ext cx="1965325" cy="5635625"/>
          </a:xfrm>
          <a:prstGeom prst="rect">
            <a:avLst/>
          </a:prstGeom>
          <a:ln w="12700">
            <a:miter lim="400000"/>
          </a:ln>
        </p:spPr>
      </p:pic>
      <p:sp>
        <p:nvSpPr>
          <p:cNvPr id="295" name="Shape 295"/>
          <p:cNvSpPr>
            <a:spLocks noGrp="1"/>
          </p:cNvSpPr>
          <p:nvPr>
            <p:ph type="title"/>
          </p:nvPr>
        </p:nvSpPr>
        <p:spPr>
          <a:xfrm>
            <a:off x="685800" y="-76200"/>
            <a:ext cx="7772400" cy="419100"/>
          </a:xfrm>
          <a:prstGeom prst="rect">
            <a:avLst/>
          </a:prstGeom>
        </p:spPr>
        <p:txBody>
          <a:bodyPr/>
          <a:lstStyle/>
          <a:p>
            <a:pPr lvl="0">
              <a:defRPr sz="1800">
                <a:uFillTx/>
              </a:defRPr>
            </a:pPr>
            <a:r>
              <a:rPr sz="2400" dirty="0">
                <a:uFill>
                  <a:solidFill/>
                </a:uFill>
                <a:latin typeface="Gill Sans" charset="0"/>
                <a:ea typeface="Gill Sans" charset="0"/>
                <a:cs typeface="Gill Sans" charset="0"/>
                <a:sym typeface="Helvetica"/>
              </a:rPr>
              <a:t>S</a:t>
            </a:r>
            <a:r>
              <a:rPr lang="en-US" sz="2200" dirty="0">
                <a:uFill>
                  <a:solidFill/>
                </a:uFill>
                <a:latin typeface="Gill Sans" charset="0"/>
                <a:ea typeface="Gill Sans" charset="0"/>
                <a:cs typeface="Gill Sans" charset="0"/>
                <a:sym typeface="Helvetica"/>
              </a:rPr>
              <a:t>econdary</a:t>
            </a:r>
            <a:r>
              <a:rPr lang="en-US" sz="2400" dirty="0">
                <a:uFill>
                  <a:solidFill/>
                </a:uFill>
                <a:latin typeface="Gill Sans" charset="0"/>
                <a:ea typeface="Gill Sans" charset="0"/>
                <a:cs typeface="Gill Sans" charset="0"/>
                <a:sym typeface="Helvetica"/>
              </a:rPr>
              <a:t> structure: </a:t>
            </a:r>
            <a:r>
              <a:rPr sz="2400" dirty="0">
                <a:uFill>
                  <a:solidFill/>
                </a:uFill>
                <a:latin typeface="Gill Sans" charset="0"/>
                <a:ea typeface="Gill Sans" charset="0"/>
                <a:cs typeface="Gill Sans" charset="0"/>
                <a:sym typeface="Symbol"/>
              </a:rPr>
              <a:t>α</a:t>
            </a:r>
            <a:r>
              <a:rPr sz="2400" dirty="0">
                <a:uFill>
                  <a:solidFill/>
                </a:uFill>
                <a:latin typeface="Gill Sans" charset="0"/>
                <a:ea typeface="Gill Sans" charset="0"/>
                <a:cs typeface="Gill Sans" charset="0"/>
                <a:sym typeface="Helvetica"/>
              </a:rPr>
              <a:t>-</a:t>
            </a:r>
            <a:r>
              <a:rPr lang="en-US" sz="2400" dirty="0">
                <a:uFill>
                  <a:solidFill/>
                </a:uFill>
                <a:latin typeface="Gill Sans" charset="0"/>
                <a:ea typeface="Gill Sans" charset="0"/>
                <a:cs typeface="Gill Sans" charset="0"/>
                <a:sym typeface="Helvetica"/>
              </a:rPr>
              <a:t>helix</a:t>
            </a:r>
          </a:p>
        </p:txBody>
      </p:sp>
      <p:sp>
        <p:nvSpPr>
          <p:cNvPr id="296" name="Shape 296"/>
          <p:cNvSpPr/>
          <p:nvPr/>
        </p:nvSpPr>
        <p:spPr>
          <a:xfrm>
            <a:off x="4294188" y="381000"/>
            <a:ext cx="5041900"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marL="40640" lvl="0">
              <a:spcBef>
                <a:spcPts val="900"/>
              </a:spcBef>
              <a:buClr>
                <a:schemeClr val="tx1"/>
              </a:buClr>
              <a:buSzPct val="100000"/>
              <a:buFont typeface="Helvetica"/>
              <a:buChar char="•"/>
              <a:defRPr sz="1800">
                <a:uFillTx/>
              </a:defRPr>
            </a:pPr>
            <a:r>
              <a:rPr sz="1600" b="0" dirty="0">
                <a:solidFill>
                  <a:schemeClr val="tx1"/>
                </a:solidFill>
                <a:uFill>
                  <a:solidFill>
                    <a:srgbClr val="DD33C5"/>
                  </a:solidFill>
                </a:uFill>
                <a:latin typeface="Gill Sans" charset="0"/>
                <a:ea typeface="Gill Sans" charset="0"/>
                <a:cs typeface="Gill Sans" charset="0"/>
                <a:sym typeface="Helvetica"/>
              </a:rPr>
              <a:t> R</a:t>
            </a:r>
            <a:r>
              <a:rPr lang="en-US" sz="1600" b="0" dirty="0">
                <a:solidFill>
                  <a:schemeClr val="tx1"/>
                </a:solidFill>
                <a:uFill>
                  <a:solidFill>
                    <a:srgbClr val="DD33C5"/>
                  </a:solidFill>
                </a:uFill>
                <a:latin typeface="Gill Sans" charset="0"/>
                <a:ea typeface="Gill Sans" charset="0"/>
                <a:cs typeface="Gill Sans" charset="0"/>
                <a:sym typeface="Helvetica"/>
              </a:rPr>
              <a:t>epeating  </a:t>
            </a:r>
            <a:r>
              <a:rPr lang="en-US" sz="1600" b="0" u="sng" dirty="0">
                <a:solidFill>
                  <a:schemeClr val="tx1"/>
                </a:solidFill>
                <a:uFill>
                  <a:solidFill>
                    <a:srgbClr val="DD33C5"/>
                  </a:solidFill>
                </a:uFill>
                <a:latin typeface="Gill Sans" charset="0"/>
                <a:ea typeface="Gill Sans" charset="0"/>
                <a:cs typeface="Gill Sans" charset="0"/>
                <a:sym typeface="Helvetica"/>
              </a:rPr>
              <a:t>at least</a:t>
            </a:r>
            <a:r>
              <a:rPr lang="en-US" sz="1600" b="0" dirty="0">
                <a:solidFill>
                  <a:schemeClr val="tx1"/>
                </a:solidFill>
                <a:uFill>
                  <a:solidFill>
                    <a:srgbClr val="DD33C5"/>
                  </a:solidFill>
                </a:uFill>
                <a:latin typeface="Gill Sans" charset="0"/>
                <a:ea typeface="Gill Sans" charset="0"/>
                <a:cs typeface="Gill Sans" charset="0"/>
                <a:sym typeface="Helvetica"/>
              </a:rPr>
              <a:t> 5 </a:t>
            </a:r>
            <a:r>
              <a:rPr sz="1600" b="0" dirty="0">
                <a:solidFill>
                  <a:schemeClr val="tx1"/>
                </a:solidFill>
                <a:uFill>
                  <a:solidFill>
                    <a:srgbClr val="DD33C5"/>
                  </a:solidFill>
                </a:uFill>
                <a:latin typeface="Gill Sans" charset="0"/>
                <a:ea typeface="Gill Sans" charset="0"/>
                <a:cs typeface="Gill Sans" charset="0"/>
                <a:sym typeface="Helvetica"/>
              </a:rPr>
              <a:t>AA: </a:t>
            </a:r>
            <a:r>
              <a:rPr sz="1600" b="0" dirty="0">
                <a:solidFill>
                  <a:schemeClr val="tx1"/>
                </a:solidFill>
                <a:uFill>
                  <a:solidFill>
                    <a:srgbClr val="DD33C5"/>
                  </a:solidFill>
                </a:uFill>
                <a:latin typeface="Gill Sans" charset="0"/>
                <a:ea typeface="Gill Sans" charset="0"/>
                <a:cs typeface="Gill Sans" charset="0"/>
                <a:sym typeface="Symbol"/>
              </a:rPr>
              <a:t>Φ</a:t>
            </a:r>
            <a:r>
              <a:rPr sz="1600" b="0" dirty="0">
                <a:solidFill>
                  <a:schemeClr val="tx1"/>
                </a:solidFill>
                <a:uFill>
                  <a:solidFill>
                    <a:srgbClr val="DD33C5"/>
                  </a:solidFill>
                </a:uFill>
                <a:latin typeface="Gill Sans" charset="0"/>
                <a:ea typeface="Gill Sans" charset="0"/>
                <a:cs typeface="Gill Sans" charset="0"/>
                <a:sym typeface="Helvetica"/>
              </a:rPr>
              <a:t> ~ -60</a:t>
            </a:r>
            <a:r>
              <a:rPr sz="1600" b="0" baseline="35999" dirty="0">
                <a:solidFill>
                  <a:schemeClr val="tx1"/>
                </a:solidFill>
                <a:uFill>
                  <a:solidFill>
                    <a:srgbClr val="DD33C5"/>
                  </a:solidFill>
                </a:uFill>
                <a:latin typeface="Gill Sans" charset="0"/>
                <a:ea typeface="Gill Sans" charset="0"/>
                <a:cs typeface="Gill Sans" charset="0"/>
                <a:sym typeface="Helvetica"/>
              </a:rPr>
              <a:t>o</a:t>
            </a:r>
            <a:r>
              <a:rPr sz="1600" b="0" dirty="0">
                <a:solidFill>
                  <a:schemeClr val="tx1"/>
                </a:solidFill>
                <a:uFill>
                  <a:solidFill>
                    <a:srgbClr val="DD33C5"/>
                  </a:solidFill>
                </a:uFill>
                <a:latin typeface="Gill Sans" charset="0"/>
                <a:ea typeface="Gill Sans" charset="0"/>
                <a:cs typeface="Gill Sans" charset="0"/>
                <a:sym typeface="Helvetica"/>
              </a:rPr>
              <a:t>, </a:t>
            </a:r>
            <a:r>
              <a:rPr sz="1600" b="0" dirty="0">
                <a:solidFill>
                  <a:schemeClr val="tx1"/>
                </a:solidFill>
                <a:uFill>
                  <a:solidFill>
                    <a:srgbClr val="DD33C5"/>
                  </a:solidFill>
                </a:uFill>
                <a:latin typeface="Gill Sans" charset="0"/>
                <a:ea typeface="Gill Sans" charset="0"/>
                <a:cs typeface="Gill Sans" charset="0"/>
                <a:sym typeface="Symbol"/>
              </a:rPr>
              <a:t>Ψ</a:t>
            </a:r>
            <a:r>
              <a:rPr sz="1600" b="0" dirty="0">
                <a:solidFill>
                  <a:schemeClr val="tx1"/>
                </a:solidFill>
                <a:uFill>
                  <a:solidFill>
                    <a:srgbClr val="DD33C5"/>
                  </a:solidFill>
                </a:uFill>
                <a:latin typeface="Gill Sans" charset="0"/>
                <a:ea typeface="Gill Sans" charset="0"/>
                <a:cs typeface="Gill Sans" charset="0"/>
                <a:sym typeface="Helvetica"/>
              </a:rPr>
              <a:t> ~ -40</a:t>
            </a:r>
            <a:r>
              <a:rPr sz="1600" b="0" baseline="35999" dirty="0">
                <a:solidFill>
                  <a:schemeClr val="tx1"/>
                </a:solidFill>
                <a:uFill>
                  <a:solidFill>
                    <a:srgbClr val="DD33C5"/>
                  </a:solidFill>
                </a:uFill>
                <a:latin typeface="Gill Sans" charset="0"/>
                <a:ea typeface="Gill Sans" charset="0"/>
                <a:cs typeface="Gill Sans" charset="0"/>
                <a:sym typeface="Helvetica"/>
              </a:rPr>
              <a:t>o</a:t>
            </a:r>
          </a:p>
        </p:txBody>
      </p:sp>
      <p:sp>
        <p:nvSpPr>
          <p:cNvPr id="305" name="Shape 305"/>
          <p:cNvSpPr/>
          <p:nvPr/>
        </p:nvSpPr>
        <p:spPr>
          <a:xfrm>
            <a:off x="3810000" y="5867400"/>
            <a:ext cx="241300"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06" name="Shape 306"/>
          <p:cNvSpPr/>
          <p:nvPr/>
        </p:nvSpPr>
        <p:spPr>
          <a:xfrm>
            <a:off x="3984625" y="4414837"/>
            <a:ext cx="295275"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07" name="Shape 307"/>
          <p:cNvSpPr/>
          <p:nvPr/>
        </p:nvSpPr>
        <p:spPr>
          <a:xfrm>
            <a:off x="3086100" y="4916487"/>
            <a:ext cx="295275"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08" name="Shape 308"/>
          <p:cNvSpPr/>
          <p:nvPr/>
        </p:nvSpPr>
        <p:spPr>
          <a:xfrm>
            <a:off x="2617787" y="5562600"/>
            <a:ext cx="257176"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09" name="Shape 309"/>
          <p:cNvSpPr/>
          <p:nvPr/>
        </p:nvSpPr>
        <p:spPr>
          <a:xfrm>
            <a:off x="2470150" y="3614737"/>
            <a:ext cx="257175"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10" name="Shape 310"/>
          <p:cNvSpPr/>
          <p:nvPr/>
        </p:nvSpPr>
        <p:spPr>
          <a:xfrm>
            <a:off x="3289300" y="3124200"/>
            <a:ext cx="257175"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11" name="Shape 311"/>
          <p:cNvSpPr/>
          <p:nvPr/>
        </p:nvSpPr>
        <p:spPr>
          <a:xfrm>
            <a:off x="3846512" y="2447925"/>
            <a:ext cx="295276"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12" name="Shape 312"/>
          <p:cNvSpPr/>
          <p:nvPr/>
        </p:nvSpPr>
        <p:spPr>
          <a:xfrm>
            <a:off x="3962400" y="4343400"/>
            <a:ext cx="152400" cy="152400"/>
          </a:xfrm>
          <a:prstGeom prst="rect">
            <a:avLst/>
          </a:prstGeom>
          <a:solidFill>
            <a:srgbClr val="FFFFFF"/>
          </a:solidFill>
          <a:ln>
            <a:miter lim="400000"/>
          </a:ln>
        </p:spPr>
        <p:txBody>
          <a:bodyPr lIns="0" tIns="0" rIns="0" bIns="0" anchor="ctr"/>
          <a:lstStyle/>
          <a:p>
            <a:pPr lvl="0"/>
            <a:endParaRPr>
              <a:latin typeface="Gill Sans" charset="0"/>
              <a:ea typeface="Gill Sans" charset="0"/>
              <a:cs typeface="Gill Sans" charset="0"/>
            </a:endParaRPr>
          </a:p>
        </p:txBody>
      </p:sp>
      <p:sp>
        <p:nvSpPr>
          <p:cNvPr id="313" name="Shape 313"/>
          <p:cNvSpPr/>
          <p:nvPr/>
        </p:nvSpPr>
        <p:spPr>
          <a:xfrm>
            <a:off x="4038600" y="4267200"/>
            <a:ext cx="152400" cy="152400"/>
          </a:xfrm>
          <a:prstGeom prst="rect">
            <a:avLst/>
          </a:prstGeom>
          <a:solidFill>
            <a:srgbClr val="FFFFFF"/>
          </a:solidFill>
          <a:ln>
            <a:miter lim="400000"/>
          </a:ln>
        </p:spPr>
        <p:txBody>
          <a:bodyPr lIns="0" tIns="0" rIns="0" bIns="0" anchor="ctr"/>
          <a:lstStyle/>
          <a:p>
            <a:pPr lvl="0"/>
            <a:endParaRPr>
              <a:latin typeface="Gill Sans" charset="0"/>
              <a:ea typeface="Gill Sans" charset="0"/>
              <a:cs typeface="Gill Sans" charset="0"/>
            </a:endParaRPr>
          </a:p>
        </p:txBody>
      </p:sp>
      <p:sp>
        <p:nvSpPr>
          <p:cNvPr id="314" name="Shape 314"/>
          <p:cNvSpPr/>
          <p:nvPr/>
        </p:nvSpPr>
        <p:spPr>
          <a:xfrm>
            <a:off x="4038600" y="4343400"/>
            <a:ext cx="152400" cy="152400"/>
          </a:xfrm>
          <a:prstGeom prst="rect">
            <a:avLst/>
          </a:prstGeom>
          <a:solidFill>
            <a:srgbClr val="FFFFFF"/>
          </a:solidFill>
          <a:ln>
            <a:miter lim="400000"/>
          </a:ln>
        </p:spPr>
        <p:txBody>
          <a:bodyPr lIns="0" tIns="0" rIns="0" bIns="0" anchor="ctr"/>
          <a:lstStyle/>
          <a:p>
            <a:pPr lvl="0"/>
            <a:endParaRPr>
              <a:latin typeface="Gill Sans" charset="0"/>
              <a:ea typeface="Gill Sans" charset="0"/>
              <a:cs typeface="Gill Sans" charset="0"/>
            </a:endParaRPr>
          </a:p>
        </p:txBody>
      </p:sp>
      <p:sp>
        <p:nvSpPr>
          <p:cNvPr id="315" name="Shape 315"/>
          <p:cNvSpPr/>
          <p:nvPr/>
        </p:nvSpPr>
        <p:spPr>
          <a:xfrm>
            <a:off x="4038600" y="4368800"/>
            <a:ext cx="152400" cy="152400"/>
          </a:xfrm>
          <a:prstGeom prst="rect">
            <a:avLst/>
          </a:prstGeom>
          <a:solidFill>
            <a:srgbClr val="FFFFFF"/>
          </a:solidFill>
          <a:ln>
            <a:miter lim="400000"/>
          </a:ln>
        </p:spPr>
        <p:txBody>
          <a:bodyPr lIns="0" tIns="0" rIns="0" bIns="0" anchor="ctr"/>
          <a:lstStyle/>
          <a:p>
            <a:pPr lvl="0"/>
            <a:endParaRPr>
              <a:latin typeface="Gill Sans" charset="0"/>
              <a:ea typeface="Gill Sans" charset="0"/>
              <a:cs typeface="Gill Sans" charset="0"/>
            </a:endParaRPr>
          </a:p>
        </p:txBody>
      </p:sp>
      <p:pic>
        <p:nvPicPr>
          <p:cNvPr id="316" name="image.pdf"/>
          <p:cNvPicPr/>
          <p:nvPr/>
        </p:nvPicPr>
        <p:blipFill>
          <a:blip r:embed="rId4"/>
          <a:stretch>
            <a:fillRect/>
          </a:stretch>
        </p:blipFill>
        <p:spPr>
          <a:xfrm>
            <a:off x="4019550" y="4343400"/>
            <a:ext cx="184150" cy="211138"/>
          </a:xfrm>
          <a:prstGeom prst="rect">
            <a:avLst/>
          </a:prstGeom>
          <a:ln w="12700">
            <a:miter lim="400000"/>
          </a:ln>
        </p:spPr>
      </p:pic>
      <p:sp>
        <p:nvSpPr>
          <p:cNvPr id="317" name="Shape 317"/>
          <p:cNvSpPr/>
          <p:nvPr/>
        </p:nvSpPr>
        <p:spPr>
          <a:xfrm>
            <a:off x="3829050" y="6007100"/>
            <a:ext cx="196851"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900"/>
              </a:spcBef>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1</a:t>
            </a:r>
          </a:p>
        </p:txBody>
      </p:sp>
      <p:sp>
        <p:nvSpPr>
          <p:cNvPr id="318" name="Shape 318"/>
          <p:cNvSpPr/>
          <p:nvPr/>
        </p:nvSpPr>
        <p:spPr>
          <a:xfrm>
            <a:off x="3333750" y="57404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1</a:t>
            </a:r>
          </a:p>
        </p:txBody>
      </p:sp>
      <p:sp>
        <p:nvSpPr>
          <p:cNvPr id="319" name="Shape 319"/>
          <p:cNvSpPr/>
          <p:nvPr/>
        </p:nvSpPr>
        <p:spPr>
          <a:xfrm>
            <a:off x="3505200" y="52578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1</a:t>
            </a:r>
          </a:p>
        </p:txBody>
      </p:sp>
      <p:sp>
        <p:nvSpPr>
          <p:cNvPr id="320" name="Shape 320"/>
          <p:cNvSpPr/>
          <p:nvPr/>
        </p:nvSpPr>
        <p:spPr>
          <a:xfrm>
            <a:off x="3073400" y="583565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2</a:t>
            </a:r>
          </a:p>
        </p:txBody>
      </p:sp>
      <p:sp>
        <p:nvSpPr>
          <p:cNvPr id="321" name="Shape 321"/>
          <p:cNvSpPr/>
          <p:nvPr/>
        </p:nvSpPr>
        <p:spPr>
          <a:xfrm>
            <a:off x="2622550" y="572135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2</a:t>
            </a:r>
          </a:p>
        </p:txBody>
      </p:sp>
      <p:sp>
        <p:nvSpPr>
          <p:cNvPr id="322" name="Shape 322"/>
          <p:cNvSpPr/>
          <p:nvPr/>
        </p:nvSpPr>
        <p:spPr>
          <a:xfrm>
            <a:off x="2571750" y="508635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2</a:t>
            </a:r>
          </a:p>
        </p:txBody>
      </p:sp>
      <p:sp>
        <p:nvSpPr>
          <p:cNvPr id="323" name="Shape 323"/>
          <p:cNvSpPr/>
          <p:nvPr/>
        </p:nvSpPr>
        <p:spPr>
          <a:xfrm>
            <a:off x="2495550" y="47244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2</a:t>
            </a:r>
          </a:p>
        </p:txBody>
      </p:sp>
      <p:sp>
        <p:nvSpPr>
          <p:cNvPr id="324" name="Shape 324"/>
          <p:cNvSpPr/>
          <p:nvPr/>
        </p:nvSpPr>
        <p:spPr>
          <a:xfrm>
            <a:off x="2933700" y="47371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3</a:t>
            </a:r>
          </a:p>
        </p:txBody>
      </p:sp>
      <p:sp>
        <p:nvSpPr>
          <p:cNvPr id="325" name="Shape 325"/>
          <p:cNvSpPr/>
          <p:nvPr/>
        </p:nvSpPr>
        <p:spPr>
          <a:xfrm>
            <a:off x="2978150" y="52705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3</a:t>
            </a:r>
          </a:p>
        </p:txBody>
      </p:sp>
      <p:sp>
        <p:nvSpPr>
          <p:cNvPr id="326" name="Shape 326"/>
          <p:cNvSpPr/>
          <p:nvPr/>
        </p:nvSpPr>
        <p:spPr>
          <a:xfrm>
            <a:off x="2959100" y="41910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3</a:t>
            </a:r>
          </a:p>
        </p:txBody>
      </p:sp>
      <p:sp>
        <p:nvSpPr>
          <p:cNvPr id="327" name="Shape 327"/>
          <p:cNvSpPr/>
          <p:nvPr/>
        </p:nvSpPr>
        <p:spPr>
          <a:xfrm>
            <a:off x="3041650" y="45593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3</a:t>
            </a:r>
          </a:p>
        </p:txBody>
      </p:sp>
      <p:sp>
        <p:nvSpPr>
          <p:cNvPr id="328" name="Shape 328"/>
          <p:cNvSpPr/>
          <p:nvPr/>
        </p:nvSpPr>
        <p:spPr>
          <a:xfrm>
            <a:off x="3695700" y="47752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4</a:t>
            </a:r>
          </a:p>
        </p:txBody>
      </p:sp>
      <p:sp>
        <p:nvSpPr>
          <p:cNvPr id="329" name="Shape 329"/>
          <p:cNvSpPr/>
          <p:nvPr/>
        </p:nvSpPr>
        <p:spPr>
          <a:xfrm>
            <a:off x="3886200" y="46228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4</a:t>
            </a:r>
          </a:p>
        </p:txBody>
      </p:sp>
      <p:sp>
        <p:nvSpPr>
          <p:cNvPr id="330" name="Shape 330"/>
          <p:cNvSpPr/>
          <p:nvPr/>
        </p:nvSpPr>
        <p:spPr>
          <a:xfrm>
            <a:off x="3778250" y="40640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4</a:t>
            </a:r>
          </a:p>
        </p:txBody>
      </p:sp>
      <p:sp>
        <p:nvSpPr>
          <p:cNvPr id="331" name="Shape 331"/>
          <p:cNvSpPr/>
          <p:nvPr/>
        </p:nvSpPr>
        <p:spPr>
          <a:xfrm>
            <a:off x="3810000" y="36322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4</a:t>
            </a:r>
          </a:p>
        </p:txBody>
      </p:sp>
      <p:sp>
        <p:nvSpPr>
          <p:cNvPr id="332" name="Shape 332"/>
          <p:cNvSpPr/>
          <p:nvPr/>
        </p:nvSpPr>
        <p:spPr>
          <a:xfrm>
            <a:off x="3581400" y="43180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5</a:t>
            </a:r>
          </a:p>
        </p:txBody>
      </p:sp>
      <p:sp>
        <p:nvSpPr>
          <p:cNvPr id="333" name="Shape 333"/>
          <p:cNvSpPr/>
          <p:nvPr/>
        </p:nvSpPr>
        <p:spPr>
          <a:xfrm>
            <a:off x="3340100" y="3949700"/>
            <a:ext cx="199093"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34" name="Shape 334"/>
          <p:cNvSpPr/>
          <p:nvPr/>
        </p:nvSpPr>
        <p:spPr>
          <a:xfrm>
            <a:off x="3213100" y="37338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5</a:t>
            </a:r>
          </a:p>
        </p:txBody>
      </p:sp>
      <p:sp>
        <p:nvSpPr>
          <p:cNvPr id="335" name="Shape 335"/>
          <p:cNvSpPr/>
          <p:nvPr/>
        </p:nvSpPr>
        <p:spPr>
          <a:xfrm>
            <a:off x="3098800" y="3517900"/>
            <a:ext cx="76200" cy="76200"/>
          </a:xfrm>
          <a:prstGeom prst="rect">
            <a:avLst/>
          </a:prstGeom>
          <a:solidFill>
            <a:srgbClr val="FFFFFF"/>
          </a:solidFill>
          <a:ln>
            <a:miter lim="400000"/>
          </a:ln>
        </p:spPr>
        <p:txBody>
          <a:bodyPr lIns="0" tIns="0" rIns="0" bIns="0" anchor="ctr"/>
          <a:lstStyle/>
          <a:p>
            <a:pPr lvl="0"/>
            <a:endParaRPr>
              <a:latin typeface="Gill Sans" charset="0"/>
              <a:ea typeface="Gill Sans" charset="0"/>
              <a:cs typeface="Gill Sans" charset="0"/>
            </a:endParaRPr>
          </a:p>
        </p:txBody>
      </p:sp>
      <p:sp>
        <p:nvSpPr>
          <p:cNvPr id="336" name="Shape 336"/>
          <p:cNvSpPr/>
          <p:nvPr/>
        </p:nvSpPr>
        <p:spPr>
          <a:xfrm>
            <a:off x="3098800" y="3587750"/>
            <a:ext cx="76200" cy="76200"/>
          </a:xfrm>
          <a:prstGeom prst="rect">
            <a:avLst/>
          </a:prstGeom>
          <a:solidFill>
            <a:srgbClr val="FFFFFF"/>
          </a:solidFill>
          <a:ln>
            <a:miter lim="400000"/>
          </a:ln>
        </p:spPr>
        <p:txBody>
          <a:bodyPr lIns="0" tIns="0" rIns="0" bIns="0" anchor="ctr"/>
          <a:lstStyle/>
          <a:p>
            <a:pPr lvl="0"/>
            <a:endParaRPr>
              <a:latin typeface="Gill Sans" charset="0"/>
              <a:ea typeface="Gill Sans" charset="0"/>
              <a:cs typeface="Gill Sans" charset="0"/>
            </a:endParaRPr>
          </a:p>
        </p:txBody>
      </p:sp>
      <p:pic>
        <p:nvPicPr>
          <p:cNvPr id="337" name="image.pdf"/>
          <p:cNvPicPr/>
          <p:nvPr/>
        </p:nvPicPr>
        <p:blipFill>
          <a:blip r:embed="rId5"/>
          <a:stretch>
            <a:fillRect/>
          </a:stretch>
        </p:blipFill>
        <p:spPr>
          <a:xfrm>
            <a:off x="3048000" y="3397250"/>
            <a:ext cx="88900" cy="242888"/>
          </a:xfrm>
          <a:prstGeom prst="rect">
            <a:avLst/>
          </a:prstGeom>
          <a:ln w="12700">
            <a:miter lim="400000"/>
          </a:ln>
        </p:spPr>
      </p:pic>
      <p:pic>
        <p:nvPicPr>
          <p:cNvPr id="338" name="image.pdf"/>
          <p:cNvPicPr/>
          <p:nvPr/>
        </p:nvPicPr>
        <p:blipFill>
          <a:blip r:embed="rId6"/>
          <a:stretch>
            <a:fillRect/>
          </a:stretch>
        </p:blipFill>
        <p:spPr>
          <a:xfrm>
            <a:off x="3060700" y="3582987"/>
            <a:ext cx="76200" cy="84138"/>
          </a:xfrm>
          <a:prstGeom prst="rect">
            <a:avLst/>
          </a:prstGeom>
          <a:ln w="12700">
            <a:miter lim="400000"/>
          </a:ln>
        </p:spPr>
      </p:pic>
      <p:sp>
        <p:nvSpPr>
          <p:cNvPr id="339" name="Shape 339"/>
          <p:cNvSpPr/>
          <p:nvPr/>
        </p:nvSpPr>
        <p:spPr>
          <a:xfrm>
            <a:off x="2800350" y="35814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5</a:t>
            </a:r>
          </a:p>
        </p:txBody>
      </p:sp>
      <p:sp>
        <p:nvSpPr>
          <p:cNvPr id="340" name="Shape 340"/>
          <p:cNvSpPr/>
          <p:nvPr/>
        </p:nvSpPr>
        <p:spPr>
          <a:xfrm>
            <a:off x="3060700" y="30099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5</a:t>
            </a:r>
          </a:p>
        </p:txBody>
      </p:sp>
      <p:sp>
        <p:nvSpPr>
          <p:cNvPr id="341" name="Shape 341"/>
          <p:cNvSpPr/>
          <p:nvPr/>
        </p:nvSpPr>
        <p:spPr>
          <a:xfrm>
            <a:off x="4327525" y="379412"/>
            <a:ext cx="993775" cy="254000"/>
          </a:xfrm>
          <a:prstGeom prst="rect">
            <a:avLst/>
          </a:prstGeom>
          <a:ln w="19050">
            <a:solidFill>
              <a:srgbClr val="1E31E3"/>
            </a:solidFill>
            <a:miter lim="400000"/>
          </a:ln>
        </p:spPr>
        <p:txBody>
          <a:bodyPr lIns="0" tIns="0" rIns="0" bIns="0" anchor="ctr"/>
          <a:lstStyle/>
          <a:p>
            <a:pPr lvl="0"/>
            <a:endParaRPr>
              <a:latin typeface="Gill Sans" charset="0"/>
              <a:ea typeface="Gill Sans" charset="0"/>
              <a:cs typeface="Gill Sans" charset="0"/>
            </a:endParaRPr>
          </a:p>
        </p:txBody>
      </p:sp>
      <p:grpSp>
        <p:nvGrpSpPr>
          <p:cNvPr id="347" name="Group 347"/>
          <p:cNvGrpSpPr/>
          <p:nvPr/>
        </p:nvGrpSpPr>
        <p:grpSpPr>
          <a:xfrm>
            <a:off x="301634" y="2251273"/>
            <a:ext cx="2460358" cy="3853520"/>
            <a:chOff x="63509" y="25598"/>
            <a:chExt cx="2460357" cy="3853520"/>
          </a:xfrm>
        </p:grpSpPr>
        <p:sp>
          <p:nvSpPr>
            <p:cNvPr id="342" name="Shape 342"/>
            <p:cNvSpPr/>
            <p:nvPr/>
          </p:nvSpPr>
          <p:spPr>
            <a:xfrm>
              <a:off x="1139991" y="25598"/>
              <a:ext cx="622300" cy="30777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spcBef>
                  <a:spcPts val="1200"/>
                </a:spcBef>
                <a:buClr>
                  <a:srgbClr val="E62C9A"/>
                </a:buClr>
                <a:buFont typeface="Helvetica"/>
                <a:defRPr sz="20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2000" b="0">
                  <a:solidFill>
                    <a:srgbClr val="E62C9A"/>
                  </a:solidFill>
                  <a:uFill>
                    <a:solidFill>
                      <a:srgbClr val="E62C9A"/>
                    </a:solidFill>
                  </a:uFill>
                  <a:latin typeface="Gill Sans" charset="0"/>
                  <a:ea typeface="Gill Sans" charset="0"/>
                  <a:cs typeface="Gill Sans" charset="0"/>
                </a:rPr>
                <a:t>R</a:t>
              </a:r>
            </a:p>
          </p:txBody>
        </p:sp>
        <p:sp>
          <p:nvSpPr>
            <p:cNvPr id="343" name="Shape 343"/>
            <p:cNvSpPr/>
            <p:nvPr/>
          </p:nvSpPr>
          <p:spPr>
            <a:xfrm>
              <a:off x="1642393" y="1614489"/>
              <a:ext cx="622301" cy="30777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spcBef>
                  <a:spcPts val="1200"/>
                </a:spcBef>
                <a:buClr>
                  <a:srgbClr val="E62C9A"/>
                </a:buClr>
                <a:buFont typeface="Helvetica"/>
                <a:defRPr sz="20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2000" b="0">
                  <a:solidFill>
                    <a:srgbClr val="E62C9A"/>
                  </a:solidFill>
                  <a:uFill>
                    <a:solidFill>
                      <a:srgbClr val="E62C9A"/>
                    </a:solidFill>
                  </a:uFill>
                  <a:latin typeface="Gill Sans" charset="0"/>
                  <a:ea typeface="Gill Sans" charset="0"/>
                  <a:cs typeface="Gill Sans" charset="0"/>
                </a:rPr>
                <a:t>R</a:t>
              </a:r>
            </a:p>
          </p:txBody>
        </p:sp>
        <p:sp>
          <p:nvSpPr>
            <p:cNvPr id="344" name="Shape 344"/>
            <p:cNvSpPr/>
            <p:nvPr/>
          </p:nvSpPr>
          <p:spPr>
            <a:xfrm>
              <a:off x="63509" y="2243236"/>
              <a:ext cx="622300" cy="30777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spcBef>
                  <a:spcPts val="1200"/>
                </a:spcBef>
                <a:buClr>
                  <a:srgbClr val="E62C9A"/>
                </a:buClr>
                <a:buFont typeface="Helvetica"/>
                <a:defRPr sz="20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2000" b="0">
                  <a:solidFill>
                    <a:srgbClr val="E62C9A"/>
                  </a:solidFill>
                  <a:uFill>
                    <a:solidFill>
                      <a:srgbClr val="E62C9A"/>
                    </a:solidFill>
                  </a:uFill>
                  <a:latin typeface="Gill Sans" charset="0"/>
                  <a:ea typeface="Gill Sans" charset="0"/>
                  <a:cs typeface="Gill Sans" charset="0"/>
                </a:rPr>
                <a:t>R</a:t>
              </a:r>
            </a:p>
          </p:txBody>
        </p:sp>
        <p:sp>
          <p:nvSpPr>
            <p:cNvPr id="345" name="Shape 345"/>
            <p:cNvSpPr/>
            <p:nvPr/>
          </p:nvSpPr>
          <p:spPr>
            <a:xfrm>
              <a:off x="1901565" y="3165261"/>
              <a:ext cx="622301" cy="30777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spcBef>
                  <a:spcPts val="1200"/>
                </a:spcBef>
                <a:buClr>
                  <a:srgbClr val="E62C9A"/>
                </a:buClr>
                <a:buFont typeface="Helvetica"/>
                <a:defRPr sz="20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2000" b="0">
                  <a:solidFill>
                    <a:srgbClr val="E62C9A"/>
                  </a:solidFill>
                  <a:uFill>
                    <a:solidFill>
                      <a:srgbClr val="E62C9A"/>
                    </a:solidFill>
                  </a:uFill>
                  <a:latin typeface="Gill Sans" charset="0"/>
                  <a:ea typeface="Gill Sans" charset="0"/>
                  <a:cs typeface="Gill Sans" charset="0"/>
                </a:rPr>
                <a:t>R</a:t>
              </a:r>
            </a:p>
          </p:txBody>
        </p:sp>
        <p:sp>
          <p:nvSpPr>
            <p:cNvPr id="346" name="Shape 346"/>
            <p:cNvSpPr/>
            <p:nvPr/>
          </p:nvSpPr>
          <p:spPr>
            <a:xfrm>
              <a:off x="76199" y="3571341"/>
              <a:ext cx="622301" cy="30777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spcBef>
                  <a:spcPts val="1200"/>
                </a:spcBef>
                <a:buClr>
                  <a:srgbClr val="E62C9A"/>
                </a:buClr>
                <a:buFont typeface="Helvetica"/>
                <a:defRPr sz="20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2000" b="0">
                  <a:solidFill>
                    <a:srgbClr val="E62C9A"/>
                  </a:solidFill>
                  <a:uFill>
                    <a:solidFill>
                      <a:srgbClr val="E62C9A"/>
                    </a:solidFill>
                  </a:uFill>
                  <a:latin typeface="Gill Sans" charset="0"/>
                  <a:ea typeface="Gill Sans" charset="0"/>
                  <a:cs typeface="Gill Sans" charset="0"/>
                </a:rPr>
                <a:t>R</a:t>
              </a:r>
            </a:p>
          </p:txBody>
        </p:sp>
      </p:grpSp>
      <p:sp>
        <p:nvSpPr>
          <p:cNvPr id="3" name="TextBox 2">
            <a:extLst>
              <a:ext uri="{FF2B5EF4-FFF2-40B4-BE49-F238E27FC236}">
                <a16:creationId xmlns:a16="http://schemas.microsoft.com/office/drawing/2014/main" id="{828BA38F-ED55-C108-A30F-B0DA340A7A7D}"/>
              </a:ext>
            </a:extLst>
          </p:cNvPr>
          <p:cNvSpPr txBox="1"/>
          <p:nvPr/>
        </p:nvSpPr>
        <p:spPr>
          <a:xfrm>
            <a:off x="1969219" y="250034"/>
            <a:ext cx="2321469"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lang="en-US" dirty="0">
                <a:solidFill>
                  <a:srgbClr val="FF0000"/>
                </a:solidFill>
                <a:uFill>
                  <a:solidFill>
                    <a:srgbClr val="000000"/>
                  </a:solidFill>
                </a:uFill>
              </a:rPr>
              <a:t>carboxy</a:t>
            </a:r>
            <a:r>
              <a:rPr kumimoji="0" lang="en-US" sz="2000" b="1" i="0" u="none" strike="noStrike" cap="none" spc="0" normalizeH="0" baseline="0" dirty="0">
                <a:ln>
                  <a:noFill/>
                </a:ln>
                <a:solidFill>
                  <a:srgbClr val="FF0000"/>
                </a:solidFill>
                <a:effectLst/>
                <a:uFill>
                  <a:solidFill>
                    <a:srgbClr val="000000"/>
                  </a:solidFill>
                </a:uFill>
                <a:latin typeface="Helvetica"/>
                <a:ea typeface="Helvetica"/>
                <a:cs typeface="Helvetica"/>
                <a:sym typeface="Helvetica"/>
              </a:rPr>
              <a:t> terminus</a:t>
            </a:r>
          </a:p>
        </p:txBody>
      </p:sp>
      <p:sp>
        <p:nvSpPr>
          <p:cNvPr id="4" name="TextBox 3">
            <a:extLst>
              <a:ext uri="{FF2B5EF4-FFF2-40B4-BE49-F238E27FC236}">
                <a16:creationId xmlns:a16="http://schemas.microsoft.com/office/drawing/2014/main" id="{0A7E4347-996B-F674-6403-822C8228EF2C}"/>
              </a:ext>
            </a:extLst>
          </p:cNvPr>
          <p:cNvSpPr txBox="1"/>
          <p:nvPr/>
        </p:nvSpPr>
        <p:spPr>
          <a:xfrm>
            <a:off x="5120611" y="1009858"/>
            <a:ext cx="3058851" cy="53347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800" b="1" i="0" u="none" strike="noStrike" cap="none" spc="0" normalizeH="0" baseline="0" dirty="0" err="1">
                <a:ln>
                  <a:noFill/>
                </a:ln>
                <a:solidFill>
                  <a:srgbClr val="FF0000"/>
                </a:solidFill>
                <a:effectLst/>
                <a:uFill>
                  <a:solidFill>
                    <a:srgbClr val="000000"/>
                  </a:solidFill>
                </a:uFill>
                <a:latin typeface="Helvetica"/>
                <a:ea typeface="Helvetica"/>
                <a:cs typeface="Helvetica"/>
                <a:sym typeface="Helvetica"/>
              </a:rPr>
              <a:t>PollEv</a:t>
            </a:r>
            <a:r>
              <a:rPr kumimoji="0" lang="en-US" sz="2800" b="1" i="0" u="none" strike="noStrike" cap="none" spc="0" normalizeH="0" baseline="0" dirty="0">
                <a:ln>
                  <a:noFill/>
                </a:ln>
                <a:solidFill>
                  <a:srgbClr val="FF0000"/>
                </a:solidFill>
                <a:effectLst/>
                <a:uFill>
                  <a:solidFill>
                    <a:srgbClr val="000000"/>
                  </a:solidFill>
                </a:uFill>
                <a:latin typeface="Helvetica"/>
                <a:ea typeface="Helvetica"/>
                <a:cs typeface="Helvetica"/>
                <a:sym typeface="Helvetica"/>
              </a:rPr>
              <a:t> Question!</a:t>
            </a:r>
          </a:p>
        </p:txBody>
      </p:sp>
    </p:spTree>
    <p:extLst>
      <p:ext uri="{BB962C8B-B14F-4D97-AF65-F5344CB8AC3E}">
        <p14:creationId xmlns:p14="http://schemas.microsoft.com/office/powerpoint/2010/main" val="2912327974"/>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3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3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 grpId="0" animBg="1" advAuto="0"/>
      <p:bldP spid="341" grpId="0" animBg="1" advAuto="0"/>
      <p:bldP spid="347" grpId="0" animBg="1" advAuto="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3" name="image.png"/>
          <p:cNvPicPr/>
          <p:nvPr/>
        </p:nvPicPr>
        <p:blipFill>
          <a:blip r:embed="rId2"/>
          <a:stretch>
            <a:fillRect/>
          </a:stretch>
        </p:blipFill>
        <p:spPr>
          <a:xfrm>
            <a:off x="-39688" y="381000"/>
            <a:ext cx="2630488" cy="6329363"/>
          </a:xfrm>
          <a:prstGeom prst="rect">
            <a:avLst/>
          </a:prstGeom>
          <a:ln w="12700">
            <a:miter lim="400000"/>
          </a:ln>
        </p:spPr>
      </p:pic>
      <p:sp>
        <p:nvSpPr>
          <p:cNvPr id="2" name="TextBox 1">
            <a:extLst>
              <a:ext uri="{FF2B5EF4-FFF2-40B4-BE49-F238E27FC236}">
                <a16:creationId xmlns:a16="http://schemas.microsoft.com/office/drawing/2014/main" id="{222C6AE4-75B2-ECA1-B388-2A6EE6CD4C7D}"/>
              </a:ext>
            </a:extLst>
          </p:cNvPr>
          <p:cNvSpPr txBox="1"/>
          <p:nvPr/>
        </p:nvSpPr>
        <p:spPr>
          <a:xfrm>
            <a:off x="2357490" y="6289682"/>
            <a:ext cx="2135521"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541E0"/>
                </a:solidFill>
                <a:effectLst/>
                <a:uFill>
                  <a:solidFill>
                    <a:srgbClr val="000000"/>
                  </a:solidFill>
                </a:uFill>
                <a:latin typeface="Helvetica"/>
                <a:ea typeface="Helvetica"/>
                <a:cs typeface="Helvetica"/>
                <a:sym typeface="Helvetica"/>
              </a:rPr>
              <a:t>Amino terminus</a:t>
            </a:r>
          </a:p>
        </p:txBody>
      </p:sp>
      <p:sp>
        <p:nvSpPr>
          <p:cNvPr id="3" name="TextBox 2">
            <a:extLst>
              <a:ext uri="{FF2B5EF4-FFF2-40B4-BE49-F238E27FC236}">
                <a16:creationId xmlns:a16="http://schemas.microsoft.com/office/drawing/2014/main" id="{828BA38F-ED55-C108-A30F-B0DA340A7A7D}"/>
              </a:ext>
            </a:extLst>
          </p:cNvPr>
          <p:cNvSpPr txBox="1"/>
          <p:nvPr/>
        </p:nvSpPr>
        <p:spPr>
          <a:xfrm>
            <a:off x="1969219" y="250034"/>
            <a:ext cx="2321469"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lang="en-US" dirty="0">
                <a:solidFill>
                  <a:srgbClr val="FF0000"/>
                </a:solidFill>
                <a:uFill>
                  <a:solidFill>
                    <a:srgbClr val="000000"/>
                  </a:solidFill>
                </a:uFill>
              </a:rPr>
              <a:t>carboxy</a:t>
            </a:r>
            <a:r>
              <a:rPr kumimoji="0" lang="en-US" sz="2000" b="1" i="0" u="none" strike="noStrike" cap="none" spc="0" normalizeH="0" baseline="0" dirty="0">
                <a:ln>
                  <a:noFill/>
                </a:ln>
                <a:solidFill>
                  <a:srgbClr val="FF0000"/>
                </a:solidFill>
                <a:effectLst/>
                <a:uFill>
                  <a:solidFill>
                    <a:srgbClr val="000000"/>
                  </a:solidFill>
                </a:uFill>
                <a:latin typeface="Helvetica"/>
                <a:ea typeface="Helvetica"/>
                <a:cs typeface="Helvetica"/>
                <a:sym typeface="Helvetica"/>
              </a:rPr>
              <a:t> terminus</a:t>
            </a:r>
          </a:p>
        </p:txBody>
      </p:sp>
      <p:pic>
        <p:nvPicPr>
          <p:cNvPr id="294" name="image.png"/>
          <p:cNvPicPr/>
          <p:nvPr/>
        </p:nvPicPr>
        <p:blipFill>
          <a:blip r:embed="rId3"/>
          <a:stretch>
            <a:fillRect/>
          </a:stretch>
        </p:blipFill>
        <p:spPr>
          <a:xfrm>
            <a:off x="2322512" y="552608"/>
            <a:ext cx="1965325" cy="5635625"/>
          </a:xfrm>
          <a:prstGeom prst="rect">
            <a:avLst/>
          </a:prstGeom>
          <a:ln w="12700">
            <a:miter lim="400000"/>
          </a:ln>
        </p:spPr>
      </p:pic>
      <p:sp>
        <p:nvSpPr>
          <p:cNvPr id="295" name="Shape 295"/>
          <p:cNvSpPr>
            <a:spLocks noGrp="1"/>
          </p:cNvSpPr>
          <p:nvPr>
            <p:ph type="title"/>
          </p:nvPr>
        </p:nvSpPr>
        <p:spPr>
          <a:xfrm>
            <a:off x="685800" y="-76200"/>
            <a:ext cx="7772400" cy="419100"/>
          </a:xfrm>
          <a:prstGeom prst="rect">
            <a:avLst/>
          </a:prstGeom>
        </p:spPr>
        <p:txBody>
          <a:bodyPr/>
          <a:lstStyle/>
          <a:p>
            <a:pPr lvl="0">
              <a:defRPr sz="1800">
                <a:uFillTx/>
              </a:defRPr>
            </a:pPr>
            <a:r>
              <a:rPr sz="2400" dirty="0">
                <a:uFill>
                  <a:solidFill/>
                </a:uFill>
                <a:latin typeface="Gill Sans" charset="0"/>
                <a:ea typeface="Gill Sans" charset="0"/>
                <a:cs typeface="Gill Sans" charset="0"/>
                <a:sym typeface="Helvetica"/>
              </a:rPr>
              <a:t>S</a:t>
            </a:r>
            <a:r>
              <a:rPr lang="en-US" sz="2200" dirty="0">
                <a:uFill>
                  <a:solidFill/>
                </a:uFill>
                <a:latin typeface="Gill Sans" charset="0"/>
                <a:ea typeface="Gill Sans" charset="0"/>
                <a:cs typeface="Gill Sans" charset="0"/>
                <a:sym typeface="Helvetica"/>
              </a:rPr>
              <a:t>econdary</a:t>
            </a:r>
            <a:r>
              <a:rPr lang="en-US" sz="2400" dirty="0">
                <a:uFill>
                  <a:solidFill/>
                </a:uFill>
                <a:latin typeface="Gill Sans" charset="0"/>
                <a:ea typeface="Gill Sans" charset="0"/>
                <a:cs typeface="Gill Sans" charset="0"/>
                <a:sym typeface="Helvetica"/>
              </a:rPr>
              <a:t> structure: </a:t>
            </a:r>
            <a:r>
              <a:rPr sz="2400" dirty="0">
                <a:uFill>
                  <a:solidFill/>
                </a:uFill>
                <a:latin typeface="Gill Sans" charset="0"/>
                <a:ea typeface="Gill Sans" charset="0"/>
                <a:cs typeface="Gill Sans" charset="0"/>
                <a:sym typeface="Symbol"/>
              </a:rPr>
              <a:t>α</a:t>
            </a:r>
            <a:r>
              <a:rPr sz="2400" dirty="0">
                <a:uFill>
                  <a:solidFill/>
                </a:uFill>
                <a:latin typeface="Gill Sans" charset="0"/>
                <a:ea typeface="Gill Sans" charset="0"/>
                <a:cs typeface="Gill Sans" charset="0"/>
                <a:sym typeface="Helvetica"/>
              </a:rPr>
              <a:t>-</a:t>
            </a:r>
            <a:r>
              <a:rPr lang="en-US" sz="2400" dirty="0">
                <a:uFill>
                  <a:solidFill/>
                </a:uFill>
                <a:latin typeface="Gill Sans" charset="0"/>
                <a:ea typeface="Gill Sans" charset="0"/>
                <a:cs typeface="Gill Sans" charset="0"/>
                <a:sym typeface="Helvetica"/>
              </a:rPr>
              <a:t>helix</a:t>
            </a:r>
          </a:p>
        </p:txBody>
      </p:sp>
      <p:sp>
        <p:nvSpPr>
          <p:cNvPr id="296" name="Shape 296"/>
          <p:cNvSpPr/>
          <p:nvPr/>
        </p:nvSpPr>
        <p:spPr>
          <a:xfrm>
            <a:off x="4294188" y="381000"/>
            <a:ext cx="5041900"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marL="40640" lvl="0">
              <a:spcBef>
                <a:spcPts val="900"/>
              </a:spcBef>
              <a:buClr>
                <a:schemeClr val="tx1"/>
              </a:buClr>
              <a:buSzPct val="100000"/>
              <a:buFont typeface="Helvetica"/>
              <a:buChar char="•"/>
              <a:defRPr sz="1800">
                <a:uFillTx/>
              </a:defRPr>
            </a:pPr>
            <a:r>
              <a:rPr sz="1600" b="0" dirty="0">
                <a:solidFill>
                  <a:schemeClr val="tx1"/>
                </a:solidFill>
                <a:uFill>
                  <a:solidFill>
                    <a:srgbClr val="DD33C5"/>
                  </a:solidFill>
                </a:uFill>
                <a:latin typeface="Gill Sans" charset="0"/>
                <a:ea typeface="Gill Sans" charset="0"/>
                <a:cs typeface="Gill Sans" charset="0"/>
                <a:sym typeface="Helvetica"/>
              </a:rPr>
              <a:t> R</a:t>
            </a:r>
            <a:r>
              <a:rPr lang="en-US" sz="1600" b="0" dirty="0">
                <a:solidFill>
                  <a:schemeClr val="tx1"/>
                </a:solidFill>
                <a:uFill>
                  <a:solidFill>
                    <a:srgbClr val="DD33C5"/>
                  </a:solidFill>
                </a:uFill>
                <a:latin typeface="Gill Sans" charset="0"/>
                <a:ea typeface="Gill Sans" charset="0"/>
                <a:cs typeface="Gill Sans" charset="0"/>
                <a:sym typeface="Helvetica"/>
              </a:rPr>
              <a:t>epeating  </a:t>
            </a:r>
            <a:r>
              <a:rPr lang="en-US" sz="1600" b="0" u="sng" dirty="0">
                <a:solidFill>
                  <a:schemeClr val="tx1"/>
                </a:solidFill>
                <a:uFill>
                  <a:solidFill>
                    <a:srgbClr val="DD33C5"/>
                  </a:solidFill>
                </a:uFill>
                <a:latin typeface="Gill Sans" charset="0"/>
                <a:ea typeface="Gill Sans" charset="0"/>
                <a:cs typeface="Gill Sans" charset="0"/>
                <a:sym typeface="Helvetica"/>
              </a:rPr>
              <a:t>at least</a:t>
            </a:r>
            <a:r>
              <a:rPr lang="en-US" sz="1600" b="0" dirty="0">
                <a:solidFill>
                  <a:schemeClr val="tx1"/>
                </a:solidFill>
                <a:uFill>
                  <a:solidFill>
                    <a:srgbClr val="DD33C5"/>
                  </a:solidFill>
                </a:uFill>
                <a:latin typeface="Gill Sans" charset="0"/>
                <a:ea typeface="Gill Sans" charset="0"/>
                <a:cs typeface="Gill Sans" charset="0"/>
                <a:sym typeface="Helvetica"/>
              </a:rPr>
              <a:t> 5 </a:t>
            </a:r>
            <a:r>
              <a:rPr sz="1600" b="0" dirty="0">
                <a:solidFill>
                  <a:schemeClr val="tx1"/>
                </a:solidFill>
                <a:uFill>
                  <a:solidFill>
                    <a:srgbClr val="DD33C5"/>
                  </a:solidFill>
                </a:uFill>
                <a:latin typeface="Gill Sans" charset="0"/>
                <a:ea typeface="Gill Sans" charset="0"/>
                <a:cs typeface="Gill Sans" charset="0"/>
                <a:sym typeface="Helvetica"/>
              </a:rPr>
              <a:t>AA: </a:t>
            </a:r>
            <a:r>
              <a:rPr sz="1600" b="0" dirty="0">
                <a:solidFill>
                  <a:schemeClr val="tx1"/>
                </a:solidFill>
                <a:uFill>
                  <a:solidFill>
                    <a:srgbClr val="DD33C5"/>
                  </a:solidFill>
                </a:uFill>
                <a:latin typeface="Gill Sans" charset="0"/>
                <a:ea typeface="Gill Sans" charset="0"/>
                <a:cs typeface="Gill Sans" charset="0"/>
                <a:sym typeface="Symbol"/>
              </a:rPr>
              <a:t>Φ</a:t>
            </a:r>
            <a:r>
              <a:rPr sz="1600" b="0" dirty="0">
                <a:solidFill>
                  <a:schemeClr val="tx1"/>
                </a:solidFill>
                <a:uFill>
                  <a:solidFill>
                    <a:srgbClr val="DD33C5"/>
                  </a:solidFill>
                </a:uFill>
                <a:latin typeface="Gill Sans" charset="0"/>
                <a:ea typeface="Gill Sans" charset="0"/>
                <a:cs typeface="Gill Sans" charset="0"/>
                <a:sym typeface="Helvetica"/>
              </a:rPr>
              <a:t> ~ -60</a:t>
            </a:r>
            <a:r>
              <a:rPr sz="1600" b="0" baseline="35999" dirty="0">
                <a:solidFill>
                  <a:schemeClr val="tx1"/>
                </a:solidFill>
                <a:uFill>
                  <a:solidFill>
                    <a:srgbClr val="DD33C5"/>
                  </a:solidFill>
                </a:uFill>
                <a:latin typeface="Gill Sans" charset="0"/>
                <a:ea typeface="Gill Sans" charset="0"/>
                <a:cs typeface="Gill Sans" charset="0"/>
                <a:sym typeface="Helvetica"/>
              </a:rPr>
              <a:t>o</a:t>
            </a:r>
            <a:r>
              <a:rPr sz="1600" b="0" dirty="0">
                <a:solidFill>
                  <a:schemeClr val="tx1"/>
                </a:solidFill>
                <a:uFill>
                  <a:solidFill>
                    <a:srgbClr val="DD33C5"/>
                  </a:solidFill>
                </a:uFill>
                <a:latin typeface="Gill Sans" charset="0"/>
                <a:ea typeface="Gill Sans" charset="0"/>
                <a:cs typeface="Gill Sans" charset="0"/>
                <a:sym typeface="Helvetica"/>
              </a:rPr>
              <a:t>, </a:t>
            </a:r>
            <a:r>
              <a:rPr sz="1600" b="0" dirty="0">
                <a:solidFill>
                  <a:schemeClr val="tx1"/>
                </a:solidFill>
                <a:uFill>
                  <a:solidFill>
                    <a:srgbClr val="DD33C5"/>
                  </a:solidFill>
                </a:uFill>
                <a:latin typeface="Gill Sans" charset="0"/>
                <a:ea typeface="Gill Sans" charset="0"/>
                <a:cs typeface="Gill Sans" charset="0"/>
                <a:sym typeface="Symbol"/>
              </a:rPr>
              <a:t>Ψ</a:t>
            </a:r>
            <a:r>
              <a:rPr sz="1600" b="0" dirty="0">
                <a:solidFill>
                  <a:schemeClr val="tx1"/>
                </a:solidFill>
                <a:uFill>
                  <a:solidFill>
                    <a:srgbClr val="DD33C5"/>
                  </a:solidFill>
                </a:uFill>
                <a:latin typeface="Gill Sans" charset="0"/>
                <a:ea typeface="Gill Sans" charset="0"/>
                <a:cs typeface="Gill Sans" charset="0"/>
                <a:sym typeface="Helvetica"/>
              </a:rPr>
              <a:t> ~ -40</a:t>
            </a:r>
            <a:r>
              <a:rPr sz="1600" b="0" baseline="35999" dirty="0">
                <a:solidFill>
                  <a:schemeClr val="tx1"/>
                </a:solidFill>
                <a:uFill>
                  <a:solidFill>
                    <a:srgbClr val="DD33C5"/>
                  </a:solidFill>
                </a:uFill>
                <a:latin typeface="Gill Sans" charset="0"/>
                <a:ea typeface="Gill Sans" charset="0"/>
                <a:cs typeface="Gill Sans" charset="0"/>
                <a:sym typeface="Helvetica"/>
              </a:rPr>
              <a:t>o</a:t>
            </a:r>
          </a:p>
        </p:txBody>
      </p:sp>
      <p:sp>
        <p:nvSpPr>
          <p:cNvPr id="297" name="Shape 297"/>
          <p:cNvSpPr/>
          <p:nvPr/>
        </p:nvSpPr>
        <p:spPr>
          <a:xfrm>
            <a:off x="4294188" y="1187450"/>
            <a:ext cx="5118100"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marL="40640">
              <a:spcBef>
                <a:spcPts val="900"/>
              </a:spcBef>
              <a:buClr>
                <a:srgbClr val="DD33C5"/>
              </a:buClr>
              <a:buSzPct val="100000"/>
              <a:buFont typeface="Helvetica"/>
              <a:buChar char="•"/>
              <a:defRPr sz="1600" b="1">
                <a:solidFill>
                  <a:srgbClr val="DD33C5"/>
                </a:solidFill>
                <a:uFill>
                  <a:solidFill>
                    <a:srgbClr val="DD33C5"/>
                  </a:solidFill>
                </a:uFill>
                <a:latin typeface="Helvetica"/>
                <a:ea typeface="Helvetica"/>
                <a:cs typeface="Helvetica"/>
                <a:sym typeface="Helvetica"/>
              </a:defRPr>
            </a:lvl1pPr>
          </a:lstStyle>
          <a:p>
            <a:pPr lvl="0">
              <a:buClr>
                <a:schemeClr val="tx1"/>
              </a:buClr>
              <a:defRPr sz="1800" b="0">
                <a:solidFill>
                  <a:srgbClr val="000000"/>
                </a:solidFill>
                <a:uFillTx/>
              </a:defRPr>
            </a:pPr>
            <a:r>
              <a:rPr sz="1600" b="0" dirty="0">
                <a:solidFill>
                  <a:schemeClr val="tx1"/>
                </a:solidFill>
                <a:uFill>
                  <a:solidFill>
                    <a:srgbClr val="DD33C5"/>
                  </a:solidFill>
                </a:uFill>
                <a:latin typeface="Gill Sans" charset="0"/>
                <a:ea typeface="Gill Sans" charset="0"/>
                <a:cs typeface="Gill Sans" charset="0"/>
              </a:rPr>
              <a:t> A</a:t>
            </a:r>
            <a:r>
              <a:rPr lang="en-US" sz="1600" b="0" dirty="0">
                <a:solidFill>
                  <a:schemeClr val="tx1"/>
                </a:solidFill>
                <a:uFill>
                  <a:solidFill>
                    <a:srgbClr val="DD33C5"/>
                  </a:solidFill>
                </a:uFill>
                <a:latin typeface="Gill Sans" charset="0"/>
                <a:ea typeface="Gill Sans" charset="0"/>
                <a:cs typeface="Gill Sans" charset="0"/>
              </a:rPr>
              <a:t>ll R groups point away from helix axis</a:t>
            </a:r>
            <a:endParaRPr sz="1600" b="0" dirty="0">
              <a:solidFill>
                <a:schemeClr val="tx1"/>
              </a:solidFill>
              <a:uFill>
                <a:solidFill>
                  <a:srgbClr val="DD33C5"/>
                </a:solidFill>
              </a:uFill>
              <a:latin typeface="Gill Sans" charset="0"/>
              <a:ea typeface="Gill Sans" charset="0"/>
              <a:cs typeface="Gill Sans" charset="0"/>
            </a:endParaRPr>
          </a:p>
        </p:txBody>
      </p:sp>
      <p:sp>
        <p:nvSpPr>
          <p:cNvPr id="298" name="Shape 298"/>
          <p:cNvSpPr/>
          <p:nvPr/>
        </p:nvSpPr>
        <p:spPr>
          <a:xfrm>
            <a:off x="4295776" y="1568450"/>
            <a:ext cx="4267200" cy="492443"/>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marL="40640">
              <a:spcBef>
                <a:spcPts val="900"/>
              </a:spcBef>
              <a:buClr>
                <a:srgbClr val="DD33C5"/>
              </a:buClr>
              <a:buSzPct val="100000"/>
              <a:buFont typeface="Helvetica"/>
              <a:buChar char="•"/>
              <a:defRPr sz="1600" b="1">
                <a:solidFill>
                  <a:srgbClr val="DD33C5"/>
                </a:solidFill>
                <a:uFill>
                  <a:solidFill>
                    <a:srgbClr val="DD33C5"/>
                  </a:solidFill>
                </a:uFill>
                <a:latin typeface="Helvetica"/>
                <a:ea typeface="Helvetica"/>
                <a:cs typeface="Helvetica"/>
                <a:sym typeface="Helvetica"/>
              </a:defRPr>
            </a:lvl1pPr>
          </a:lstStyle>
          <a:p>
            <a:pPr lvl="0">
              <a:buClr>
                <a:schemeClr val="tx1"/>
              </a:buClr>
              <a:defRPr sz="1800" b="0">
                <a:solidFill>
                  <a:srgbClr val="000000"/>
                </a:solidFill>
                <a:uFillTx/>
              </a:defRPr>
            </a:pPr>
            <a:r>
              <a:rPr sz="1600" b="0" dirty="0">
                <a:solidFill>
                  <a:schemeClr val="tx1"/>
                </a:solidFill>
                <a:uFill>
                  <a:solidFill>
                    <a:srgbClr val="DD33C5"/>
                  </a:solidFill>
                </a:uFill>
                <a:latin typeface="Gill Sans" charset="0"/>
                <a:ea typeface="Gill Sans" charset="0"/>
                <a:cs typeface="Gill Sans" charset="0"/>
              </a:rPr>
              <a:t> E</a:t>
            </a:r>
            <a:r>
              <a:rPr lang="en-US" sz="1600" b="0" dirty="0">
                <a:solidFill>
                  <a:schemeClr val="tx1"/>
                </a:solidFill>
                <a:uFill>
                  <a:solidFill>
                    <a:srgbClr val="DD33C5"/>
                  </a:solidFill>
                </a:uFill>
                <a:latin typeface="Gill Sans" charset="0"/>
                <a:ea typeface="Gill Sans" charset="0"/>
                <a:cs typeface="Gill Sans" charset="0"/>
              </a:rPr>
              <a:t>very peptide carbonyl is acceptor for peptide </a:t>
            </a:r>
            <a:r>
              <a:rPr sz="1600" b="0" dirty="0">
                <a:solidFill>
                  <a:schemeClr val="tx1"/>
                </a:solidFill>
                <a:uFill>
                  <a:solidFill>
                    <a:srgbClr val="DD33C5"/>
                  </a:solidFill>
                </a:uFill>
                <a:latin typeface="Gill Sans" charset="0"/>
                <a:ea typeface="Gill Sans" charset="0"/>
                <a:cs typeface="Gill Sans" charset="0"/>
              </a:rPr>
              <a:t>N-H </a:t>
            </a:r>
            <a:r>
              <a:rPr lang="en-US" sz="1600" b="0" dirty="0">
                <a:solidFill>
                  <a:schemeClr val="tx1"/>
                </a:solidFill>
                <a:uFill>
                  <a:solidFill>
                    <a:srgbClr val="DD33C5"/>
                  </a:solidFill>
                </a:uFill>
                <a:latin typeface="Gill Sans" charset="0"/>
                <a:ea typeface="Gill Sans" charset="0"/>
                <a:cs typeface="Gill Sans" charset="0"/>
              </a:rPr>
              <a:t>donor</a:t>
            </a:r>
            <a:r>
              <a:rPr sz="1600" b="0" dirty="0">
                <a:solidFill>
                  <a:schemeClr val="tx1"/>
                </a:solidFill>
                <a:uFill>
                  <a:solidFill>
                    <a:srgbClr val="DD33C5"/>
                  </a:solidFill>
                </a:uFill>
                <a:latin typeface="Gill Sans" charset="0"/>
                <a:ea typeface="Gill Sans" charset="0"/>
                <a:cs typeface="Gill Sans" charset="0"/>
              </a:rPr>
              <a:t> 4 AA </a:t>
            </a:r>
            <a:r>
              <a:rPr lang="en-US" sz="1600" b="0" dirty="0">
                <a:solidFill>
                  <a:schemeClr val="tx1"/>
                </a:solidFill>
                <a:uFill>
                  <a:solidFill>
                    <a:srgbClr val="DD33C5"/>
                  </a:solidFill>
                </a:uFill>
                <a:latin typeface="Gill Sans" charset="0"/>
                <a:ea typeface="Gill Sans" charset="0"/>
                <a:cs typeface="Gill Sans" charset="0"/>
              </a:rPr>
              <a:t>away;  But:</a:t>
            </a:r>
          </a:p>
        </p:txBody>
      </p:sp>
      <p:sp>
        <p:nvSpPr>
          <p:cNvPr id="299" name="Shape 299"/>
          <p:cNvSpPr/>
          <p:nvPr/>
        </p:nvSpPr>
        <p:spPr>
          <a:xfrm>
            <a:off x="4562475" y="2130425"/>
            <a:ext cx="4813301"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900"/>
              </a:spcBef>
              <a:buClr>
                <a:srgbClr val="1E31E3"/>
              </a:buClr>
              <a:buFont typeface="Helvetica"/>
              <a:defRPr sz="1600" b="1">
                <a:solidFill>
                  <a:srgbClr val="1E31E3"/>
                </a:solidFill>
                <a:uFill>
                  <a:solidFill>
                    <a:srgbClr val="1E31E3"/>
                  </a:solidFill>
                </a:uFill>
                <a:latin typeface="Helvetica"/>
                <a:ea typeface="Helvetica"/>
                <a:cs typeface="Helvetica"/>
                <a:sym typeface="Helvetica"/>
              </a:defRPr>
            </a:lvl1pPr>
          </a:lstStyle>
          <a:p>
            <a:pPr lvl="0">
              <a:defRPr sz="1800" b="0">
                <a:solidFill>
                  <a:srgbClr val="000000"/>
                </a:solidFill>
                <a:uFillTx/>
              </a:defRPr>
            </a:pPr>
            <a:r>
              <a:rPr sz="1600" b="0" dirty="0">
                <a:solidFill>
                  <a:schemeClr val="tx1"/>
                </a:solidFill>
                <a:uFill>
                  <a:solidFill>
                    <a:srgbClr val="1E31E3"/>
                  </a:solidFill>
                </a:uFill>
                <a:latin typeface="Gill Sans" charset="0"/>
                <a:ea typeface="Gill Sans" charset="0"/>
                <a:cs typeface="Gill Sans" charset="0"/>
              </a:rPr>
              <a:t>“E</a:t>
            </a:r>
            <a:r>
              <a:rPr lang="en-US" sz="1600" b="0" dirty="0">
                <a:solidFill>
                  <a:schemeClr val="tx1"/>
                </a:solidFill>
                <a:uFill>
                  <a:solidFill>
                    <a:srgbClr val="1E31E3"/>
                  </a:solidFill>
                </a:uFill>
                <a:latin typeface="Gill Sans" charset="0"/>
                <a:ea typeface="Gill Sans" charset="0"/>
                <a:cs typeface="Gill Sans" charset="0"/>
              </a:rPr>
              <a:t>nd 4 AA” need other H-bond partners</a:t>
            </a:r>
          </a:p>
        </p:txBody>
      </p:sp>
      <p:sp>
        <p:nvSpPr>
          <p:cNvPr id="300" name="Shape 300"/>
          <p:cNvSpPr/>
          <p:nvPr/>
        </p:nvSpPr>
        <p:spPr>
          <a:xfrm>
            <a:off x="4295776" y="2559050"/>
            <a:ext cx="4813300"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marL="40640">
              <a:spcBef>
                <a:spcPts val="900"/>
              </a:spcBef>
              <a:buClr>
                <a:srgbClr val="DD33C5"/>
              </a:buClr>
              <a:buSzPct val="100000"/>
              <a:buFont typeface="Helvetica"/>
              <a:buChar char="•"/>
              <a:defRPr sz="1600" b="1">
                <a:solidFill>
                  <a:srgbClr val="DD33C5"/>
                </a:solidFill>
                <a:uFill>
                  <a:solidFill>
                    <a:srgbClr val="DD33C5"/>
                  </a:solidFill>
                </a:uFill>
                <a:latin typeface="Helvetica"/>
                <a:ea typeface="Helvetica"/>
                <a:cs typeface="Helvetica"/>
                <a:sym typeface="Helvetica"/>
              </a:defRPr>
            </a:lvl1pPr>
          </a:lstStyle>
          <a:p>
            <a:pPr lvl="0">
              <a:buClr>
                <a:schemeClr val="tx1"/>
              </a:buClr>
              <a:defRPr sz="1800" b="0">
                <a:solidFill>
                  <a:srgbClr val="000000"/>
                </a:solidFill>
                <a:uFillTx/>
              </a:defRPr>
            </a:pPr>
            <a:r>
              <a:rPr sz="1600" b="0" dirty="0">
                <a:solidFill>
                  <a:schemeClr val="tx1"/>
                </a:solidFill>
                <a:uFill>
                  <a:solidFill>
                    <a:srgbClr val="DD33C5"/>
                  </a:solidFill>
                </a:uFill>
                <a:latin typeface="Gill Sans" charset="0"/>
                <a:ea typeface="Gill Sans" charset="0"/>
                <a:cs typeface="Gill Sans" charset="0"/>
              </a:rPr>
              <a:t> H</a:t>
            </a:r>
            <a:r>
              <a:rPr lang="en-US" sz="1600" b="0" dirty="0">
                <a:solidFill>
                  <a:schemeClr val="tx1"/>
                </a:solidFill>
                <a:uFill>
                  <a:solidFill>
                    <a:srgbClr val="DD33C5"/>
                  </a:solidFill>
                </a:uFill>
                <a:latin typeface="Gill Sans" charset="0"/>
                <a:ea typeface="Gill Sans" charset="0"/>
                <a:cs typeface="Gill Sans" charset="0"/>
              </a:rPr>
              <a:t>elix always right-handed</a:t>
            </a:r>
          </a:p>
        </p:txBody>
      </p:sp>
      <p:sp>
        <p:nvSpPr>
          <p:cNvPr id="301" name="Shape 301"/>
          <p:cNvSpPr/>
          <p:nvPr/>
        </p:nvSpPr>
        <p:spPr>
          <a:xfrm>
            <a:off x="4291015" y="3817937"/>
            <a:ext cx="4889500"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marL="40640" lvl="0">
              <a:spcBef>
                <a:spcPts val="900"/>
              </a:spcBef>
              <a:buClr>
                <a:schemeClr val="tx1"/>
              </a:buClr>
              <a:buSzPct val="100000"/>
              <a:buFont typeface="Helvetica"/>
              <a:buChar char="•"/>
              <a:defRPr sz="1800">
                <a:uFillTx/>
              </a:defRPr>
            </a:pPr>
            <a:r>
              <a:rPr sz="1600" b="0" dirty="0">
                <a:solidFill>
                  <a:schemeClr val="tx1"/>
                </a:solidFill>
                <a:uFill>
                  <a:solidFill>
                    <a:srgbClr val="DD33C5"/>
                  </a:solidFill>
                </a:uFill>
                <a:latin typeface="Gill Sans" charset="0"/>
                <a:ea typeface="Gill Sans" charset="0"/>
                <a:cs typeface="Gill Sans" charset="0"/>
                <a:sym typeface="Helvetica"/>
              </a:rPr>
              <a:t> W</a:t>
            </a:r>
            <a:r>
              <a:rPr lang="en-US" sz="1600" b="0" dirty="0">
                <a:solidFill>
                  <a:schemeClr val="tx1"/>
                </a:solidFill>
                <a:uFill>
                  <a:solidFill>
                    <a:srgbClr val="DD33C5"/>
                  </a:solidFill>
                </a:uFill>
                <a:latin typeface="Gill Sans" charset="0"/>
                <a:ea typeface="Gill Sans" charset="0"/>
                <a:cs typeface="Gill Sans" charset="0"/>
                <a:sym typeface="Helvetica"/>
              </a:rPr>
              <a:t>hich</a:t>
            </a:r>
            <a:r>
              <a:rPr sz="1600" b="0" dirty="0">
                <a:solidFill>
                  <a:schemeClr val="tx1"/>
                </a:solidFill>
                <a:uFill>
                  <a:solidFill>
                    <a:srgbClr val="DD33C5"/>
                  </a:solidFill>
                </a:uFill>
                <a:latin typeface="Gill Sans" charset="0"/>
                <a:ea typeface="Gill Sans" charset="0"/>
                <a:cs typeface="Gill Sans" charset="0"/>
                <a:sym typeface="Helvetica"/>
              </a:rPr>
              <a:t> AA </a:t>
            </a:r>
            <a:r>
              <a:rPr lang="en-US" sz="1600" b="0" dirty="0">
                <a:solidFill>
                  <a:schemeClr val="tx1"/>
                </a:solidFill>
                <a:uFill>
                  <a:solidFill>
                    <a:srgbClr val="DD33C5"/>
                  </a:solidFill>
                </a:uFill>
                <a:latin typeface="Gill Sans" charset="0"/>
                <a:ea typeface="Gill Sans" charset="0"/>
                <a:cs typeface="Gill Sans" charset="0"/>
                <a:sym typeface="Helvetica"/>
              </a:rPr>
              <a:t>found in an</a:t>
            </a:r>
            <a:r>
              <a:rPr lang="en-US" sz="1600" b="0" dirty="0">
                <a:solidFill>
                  <a:schemeClr val="tx1"/>
                </a:solidFill>
                <a:uFill>
                  <a:solidFill>
                    <a:srgbClr val="DD33C5"/>
                  </a:solidFill>
                </a:uFill>
                <a:latin typeface="Gill Sans" charset="0"/>
                <a:ea typeface="Gill Sans" charset="0"/>
                <a:cs typeface="Gill Sans" charset="0"/>
                <a:sym typeface="Symbol"/>
              </a:rPr>
              <a:t> α</a:t>
            </a:r>
            <a:r>
              <a:rPr lang="en-US" sz="1600" b="0" dirty="0">
                <a:solidFill>
                  <a:schemeClr val="tx1"/>
                </a:solidFill>
                <a:uFill>
                  <a:solidFill>
                    <a:srgbClr val="DD33C5"/>
                  </a:solidFill>
                </a:uFill>
                <a:latin typeface="Gill Sans" charset="0"/>
                <a:ea typeface="Gill Sans" charset="0"/>
                <a:cs typeface="Gill Sans" charset="0"/>
                <a:sym typeface="Helvetica"/>
              </a:rPr>
              <a:t>-helix?</a:t>
            </a:r>
          </a:p>
        </p:txBody>
      </p:sp>
      <p:sp>
        <p:nvSpPr>
          <p:cNvPr id="302" name="Shape 302"/>
          <p:cNvSpPr/>
          <p:nvPr/>
        </p:nvSpPr>
        <p:spPr>
          <a:xfrm>
            <a:off x="4572000" y="4641850"/>
            <a:ext cx="4660900" cy="11003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marL="40640" lvl="0">
              <a:spcBef>
                <a:spcPts val="900"/>
              </a:spcBef>
              <a:buClr>
                <a:schemeClr val="tx1"/>
              </a:buClr>
              <a:buSzPct val="100000"/>
              <a:buFont typeface="Helvetica"/>
              <a:buChar char="•"/>
              <a:defRPr sz="1800">
                <a:uFillTx/>
              </a:defRPr>
            </a:pPr>
            <a:r>
              <a:rPr sz="1600" b="0" dirty="0">
                <a:solidFill>
                  <a:schemeClr val="tx1"/>
                </a:solidFill>
                <a:uFill>
                  <a:solidFill>
                    <a:srgbClr val="1E31E3"/>
                  </a:solidFill>
                </a:uFill>
                <a:latin typeface="Gill Sans" charset="0"/>
                <a:ea typeface="Gill Sans" charset="0"/>
                <a:cs typeface="Gill Sans" charset="0"/>
                <a:sym typeface="Helvetica"/>
              </a:rPr>
              <a:t> AA </a:t>
            </a:r>
            <a:r>
              <a:rPr lang="en-US" sz="1600" b="0" dirty="0">
                <a:solidFill>
                  <a:schemeClr val="tx1"/>
                </a:solidFill>
                <a:uFill>
                  <a:solidFill>
                    <a:srgbClr val="1E31E3"/>
                  </a:solidFill>
                </a:uFill>
                <a:latin typeface="Gill Sans" charset="0"/>
                <a:ea typeface="Gill Sans" charset="0"/>
                <a:cs typeface="Gill Sans" charset="0"/>
                <a:sym typeface="Helvetica"/>
              </a:rPr>
              <a:t>vary in tendency to be in helix</a:t>
            </a:r>
            <a:r>
              <a:rPr sz="1600" b="0" dirty="0">
                <a:solidFill>
                  <a:schemeClr val="tx1"/>
                </a:solidFill>
                <a:uFill>
                  <a:solidFill>
                    <a:srgbClr val="1E31E3"/>
                  </a:solidFill>
                </a:uFill>
                <a:latin typeface="Gill Sans" charset="0"/>
                <a:ea typeface="Gill Sans" charset="0"/>
                <a:cs typeface="Gill Sans" charset="0"/>
                <a:sym typeface="Helvetica"/>
              </a:rPr>
              <a:t>, e.g. G</a:t>
            </a:r>
            <a:r>
              <a:rPr lang="en-US" sz="1600" b="0" dirty="0">
                <a:solidFill>
                  <a:schemeClr val="tx1"/>
                </a:solidFill>
                <a:uFill>
                  <a:solidFill>
                    <a:srgbClr val="1E31E3"/>
                  </a:solidFill>
                </a:uFill>
                <a:latin typeface="Gill Sans" charset="0"/>
                <a:ea typeface="Gill Sans" charset="0"/>
                <a:cs typeface="Gill Sans" charset="0"/>
                <a:sym typeface="Helvetica"/>
              </a:rPr>
              <a:t>ly</a:t>
            </a:r>
            <a:r>
              <a:rPr sz="1600" b="0" dirty="0">
                <a:solidFill>
                  <a:schemeClr val="tx1"/>
                </a:solidFill>
                <a:uFill>
                  <a:solidFill>
                    <a:srgbClr val="1E31E3"/>
                  </a:solidFill>
                </a:uFill>
                <a:latin typeface="Gill Sans" charset="0"/>
                <a:ea typeface="Gill Sans" charset="0"/>
                <a:cs typeface="Gill Sans" charset="0"/>
                <a:sym typeface="Helvetica"/>
              </a:rPr>
              <a:t>, T</a:t>
            </a:r>
            <a:r>
              <a:rPr lang="en-US" sz="1600" b="0" dirty="0">
                <a:solidFill>
                  <a:schemeClr val="tx1"/>
                </a:solidFill>
                <a:uFill>
                  <a:solidFill>
                    <a:srgbClr val="1E31E3"/>
                  </a:solidFill>
                </a:uFill>
                <a:latin typeface="Gill Sans" charset="0"/>
                <a:ea typeface="Gill Sans" charset="0"/>
                <a:cs typeface="Gill Sans" charset="0"/>
                <a:sym typeface="Helvetica"/>
              </a:rPr>
              <a:t>yr</a:t>
            </a:r>
            <a:r>
              <a:rPr sz="1600" b="0" dirty="0">
                <a:solidFill>
                  <a:schemeClr val="tx1"/>
                </a:solidFill>
                <a:uFill>
                  <a:solidFill>
                    <a:srgbClr val="1E31E3"/>
                  </a:solidFill>
                </a:uFill>
                <a:latin typeface="Gill Sans" charset="0"/>
                <a:ea typeface="Gill Sans" charset="0"/>
                <a:cs typeface="Gill Sans" charset="0"/>
                <a:sym typeface="Helvetica"/>
              </a:rPr>
              <a:t>, A</a:t>
            </a:r>
            <a:r>
              <a:rPr lang="en-US" sz="1600" b="0" dirty="0">
                <a:solidFill>
                  <a:schemeClr val="tx1"/>
                </a:solidFill>
                <a:uFill>
                  <a:solidFill>
                    <a:srgbClr val="1E31E3"/>
                  </a:solidFill>
                </a:uFill>
                <a:latin typeface="Gill Sans" charset="0"/>
                <a:ea typeface="Gill Sans" charset="0"/>
                <a:cs typeface="Gill Sans" charset="0"/>
                <a:sym typeface="Helvetica"/>
              </a:rPr>
              <a:t>sn</a:t>
            </a:r>
            <a:r>
              <a:rPr sz="1600" b="0" dirty="0">
                <a:solidFill>
                  <a:schemeClr val="tx1"/>
                </a:solidFill>
                <a:uFill>
                  <a:solidFill>
                    <a:srgbClr val="1E31E3"/>
                  </a:solidFill>
                </a:uFill>
                <a:latin typeface="Gill Sans" charset="0"/>
                <a:ea typeface="Gill Sans" charset="0"/>
                <a:cs typeface="Gill Sans" charset="0"/>
                <a:sym typeface="Helvetica"/>
              </a:rPr>
              <a:t>, L</a:t>
            </a:r>
            <a:r>
              <a:rPr lang="en-US" sz="1600" b="0" dirty="0">
                <a:solidFill>
                  <a:schemeClr val="tx1"/>
                </a:solidFill>
                <a:uFill>
                  <a:solidFill>
                    <a:srgbClr val="1E31E3"/>
                  </a:solidFill>
                </a:uFill>
                <a:latin typeface="Gill Sans" charset="0"/>
                <a:ea typeface="Gill Sans" charset="0"/>
                <a:cs typeface="Gill Sans" charset="0"/>
                <a:sym typeface="Helvetica"/>
              </a:rPr>
              <a:t>ys</a:t>
            </a:r>
            <a:r>
              <a:rPr sz="1600" b="0" dirty="0">
                <a:solidFill>
                  <a:schemeClr val="tx1"/>
                </a:solidFill>
                <a:uFill>
                  <a:solidFill>
                    <a:srgbClr val="1E31E3"/>
                  </a:solidFill>
                </a:uFill>
                <a:latin typeface="Gill Sans" charset="0"/>
                <a:ea typeface="Gill Sans" charset="0"/>
                <a:cs typeface="Gill Sans" charset="0"/>
                <a:sym typeface="Helvetica"/>
              </a:rPr>
              <a:t>, S</a:t>
            </a:r>
            <a:r>
              <a:rPr lang="en-US" sz="1600" b="0" dirty="0">
                <a:solidFill>
                  <a:schemeClr val="tx1"/>
                </a:solidFill>
                <a:uFill>
                  <a:solidFill>
                    <a:srgbClr val="1E31E3"/>
                  </a:solidFill>
                </a:uFill>
                <a:latin typeface="Gill Sans" charset="0"/>
                <a:ea typeface="Gill Sans" charset="0"/>
                <a:cs typeface="Gill Sans" charset="0"/>
                <a:sym typeface="Helvetica"/>
              </a:rPr>
              <a:t>er</a:t>
            </a:r>
            <a:r>
              <a:rPr sz="1600" b="0" dirty="0">
                <a:solidFill>
                  <a:schemeClr val="tx1"/>
                </a:solidFill>
                <a:uFill>
                  <a:solidFill>
                    <a:srgbClr val="1E31E3"/>
                  </a:solidFill>
                </a:uFill>
                <a:latin typeface="Gill Sans" charset="0"/>
                <a:ea typeface="Gill Sans" charset="0"/>
                <a:cs typeface="Gill Sans" charset="0"/>
                <a:sym typeface="Helvetica"/>
              </a:rPr>
              <a:t> </a:t>
            </a:r>
            <a:r>
              <a:rPr lang="en-US" sz="1600" b="0" dirty="0">
                <a:solidFill>
                  <a:schemeClr val="tx1"/>
                </a:solidFill>
                <a:uFill>
                  <a:solidFill>
                    <a:srgbClr val="1E31E3"/>
                  </a:solidFill>
                </a:uFill>
                <a:latin typeface="Gill Sans" charset="0"/>
                <a:ea typeface="Gill Sans" charset="0"/>
                <a:cs typeface="Gill Sans" charset="0"/>
                <a:sym typeface="Helvetica"/>
              </a:rPr>
              <a:t>in helix about 50% less often than</a:t>
            </a:r>
            <a:r>
              <a:rPr sz="1600" b="0" dirty="0">
                <a:solidFill>
                  <a:schemeClr val="tx1"/>
                </a:solidFill>
                <a:uFill>
                  <a:solidFill>
                    <a:srgbClr val="1E31E3"/>
                  </a:solidFill>
                </a:uFill>
                <a:latin typeface="Gill Sans" charset="0"/>
                <a:ea typeface="Gill Sans" charset="0"/>
                <a:cs typeface="Gill Sans" charset="0"/>
                <a:sym typeface="Helvetica"/>
              </a:rPr>
              <a:t> G</a:t>
            </a:r>
            <a:r>
              <a:rPr lang="en-US" sz="1600" b="0" dirty="0">
                <a:solidFill>
                  <a:schemeClr val="tx1"/>
                </a:solidFill>
                <a:uFill>
                  <a:solidFill>
                    <a:srgbClr val="1E31E3"/>
                  </a:solidFill>
                </a:uFill>
                <a:latin typeface="Gill Sans" charset="0"/>
                <a:ea typeface="Gill Sans" charset="0"/>
                <a:cs typeface="Gill Sans" charset="0"/>
                <a:sym typeface="Helvetica"/>
              </a:rPr>
              <a:t>lu</a:t>
            </a:r>
            <a:r>
              <a:rPr sz="1600" b="0" dirty="0">
                <a:solidFill>
                  <a:schemeClr val="tx1"/>
                </a:solidFill>
                <a:uFill>
                  <a:solidFill>
                    <a:srgbClr val="1E31E3"/>
                  </a:solidFill>
                </a:uFill>
                <a:latin typeface="Gill Sans" charset="0"/>
                <a:ea typeface="Gill Sans" charset="0"/>
                <a:cs typeface="Gill Sans" charset="0"/>
                <a:sym typeface="Helvetica"/>
              </a:rPr>
              <a:t>, M</a:t>
            </a:r>
            <a:r>
              <a:rPr lang="en-US" sz="1600" b="0" dirty="0">
                <a:solidFill>
                  <a:schemeClr val="tx1"/>
                </a:solidFill>
                <a:uFill>
                  <a:solidFill>
                    <a:srgbClr val="1E31E3"/>
                  </a:solidFill>
                </a:uFill>
                <a:latin typeface="Gill Sans" charset="0"/>
                <a:ea typeface="Gill Sans" charset="0"/>
                <a:cs typeface="Gill Sans" charset="0"/>
                <a:sym typeface="Helvetica"/>
              </a:rPr>
              <a:t>et</a:t>
            </a:r>
            <a:r>
              <a:rPr sz="1600" b="0" dirty="0">
                <a:solidFill>
                  <a:schemeClr val="tx1"/>
                </a:solidFill>
                <a:uFill>
                  <a:solidFill>
                    <a:srgbClr val="1E31E3"/>
                  </a:solidFill>
                </a:uFill>
                <a:latin typeface="Gill Sans" charset="0"/>
                <a:ea typeface="Gill Sans" charset="0"/>
                <a:cs typeface="Gill Sans" charset="0"/>
                <a:sym typeface="Helvetica"/>
              </a:rPr>
              <a:t>, A</a:t>
            </a:r>
            <a:r>
              <a:rPr lang="en-US" sz="1600" b="0" dirty="0">
                <a:solidFill>
                  <a:schemeClr val="tx1"/>
                </a:solidFill>
                <a:uFill>
                  <a:solidFill>
                    <a:srgbClr val="1E31E3"/>
                  </a:solidFill>
                </a:uFill>
                <a:latin typeface="Gill Sans" charset="0"/>
                <a:ea typeface="Gill Sans" charset="0"/>
                <a:cs typeface="Gill Sans" charset="0"/>
                <a:sym typeface="Helvetica"/>
              </a:rPr>
              <a:t>la</a:t>
            </a:r>
            <a:r>
              <a:rPr sz="1600" b="0" dirty="0">
                <a:solidFill>
                  <a:schemeClr val="tx1"/>
                </a:solidFill>
                <a:uFill>
                  <a:solidFill>
                    <a:srgbClr val="1E31E3"/>
                  </a:solidFill>
                </a:uFill>
                <a:latin typeface="Gill Sans" charset="0"/>
                <a:ea typeface="Gill Sans" charset="0"/>
                <a:cs typeface="Gill Sans" charset="0"/>
                <a:sym typeface="Helvetica"/>
              </a:rPr>
              <a:t>, L</a:t>
            </a:r>
            <a:r>
              <a:rPr lang="en-US" sz="1600" b="0" dirty="0">
                <a:solidFill>
                  <a:schemeClr val="tx1"/>
                </a:solidFill>
                <a:uFill>
                  <a:solidFill>
                    <a:srgbClr val="1E31E3"/>
                  </a:solidFill>
                </a:uFill>
                <a:latin typeface="Gill Sans" charset="0"/>
                <a:ea typeface="Gill Sans" charset="0"/>
                <a:cs typeface="Gill Sans" charset="0"/>
                <a:sym typeface="Helvetica"/>
              </a:rPr>
              <a:t>eu.</a:t>
            </a:r>
          </a:p>
          <a:p>
            <a:pPr marL="40640" lvl="0">
              <a:spcBef>
                <a:spcPts val="900"/>
              </a:spcBef>
              <a:buClr>
                <a:schemeClr val="tx1"/>
              </a:buClr>
              <a:buSzPct val="100000"/>
              <a:buFont typeface="Helvetica"/>
              <a:buChar char="•"/>
              <a:defRPr sz="1800">
                <a:uFillTx/>
              </a:defRPr>
            </a:pPr>
            <a:r>
              <a:rPr sz="1600" b="0" dirty="0">
                <a:solidFill>
                  <a:schemeClr val="tx1"/>
                </a:solidFill>
                <a:uFill>
                  <a:solidFill>
                    <a:srgbClr val="1E31E3"/>
                  </a:solidFill>
                </a:uFill>
                <a:latin typeface="Gill Sans" charset="0"/>
                <a:ea typeface="Gill Sans" charset="0"/>
                <a:cs typeface="Gill Sans" charset="0"/>
                <a:sym typeface="Helvetica"/>
              </a:rPr>
              <a:t> A</a:t>
            </a:r>
            <a:r>
              <a:rPr lang="en-US" sz="1600" b="0" dirty="0">
                <a:solidFill>
                  <a:schemeClr val="tx1"/>
                </a:solidFill>
                <a:uFill>
                  <a:solidFill>
                    <a:srgbClr val="1E31E3"/>
                  </a:solidFill>
                </a:uFill>
                <a:latin typeface="Gill Sans" charset="0"/>
                <a:ea typeface="Gill Sans" charset="0"/>
                <a:cs typeface="Gill Sans" charset="0"/>
                <a:sym typeface="Helvetica"/>
              </a:rPr>
              <a:t>nd</a:t>
            </a:r>
            <a:r>
              <a:rPr sz="1600" b="0" dirty="0">
                <a:solidFill>
                  <a:schemeClr val="tx1"/>
                </a:solidFill>
                <a:uFill>
                  <a:solidFill>
                    <a:srgbClr val="1E31E3"/>
                  </a:solidFill>
                </a:uFill>
                <a:latin typeface="Gill Sans" charset="0"/>
                <a:ea typeface="Gill Sans" charset="0"/>
                <a:cs typeface="Gill Sans" charset="0"/>
                <a:sym typeface="Helvetica"/>
              </a:rPr>
              <a:t> P</a:t>
            </a:r>
            <a:r>
              <a:rPr lang="en-US" sz="1600" b="0" dirty="0">
                <a:solidFill>
                  <a:schemeClr val="tx1"/>
                </a:solidFill>
                <a:uFill>
                  <a:solidFill>
                    <a:srgbClr val="1E31E3"/>
                  </a:solidFill>
                </a:uFill>
                <a:latin typeface="Gill Sans" charset="0"/>
                <a:ea typeface="Gill Sans" charset="0"/>
                <a:cs typeface="Gill Sans" charset="0"/>
                <a:sym typeface="Helvetica"/>
              </a:rPr>
              <a:t>ro almost never (but sometimes!)</a:t>
            </a:r>
          </a:p>
        </p:txBody>
      </p:sp>
      <p:sp>
        <p:nvSpPr>
          <p:cNvPr id="303" name="Shape 303"/>
          <p:cNvSpPr/>
          <p:nvPr/>
        </p:nvSpPr>
        <p:spPr>
          <a:xfrm>
            <a:off x="4291016" y="5868338"/>
            <a:ext cx="5118100"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marL="40640">
              <a:spcBef>
                <a:spcPts val="900"/>
              </a:spcBef>
              <a:buClr>
                <a:srgbClr val="DD33C5"/>
              </a:buClr>
              <a:buSzPct val="100000"/>
              <a:buFont typeface="Helvetica"/>
              <a:buChar char="•"/>
              <a:defRPr sz="1600" b="1">
                <a:solidFill>
                  <a:srgbClr val="DD33C5"/>
                </a:solidFill>
                <a:uFill>
                  <a:solidFill>
                    <a:srgbClr val="DD33C5"/>
                  </a:solidFill>
                </a:uFill>
                <a:latin typeface="Helvetica"/>
                <a:ea typeface="Helvetica"/>
                <a:cs typeface="Helvetica"/>
                <a:sym typeface="Helvetica"/>
              </a:defRPr>
            </a:lvl1pPr>
          </a:lstStyle>
          <a:p>
            <a:pPr lvl="0">
              <a:buClr>
                <a:schemeClr val="tx1"/>
              </a:buClr>
              <a:defRPr sz="1800" b="0">
                <a:solidFill>
                  <a:srgbClr val="000000"/>
                </a:solidFill>
                <a:uFillTx/>
              </a:defRPr>
            </a:pPr>
            <a:r>
              <a:rPr sz="1600" b="0" dirty="0">
                <a:solidFill>
                  <a:schemeClr val="tx1"/>
                </a:solidFill>
                <a:uFill>
                  <a:solidFill>
                    <a:srgbClr val="DD33C5"/>
                  </a:solidFill>
                </a:uFill>
                <a:latin typeface="Gill Sans" charset="0"/>
                <a:ea typeface="Gill Sans" charset="0"/>
                <a:cs typeface="Gill Sans" charset="0"/>
              </a:rPr>
              <a:t> ~ </a:t>
            </a:r>
            <a:r>
              <a:rPr lang="en-US" sz="1600" b="0" dirty="0">
                <a:solidFill>
                  <a:schemeClr val="tx1"/>
                </a:solidFill>
                <a:uFill>
                  <a:solidFill>
                    <a:srgbClr val="DD33C5"/>
                  </a:solidFill>
                </a:uFill>
                <a:latin typeface="Gill Sans" charset="0"/>
                <a:ea typeface="Gill Sans" charset="0"/>
                <a:cs typeface="Gill Sans" charset="0"/>
              </a:rPr>
              <a:t>all possible </a:t>
            </a:r>
            <a:r>
              <a:rPr sz="1600" b="0" dirty="0">
                <a:solidFill>
                  <a:schemeClr val="tx1"/>
                </a:solidFill>
                <a:uFill>
                  <a:solidFill>
                    <a:srgbClr val="DD33C5"/>
                  </a:solidFill>
                </a:uFill>
                <a:latin typeface="Gill Sans" charset="0"/>
                <a:ea typeface="Gill Sans" charset="0"/>
                <a:cs typeface="Gill Sans" charset="0"/>
              </a:rPr>
              <a:t>H-</a:t>
            </a:r>
            <a:r>
              <a:rPr lang="en-US" sz="1600" b="0" dirty="0">
                <a:solidFill>
                  <a:schemeClr val="tx1"/>
                </a:solidFill>
                <a:uFill>
                  <a:solidFill>
                    <a:srgbClr val="DD33C5"/>
                  </a:solidFill>
                </a:uFill>
                <a:latin typeface="Gill Sans" charset="0"/>
                <a:ea typeface="Gill Sans" charset="0"/>
                <a:cs typeface="Gill Sans" charset="0"/>
              </a:rPr>
              <a:t>bonds are made</a:t>
            </a:r>
          </a:p>
        </p:txBody>
      </p:sp>
      <p:sp>
        <p:nvSpPr>
          <p:cNvPr id="304" name="Shape 304"/>
          <p:cNvSpPr/>
          <p:nvPr/>
        </p:nvSpPr>
        <p:spPr>
          <a:xfrm>
            <a:off x="4291016" y="6147738"/>
            <a:ext cx="4737100"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marL="40640" lvl="0">
              <a:spcBef>
                <a:spcPts val="900"/>
              </a:spcBef>
              <a:buClr>
                <a:schemeClr val="tx1"/>
              </a:buClr>
              <a:buSzPct val="100000"/>
              <a:buFont typeface="Helvetica"/>
              <a:buChar char="•"/>
              <a:defRPr sz="1800">
                <a:uFillTx/>
              </a:defRPr>
            </a:pPr>
            <a:r>
              <a:rPr sz="1600" b="0" dirty="0">
                <a:solidFill>
                  <a:schemeClr val="tx1"/>
                </a:solidFill>
                <a:uFill>
                  <a:solidFill>
                    <a:srgbClr val="DD33C5"/>
                  </a:solidFill>
                </a:uFill>
                <a:latin typeface="Gill Sans" charset="0"/>
                <a:ea typeface="Gill Sans" charset="0"/>
                <a:cs typeface="Gill Sans" charset="0"/>
                <a:sym typeface="Helvetica"/>
              </a:rPr>
              <a:t> </a:t>
            </a:r>
            <a:r>
              <a:rPr lang="en-US" sz="1600" b="0" dirty="0">
                <a:solidFill>
                  <a:schemeClr val="tx1"/>
                </a:solidFill>
                <a:uFill>
                  <a:solidFill>
                    <a:srgbClr val="DD33C5"/>
                  </a:solidFill>
                </a:uFill>
                <a:latin typeface="Gill Sans" charset="0"/>
                <a:ea typeface="Gill Sans" charset="0"/>
                <a:cs typeface="Gill Sans" charset="0"/>
                <a:sym typeface="Helvetica"/>
              </a:rPr>
              <a:t>helix rotates 360</a:t>
            </a:r>
            <a:r>
              <a:rPr lang="en-US" sz="1600" b="0" baseline="35999" dirty="0">
                <a:solidFill>
                  <a:schemeClr val="tx1"/>
                </a:solidFill>
                <a:uFill>
                  <a:solidFill>
                    <a:srgbClr val="DD33C5"/>
                  </a:solidFill>
                </a:uFill>
                <a:latin typeface="Gill Sans" charset="0"/>
                <a:ea typeface="Gill Sans" charset="0"/>
                <a:cs typeface="Gill Sans" charset="0"/>
                <a:sym typeface="Helvetica"/>
              </a:rPr>
              <a:t>o</a:t>
            </a:r>
            <a:r>
              <a:rPr lang="en-US" sz="1600" b="0" dirty="0">
                <a:solidFill>
                  <a:schemeClr val="tx1"/>
                </a:solidFill>
                <a:uFill>
                  <a:solidFill>
                    <a:srgbClr val="DD33C5"/>
                  </a:solidFill>
                </a:uFill>
                <a:latin typeface="Gill Sans" charset="0"/>
                <a:ea typeface="Gill Sans" charset="0"/>
                <a:cs typeface="Gill Sans" charset="0"/>
                <a:sym typeface="Helvetica"/>
              </a:rPr>
              <a:t> every 3.6 </a:t>
            </a:r>
            <a:r>
              <a:rPr sz="1600" b="0" dirty="0">
                <a:solidFill>
                  <a:schemeClr val="tx1"/>
                </a:solidFill>
                <a:uFill>
                  <a:solidFill>
                    <a:srgbClr val="DD33C5"/>
                  </a:solidFill>
                </a:uFill>
                <a:latin typeface="Gill Sans" charset="0"/>
                <a:ea typeface="Gill Sans" charset="0"/>
                <a:cs typeface="Gill Sans" charset="0"/>
                <a:sym typeface="Helvetica"/>
              </a:rPr>
              <a:t>AA</a:t>
            </a:r>
          </a:p>
        </p:txBody>
      </p:sp>
      <p:sp>
        <p:nvSpPr>
          <p:cNvPr id="305" name="Shape 305"/>
          <p:cNvSpPr/>
          <p:nvPr/>
        </p:nvSpPr>
        <p:spPr>
          <a:xfrm>
            <a:off x="3810000" y="5867400"/>
            <a:ext cx="241300"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06" name="Shape 306"/>
          <p:cNvSpPr/>
          <p:nvPr/>
        </p:nvSpPr>
        <p:spPr>
          <a:xfrm>
            <a:off x="3984625" y="4414837"/>
            <a:ext cx="295275"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07" name="Shape 307"/>
          <p:cNvSpPr/>
          <p:nvPr/>
        </p:nvSpPr>
        <p:spPr>
          <a:xfrm>
            <a:off x="3086100" y="4916487"/>
            <a:ext cx="295275"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08" name="Shape 308"/>
          <p:cNvSpPr/>
          <p:nvPr/>
        </p:nvSpPr>
        <p:spPr>
          <a:xfrm>
            <a:off x="2617787" y="5562600"/>
            <a:ext cx="257176"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09" name="Shape 309"/>
          <p:cNvSpPr/>
          <p:nvPr/>
        </p:nvSpPr>
        <p:spPr>
          <a:xfrm>
            <a:off x="2470150" y="3614737"/>
            <a:ext cx="257175"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10" name="Shape 310"/>
          <p:cNvSpPr/>
          <p:nvPr/>
        </p:nvSpPr>
        <p:spPr>
          <a:xfrm>
            <a:off x="3289300" y="3124200"/>
            <a:ext cx="257175"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11" name="Shape 311"/>
          <p:cNvSpPr/>
          <p:nvPr/>
        </p:nvSpPr>
        <p:spPr>
          <a:xfrm>
            <a:off x="3846512" y="2447925"/>
            <a:ext cx="295276"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12" name="Shape 312"/>
          <p:cNvSpPr/>
          <p:nvPr/>
        </p:nvSpPr>
        <p:spPr>
          <a:xfrm>
            <a:off x="3962400" y="4343400"/>
            <a:ext cx="152400" cy="152400"/>
          </a:xfrm>
          <a:prstGeom prst="rect">
            <a:avLst/>
          </a:prstGeom>
          <a:solidFill>
            <a:srgbClr val="FFFFFF"/>
          </a:solidFill>
          <a:ln>
            <a:miter lim="400000"/>
          </a:ln>
        </p:spPr>
        <p:txBody>
          <a:bodyPr lIns="0" tIns="0" rIns="0" bIns="0" anchor="ctr"/>
          <a:lstStyle/>
          <a:p>
            <a:pPr lvl="0"/>
            <a:endParaRPr>
              <a:latin typeface="Gill Sans" charset="0"/>
              <a:ea typeface="Gill Sans" charset="0"/>
              <a:cs typeface="Gill Sans" charset="0"/>
            </a:endParaRPr>
          </a:p>
        </p:txBody>
      </p:sp>
      <p:sp>
        <p:nvSpPr>
          <p:cNvPr id="313" name="Shape 313"/>
          <p:cNvSpPr/>
          <p:nvPr/>
        </p:nvSpPr>
        <p:spPr>
          <a:xfrm>
            <a:off x="4038600" y="4267200"/>
            <a:ext cx="152400" cy="152400"/>
          </a:xfrm>
          <a:prstGeom prst="rect">
            <a:avLst/>
          </a:prstGeom>
          <a:solidFill>
            <a:srgbClr val="FFFFFF"/>
          </a:solidFill>
          <a:ln>
            <a:miter lim="400000"/>
          </a:ln>
        </p:spPr>
        <p:txBody>
          <a:bodyPr lIns="0" tIns="0" rIns="0" bIns="0" anchor="ctr"/>
          <a:lstStyle/>
          <a:p>
            <a:pPr lvl="0"/>
            <a:endParaRPr>
              <a:latin typeface="Gill Sans" charset="0"/>
              <a:ea typeface="Gill Sans" charset="0"/>
              <a:cs typeface="Gill Sans" charset="0"/>
            </a:endParaRPr>
          </a:p>
        </p:txBody>
      </p:sp>
      <p:sp>
        <p:nvSpPr>
          <p:cNvPr id="314" name="Shape 314"/>
          <p:cNvSpPr/>
          <p:nvPr/>
        </p:nvSpPr>
        <p:spPr>
          <a:xfrm>
            <a:off x="4038600" y="4343400"/>
            <a:ext cx="152400" cy="152400"/>
          </a:xfrm>
          <a:prstGeom prst="rect">
            <a:avLst/>
          </a:prstGeom>
          <a:solidFill>
            <a:srgbClr val="FFFFFF"/>
          </a:solidFill>
          <a:ln>
            <a:miter lim="400000"/>
          </a:ln>
        </p:spPr>
        <p:txBody>
          <a:bodyPr lIns="0" tIns="0" rIns="0" bIns="0" anchor="ctr"/>
          <a:lstStyle/>
          <a:p>
            <a:pPr lvl="0"/>
            <a:endParaRPr>
              <a:latin typeface="Gill Sans" charset="0"/>
              <a:ea typeface="Gill Sans" charset="0"/>
              <a:cs typeface="Gill Sans" charset="0"/>
            </a:endParaRPr>
          </a:p>
        </p:txBody>
      </p:sp>
      <p:sp>
        <p:nvSpPr>
          <p:cNvPr id="315" name="Shape 315"/>
          <p:cNvSpPr/>
          <p:nvPr/>
        </p:nvSpPr>
        <p:spPr>
          <a:xfrm>
            <a:off x="4038600" y="4368800"/>
            <a:ext cx="152400" cy="152400"/>
          </a:xfrm>
          <a:prstGeom prst="rect">
            <a:avLst/>
          </a:prstGeom>
          <a:solidFill>
            <a:srgbClr val="FFFFFF"/>
          </a:solidFill>
          <a:ln>
            <a:miter lim="400000"/>
          </a:ln>
        </p:spPr>
        <p:txBody>
          <a:bodyPr lIns="0" tIns="0" rIns="0" bIns="0" anchor="ctr"/>
          <a:lstStyle/>
          <a:p>
            <a:pPr lvl="0"/>
            <a:endParaRPr>
              <a:latin typeface="Gill Sans" charset="0"/>
              <a:ea typeface="Gill Sans" charset="0"/>
              <a:cs typeface="Gill Sans" charset="0"/>
            </a:endParaRPr>
          </a:p>
        </p:txBody>
      </p:sp>
      <p:pic>
        <p:nvPicPr>
          <p:cNvPr id="316" name="image.pdf"/>
          <p:cNvPicPr/>
          <p:nvPr/>
        </p:nvPicPr>
        <p:blipFill>
          <a:blip r:embed="rId4"/>
          <a:stretch>
            <a:fillRect/>
          </a:stretch>
        </p:blipFill>
        <p:spPr>
          <a:xfrm>
            <a:off x="4019550" y="4343400"/>
            <a:ext cx="184150" cy="211138"/>
          </a:xfrm>
          <a:prstGeom prst="rect">
            <a:avLst/>
          </a:prstGeom>
          <a:ln w="12700">
            <a:miter lim="400000"/>
          </a:ln>
        </p:spPr>
      </p:pic>
      <p:sp>
        <p:nvSpPr>
          <p:cNvPr id="317" name="Shape 317"/>
          <p:cNvSpPr/>
          <p:nvPr/>
        </p:nvSpPr>
        <p:spPr>
          <a:xfrm>
            <a:off x="3829050" y="6007100"/>
            <a:ext cx="196851"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900"/>
              </a:spcBef>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1</a:t>
            </a:r>
          </a:p>
        </p:txBody>
      </p:sp>
      <p:sp>
        <p:nvSpPr>
          <p:cNvPr id="318" name="Shape 318"/>
          <p:cNvSpPr/>
          <p:nvPr/>
        </p:nvSpPr>
        <p:spPr>
          <a:xfrm>
            <a:off x="3333750" y="57404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1</a:t>
            </a:r>
          </a:p>
        </p:txBody>
      </p:sp>
      <p:sp>
        <p:nvSpPr>
          <p:cNvPr id="319" name="Shape 319"/>
          <p:cNvSpPr/>
          <p:nvPr/>
        </p:nvSpPr>
        <p:spPr>
          <a:xfrm>
            <a:off x="3505200" y="52578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1</a:t>
            </a:r>
          </a:p>
        </p:txBody>
      </p:sp>
      <p:sp>
        <p:nvSpPr>
          <p:cNvPr id="320" name="Shape 320"/>
          <p:cNvSpPr/>
          <p:nvPr/>
        </p:nvSpPr>
        <p:spPr>
          <a:xfrm>
            <a:off x="3073400" y="583565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2</a:t>
            </a:r>
          </a:p>
        </p:txBody>
      </p:sp>
      <p:sp>
        <p:nvSpPr>
          <p:cNvPr id="321" name="Shape 321"/>
          <p:cNvSpPr/>
          <p:nvPr/>
        </p:nvSpPr>
        <p:spPr>
          <a:xfrm>
            <a:off x="2622550" y="572135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2</a:t>
            </a:r>
          </a:p>
        </p:txBody>
      </p:sp>
      <p:sp>
        <p:nvSpPr>
          <p:cNvPr id="322" name="Shape 322"/>
          <p:cNvSpPr/>
          <p:nvPr/>
        </p:nvSpPr>
        <p:spPr>
          <a:xfrm>
            <a:off x="2571750" y="508635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2</a:t>
            </a:r>
          </a:p>
        </p:txBody>
      </p:sp>
      <p:sp>
        <p:nvSpPr>
          <p:cNvPr id="323" name="Shape 323"/>
          <p:cNvSpPr/>
          <p:nvPr/>
        </p:nvSpPr>
        <p:spPr>
          <a:xfrm>
            <a:off x="2495550" y="47244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2</a:t>
            </a:r>
          </a:p>
        </p:txBody>
      </p:sp>
      <p:sp>
        <p:nvSpPr>
          <p:cNvPr id="324" name="Shape 324"/>
          <p:cNvSpPr/>
          <p:nvPr/>
        </p:nvSpPr>
        <p:spPr>
          <a:xfrm>
            <a:off x="2933700" y="47371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3</a:t>
            </a:r>
          </a:p>
        </p:txBody>
      </p:sp>
      <p:sp>
        <p:nvSpPr>
          <p:cNvPr id="325" name="Shape 325"/>
          <p:cNvSpPr/>
          <p:nvPr/>
        </p:nvSpPr>
        <p:spPr>
          <a:xfrm>
            <a:off x="2978150" y="52705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3</a:t>
            </a:r>
          </a:p>
        </p:txBody>
      </p:sp>
      <p:sp>
        <p:nvSpPr>
          <p:cNvPr id="326" name="Shape 326"/>
          <p:cNvSpPr/>
          <p:nvPr/>
        </p:nvSpPr>
        <p:spPr>
          <a:xfrm>
            <a:off x="2959100" y="41910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3</a:t>
            </a:r>
          </a:p>
        </p:txBody>
      </p:sp>
      <p:sp>
        <p:nvSpPr>
          <p:cNvPr id="327" name="Shape 327"/>
          <p:cNvSpPr/>
          <p:nvPr/>
        </p:nvSpPr>
        <p:spPr>
          <a:xfrm>
            <a:off x="3041650" y="45593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3</a:t>
            </a:r>
          </a:p>
        </p:txBody>
      </p:sp>
      <p:sp>
        <p:nvSpPr>
          <p:cNvPr id="328" name="Shape 328"/>
          <p:cNvSpPr/>
          <p:nvPr/>
        </p:nvSpPr>
        <p:spPr>
          <a:xfrm>
            <a:off x="3695700" y="47752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4</a:t>
            </a:r>
          </a:p>
        </p:txBody>
      </p:sp>
      <p:sp>
        <p:nvSpPr>
          <p:cNvPr id="329" name="Shape 329"/>
          <p:cNvSpPr/>
          <p:nvPr/>
        </p:nvSpPr>
        <p:spPr>
          <a:xfrm>
            <a:off x="3886200" y="46228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4</a:t>
            </a:r>
          </a:p>
        </p:txBody>
      </p:sp>
      <p:sp>
        <p:nvSpPr>
          <p:cNvPr id="330" name="Shape 330"/>
          <p:cNvSpPr/>
          <p:nvPr/>
        </p:nvSpPr>
        <p:spPr>
          <a:xfrm>
            <a:off x="3778250" y="40640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4</a:t>
            </a:r>
          </a:p>
        </p:txBody>
      </p:sp>
      <p:sp>
        <p:nvSpPr>
          <p:cNvPr id="331" name="Shape 331"/>
          <p:cNvSpPr/>
          <p:nvPr/>
        </p:nvSpPr>
        <p:spPr>
          <a:xfrm>
            <a:off x="3810000" y="36322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4</a:t>
            </a:r>
          </a:p>
        </p:txBody>
      </p:sp>
      <p:sp>
        <p:nvSpPr>
          <p:cNvPr id="332" name="Shape 332"/>
          <p:cNvSpPr/>
          <p:nvPr/>
        </p:nvSpPr>
        <p:spPr>
          <a:xfrm>
            <a:off x="3581400" y="43180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5</a:t>
            </a:r>
          </a:p>
        </p:txBody>
      </p:sp>
      <p:sp>
        <p:nvSpPr>
          <p:cNvPr id="333" name="Shape 333"/>
          <p:cNvSpPr/>
          <p:nvPr/>
        </p:nvSpPr>
        <p:spPr>
          <a:xfrm>
            <a:off x="3340100" y="3949700"/>
            <a:ext cx="199093"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spcBef>
                <a:spcPts val="800"/>
              </a:spcBef>
              <a:buClr>
                <a:srgbClr val="00CE00"/>
              </a:buClr>
              <a:buFont typeface="Symbol"/>
              <a:defRPr sz="1600">
                <a:solidFill>
                  <a:srgbClr val="00CE00"/>
                </a:solidFill>
                <a:uFill>
                  <a:solidFill>
                    <a:srgbClr val="00CE00"/>
                  </a:solidFill>
                </a:uFill>
                <a:latin typeface="Symbol"/>
                <a:ea typeface="Symbol"/>
                <a:cs typeface="Symbol"/>
                <a:sym typeface="Symbol"/>
              </a:defRPr>
            </a:lvl1pPr>
          </a:lstStyle>
          <a:p>
            <a:pPr lvl="0">
              <a:defRPr sz="1800">
                <a:solidFill>
                  <a:srgbClr val="000000"/>
                </a:solidFill>
                <a:uFillTx/>
              </a:defRPr>
            </a:pPr>
            <a:r>
              <a:rPr sz="1600">
                <a:solidFill>
                  <a:srgbClr val="00CE00"/>
                </a:solidFill>
                <a:uFill>
                  <a:solidFill>
                    <a:srgbClr val="00CE00"/>
                  </a:solidFill>
                </a:uFill>
                <a:latin typeface="Gill Sans" charset="0"/>
                <a:ea typeface="Gill Sans" charset="0"/>
                <a:cs typeface="Gill Sans" charset="0"/>
              </a:rPr>
              <a:t>α</a:t>
            </a:r>
          </a:p>
        </p:txBody>
      </p:sp>
      <p:sp>
        <p:nvSpPr>
          <p:cNvPr id="334" name="Shape 334"/>
          <p:cNvSpPr/>
          <p:nvPr/>
        </p:nvSpPr>
        <p:spPr>
          <a:xfrm>
            <a:off x="3213100" y="37338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5</a:t>
            </a:r>
          </a:p>
        </p:txBody>
      </p:sp>
      <p:sp>
        <p:nvSpPr>
          <p:cNvPr id="335" name="Shape 335"/>
          <p:cNvSpPr/>
          <p:nvPr/>
        </p:nvSpPr>
        <p:spPr>
          <a:xfrm>
            <a:off x="3098800" y="3517900"/>
            <a:ext cx="76200" cy="76200"/>
          </a:xfrm>
          <a:prstGeom prst="rect">
            <a:avLst/>
          </a:prstGeom>
          <a:solidFill>
            <a:srgbClr val="FFFFFF"/>
          </a:solidFill>
          <a:ln>
            <a:miter lim="400000"/>
          </a:ln>
        </p:spPr>
        <p:txBody>
          <a:bodyPr lIns="0" tIns="0" rIns="0" bIns="0" anchor="ctr"/>
          <a:lstStyle/>
          <a:p>
            <a:pPr lvl="0"/>
            <a:endParaRPr>
              <a:latin typeface="Gill Sans" charset="0"/>
              <a:ea typeface="Gill Sans" charset="0"/>
              <a:cs typeface="Gill Sans" charset="0"/>
            </a:endParaRPr>
          </a:p>
        </p:txBody>
      </p:sp>
      <p:sp>
        <p:nvSpPr>
          <p:cNvPr id="336" name="Shape 336"/>
          <p:cNvSpPr/>
          <p:nvPr/>
        </p:nvSpPr>
        <p:spPr>
          <a:xfrm>
            <a:off x="3098800" y="3587750"/>
            <a:ext cx="76200" cy="76200"/>
          </a:xfrm>
          <a:prstGeom prst="rect">
            <a:avLst/>
          </a:prstGeom>
          <a:solidFill>
            <a:srgbClr val="FFFFFF"/>
          </a:solidFill>
          <a:ln>
            <a:miter lim="400000"/>
          </a:ln>
        </p:spPr>
        <p:txBody>
          <a:bodyPr lIns="0" tIns="0" rIns="0" bIns="0" anchor="ctr"/>
          <a:lstStyle/>
          <a:p>
            <a:pPr lvl="0"/>
            <a:endParaRPr>
              <a:latin typeface="Gill Sans" charset="0"/>
              <a:ea typeface="Gill Sans" charset="0"/>
              <a:cs typeface="Gill Sans" charset="0"/>
            </a:endParaRPr>
          </a:p>
        </p:txBody>
      </p:sp>
      <p:pic>
        <p:nvPicPr>
          <p:cNvPr id="337" name="image.pdf"/>
          <p:cNvPicPr/>
          <p:nvPr/>
        </p:nvPicPr>
        <p:blipFill>
          <a:blip r:embed="rId5"/>
          <a:stretch>
            <a:fillRect/>
          </a:stretch>
        </p:blipFill>
        <p:spPr>
          <a:xfrm>
            <a:off x="3048000" y="3397250"/>
            <a:ext cx="88900" cy="242888"/>
          </a:xfrm>
          <a:prstGeom prst="rect">
            <a:avLst/>
          </a:prstGeom>
          <a:ln w="12700">
            <a:miter lim="400000"/>
          </a:ln>
        </p:spPr>
      </p:pic>
      <p:pic>
        <p:nvPicPr>
          <p:cNvPr id="338" name="image.pdf"/>
          <p:cNvPicPr/>
          <p:nvPr/>
        </p:nvPicPr>
        <p:blipFill>
          <a:blip r:embed="rId6"/>
          <a:stretch>
            <a:fillRect/>
          </a:stretch>
        </p:blipFill>
        <p:spPr>
          <a:xfrm>
            <a:off x="3060700" y="3582987"/>
            <a:ext cx="76200" cy="84138"/>
          </a:xfrm>
          <a:prstGeom prst="rect">
            <a:avLst/>
          </a:prstGeom>
          <a:ln w="12700">
            <a:miter lim="400000"/>
          </a:ln>
        </p:spPr>
      </p:pic>
      <p:sp>
        <p:nvSpPr>
          <p:cNvPr id="339" name="Shape 339"/>
          <p:cNvSpPr/>
          <p:nvPr/>
        </p:nvSpPr>
        <p:spPr>
          <a:xfrm>
            <a:off x="2800350" y="35814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5</a:t>
            </a:r>
          </a:p>
        </p:txBody>
      </p:sp>
      <p:sp>
        <p:nvSpPr>
          <p:cNvPr id="340" name="Shape 340"/>
          <p:cNvSpPr/>
          <p:nvPr/>
        </p:nvSpPr>
        <p:spPr>
          <a:xfrm>
            <a:off x="3060700" y="3009900"/>
            <a:ext cx="184666" cy="24622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buClr>
                <a:srgbClr val="00CE00"/>
              </a:buClr>
              <a:buFont typeface="Helvetica"/>
              <a:defRPr sz="1600" b="1">
                <a:solidFill>
                  <a:srgbClr val="00CE00"/>
                </a:solidFill>
                <a:uFill>
                  <a:solidFill>
                    <a:srgbClr val="00CE00"/>
                  </a:solidFill>
                </a:uFill>
                <a:latin typeface="Helvetica"/>
                <a:ea typeface="Helvetica"/>
                <a:cs typeface="Helvetica"/>
                <a:sym typeface="Helvetica"/>
              </a:defRPr>
            </a:lvl1pPr>
          </a:lstStyle>
          <a:p>
            <a:pPr lvl="0">
              <a:defRPr sz="1800" b="0">
                <a:solidFill>
                  <a:srgbClr val="000000"/>
                </a:solidFill>
                <a:uFillTx/>
              </a:defRPr>
            </a:pPr>
            <a:r>
              <a:rPr sz="1600" b="0">
                <a:solidFill>
                  <a:srgbClr val="00CE00"/>
                </a:solidFill>
                <a:uFill>
                  <a:solidFill>
                    <a:srgbClr val="00CE00"/>
                  </a:solidFill>
                </a:uFill>
                <a:latin typeface="Gill Sans" charset="0"/>
                <a:ea typeface="Gill Sans" charset="0"/>
                <a:cs typeface="Gill Sans" charset="0"/>
              </a:rPr>
              <a:t>5</a:t>
            </a:r>
          </a:p>
        </p:txBody>
      </p:sp>
      <p:sp>
        <p:nvSpPr>
          <p:cNvPr id="341" name="Shape 341"/>
          <p:cNvSpPr/>
          <p:nvPr/>
        </p:nvSpPr>
        <p:spPr>
          <a:xfrm>
            <a:off x="4327525" y="379412"/>
            <a:ext cx="993775" cy="254000"/>
          </a:xfrm>
          <a:prstGeom prst="rect">
            <a:avLst/>
          </a:prstGeom>
          <a:ln w="19050">
            <a:solidFill>
              <a:srgbClr val="1E31E3"/>
            </a:solidFill>
            <a:miter lim="400000"/>
          </a:ln>
        </p:spPr>
        <p:txBody>
          <a:bodyPr lIns="0" tIns="0" rIns="0" bIns="0" anchor="ctr"/>
          <a:lstStyle/>
          <a:p>
            <a:pPr lvl="0"/>
            <a:endParaRPr>
              <a:latin typeface="Gill Sans" charset="0"/>
              <a:ea typeface="Gill Sans" charset="0"/>
              <a:cs typeface="Gill Sans" charset="0"/>
            </a:endParaRPr>
          </a:p>
        </p:txBody>
      </p:sp>
      <p:grpSp>
        <p:nvGrpSpPr>
          <p:cNvPr id="347" name="Group 347"/>
          <p:cNvGrpSpPr/>
          <p:nvPr/>
        </p:nvGrpSpPr>
        <p:grpSpPr>
          <a:xfrm>
            <a:off x="301634" y="2251273"/>
            <a:ext cx="2460358" cy="3853520"/>
            <a:chOff x="63509" y="25598"/>
            <a:chExt cx="2460357" cy="3853520"/>
          </a:xfrm>
        </p:grpSpPr>
        <p:sp>
          <p:nvSpPr>
            <p:cNvPr id="342" name="Shape 342"/>
            <p:cNvSpPr/>
            <p:nvPr/>
          </p:nvSpPr>
          <p:spPr>
            <a:xfrm>
              <a:off x="1139991" y="25598"/>
              <a:ext cx="622300" cy="30777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spcBef>
                  <a:spcPts val="1200"/>
                </a:spcBef>
                <a:buClr>
                  <a:srgbClr val="E62C9A"/>
                </a:buClr>
                <a:buFont typeface="Helvetica"/>
                <a:defRPr sz="20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2000" b="0">
                  <a:solidFill>
                    <a:srgbClr val="E62C9A"/>
                  </a:solidFill>
                  <a:uFill>
                    <a:solidFill>
                      <a:srgbClr val="E62C9A"/>
                    </a:solidFill>
                  </a:uFill>
                  <a:latin typeface="Gill Sans" charset="0"/>
                  <a:ea typeface="Gill Sans" charset="0"/>
                  <a:cs typeface="Gill Sans" charset="0"/>
                </a:rPr>
                <a:t>R</a:t>
              </a:r>
            </a:p>
          </p:txBody>
        </p:sp>
        <p:sp>
          <p:nvSpPr>
            <p:cNvPr id="343" name="Shape 343"/>
            <p:cNvSpPr/>
            <p:nvPr/>
          </p:nvSpPr>
          <p:spPr>
            <a:xfrm>
              <a:off x="1642393" y="1614489"/>
              <a:ext cx="622301" cy="30777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spcBef>
                  <a:spcPts val="1200"/>
                </a:spcBef>
                <a:buClr>
                  <a:srgbClr val="E62C9A"/>
                </a:buClr>
                <a:buFont typeface="Helvetica"/>
                <a:defRPr sz="20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2000" b="0">
                  <a:solidFill>
                    <a:srgbClr val="E62C9A"/>
                  </a:solidFill>
                  <a:uFill>
                    <a:solidFill>
                      <a:srgbClr val="E62C9A"/>
                    </a:solidFill>
                  </a:uFill>
                  <a:latin typeface="Gill Sans" charset="0"/>
                  <a:ea typeface="Gill Sans" charset="0"/>
                  <a:cs typeface="Gill Sans" charset="0"/>
                </a:rPr>
                <a:t>R</a:t>
              </a:r>
            </a:p>
          </p:txBody>
        </p:sp>
        <p:sp>
          <p:nvSpPr>
            <p:cNvPr id="344" name="Shape 344"/>
            <p:cNvSpPr/>
            <p:nvPr/>
          </p:nvSpPr>
          <p:spPr>
            <a:xfrm>
              <a:off x="63509" y="2243236"/>
              <a:ext cx="622300" cy="30777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spcBef>
                  <a:spcPts val="1200"/>
                </a:spcBef>
                <a:buClr>
                  <a:srgbClr val="E62C9A"/>
                </a:buClr>
                <a:buFont typeface="Helvetica"/>
                <a:defRPr sz="20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2000" b="0">
                  <a:solidFill>
                    <a:srgbClr val="E62C9A"/>
                  </a:solidFill>
                  <a:uFill>
                    <a:solidFill>
                      <a:srgbClr val="E62C9A"/>
                    </a:solidFill>
                  </a:uFill>
                  <a:latin typeface="Gill Sans" charset="0"/>
                  <a:ea typeface="Gill Sans" charset="0"/>
                  <a:cs typeface="Gill Sans" charset="0"/>
                </a:rPr>
                <a:t>R</a:t>
              </a:r>
            </a:p>
          </p:txBody>
        </p:sp>
        <p:sp>
          <p:nvSpPr>
            <p:cNvPr id="345" name="Shape 345"/>
            <p:cNvSpPr/>
            <p:nvPr/>
          </p:nvSpPr>
          <p:spPr>
            <a:xfrm>
              <a:off x="1901565" y="3165261"/>
              <a:ext cx="622301" cy="30777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spcBef>
                  <a:spcPts val="1200"/>
                </a:spcBef>
                <a:buClr>
                  <a:srgbClr val="E62C9A"/>
                </a:buClr>
                <a:buFont typeface="Helvetica"/>
                <a:defRPr sz="20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2000" b="0">
                  <a:solidFill>
                    <a:srgbClr val="E62C9A"/>
                  </a:solidFill>
                  <a:uFill>
                    <a:solidFill>
                      <a:srgbClr val="E62C9A"/>
                    </a:solidFill>
                  </a:uFill>
                  <a:latin typeface="Gill Sans" charset="0"/>
                  <a:ea typeface="Gill Sans" charset="0"/>
                  <a:cs typeface="Gill Sans" charset="0"/>
                </a:rPr>
                <a:t>R</a:t>
              </a:r>
            </a:p>
          </p:txBody>
        </p:sp>
        <p:sp>
          <p:nvSpPr>
            <p:cNvPr id="346" name="Shape 346"/>
            <p:cNvSpPr/>
            <p:nvPr/>
          </p:nvSpPr>
          <p:spPr>
            <a:xfrm>
              <a:off x="76199" y="3571341"/>
              <a:ext cx="622301" cy="30777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spcBef>
                  <a:spcPts val="1200"/>
                </a:spcBef>
                <a:buClr>
                  <a:srgbClr val="E62C9A"/>
                </a:buClr>
                <a:buFont typeface="Helvetica"/>
                <a:defRPr sz="2000" b="1">
                  <a:solidFill>
                    <a:srgbClr val="E62C9A"/>
                  </a:solidFill>
                  <a:uFill>
                    <a:solidFill>
                      <a:srgbClr val="E62C9A"/>
                    </a:solidFill>
                  </a:uFill>
                  <a:latin typeface="Helvetica"/>
                  <a:ea typeface="Helvetica"/>
                  <a:cs typeface="Helvetica"/>
                  <a:sym typeface="Helvetica"/>
                </a:defRPr>
              </a:lvl1pPr>
            </a:lstStyle>
            <a:p>
              <a:pPr lvl="0">
                <a:defRPr sz="1800" b="0">
                  <a:solidFill>
                    <a:srgbClr val="000000"/>
                  </a:solidFill>
                  <a:uFillTx/>
                </a:defRPr>
              </a:pPr>
              <a:r>
                <a:rPr sz="2000" b="0">
                  <a:solidFill>
                    <a:srgbClr val="E62C9A"/>
                  </a:solidFill>
                  <a:uFill>
                    <a:solidFill>
                      <a:srgbClr val="E62C9A"/>
                    </a:solidFill>
                  </a:uFill>
                  <a:latin typeface="Gill Sans" charset="0"/>
                  <a:ea typeface="Gill Sans" charset="0"/>
                  <a:cs typeface="Gill Sans" charset="0"/>
                </a:rPr>
                <a:t>R</a:t>
              </a:r>
            </a:p>
          </p:txBody>
        </p:sp>
      </p:grpSp>
      <p:grpSp>
        <p:nvGrpSpPr>
          <p:cNvPr id="351" name="Group 351"/>
          <p:cNvGrpSpPr/>
          <p:nvPr/>
        </p:nvGrpSpPr>
        <p:grpSpPr>
          <a:xfrm>
            <a:off x="4291015" y="2711450"/>
            <a:ext cx="4813300" cy="1128714"/>
            <a:chOff x="71440" y="0"/>
            <a:chExt cx="4813300" cy="1128713"/>
          </a:xfrm>
        </p:grpSpPr>
        <p:pic>
          <p:nvPicPr>
            <p:cNvPr id="348" name="image.pdf"/>
            <p:cNvPicPr/>
            <p:nvPr/>
          </p:nvPicPr>
          <p:blipFill>
            <a:blip r:embed="rId7"/>
            <a:stretch>
              <a:fillRect/>
            </a:stretch>
          </p:blipFill>
          <p:spPr>
            <a:xfrm>
              <a:off x="2519357" y="0"/>
              <a:ext cx="311150" cy="1128713"/>
            </a:xfrm>
            <a:prstGeom prst="rect">
              <a:avLst/>
            </a:prstGeom>
            <a:ln w="12700" cap="flat">
              <a:noFill/>
              <a:miter lim="400000"/>
            </a:ln>
            <a:effectLst/>
          </p:spPr>
        </p:pic>
        <p:sp>
          <p:nvSpPr>
            <p:cNvPr id="349" name="Shape 349"/>
            <p:cNvSpPr/>
            <p:nvPr/>
          </p:nvSpPr>
          <p:spPr>
            <a:xfrm>
              <a:off x="71440" y="315912"/>
              <a:ext cx="4813300" cy="24622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marL="40640">
                <a:spcBef>
                  <a:spcPts val="900"/>
                </a:spcBef>
                <a:buClr>
                  <a:srgbClr val="DD33C5"/>
                </a:buClr>
                <a:buSzPct val="100000"/>
                <a:buFont typeface="Helvetica"/>
                <a:buChar char="•"/>
                <a:defRPr sz="1600" b="1">
                  <a:solidFill>
                    <a:srgbClr val="DD33C5"/>
                  </a:solidFill>
                  <a:uFill>
                    <a:solidFill>
                      <a:srgbClr val="DD33C5"/>
                    </a:solidFill>
                  </a:uFill>
                  <a:latin typeface="Helvetica"/>
                  <a:ea typeface="Helvetica"/>
                  <a:cs typeface="Helvetica"/>
                  <a:sym typeface="Helvetica"/>
                </a:defRPr>
              </a:lvl1pPr>
            </a:lstStyle>
            <a:p>
              <a:pPr lvl="0">
                <a:buClr>
                  <a:schemeClr val="tx1"/>
                </a:buClr>
                <a:defRPr sz="1800" b="0">
                  <a:solidFill>
                    <a:srgbClr val="000000"/>
                  </a:solidFill>
                  <a:uFillTx/>
                </a:defRPr>
              </a:pPr>
              <a:r>
                <a:rPr sz="1600" b="0" dirty="0">
                  <a:solidFill>
                    <a:schemeClr val="tx1"/>
                  </a:solidFill>
                  <a:uFill>
                    <a:solidFill>
                      <a:srgbClr val="DD33C5"/>
                    </a:solidFill>
                  </a:uFill>
                  <a:latin typeface="Gill Sans" charset="0"/>
                  <a:ea typeface="Gill Sans" charset="0"/>
                  <a:cs typeface="Gill Sans" charset="0"/>
                </a:rPr>
                <a:t> R</a:t>
              </a:r>
              <a:r>
                <a:rPr lang="en-US" sz="1600" b="0" dirty="0">
                  <a:solidFill>
                    <a:schemeClr val="tx1"/>
                  </a:solidFill>
                  <a:uFill>
                    <a:solidFill>
                      <a:srgbClr val="DD33C5"/>
                    </a:solidFill>
                  </a:uFill>
                  <a:latin typeface="Gill Sans" charset="0"/>
                  <a:ea typeface="Gill Sans" charset="0"/>
                  <a:cs typeface="Gill Sans" charset="0"/>
                </a:rPr>
                <a:t>epresent helix as        or</a:t>
              </a:r>
              <a:endParaRPr sz="1600" b="0" dirty="0">
                <a:solidFill>
                  <a:schemeClr val="tx1"/>
                </a:solidFill>
                <a:uFill>
                  <a:solidFill>
                    <a:srgbClr val="DD33C5"/>
                  </a:solidFill>
                </a:uFill>
                <a:latin typeface="Gill Sans" charset="0"/>
                <a:ea typeface="Gill Sans" charset="0"/>
                <a:cs typeface="Gill Sans" charset="0"/>
              </a:endParaRPr>
            </a:p>
          </p:txBody>
        </p:sp>
        <p:sp>
          <p:nvSpPr>
            <p:cNvPr id="350" name="Shape 350"/>
            <p:cNvSpPr/>
            <p:nvPr/>
          </p:nvSpPr>
          <p:spPr>
            <a:xfrm>
              <a:off x="1857366" y="161925"/>
              <a:ext cx="269876" cy="889000"/>
            </a:xfrm>
            <a:prstGeom prst="rect">
              <a:avLst/>
            </a:prstGeom>
            <a:noFill/>
            <a:ln w="28575" cap="flat">
              <a:solidFill>
                <a:srgbClr val="DD33C5">
                  <a:alpha val="75999"/>
                </a:srgbClr>
              </a:solidFill>
              <a:prstDash val="solid"/>
              <a:miter lim="400000"/>
            </a:ln>
            <a:effectLst/>
          </p:spPr>
          <p:txBody>
            <a:bodyPr wrap="square" lIns="0" tIns="0" rIns="0" bIns="0" numCol="1" anchor="ctr">
              <a:noAutofit/>
            </a:bodyPr>
            <a:lstStyle/>
            <a:p>
              <a:pPr lvl="0">
                <a:buClr>
                  <a:schemeClr val="tx1"/>
                </a:buClr>
              </a:pPr>
              <a:endParaRPr>
                <a:solidFill>
                  <a:schemeClr val="tx1"/>
                </a:solidFill>
                <a:latin typeface="Gill Sans" charset="0"/>
                <a:ea typeface="Gill Sans" charset="0"/>
                <a:cs typeface="Gill Sans" charset="0"/>
              </a:endParaRPr>
            </a:p>
          </p:txBody>
        </p:sp>
      </p:grpSp>
      <p:sp>
        <p:nvSpPr>
          <p:cNvPr id="352" name="Shape 352"/>
          <p:cNvSpPr/>
          <p:nvPr/>
        </p:nvSpPr>
        <p:spPr>
          <a:xfrm>
            <a:off x="4295775" y="803275"/>
            <a:ext cx="4813301"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marL="40640">
              <a:spcBef>
                <a:spcPts val="900"/>
              </a:spcBef>
              <a:buClr>
                <a:srgbClr val="DD33C5"/>
              </a:buClr>
              <a:buSzPct val="100000"/>
              <a:buFont typeface="Helvetica"/>
              <a:buChar char="•"/>
              <a:defRPr sz="1600" b="1">
                <a:solidFill>
                  <a:srgbClr val="DD33C5"/>
                </a:solidFill>
                <a:uFill>
                  <a:solidFill>
                    <a:srgbClr val="DD33C5"/>
                  </a:solidFill>
                </a:uFill>
                <a:latin typeface="Helvetica"/>
                <a:ea typeface="Helvetica"/>
                <a:cs typeface="Helvetica"/>
                <a:sym typeface="Helvetica"/>
              </a:defRPr>
            </a:lvl1pPr>
          </a:lstStyle>
          <a:p>
            <a:pPr lvl="0">
              <a:buClr>
                <a:schemeClr val="tx1"/>
              </a:buClr>
              <a:defRPr sz="1800" b="0">
                <a:solidFill>
                  <a:srgbClr val="000000"/>
                </a:solidFill>
                <a:uFillTx/>
              </a:defRPr>
            </a:pPr>
            <a:r>
              <a:rPr sz="1600" b="0" dirty="0">
                <a:solidFill>
                  <a:schemeClr val="tx1"/>
                </a:solidFill>
                <a:uFill>
                  <a:solidFill>
                    <a:srgbClr val="DD33C5"/>
                  </a:solidFill>
                </a:uFill>
                <a:latin typeface="Gill Sans" charset="0"/>
                <a:ea typeface="Gill Sans" charset="0"/>
                <a:cs typeface="Gill Sans" charset="0"/>
              </a:rPr>
              <a:t> A</a:t>
            </a:r>
            <a:r>
              <a:rPr lang="en-US" sz="1600" b="0" dirty="0">
                <a:solidFill>
                  <a:schemeClr val="tx1"/>
                </a:solidFill>
                <a:uFill>
                  <a:solidFill>
                    <a:srgbClr val="DD33C5"/>
                  </a:solidFill>
                </a:uFill>
                <a:latin typeface="Gill Sans" charset="0"/>
                <a:ea typeface="Gill Sans" charset="0"/>
                <a:cs typeface="Gill Sans" charset="0"/>
              </a:rPr>
              <a:t>verage length 10 - 11 </a:t>
            </a:r>
            <a:r>
              <a:rPr sz="1600" b="0" dirty="0">
                <a:solidFill>
                  <a:schemeClr val="tx1"/>
                </a:solidFill>
                <a:uFill>
                  <a:solidFill>
                    <a:srgbClr val="DD33C5"/>
                  </a:solidFill>
                </a:uFill>
                <a:latin typeface="Gill Sans" charset="0"/>
                <a:ea typeface="Gill Sans" charset="0"/>
                <a:cs typeface="Gill Sans" charset="0"/>
              </a:rPr>
              <a:t>AA </a:t>
            </a:r>
            <a:r>
              <a:rPr lang="en-US" sz="1600" b="0" dirty="0">
                <a:solidFill>
                  <a:schemeClr val="tx1"/>
                </a:solidFill>
                <a:uFill>
                  <a:solidFill>
                    <a:srgbClr val="DD33C5"/>
                  </a:solidFill>
                </a:uFill>
                <a:latin typeface="Gill Sans" charset="0"/>
                <a:ea typeface="Gill Sans" charset="0"/>
                <a:cs typeface="Gill Sans" charset="0"/>
              </a:rPr>
              <a:t>residues</a:t>
            </a:r>
          </a:p>
        </p:txBody>
      </p:sp>
      <p:grpSp>
        <p:nvGrpSpPr>
          <p:cNvPr id="355" name="Group 355"/>
          <p:cNvGrpSpPr/>
          <p:nvPr/>
        </p:nvGrpSpPr>
        <p:grpSpPr>
          <a:xfrm>
            <a:off x="4572000" y="4081778"/>
            <a:ext cx="4889500" cy="574043"/>
            <a:chOff x="0" y="0"/>
            <a:chExt cx="4889500" cy="574042"/>
          </a:xfrm>
        </p:grpSpPr>
        <p:sp>
          <p:nvSpPr>
            <p:cNvPr id="353" name="Shape 353"/>
            <p:cNvSpPr/>
            <p:nvPr/>
          </p:nvSpPr>
          <p:spPr>
            <a:xfrm>
              <a:off x="0" y="0"/>
              <a:ext cx="4889500" cy="24622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marL="40640">
                <a:spcBef>
                  <a:spcPts val="900"/>
                </a:spcBef>
                <a:buClr>
                  <a:srgbClr val="1E31E3"/>
                </a:buClr>
                <a:buSzPct val="100000"/>
                <a:buFont typeface="Helvetica"/>
                <a:buChar char="•"/>
                <a:defRPr sz="1600" b="1">
                  <a:solidFill>
                    <a:srgbClr val="1E31E3"/>
                  </a:solidFill>
                  <a:uFill>
                    <a:solidFill>
                      <a:srgbClr val="1E31E3"/>
                    </a:solidFill>
                  </a:uFill>
                  <a:latin typeface="Helvetica"/>
                  <a:ea typeface="Helvetica"/>
                  <a:cs typeface="Helvetica"/>
                  <a:sym typeface="Helvetica"/>
                </a:defRPr>
              </a:lvl1pPr>
            </a:lstStyle>
            <a:p>
              <a:pPr lvl="0">
                <a:buClr>
                  <a:schemeClr val="tx1"/>
                </a:buClr>
                <a:defRPr sz="1800" b="0">
                  <a:solidFill>
                    <a:srgbClr val="000000"/>
                  </a:solidFill>
                  <a:uFillTx/>
                </a:defRPr>
              </a:pPr>
              <a:r>
                <a:rPr sz="1600" b="0" dirty="0">
                  <a:solidFill>
                    <a:schemeClr val="tx1"/>
                  </a:solidFill>
                  <a:uFill>
                    <a:solidFill>
                      <a:srgbClr val="1E31E3"/>
                    </a:solidFill>
                  </a:uFill>
                  <a:latin typeface="Gill Sans" charset="0"/>
                  <a:ea typeface="Gill Sans" charset="0"/>
                  <a:cs typeface="Gill Sans" charset="0"/>
                </a:rPr>
                <a:t> R</a:t>
              </a:r>
              <a:r>
                <a:rPr lang="en-US" sz="1600" b="0" dirty="0">
                  <a:solidFill>
                    <a:schemeClr val="tx1"/>
                  </a:solidFill>
                  <a:uFill>
                    <a:solidFill>
                      <a:srgbClr val="1E31E3"/>
                    </a:solidFill>
                  </a:uFill>
                  <a:latin typeface="Gill Sans" charset="0"/>
                  <a:ea typeface="Gill Sans" charset="0"/>
                  <a:cs typeface="Gill Sans" charset="0"/>
                </a:rPr>
                <a:t>uns of positive or negative charge   </a:t>
              </a:r>
              <a:endParaRPr sz="1600" b="0" dirty="0">
                <a:solidFill>
                  <a:schemeClr val="tx1"/>
                </a:solidFill>
                <a:uFill>
                  <a:solidFill>
                    <a:srgbClr val="1E31E3"/>
                  </a:solidFill>
                </a:uFill>
                <a:latin typeface="Gill Sans" charset="0"/>
                <a:ea typeface="Gill Sans" charset="0"/>
                <a:cs typeface="Gill Sans" charset="0"/>
              </a:endParaRPr>
            </a:p>
          </p:txBody>
        </p:sp>
        <p:sp>
          <p:nvSpPr>
            <p:cNvPr id="354" name="Shape 354"/>
            <p:cNvSpPr/>
            <p:nvPr/>
          </p:nvSpPr>
          <p:spPr>
            <a:xfrm>
              <a:off x="102419" y="194452"/>
              <a:ext cx="1562287" cy="37959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p>
              <a:pPr marL="0" lvl="0">
                <a:spcBef>
                  <a:spcPts val="900"/>
                </a:spcBef>
                <a:buClr>
                  <a:schemeClr val="tx1"/>
                </a:buClr>
                <a:defRPr sz="1800">
                  <a:uFillTx/>
                </a:defRPr>
              </a:pPr>
              <a:r>
                <a:rPr lang="en-US" sz="1600" b="0" dirty="0">
                  <a:solidFill>
                    <a:schemeClr val="tx1"/>
                  </a:solidFill>
                  <a:uFill>
                    <a:solidFill/>
                  </a:uFill>
                  <a:latin typeface="Gill Sans" charset="0"/>
                  <a:ea typeface="Gill Sans" charset="0"/>
                  <a:cs typeface="Gill Sans" charset="0"/>
                  <a:sym typeface="Helvetica"/>
                </a:rPr>
                <a:t>are </a:t>
              </a:r>
              <a:r>
                <a:rPr lang="en-US" b="0" dirty="0">
                  <a:solidFill>
                    <a:schemeClr val="tx1"/>
                  </a:solidFill>
                  <a:uFill>
                    <a:solidFill>
                      <a:srgbClr val="1E31E3"/>
                    </a:solidFill>
                  </a:uFill>
                  <a:latin typeface="Gill Sans" charset="0"/>
                  <a:ea typeface="Gill Sans" charset="0"/>
                  <a:cs typeface="Gill Sans" charset="0"/>
                  <a:sym typeface="Chalkboard"/>
                </a:rPr>
                <a:t>un</a:t>
              </a:r>
              <a:r>
                <a:rPr lang="en-US" sz="1600" b="0" dirty="0">
                  <a:solidFill>
                    <a:schemeClr val="tx1"/>
                  </a:solidFill>
                  <a:uFill>
                    <a:solidFill>
                      <a:srgbClr val="1E31E3"/>
                    </a:solidFill>
                  </a:uFill>
                  <a:latin typeface="Gill Sans" charset="0"/>
                  <a:ea typeface="Gill Sans" charset="0"/>
                  <a:cs typeface="Gill Sans" charset="0"/>
                  <a:sym typeface="Helvetica"/>
                </a:rPr>
                <a:t>favorable; </a:t>
              </a:r>
            </a:p>
          </p:txBody>
        </p:sp>
      </p:grpSp>
      <p:grpSp>
        <p:nvGrpSpPr>
          <p:cNvPr id="80" name="Group 79">
            <a:extLst>
              <a:ext uri="{FF2B5EF4-FFF2-40B4-BE49-F238E27FC236}">
                <a16:creationId xmlns:a16="http://schemas.microsoft.com/office/drawing/2014/main" id="{2E7BB43D-1E7C-5740-8ED1-D24A4476CE6B}"/>
              </a:ext>
            </a:extLst>
          </p:cNvPr>
          <p:cNvGrpSpPr/>
          <p:nvPr/>
        </p:nvGrpSpPr>
        <p:grpSpPr>
          <a:xfrm>
            <a:off x="1771076" y="295252"/>
            <a:ext cx="7372924" cy="6500857"/>
            <a:chOff x="1771076" y="295252"/>
            <a:chExt cx="7372924" cy="6500857"/>
          </a:xfrm>
        </p:grpSpPr>
        <p:pic>
          <p:nvPicPr>
            <p:cNvPr id="81" name="Picture 80" descr="A close up of a map&#10;&#10;Description automatically generated">
              <a:extLst>
                <a:ext uri="{FF2B5EF4-FFF2-40B4-BE49-F238E27FC236}">
                  <a16:creationId xmlns:a16="http://schemas.microsoft.com/office/drawing/2014/main" id="{CA9C42B0-B5A0-FD46-AE26-408757B54CA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71076" y="295252"/>
              <a:ext cx="7372924" cy="6500857"/>
            </a:xfrm>
            <a:prstGeom prst="rect">
              <a:avLst/>
            </a:prstGeom>
          </p:spPr>
        </p:pic>
        <p:sp>
          <p:nvSpPr>
            <p:cNvPr id="82" name="TextBox 81">
              <a:extLst>
                <a:ext uri="{FF2B5EF4-FFF2-40B4-BE49-F238E27FC236}">
                  <a16:creationId xmlns:a16="http://schemas.microsoft.com/office/drawing/2014/main" id="{C44AADD1-AE75-F540-9D0F-E926A182ECC6}"/>
                </a:ext>
              </a:extLst>
            </p:cNvPr>
            <p:cNvSpPr txBox="1"/>
            <p:nvPr/>
          </p:nvSpPr>
          <p:spPr>
            <a:xfrm>
              <a:off x="4615521" y="3382565"/>
              <a:ext cx="582211"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
                    <a:solidFill>
                      <a:srgbClr val="000000"/>
                    </a:solidFill>
                  </a:uFill>
                  <a:latin typeface="Symbol" pitchFamily="2" charset="2"/>
                  <a:sym typeface="Helvetica"/>
                </a:rPr>
                <a:t>-60</a:t>
              </a:r>
              <a:endPar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
          <p:nvSpPr>
            <p:cNvPr id="83" name="TextBox 82">
              <a:extLst>
                <a:ext uri="{FF2B5EF4-FFF2-40B4-BE49-F238E27FC236}">
                  <a16:creationId xmlns:a16="http://schemas.microsoft.com/office/drawing/2014/main" id="{5DEA1EE4-E575-B04A-812B-E3FDB60E8371}"/>
                </a:ext>
              </a:extLst>
            </p:cNvPr>
            <p:cNvSpPr txBox="1"/>
            <p:nvPr/>
          </p:nvSpPr>
          <p:spPr>
            <a:xfrm>
              <a:off x="3829050" y="3855099"/>
              <a:ext cx="582211" cy="41036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
                    <a:solidFill>
                      <a:srgbClr val="000000"/>
                    </a:solidFill>
                  </a:uFill>
                  <a:latin typeface="Symbol" pitchFamily="2" charset="2"/>
                  <a:sym typeface="Helvetica"/>
                </a:rPr>
                <a:t>-40</a:t>
              </a:r>
              <a:endPar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cxnSp>
          <p:nvCxnSpPr>
            <p:cNvPr id="84" name="Straight Arrow Connector 83">
              <a:extLst>
                <a:ext uri="{FF2B5EF4-FFF2-40B4-BE49-F238E27FC236}">
                  <a16:creationId xmlns:a16="http://schemas.microsoft.com/office/drawing/2014/main" id="{2F707956-C93A-1544-B842-A66B80D32376}"/>
                </a:ext>
              </a:extLst>
            </p:cNvPr>
            <p:cNvCxnSpPr>
              <a:cxnSpLocks/>
            </p:cNvCxnSpPr>
            <p:nvPr/>
          </p:nvCxnSpPr>
          <p:spPr>
            <a:xfrm flipH="1">
              <a:off x="4532832" y="3831986"/>
              <a:ext cx="602147" cy="1826"/>
            </a:xfrm>
            <a:prstGeom prst="straightConnector1">
              <a:avLst/>
            </a:prstGeom>
            <a:noFill/>
            <a:ln w="57150" cap="flat">
              <a:solidFill>
                <a:srgbClr val="FF0000"/>
              </a:solidFill>
              <a:prstDash val="solid"/>
              <a:round/>
              <a:tailEnd type="triangle"/>
            </a:ln>
            <a:effectLst/>
          </p:spPr>
          <p:style>
            <a:lnRef idx="0">
              <a:scrgbClr r="0" g="0" b="0"/>
            </a:lnRef>
            <a:fillRef idx="0">
              <a:scrgbClr r="0" g="0" b="0"/>
            </a:fillRef>
            <a:effectRef idx="0">
              <a:scrgbClr r="0" g="0" b="0"/>
            </a:effectRef>
            <a:fontRef idx="none"/>
          </p:style>
        </p:cxnSp>
        <p:cxnSp>
          <p:nvCxnSpPr>
            <p:cNvPr id="85" name="Straight Arrow Connector 84">
              <a:extLst>
                <a:ext uri="{FF2B5EF4-FFF2-40B4-BE49-F238E27FC236}">
                  <a16:creationId xmlns:a16="http://schemas.microsoft.com/office/drawing/2014/main" id="{1485A5B8-902B-4A40-9D79-10B5AC912C5C}"/>
                </a:ext>
              </a:extLst>
            </p:cNvPr>
            <p:cNvCxnSpPr>
              <a:cxnSpLocks/>
            </p:cNvCxnSpPr>
            <p:nvPr/>
          </p:nvCxnSpPr>
          <p:spPr>
            <a:xfrm>
              <a:off x="4526894" y="3832899"/>
              <a:ext cx="5938" cy="502287"/>
            </a:xfrm>
            <a:prstGeom prst="straightConnector1">
              <a:avLst/>
            </a:prstGeom>
            <a:noFill/>
            <a:ln w="57150" cap="flat">
              <a:solidFill>
                <a:srgbClr val="FF0000"/>
              </a:solidFill>
              <a:prstDash val="solid"/>
              <a:round/>
              <a:tailEnd type="triangle"/>
            </a:ln>
            <a:effectLst/>
          </p:spPr>
          <p:style>
            <a:lnRef idx="0">
              <a:scrgbClr r="0" g="0" b="0"/>
            </a:lnRef>
            <a:fillRef idx="0">
              <a:scrgbClr r="0" g="0" b="0"/>
            </a:fillRef>
            <a:effectRef idx="0">
              <a:scrgbClr r="0" g="0" b="0"/>
            </a:effectRef>
            <a:fontRef idx="none"/>
          </p:style>
        </p:cxnSp>
      </p:grpSp>
      <p:pic>
        <p:nvPicPr>
          <p:cNvPr id="86" name="Picture 85" descr="A picture containing food&#10;&#10;Description automatically generated">
            <a:extLst>
              <a:ext uri="{FF2B5EF4-FFF2-40B4-BE49-F238E27FC236}">
                <a16:creationId xmlns:a16="http://schemas.microsoft.com/office/drawing/2014/main" id="{7919C5F6-683B-8243-8D5E-30B4B1ED4B9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85505" y="2038350"/>
            <a:ext cx="5295900" cy="4660900"/>
          </a:xfrm>
          <a:prstGeom prst="rect">
            <a:avLst/>
          </a:prstGeom>
        </p:spPr>
      </p:pic>
      <p:pic>
        <p:nvPicPr>
          <p:cNvPr id="87" name="Picture 86">
            <a:extLst>
              <a:ext uri="{FF2B5EF4-FFF2-40B4-BE49-F238E27FC236}">
                <a16:creationId xmlns:a16="http://schemas.microsoft.com/office/drawing/2014/main" id="{84291A31-664B-3D4E-AFB8-4CF914DC5BB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505779" y="2604952"/>
            <a:ext cx="1430529" cy="3957796"/>
          </a:xfrm>
          <a:prstGeom prst="rect">
            <a:avLst/>
          </a:prstGeom>
        </p:spPr>
      </p:pic>
    </p:spTree>
    <p:extLst>
      <p:ext uri="{BB962C8B-B14F-4D97-AF65-F5344CB8AC3E}">
        <p14:creationId xmlns:p14="http://schemas.microsoft.com/office/powerpoint/2010/main" val="1746441357"/>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80"/>
                                        </p:tgtEl>
                                        <p:attrNameLst>
                                          <p:attrName>style.visibility</p:attrName>
                                        </p:attrNameLst>
                                      </p:cBhvr>
                                      <p:to>
                                        <p:strVal val="visible"/>
                                      </p:to>
                                    </p:set>
                                    <p:animEffect transition="in" filter="blinds(horizontal)">
                                      <p:cBhvr>
                                        <p:cTn id="11" dur="500"/>
                                        <p:tgtEl>
                                          <p:spTgt spid="8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nodeType="clickEffect">
                                  <p:stCondLst>
                                    <p:cond delay="0"/>
                                  </p:stCondLst>
                                  <p:childTnLst>
                                    <p:set>
                                      <p:cBhvr>
                                        <p:cTn id="15" dur="1" fill="hold">
                                          <p:stCondLst>
                                            <p:cond delay="0"/>
                                          </p:stCondLst>
                                        </p:cTn>
                                        <p:tgtEl>
                                          <p:spTgt spid="80"/>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iterate>
                                    <p:tmAbs val="0"/>
                                  </p:iterate>
                                  <p:childTnLst>
                                    <p:set>
                                      <p:cBhvr>
                                        <p:cTn id="19" fill="hold"/>
                                        <p:tgtEl>
                                          <p:spTgt spid="34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iterate>
                                    <p:tmAbs val="0"/>
                                  </p:iterate>
                                  <p:childTnLst>
                                    <p:set>
                                      <p:cBhvr>
                                        <p:cTn id="23" fill="hold"/>
                                        <p:tgtEl>
                                          <p:spTgt spid="35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p:tmAbs val="0"/>
                                  </p:iterate>
                                  <p:childTnLst>
                                    <p:set>
                                      <p:cBhvr>
                                        <p:cTn id="27" fill="hold"/>
                                        <p:tgtEl>
                                          <p:spTgt spid="29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iterate>
                                    <p:tmAbs val="0"/>
                                  </p:iterate>
                                  <p:childTnLst>
                                    <p:set>
                                      <p:cBhvr>
                                        <p:cTn id="31" fill="hold"/>
                                        <p:tgtEl>
                                          <p:spTgt spid="34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p:tmAbs val="0"/>
                                  </p:iterate>
                                  <p:childTnLst>
                                    <p:set>
                                      <p:cBhvr>
                                        <p:cTn id="35" fill="hold"/>
                                        <p:tgtEl>
                                          <p:spTgt spid="29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iterate>
                                    <p:tmAbs val="0"/>
                                  </p:iterate>
                                  <p:childTnLst>
                                    <p:set>
                                      <p:cBhvr>
                                        <p:cTn id="39" fill="hold"/>
                                        <p:tgtEl>
                                          <p:spTgt spid="29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87"/>
                                        </p:tgtEl>
                                        <p:attrNameLst>
                                          <p:attrName>style.visibility</p:attrName>
                                        </p:attrNameLst>
                                      </p:cBhvr>
                                      <p:to>
                                        <p:strVal val="visible"/>
                                      </p:to>
                                    </p:set>
                                    <p:animEffect transition="in" filter="blinds(horizontal)">
                                      <p:cBhvr>
                                        <p:cTn id="44" dur="500"/>
                                        <p:tgtEl>
                                          <p:spTgt spid="87"/>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87"/>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iterate>
                                    <p:tmAbs val="0"/>
                                  </p:iterate>
                                  <p:childTnLst>
                                    <p:set>
                                      <p:cBhvr>
                                        <p:cTn id="52" fill="hold"/>
                                        <p:tgtEl>
                                          <p:spTgt spid="30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86"/>
                                        </p:tgtEl>
                                        <p:attrNameLst>
                                          <p:attrName>style.visibility</p:attrName>
                                        </p:attrNameLst>
                                      </p:cBhvr>
                                      <p:to>
                                        <p:strVal val="visible"/>
                                      </p:to>
                                    </p:set>
                                    <p:animEffect transition="in" filter="blinds(horizontal)">
                                      <p:cBhvr>
                                        <p:cTn id="57" dur="500"/>
                                        <p:tgtEl>
                                          <p:spTgt spid="86"/>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nodeType="clickEffect">
                                  <p:stCondLst>
                                    <p:cond delay="0"/>
                                  </p:stCondLst>
                                  <p:childTnLst>
                                    <p:set>
                                      <p:cBhvr>
                                        <p:cTn id="61" dur="1" fill="hold">
                                          <p:stCondLst>
                                            <p:cond delay="0"/>
                                          </p:stCondLst>
                                        </p:cTn>
                                        <p:tgtEl>
                                          <p:spTgt spid="86"/>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iterate>
                                    <p:tmAbs val="0"/>
                                  </p:iterate>
                                  <p:childTnLst>
                                    <p:set>
                                      <p:cBhvr>
                                        <p:cTn id="65" fill="hold"/>
                                        <p:tgtEl>
                                          <p:spTgt spid="351"/>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iterate>
                                    <p:tmAbs val="0"/>
                                  </p:iterate>
                                  <p:childTnLst>
                                    <p:set>
                                      <p:cBhvr>
                                        <p:cTn id="69" fill="hold"/>
                                        <p:tgtEl>
                                          <p:spTgt spid="301"/>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iterate>
                                    <p:tmAbs val="0"/>
                                  </p:iterate>
                                  <p:childTnLst>
                                    <p:set>
                                      <p:cBhvr>
                                        <p:cTn id="73" fill="hold"/>
                                        <p:tgtEl>
                                          <p:spTgt spid="35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iterate>
                                    <p:tmAbs val="0"/>
                                  </p:iterate>
                                  <p:childTnLst>
                                    <p:set>
                                      <p:cBhvr>
                                        <p:cTn id="77" fill="hold"/>
                                        <p:tgtEl>
                                          <p:spTgt spid="302"/>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iterate>
                                    <p:tmAbs val="0"/>
                                  </p:iterate>
                                  <p:childTnLst>
                                    <p:set>
                                      <p:cBhvr>
                                        <p:cTn id="81" fill="hold"/>
                                        <p:tgtEl>
                                          <p:spTgt spid="303"/>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iterate>
                                    <p:tmAbs val="0"/>
                                  </p:iterate>
                                  <p:childTnLst>
                                    <p:set>
                                      <p:cBhvr>
                                        <p:cTn id="85" fill="hold"/>
                                        <p:tgtEl>
                                          <p:spTgt spid="3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 grpId="0" animBg="1" advAuto="0"/>
      <p:bldP spid="297" grpId="0" animBg="1" advAuto="0"/>
      <p:bldP spid="298" grpId="0" animBg="1" advAuto="0"/>
      <p:bldP spid="299" grpId="0" animBg="1" advAuto="0"/>
      <p:bldP spid="300" grpId="0" animBg="1" advAuto="0"/>
      <p:bldP spid="301" grpId="0" animBg="1" advAuto="0"/>
      <p:bldP spid="302" grpId="0" animBg="1" advAuto="0"/>
      <p:bldP spid="303" grpId="0" animBg="1" advAuto="0"/>
      <p:bldP spid="304" grpId="0" animBg="1" advAuto="0"/>
      <p:bldP spid="341" grpId="0" animBg="1" advAuto="0"/>
      <p:bldP spid="347" grpId="0" animBg="1" advAuto="0"/>
      <p:bldP spid="351" grpId="0" advAuto="0"/>
      <p:bldP spid="352" grpId="0" animBg="1" advAuto="0"/>
      <p:bldP spid="355" grpId="0"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Shape 295"/>
          <p:cNvSpPr>
            <a:spLocks noGrp="1"/>
          </p:cNvSpPr>
          <p:nvPr>
            <p:ph type="title"/>
          </p:nvPr>
        </p:nvSpPr>
        <p:spPr>
          <a:xfrm>
            <a:off x="685800" y="196933"/>
            <a:ext cx="7772400" cy="419100"/>
          </a:xfrm>
          <a:prstGeom prst="rect">
            <a:avLst/>
          </a:prstGeom>
        </p:spPr>
        <p:txBody>
          <a:bodyPr/>
          <a:lstStyle/>
          <a:p>
            <a:pPr lvl="0">
              <a:defRPr sz="1800">
                <a:uFillTx/>
              </a:defRPr>
            </a:pPr>
            <a:r>
              <a:rPr lang="en-US" sz="2400" dirty="0">
                <a:uFill>
                  <a:solidFill/>
                </a:uFill>
                <a:latin typeface="Gill Sans" charset="0"/>
                <a:ea typeface="Gill Sans" charset="0"/>
                <a:cs typeface="Gill Sans" charset="0"/>
                <a:sym typeface="Helvetica"/>
              </a:rPr>
              <a:t>Peptide Plane Orientation: </a:t>
            </a:r>
            <a:r>
              <a:rPr sz="2400" dirty="0">
                <a:uFill>
                  <a:solidFill/>
                </a:uFill>
                <a:latin typeface="Gill Sans" charset="0"/>
                <a:ea typeface="Gill Sans" charset="0"/>
                <a:cs typeface="Gill Sans" charset="0"/>
                <a:sym typeface="Symbol"/>
              </a:rPr>
              <a:t>α</a:t>
            </a:r>
            <a:r>
              <a:rPr sz="2400" dirty="0">
                <a:uFill>
                  <a:solidFill/>
                </a:uFill>
                <a:latin typeface="Gill Sans" charset="0"/>
                <a:ea typeface="Gill Sans" charset="0"/>
                <a:cs typeface="Gill Sans" charset="0"/>
                <a:sym typeface="Helvetica"/>
              </a:rPr>
              <a:t>-</a:t>
            </a:r>
            <a:r>
              <a:rPr lang="en-US" sz="2400" dirty="0">
                <a:uFill>
                  <a:solidFill/>
                </a:uFill>
                <a:latin typeface="Gill Sans" charset="0"/>
                <a:ea typeface="Gill Sans" charset="0"/>
                <a:cs typeface="Gill Sans" charset="0"/>
                <a:sym typeface="Helvetica"/>
              </a:rPr>
              <a:t>helix</a:t>
            </a:r>
          </a:p>
        </p:txBody>
      </p:sp>
      <p:pic>
        <p:nvPicPr>
          <p:cNvPr id="106" name="Content Placeholder 7" descr="A picture containing indoor, table, equipment, small&#10;&#10;Description automatically generated">
            <a:extLst>
              <a:ext uri="{FF2B5EF4-FFF2-40B4-BE49-F238E27FC236}">
                <a16:creationId xmlns:a16="http://schemas.microsoft.com/office/drawing/2014/main" id="{4AEA80FD-69AC-6741-B931-07816AFDC44B}"/>
              </a:ext>
            </a:extLst>
          </p:cNvPr>
          <p:cNvPicPr>
            <a:picLocks noChangeAspect="1"/>
          </p:cNvPicPr>
          <p:nvPr/>
        </p:nvPicPr>
        <p:blipFill rotWithShape="1">
          <a:blip r:embed="rId2">
            <a:extLst>
              <a:ext uri="{28A0092B-C50C-407E-A947-70E740481C1C}">
                <a14:useLocalDpi xmlns:a14="http://schemas.microsoft.com/office/drawing/2010/main" val="0"/>
              </a:ext>
            </a:extLst>
          </a:blip>
          <a:srcRect l="4396" b="3657"/>
          <a:stretch/>
        </p:blipFill>
        <p:spPr>
          <a:xfrm>
            <a:off x="3330987" y="958990"/>
            <a:ext cx="2066306" cy="5391115"/>
          </a:xfrm>
          <a:prstGeom prst="rect">
            <a:avLst/>
          </a:prstGeom>
          <a:ln w="12700">
            <a:miter lim="400000"/>
          </a:ln>
          <a:extLst>
            <a:ext uri="{C572A759-6A51-4108-AA02-DFA0A04FC94B}">
              <ma14:wrappingTextBoxFlag xmlns="" xmlns:ma14="http://schemas.microsoft.com/office/mac/drawingml/2011/main" val="1"/>
            </a:ext>
          </a:extLst>
        </p:spPr>
      </p:pic>
      <p:sp>
        <p:nvSpPr>
          <p:cNvPr id="24" name="TextBox 23">
            <a:extLst>
              <a:ext uri="{FF2B5EF4-FFF2-40B4-BE49-F238E27FC236}">
                <a16:creationId xmlns:a16="http://schemas.microsoft.com/office/drawing/2014/main" id="{AA0686FA-C3AB-8A4C-9DB1-0612DB9A988E}"/>
              </a:ext>
            </a:extLst>
          </p:cNvPr>
          <p:cNvSpPr txBox="1"/>
          <p:nvPr/>
        </p:nvSpPr>
        <p:spPr>
          <a:xfrm>
            <a:off x="5522027" y="3429000"/>
            <a:ext cx="2612572"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lang="en-US" dirty="0">
                <a:solidFill>
                  <a:srgbClr val="000000"/>
                </a:solidFill>
                <a:uFill>
                  <a:solidFill>
                    <a:srgbClr val="000000"/>
                  </a:solidFill>
                </a:uFill>
              </a:rPr>
              <a:t>All </a:t>
            </a:r>
            <a:r>
              <a:rPr lang="en-US" dirty="0">
                <a:solidFill>
                  <a:srgbClr val="0737F8"/>
                </a:solidFill>
                <a:uFill>
                  <a:solidFill>
                    <a:srgbClr val="000000"/>
                  </a:solidFill>
                </a:uFill>
              </a:rPr>
              <a:t>N-H</a:t>
            </a:r>
            <a:r>
              <a:rPr lang="en-US" dirty="0">
                <a:solidFill>
                  <a:srgbClr val="000000"/>
                </a:solidFill>
                <a:uFill>
                  <a:solidFill>
                    <a:srgbClr val="000000"/>
                  </a:solidFill>
                </a:uFill>
              </a:rPr>
              <a:t> point in the same direction</a:t>
            </a:r>
            <a:endPar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
        <p:nvSpPr>
          <p:cNvPr id="108" name="TextBox 107">
            <a:extLst>
              <a:ext uri="{FF2B5EF4-FFF2-40B4-BE49-F238E27FC236}">
                <a16:creationId xmlns:a16="http://schemas.microsoft.com/office/drawing/2014/main" id="{8F4458FF-6E69-984C-8290-60B72DFAE21C}"/>
              </a:ext>
            </a:extLst>
          </p:cNvPr>
          <p:cNvSpPr txBox="1"/>
          <p:nvPr/>
        </p:nvSpPr>
        <p:spPr>
          <a:xfrm>
            <a:off x="819396" y="1188836"/>
            <a:ext cx="2612572"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lang="en-US" dirty="0">
                <a:solidFill>
                  <a:srgbClr val="000000"/>
                </a:solidFill>
                <a:uFill>
                  <a:solidFill>
                    <a:srgbClr val="000000"/>
                  </a:solidFill>
                </a:uFill>
              </a:rPr>
              <a:t>All </a:t>
            </a:r>
            <a:r>
              <a:rPr lang="en-US" dirty="0">
                <a:solidFill>
                  <a:srgbClr val="C00000"/>
                </a:solidFill>
                <a:uFill>
                  <a:solidFill>
                    <a:srgbClr val="000000"/>
                  </a:solidFill>
                </a:uFill>
              </a:rPr>
              <a:t>C=0</a:t>
            </a:r>
            <a:r>
              <a:rPr lang="en-US" dirty="0">
                <a:solidFill>
                  <a:srgbClr val="000000"/>
                </a:solidFill>
                <a:uFill>
                  <a:solidFill>
                    <a:srgbClr val="000000"/>
                  </a:solidFill>
                </a:uFill>
              </a:rPr>
              <a:t> point in the same direction</a:t>
            </a:r>
            <a:endPar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Tree>
    <p:extLst>
      <p:ext uri="{BB962C8B-B14F-4D97-AF65-F5344CB8AC3E}">
        <p14:creationId xmlns:p14="http://schemas.microsoft.com/office/powerpoint/2010/main" val="381619041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41"/>
          <p:cNvSpPr>
            <a:spLocks noGrp="1"/>
          </p:cNvSpPr>
          <p:nvPr>
            <p:ph type="title"/>
          </p:nvPr>
        </p:nvSpPr>
        <p:spPr>
          <a:xfrm>
            <a:off x="838200" y="0"/>
            <a:ext cx="7772400" cy="457200"/>
          </a:xfrm>
          <a:prstGeom prst="rect">
            <a:avLst/>
          </a:prstGeom>
        </p:spPr>
        <p:txBody>
          <a:bodyPr/>
          <a:lstStyle/>
          <a:p>
            <a:pPr lvl="0">
              <a:defRPr sz="1800" b="0">
                <a:uFillTx/>
              </a:defRPr>
            </a:pPr>
            <a:r>
              <a:rPr sz="2400" b="0" dirty="0">
                <a:solidFill>
                  <a:schemeClr val="tx1"/>
                </a:solidFill>
                <a:uFill>
                  <a:solidFill/>
                </a:uFill>
                <a:latin typeface="Gill Sans" charset="0"/>
                <a:ea typeface="Gill Sans" charset="0"/>
                <a:cs typeface="Gill Sans" charset="0"/>
              </a:rPr>
              <a:t>P</a:t>
            </a:r>
            <a:r>
              <a:rPr lang="en-US" sz="2400" b="0" dirty="0">
                <a:solidFill>
                  <a:schemeClr val="tx1"/>
                </a:solidFill>
                <a:uFill>
                  <a:solidFill/>
                </a:uFill>
                <a:latin typeface="Gill Sans" charset="0"/>
                <a:ea typeface="Gill Sans" charset="0"/>
                <a:cs typeface="Gill Sans" charset="0"/>
              </a:rPr>
              <a:t>roline </a:t>
            </a:r>
            <a:r>
              <a:rPr lang="en-US" sz="2200" b="0" dirty="0">
                <a:solidFill>
                  <a:schemeClr val="tx1"/>
                </a:solidFill>
                <a:uFill>
                  <a:solidFill/>
                </a:uFill>
                <a:latin typeface="Gill Sans" charset="0"/>
                <a:ea typeface="Gill Sans" charset="0"/>
                <a:cs typeface="Gill Sans" charset="0"/>
              </a:rPr>
              <a:t>special</a:t>
            </a:r>
            <a:r>
              <a:rPr lang="en-US" sz="2400" b="0" dirty="0">
                <a:solidFill>
                  <a:schemeClr val="tx1"/>
                </a:solidFill>
                <a:uFill>
                  <a:solidFill/>
                </a:uFill>
                <a:latin typeface="Gill Sans" charset="0"/>
                <a:ea typeface="Gill Sans" charset="0"/>
                <a:cs typeface="Gill Sans" charset="0"/>
              </a:rPr>
              <a:t> properties</a:t>
            </a:r>
          </a:p>
        </p:txBody>
      </p:sp>
      <p:sp>
        <p:nvSpPr>
          <p:cNvPr id="59" name="Shape 59"/>
          <p:cNvSpPr/>
          <p:nvPr/>
        </p:nvSpPr>
        <p:spPr>
          <a:xfrm>
            <a:off x="1092200" y="952500"/>
            <a:ext cx="685800" cy="800100"/>
          </a:xfrm>
          <a:prstGeom prst="rect">
            <a:avLst/>
          </a:prstGeom>
          <a:solidFill>
            <a:srgbClr val="FFFFFF"/>
          </a:solidFill>
          <a:ln>
            <a:solidFill>
              <a:srgbClr val="000000">
                <a:alpha val="0"/>
              </a:srgbClr>
            </a:solidFill>
            <a:round/>
          </a:ln>
        </p:spPr>
        <p:txBody>
          <a:bodyPr lIns="0" tIns="0" rIns="0" bIns="0" anchor="ctr"/>
          <a:lstStyle/>
          <a:p>
            <a:pPr lvl="0">
              <a:defRPr sz="2400" b="0">
                <a:latin typeface="+mn-lt"/>
                <a:ea typeface="+mn-ea"/>
                <a:cs typeface="+mn-cs"/>
                <a:sym typeface="Times Roman"/>
              </a:defRPr>
            </a:pPr>
            <a:endParaRPr b="0">
              <a:solidFill>
                <a:schemeClr val="tx1"/>
              </a:solidFill>
              <a:latin typeface="Gill Sans" charset="0"/>
              <a:ea typeface="Gill Sans" charset="0"/>
              <a:cs typeface="Gill Sans" charset="0"/>
            </a:endParaRPr>
          </a:p>
        </p:txBody>
      </p:sp>
      <p:sp>
        <p:nvSpPr>
          <p:cNvPr id="60" name="Shape 60"/>
          <p:cNvSpPr/>
          <p:nvPr/>
        </p:nvSpPr>
        <p:spPr>
          <a:xfrm>
            <a:off x="584200" y="3581400"/>
            <a:ext cx="685800" cy="800100"/>
          </a:xfrm>
          <a:prstGeom prst="rect">
            <a:avLst/>
          </a:prstGeom>
          <a:solidFill>
            <a:srgbClr val="FFFFFF"/>
          </a:solidFill>
          <a:ln>
            <a:solidFill>
              <a:srgbClr val="000000">
                <a:alpha val="0"/>
              </a:srgbClr>
            </a:solidFill>
            <a:round/>
          </a:ln>
        </p:spPr>
        <p:txBody>
          <a:bodyPr lIns="0" tIns="0" rIns="0" bIns="0" anchor="ctr"/>
          <a:lstStyle/>
          <a:p>
            <a:pPr lvl="0">
              <a:defRPr sz="2400" b="0">
                <a:latin typeface="+mn-lt"/>
                <a:ea typeface="+mn-ea"/>
                <a:cs typeface="+mn-cs"/>
                <a:sym typeface="Times Roman"/>
              </a:defRPr>
            </a:pPr>
            <a:endParaRPr b="0">
              <a:solidFill>
                <a:schemeClr val="tx1"/>
              </a:solidFill>
              <a:latin typeface="Gill Sans" charset="0"/>
              <a:ea typeface="Gill Sans" charset="0"/>
              <a:cs typeface="Gill Sans" charset="0"/>
            </a:endParaRPr>
          </a:p>
        </p:txBody>
      </p:sp>
      <p:sp>
        <p:nvSpPr>
          <p:cNvPr id="61" name="Shape 61"/>
          <p:cNvSpPr/>
          <p:nvPr/>
        </p:nvSpPr>
        <p:spPr>
          <a:xfrm>
            <a:off x="495300" y="2997200"/>
            <a:ext cx="685800" cy="800100"/>
          </a:xfrm>
          <a:prstGeom prst="rect">
            <a:avLst/>
          </a:prstGeom>
          <a:solidFill>
            <a:srgbClr val="FFFFFF"/>
          </a:solidFill>
          <a:ln>
            <a:solidFill>
              <a:srgbClr val="000000">
                <a:alpha val="0"/>
              </a:srgbClr>
            </a:solidFill>
            <a:round/>
          </a:ln>
        </p:spPr>
        <p:txBody>
          <a:bodyPr lIns="0" tIns="0" rIns="0" bIns="0" anchor="ctr"/>
          <a:lstStyle/>
          <a:p>
            <a:pPr lvl="0">
              <a:defRPr sz="2400" b="0">
                <a:latin typeface="+mn-lt"/>
                <a:ea typeface="+mn-ea"/>
                <a:cs typeface="+mn-cs"/>
                <a:sym typeface="Times Roman"/>
              </a:defRPr>
            </a:pPr>
            <a:endParaRPr b="0">
              <a:solidFill>
                <a:schemeClr val="tx1"/>
              </a:solidFill>
              <a:latin typeface="Gill Sans" charset="0"/>
              <a:ea typeface="Gill Sans" charset="0"/>
              <a:cs typeface="Gill Sans" charset="0"/>
            </a:endParaRPr>
          </a:p>
        </p:txBody>
      </p:sp>
      <p:sp>
        <p:nvSpPr>
          <p:cNvPr id="62" name="Shape 62"/>
          <p:cNvSpPr/>
          <p:nvPr/>
        </p:nvSpPr>
        <p:spPr>
          <a:xfrm>
            <a:off x="812800" y="4851400"/>
            <a:ext cx="812800" cy="800100"/>
          </a:xfrm>
          <a:prstGeom prst="rect">
            <a:avLst/>
          </a:prstGeom>
          <a:solidFill>
            <a:srgbClr val="FFFFFF"/>
          </a:solidFill>
          <a:ln>
            <a:solidFill>
              <a:srgbClr val="000000">
                <a:alpha val="0"/>
              </a:srgbClr>
            </a:solidFill>
            <a:round/>
          </a:ln>
        </p:spPr>
        <p:txBody>
          <a:bodyPr lIns="0" tIns="0" rIns="0" bIns="0" anchor="ctr"/>
          <a:lstStyle/>
          <a:p>
            <a:pPr lvl="0">
              <a:defRPr sz="2400" b="0">
                <a:latin typeface="+mn-lt"/>
                <a:ea typeface="+mn-ea"/>
                <a:cs typeface="+mn-cs"/>
                <a:sym typeface="Times Roman"/>
              </a:defRPr>
            </a:pPr>
            <a:endParaRPr b="0">
              <a:solidFill>
                <a:schemeClr val="tx1"/>
              </a:solidFill>
              <a:latin typeface="Gill Sans" charset="0"/>
              <a:ea typeface="Gill Sans" charset="0"/>
              <a:cs typeface="Gill Sans" charset="0"/>
            </a:endParaRPr>
          </a:p>
        </p:txBody>
      </p:sp>
      <p:sp>
        <p:nvSpPr>
          <p:cNvPr id="63" name="Shape 63"/>
          <p:cNvSpPr/>
          <p:nvPr/>
        </p:nvSpPr>
        <p:spPr>
          <a:xfrm>
            <a:off x="1816100" y="3670300"/>
            <a:ext cx="355600" cy="368300"/>
          </a:xfrm>
          <a:prstGeom prst="rect">
            <a:avLst/>
          </a:prstGeom>
          <a:solidFill>
            <a:srgbClr val="FFFFFF"/>
          </a:solidFill>
          <a:ln>
            <a:solidFill>
              <a:srgbClr val="000000">
                <a:alpha val="0"/>
              </a:srgbClr>
            </a:solidFill>
            <a:round/>
          </a:ln>
        </p:spPr>
        <p:txBody>
          <a:bodyPr lIns="0" tIns="0" rIns="0" bIns="0" anchor="ctr"/>
          <a:lstStyle/>
          <a:p>
            <a:pPr lvl="0">
              <a:defRPr sz="2400" b="0">
                <a:latin typeface="+mn-lt"/>
                <a:ea typeface="+mn-ea"/>
                <a:cs typeface="+mn-cs"/>
                <a:sym typeface="Times Roman"/>
              </a:defRPr>
            </a:pPr>
            <a:endParaRPr b="0">
              <a:solidFill>
                <a:schemeClr val="tx1"/>
              </a:solidFill>
              <a:latin typeface="Gill Sans" charset="0"/>
              <a:ea typeface="Gill Sans" charset="0"/>
              <a:cs typeface="Gill Sans" charset="0"/>
            </a:endParaRPr>
          </a:p>
        </p:txBody>
      </p:sp>
      <p:sp>
        <p:nvSpPr>
          <p:cNvPr id="64" name="Shape 64"/>
          <p:cNvSpPr/>
          <p:nvPr/>
        </p:nvSpPr>
        <p:spPr>
          <a:xfrm>
            <a:off x="1943100" y="3492500"/>
            <a:ext cx="355600" cy="368300"/>
          </a:xfrm>
          <a:prstGeom prst="rect">
            <a:avLst/>
          </a:prstGeom>
          <a:solidFill>
            <a:srgbClr val="FFFFFF"/>
          </a:solidFill>
          <a:ln>
            <a:solidFill>
              <a:srgbClr val="000000">
                <a:alpha val="0"/>
              </a:srgbClr>
            </a:solidFill>
            <a:round/>
          </a:ln>
        </p:spPr>
        <p:txBody>
          <a:bodyPr lIns="0" tIns="0" rIns="0" bIns="0" anchor="ctr"/>
          <a:lstStyle/>
          <a:p>
            <a:pPr lvl="0">
              <a:defRPr sz="2400" b="0">
                <a:latin typeface="+mn-lt"/>
                <a:ea typeface="+mn-ea"/>
                <a:cs typeface="+mn-cs"/>
                <a:sym typeface="Times Roman"/>
              </a:defRPr>
            </a:pPr>
            <a:endParaRPr b="0">
              <a:solidFill>
                <a:schemeClr val="tx1"/>
              </a:solidFill>
              <a:latin typeface="Gill Sans" charset="0"/>
              <a:ea typeface="Gill Sans" charset="0"/>
              <a:cs typeface="Gill Sans" charset="0"/>
            </a:endParaRPr>
          </a:p>
        </p:txBody>
      </p:sp>
      <p:sp>
        <p:nvSpPr>
          <p:cNvPr id="65" name="Shape 65"/>
          <p:cNvSpPr/>
          <p:nvPr/>
        </p:nvSpPr>
        <p:spPr>
          <a:xfrm>
            <a:off x="7531100" y="1638300"/>
            <a:ext cx="558800" cy="520700"/>
          </a:xfrm>
          <a:prstGeom prst="rect">
            <a:avLst/>
          </a:prstGeom>
          <a:solidFill>
            <a:srgbClr val="FFFFFF"/>
          </a:solidFill>
          <a:ln>
            <a:solidFill>
              <a:srgbClr val="000000">
                <a:alpha val="0"/>
              </a:srgbClr>
            </a:solidFill>
            <a:round/>
          </a:ln>
        </p:spPr>
        <p:txBody>
          <a:bodyPr lIns="0" tIns="0" rIns="0" bIns="0" anchor="ctr"/>
          <a:lstStyle/>
          <a:p>
            <a:pPr lvl="0">
              <a:defRPr sz="2400" b="0">
                <a:latin typeface="+mn-lt"/>
                <a:ea typeface="+mn-ea"/>
                <a:cs typeface="+mn-cs"/>
                <a:sym typeface="Times Roman"/>
              </a:defRPr>
            </a:pPr>
            <a:endParaRPr b="0">
              <a:solidFill>
                <a:schemeClr val="tx1"/>
              </a:solidFill>
              <a:latin typeface="Gill Sans" charset="0"/>
              <a:ea typeface="Gill Sans" charset="0"/>
              <a:cs typeface="Gill Sans" charset="0"/>
            </a:endParaRPr>
          </a:p>
        </p:txBody>
      </p:sp>
      <p:pic>
        <p:nvPicPr>
          <p:cNvPr id="2" name="Picture 1"/>
          <p:cNvPicPr>
            <a:picLocks noChangeAspect="1"/>
          </p:cNvPicPr>
          <p:nvPr/>
        </p:nvPicPr>
        <p:blipFill>
          <a:blip r:embed="rId3"/>
          <a:stretch>
            <a:fillRect/>
          </a:stretch>
        </p:blipFill>
        <p:spPr>
          <a:xfrm>
            <a:off x="1267968" y="694944"/>
            <a:ext cx="6608064" cy="5468112"/>
          </a:xfrm>
          <a:prstGeom prst="rect">
            <a:avLst/>
          </a:prstGeom>
        </p:spPr>
      </p:pic>
      <p:grpSp>
        <p:nvGrpSpPr>
          <p:cNvPr id="45" name="Group 45"/>
          <p:cNvGrpSpPr/>
          <p:nvPr/>
        </p:nvGrpSpPr>
        <p:grpSpPr>
          <a:xfrm>
            <a:off x="4917821" y="2353818"/>
            <a:ext cx="3517900" cy="1594485"/>
            <a:chOff x="0" y="0"/>
            <a:chExt cx="3517900" cy="1594484"/>
          </a:xfrm>
        </p:grpSpPr>
        <p:sp>
          <p:nvSpPr>
            <p:cNvPr id="43" name="Shape 43"/>
            <p:cNvSpPr/>
            <p:nvPr/>
          </p:nvSpPr>
          <p:spPr>
            <a:xfrm>
              <a:off x="1219200" y="609600"/>
              <a:ext cx="2298700" cy="98488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800"/>
                </a:spcBef>
                <a:buClr>
                  <a:srgbClr val="DD33C5"/>
                </a:buClr>
                <a:buFont typeface="Symbol"/>
                <a:defRPr sz="1800" b="0">
                  <a:uFillTx/>
                </a:defRPr>
              </a:pPr>
              <a:r>
                <a:rPr sz="1600" b="0" dirty="0">
                  <a:solidFill>
                    <a:schemeClr val="tx1"/>
                  </a:solidFill>
                  <a:uFill>
                    <a:solidFill>
                      <a:srgbClr val="DD33C5"/>
                    </a:solidFill>
                  </a:uFill>
                  <a:latin typeface="Gill Sans" charset="0"/>
                  <a:ea typeface="Gill Sans" charset="0"/>
                  <a:cs typeface="Gill Sans" charset="0"/>
                  <a:sym typeface="Symbol"/>
                </a:rPr>
                <a:t>Ψ</a:t>
              </a:r>
              <a:r>
                <a:rPr sz="1600" b="0" dirty="0">
                  <a:solidFill>
                    <a:schemeClr val="tx1"/>
                  </a:solidFill>
                  <a:uFill>
                    <a:solidFill>
                      <a:srgbClr val="DD33C5"/>
                    </a:solidFill>
                  </a:uFill>
                  <a:latin typeface="Gill Sans" charset="0"/>
                  <a:ea typeface="Gill Sans" charset="0"/>
                  <a:cs typeface="Gill Sans" charset="0"/>
                </a:rPr>
                <a:t> C</a:t>
              </a:r>
              <a:r>
                <a:rPr lang="en-US" sz="1600" b="0" dirty="0">
                  <a:solidFill>
                    <a:schemeClr val="tx1"/>
                  </a:solidFill>
                  <a:uFill>
                    <a:solidFill>
                      <a:srgbClr val="DD33C5"/>
                    </a:solidFill>
                  </a:uFill>
                  <a:latin typeface="Gill Sans" charset="0"/>
                  <a:ea typeface="Gill Sans" charset="0"/>
                  <a:cs typeface="Gill Sans" charset="0"/>
                </a:rPr>
                <a:t>annot be near -40</a:t>
              </a:r>
              <a:r>
                <a:rPr lang="en-US" sz="1600" b="0" baseline="35999" dirty="0">
                  <a:solidFill>
                    <a:schemeClr val="tx1"/>
                  </a:solidFill>
                  <a:uFill>
                    <a:solidFill>
                      <a:srgbClr val="DD33C5"/>
                    </a:solidFill>
                  </a:uFill>
                  <a:latin typeface="Gill Sans" charset="0"/>
                  <a:ea typeface="Gill Sans" charset="0"/>
                  <a:cs typeface="Gill Sans" charset="0"/>
                </a:rPr>
                <a:t>o</a:t>
              </a:r>
              <a:r>
                <a:rPr lang="en-US" sz="1600" b="0" dirty="0">
                  <a:solidFill>
                    <a:schemeClr val="tx1"/>
                  </a:solidFill>
                  <a:uFill>
                    <a:solidFill>
                      <a:srgbClr val="DD33C5"/>
                    </a:solidFill>
                  </a:uFill>
                  <a:latin typeface="Gill Sans" charset="0"/>
                  <a:ea typeface="Gill Sans" charset="0"/>
                  <a:cs typeface="Gill Sans" charset="0"/>
                </a:rPr>
                <a:t> because of steric hindrance with ring carbons</a:t>
              </a:r>
            </a:p>
          </p:txBody>
        </p:sp>
        <p:sp>
          <p:nvSpPr>
            <p:cNvPr id="44" name="Shape 44"/>
            <p:cNvSpPr/>
            <p:nvPr/>
          </p:nvSpPr>
          <p:spPr>
            <a:xfrm flipH="1" flipV="1">
              <a:off x="0" y="0"/>
              <a:ext cx="1219200" cy="609600"/>
            </a:xfrm>
            <a:prstGeom prst="line">
              <a:avLst/>
            </a:prstGeom>
            <a:noFill/>
            <a:ln w="28575" cap="flat">
              <a:solidFill>
                <a:srgbClr val="DD33C5"/>
              </a:solidFill>
              <a:prstDash val="solid"/>
              <a:round/>
              <a:tailEnd type="triangle" w="med" len="med"/>
            </a:ln>
            <a:effectLst/>
          </p:spPr>
          <p:txBody>
            <a:bodyPr wrap="square" lIns="0" tIns="0" rIns="0" bIns="0" numCol="1" anchor="t">
              <a:noAutofit/>
            </a:bodyPr>
            <a:lstStyle/>
            <a:p>
              <a:pPr marL="0" marR="0" lvl="0" defTabSz="457200">
                <a:defRPr sz="1200" b="0">
                  <a:uFillTx/>
                </a:defRPr>
              </a:pPr>
              <a:endParaRPr b="0">
                <a:solidFill>
                  <a:schemeClr val="tx1"/>
                </a:solidFill>
                <a:latin typeface="Gill Sans" charset="0"/>
                <a:ea typeface="Gill Sans" charset="0"/>
                <a:cs typeface="Gill Sans" charset="0"/>
              </a:endParaRPr>
            </a:p>
          </p:txBody>
        </p:sp>
      </p:grpSp>
      <p:grpSp>
        <p:nvGrpSpPr>
          <p:cNvPr id="48" name="Group 48"/>
          <p:cNvGrpSpPr/>
          <p:nvPr/>
        </p:nvGrpSpPr>
        <p:grpSpPr>
          <a:xfrm>
            <a:off x="2398712" y="1085596"/>
            <a:ext cx="2222501" cy="1843812"/>
            <a:chOff x="0" y="0"/>
            <a:chExt cx="2222500" cy="1843811"/>
          </a:xfrm>
        </p:grpSpPr>
        <p:sp>
          <p:nvSpPr>
            <p:cNvPr id="46" name="Shape 46"/>
            <p:cNvSpPr/>
            <p:nvPr/>
          </p:nvSpPr>
          <p:spPr>
            <a:xfrm>
              <a:off x="0" y="0"/>
              <a:ext cx="2222500" cy="24622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800"/>
                </a:spcBef>
                <a:buClr>
                  <a:srgbClr val="DD33C5"/>
                </a:buClr>
                <a:buFont typeface="Symbol"/>
                <a:defRPr sz="1800" b="0">
                  <a:uFillTx/>
                </a:defRPr>
              </a:pPr>
              <a:r>
                <a:rPr sz="1600" b="0" dirty="0">
                  <a:solidFill>
                    <a:schemeClr val="tx1"/>
                  </a:solidFill>
                  <a:uFill>
                    <a:solidFill>
                      <a:srgbClr val="DD33C5"/>
                    </a:solidFill>
                  </a:uFill>
                  <a:latin typeface="Gill Sans" charset="0"/>
                  <a:ea typeface="Gill Sans" charset="0"/>
                  <a:cs typeface="Gill Sans" charset="0"/>
                  <a:sym typeface="Symbol"/>
                </a:rPr>
                <a:t>Φ</a:t>
              </a:r>
              <a:r>
                <a:rPr sz="1600" b="0" dirty="0">
                  <a:solidFill>
                    <a:schemeClr val="tx1"/>
                  </a:solidFill>
                  <a:uFill>
                    <a:solidFill>
                      <a:srgbClr val="DD33C5"/>
                    </a:solidFill>
                  </a:uFill>
                  <a:latin typeface="Gill Sans" charset="0"/>
                  <a:ea typeface="Gill Sans" charset="0"/>
                  <a:cs typeface="Gill Sans" charset="0"/>
                </a:rPr>
                <a:t> </a:t>
              </a:r>
              <a:r>
                <a:rPr lang="en-US" sz="1600" b="0" dirty="0">
                  <a:solidFill>
                    <a:schemeClr val="tx1"/>
                  </a:solidFill>
                  <a:uFill>
                    <a:solidFill>
                      <a:srgbClr val="DD33C5"/>
                    </a:solidFill>
                  </a:uFill>
                  <a:latin typeface="Gill Sans" charset="0"/>
                  <a:ea typeface="Gill Sans" charset="0"/>
                  <a:cs typeface="Gill Sans" charset="0"/>
                </a:rPr>
                <a:t>fixed at </a:t>
              </a:r>
              <a:r>
                <a:rPr sz="1600" b="0" dirty="0">
                  <a:solidFill>
                    <a:schemeClr val="tx1"/>
                  </a:solidFill>
                  <a:uFill>
                    <a:solidFill>
                      <a:srgbClr val="DD33C5"/>
                    </a:solidFill>
                  </a:uFill>
                  <a:latin typeface="Gill Sans" charset="0"/>
                  <a:ea typeface="Gill Sans" charset="0"/>
                  <a:cs typeface="Gill Sans" charset="0"/>
                </a:rPr>
                <a:t>~ -65</a:t>
              </a:r>
              <a:r>
                <a:rPr sz="1600" b="0" baseline="35999" dirty="0">
                  <a:solidFill>
                    <a:schemeClr val="tx1"/>
                  </a:solidFill>
                  <a:uFill>
                    <a:solidFill>
                      <a:srgbClr val="DD33C5"/>
                    </a:solidFill>
                  </a:uFill>
                  <a:latin typeface="Gill Sans" charset="0"/>
                  <a:ea typeface="Gill Sans" charset="0"/>
                  <a:cs typeface="Gill Sans" charset="0"/>
                </a:rPr>
                <a:t>o</a:t>
              </a:r>
            </a:p>
          </p:txBody>
        </p:sp>
        <p:sp>
          <p:nvSpPr>
            <p:cNvPr id="47" name="Shape 47"/>
            <p:cNvSpPr/>
            <p:nvPr/>
          </p:nvSpPr>
          <p:spPr>
            <a:xfrm>
              <a:off x="900974" y="287076"/>
              <a:ext cx="400559" cy="1556735"/>
            </a:xfrm>
            <a:prstGeom prst="line">
              <a:avLst/>
            </a:prstGeom>
            <a:noFill/>
            <a:ln w="28575" cap="flat">
              <a:solidFill>
                <a:srgbClr val="DD33C5"/>
              </a:solidFill>
              <a:prstDash val="solid"/>
              <a:round/>
              <a:tailEnd type="triangle" w="med" len="med"/>
            </a:ln>
            <a:effectLst/>
          </p:spPr>
          <p:txBody>
            <a:bodyPr wrap="square" lIns="0" tIns="0" rIns="0" bIns="0" numCol="1" anchor="t">
              <a:noAutofit/>
            </a:bodyPr>
            <a:lstStyle/>
            <a:p>
              <a:pPr marL="0" marR="0" lvl="0" defTabSz="457200">
                <a:defRPr sz="1200" b="0">
                  <a:uFillTx/>
                </a:defRPr>
              </a:pPr>
              <a:endParaRPr b="0">
                <a:solidFill>
                  <a:schemeClr val="tx1"/>
                </a:solidFill>
                <a:latin typeface="Gill Sans" charset="0"/>
                <a:ea typeface="Gill Sans" charset="0"/>
                <a:cs typeface="Gill Sans" charset="0"/>
              </a:endParaRPr>
            </a:p>
          </p:txBody>
        </p:sp>
      </p:grpSp>
      <p:grpSp>
        <p:nvGrpSpPr>
          <p:cNvPr id="51" name="Group 51"/>
          <p:cNvGrpSpPr/>
          <p:nvPr/>
        </p:nvGrpSpPr>
        <p:grpSpPr>
          <a:xfrm>
            <a:off x="1335087" y="1696783"/>
            <a:ext cx="1752601" cy="1295401"/>
            <a:chOff x="0" y="0"/>
            <a:chExt cx="1752600" cy="1295400"/>
          </a:xfrm>
        </p:grpSpPr>
        <p:sp>
          <p:nvSpPr>
            <p:cNvPr id="49" name="Shape 49"/>
            <p:cNvSpPr/>
            <p:nvPr/>
          </p:nvSpPr>
          <p:spPr>
            <a:xfrm>
              <a:off x="0" y="0"/>
              <a:ext cx="1689100" cy="52322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1100"/>
                </a:spcBef>
                <a:buClr>
                  <a:srgbClr val="1E31E3"/>
                </a:buClr>
                <a:buFont typeface="Helvetica"/>
                <a:defRPr sz="1800" b="0">
                  <a:uFillTx/>
                </a:defRPr>
              </a:pPr>
              <a:r>
                <a:rPr b="0" dirty="0">
                  <a:solidFill>
                    <a:schemeClr val="tx1"/>
                  </a:solidFill>
                  <a:uFill>
                    <a:solidFill>
                      <a:srgbClr val="1E31E3"/>
                    </a:solidFill>
                  </a:uFill>
                  <a:latin typeface="Gill Sans" charset="0"/>
                  <a:ea typeface="Gill Sans" charset="0"/>
                  <a:cs typeface="Gill Sans" charset="0"/>
                </a:rPr>
                <a:t>N</a:t>
              </a:r>
              <a:r>
                <a:rPr sz="1600" b="0" dirty="0">
                  <a:solidFill>
                    <a:schemeClr val="tx1"/>
                  </a:solidFill>
                  <a:uFill>
                    <a:solidFill>
                      <a:srgbClr val="D038D9"/>
                    </a:solidFill>
                  </a:uFill>
                  <a:latin typeface="Gill Sans" charset="0"/>
                  <a:ea typeface="Gill Sans" charset="0"/>
                  <a:cs typeface="Gill Sans" charset="0"/>
                </a:rPr>
                <a:t> </a:t>
              </a:r>
              <a:r>
                <a:rPr lang="en-US" sz="1600" b="0" dirty="0">
                  <a:solidFill>
                    <a:schemeClr val="tx1"/>
                  </a:solidFill>
                  <a:uFill>
                    <a:solidFill>
                      <a:srgbClr val="D038D9"/>
                    </a:solidFill>
                  </a:uFill>
                  <a:latin typeface="Gill Sans" charset="0"/>
                  <a:ea typeface="Gill Sans" charset="0"/>
                  <a:cs typeface="Gill Sans" charset="0"/>
                </a:rPr>
                <a:t>not</a:t>
              </a:r>
              <a:r>
                <a:rPr sz="1600" b="0" dirty="0">
                  <a:solidFill>
                    <a:schemeClr val="tx1"/>
                  </a:solidFill>
                  <a:uFill>
                    <a:solidFill>
                      <a:srgbClr val="D038D9"/>
                    </a:solidFill>
                  </a:uFill>
                  <a:latin typeface="Gill Sans" charset="0"/>
                  <a:ea typeface="Gill Sans" charset="0"/>
                  <a:cs typeface="Gill Sans" charset="0"/>
                </a:rPr>
                <a:t> H-</a:t>
              </a:r>
              <a:r>
                <a:rPr lang="en-US" sz="1600" b="0" dirty="0">
                  <a:solidFill>
                    <a:schemeClr val="tx1"/>
                  </a:solidFill>
                  <a:uFill>
                    <a:solidFill>
                      <a:srgbClr val="D038D9"/>
                    </a:solidFill>
                  </a:uFill>
                  <a:latin typeface="Gill Sans" charset="0"/>
                  <a:ea typeface="Gill Sans" charset="0"/>
                  <a:cs typeface="Gill Sans" charset="0"/>
                </a:rPr>
                <a:t>bond donor</a:t>
              </a:r>
            </a:p>
          </p:txBody>
        </p:sp>
        <p:sp>
          <p:nvSpPr>
            <p:cNvPr id="50" name="Shape 50"/>
            <p:cNvSpPr/>
            <p:nvPr/>
          </p:nvSpPr>
          <p:spPr>
            <a:xfrm>
              <a:off x="1371600" y="533400"/>
              <a:ext cx="381000" cy="762000"/>
            </a:xfrm>
            <a:prstGeom prst="line">
              <a:avLst/>
            </a:prstGeom>
            <a:noFill/>
            <a:ln w="28575" cap="flat">
              <a:solidFill>
                <a:srgbClr val="D038D9"/>
              </a:solidFill>
              <a:prstDash val="solid"/>
              <a:round/>
              <a:tailEnd type="triangle" w="med" len="med"/>
            </a:ln>
            <a:effectLst/>
          </p:spPr>
          <p:txBody>
            <a:bodyPr wrap="square" lIns="0" tIns="0" rIns="0" bIns="0" numCol="1" anchor="t">
              <a:noAutofit/>
            </a:bodyPr>
            <a:lstStyle/>
            <a:p>
              <a:pPr marL="0" marR="0" lvl="0" defTabSz="457200">
                <a:defRPr sz="1200" b="0">
                  <a:uFillTx/>
                </a:defRPr>
              </a:pPr>
              <a:endParaRPr b="0">
                <a:solidFill>
                  <a:schemeClr val="tx1"/>
                </a:solidFill>
                <a:latin typeface="Gill Sans" charset="0"/>
                <a:ea typeface="Gill Sans" charset="0"/>
                <a:cs typeface="Gill Sans" charset="0"/>
              </a:endParaRPr>
            </a:p>
          </p:txBody>
        </p:sp>
      </p:grpSp>
      <p:grpSp>
        <p:nvGrpSpPr>
          <p:cNvPr id="54" name="Group 54"/>
          <p:cNvGrpSpPr/>
          <p:nvPr/>
        </p:nvGrpSpPr>
        <p:grpSpPr>
          <a:xfrm>
            <a:off x="1934638" y="3411283"/>
            <a:ext cx="2070100" cy="1619197"/>
            <a:chOff x="118538" y="0"/>
            <a:chExt cx="2070100" cy="1619196"/>
          </a:xfrm>
        </p:grpSpPr>
        <p:sp>
          <p:nvSpPr>
            <p:cNvPr id="52" name="Shape 52"/>
            <p:cNvSpPr/>
            <p:nvPr/>
          </p:nvSpPr>
          <p:spPr>
            <a:xfrm>
              <a:off x="118538" y="880532"/>
              <a:ext cx="2070100" cy="73866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900"/>
                </a:spcBef>
                <a:buClr>
                  <a:srgbClr val="DD33C5"/>
                </a:buClr>
                <a:buFont typeface="Helvetica"/>
                <a:defRPr sz="1800" b="0">
                  <a:uFillTx/>
                </a:defRPr>
              </a:pPr>
              <a:r>
                <a:rPr sz="1600" b="0" dirty="0">
                  <a:solidFill>
                    <a:schemeClr val="tx1"/>
                  </a:solidFill>
                  <a:uFill>
                    <a:solidFill>
                      <a:srgbClr val="DD33C5"/>
                    </a:solidFill>
                  </a:uFill>
                  <a:latin typeface="Gill Sans" charset="0"/>
                  <a:ea typeface="Gill Sans" charset="0"/>
                  <a:cs typeface="Gill Sans" charset="0"/>
                </a:rPr>
                <a:t>T</a:t>
              </a:r>
              <a:r>
                <a:rPr lang="en-US" sz="1600" b="0" dirty="0">
                  <a:solidFill>
                    <a:schemeClr val="tx1"/>
                  </a:solidFill>
                  <a:uFill>
                    <a:solidFill>
                      <a:srgbClr val="DD33C5"/>
                    </a:solidFill>
                  </a:uFill>
                  <a:latin typeface="Gill Sans" charset="0"/>
                  <a:ea typeface="Gill Sans" charset="0"/>
                  <a:cs typeface="Gill Sans" charset="0"/>
                </a:rPr>
                <a:t>his peptide partial double bond can be either cis or trans</a:t>
              </a:r>
            </a:p>
          </p:txBody>
        </p:sp>
        <p:sp>
          <p:nvSpPr>
            <p:cNvPr id="53" name="Shape 53"/>
            <p:cNvSpPr/>
            <p:nvPr/>
          </p:nvSpPr>
          <p:spPr>
            <a:xfrm flipV="1">
              <a:off x="762000" y="0"/>
              <a:ext cx="304800" cy="914400"/>
            </a:xfrm>
            <a:prstGeom prst="line">
              <a:avLst/>
            </a:prstGeom>
            <a:noFill/>
            <a:ln w="28575" cap="flat">
              <a:solidFill>
                <a:srgbClr val="DD33C5"/>
              </a:solidFill>
              <a:prstDash val="solid"/>
              <a:round/>
              <a:tailEnd type="triangle" w="med" len="med"/>
            </a:ln>
            <a:effectLst/>
          </p:spPr>
          <p:txBody>
            <a:bodyPr wrap="square" lIns="0" tIns="0" rIns="0" bIns="0" numCol="1" anchor="t">
              <a:noAutofit/>
            </a:bodyPr>
            <a:lstStyle/>
            <a:p>
              <a:pPr marL="0" marR="0" lvl="0" defTabSz="457200">
                <a:defRPr sz="1200" b="0">
                  <a:uFillTx/>
                </a:defRPr>
              </a:pPr>
              <a:endParaRPr b="0">
                <a:solidFill>
                  <a:schemeClr val="tx1"/>
                </a:solidFill>
                <a:latin typeface="Gill Sans" charset="0"/>
                <a:ea typeface="Gill Sans" charset="0"/>
                <a:cs typeface="Gill Sans" charset="0"/>
              </a:endParaRPr>
            </a:p>
          </p:txBody>
        </p:sp>
      </p:grpSp>
      <p:sp>
        <p:nvSpPr>
          <p:cNvPr id="56" name="Shape 56"/>
          <p:cNvSpPr/>
          <p:nvPr/>
        </p:nvSpPr>
        <p:spPr>
          <a:xfrm>
            <a:off x="2091436" y="5055870"/>
            <a:ext cx="1530851" cy="49244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900"/>
              </a:spcBef>
              <a:buClr>
                <a:srgbClr val="DD33C5"/>
              </a:buClr>
              <a:buFont typeface="Helvetica"/>
              <a:defRPr sz="1800" b="0">
                <a:uFillTx/>
              </a:defRPr>
            </a:pPr>
            <a:r>
              <a:rPr sz="1600" b="0" dirty="0">
                <a:solidFill>
                  <a:schemeClr val="tx1"/>
                </a:solidFill>
                <a:uFill>
                  <a:solidFill>
                    <a:srgbClr val="DD33C5"/>
                  </a:solidFill>
                </a:uFill>
                <a:latin typeface="Gill Sans" charset="0"/>
                <a:ea typeface="Gill Sans" charset="0"/>
                <a:cs typeface="Gill Sans" charset="0"/>
              </a:rPr>
              <a:t>A</a:t>
            </a:r>
            <a:r>
              <a:rPr lang="en-US" sz="1600" b="0" dirty="0">
                <a:solidFill>
                  <a:schemeClr val="tx1"/>
                </a:solidFill>
                <a:uFill>
                  <a:solidFill>
                    <a:srgbClr val="DD33C5"/>
                  </a:solidFill>
                </a:uFill>
                <a:latin typeface="Gill Sans" charset="0"/>
                <a:ea typeface="Gill Sans" charset="0"/>
                <a:cs typeface="Gill Sans" charset="0"/>
              </a:rPr>
              <a:t>ll other </a:t>
            </a:r>
            <a:r>
              <a:rPr sz="1600" b="0" dirty="0">
                <a:solidFill>
                  <a:schemeClr val="tx1"/>
                </a:solidFill>
                <a:uFill>
                  <a:solidFill>
                    <a:srgbClr val="DD33C5"/>
                  </a:solidFill>
                </a:uFill>
                <a:latin typeface="Gill Sans" charset="0"/>
                <a:ea typeface="Gill Sans" charset="0"/>
                <a:cs typeface="Gill Sans" charset="0"/>
              </a:rPr>
              <a:t>AA        </a:t>
            </a:r>
            <a:r>
              <a:rPr lang="en-US" sz="1600" b="0" dirty="0">
                <a:solidFill>
                  <a:schemeClr val="tx1"/>
                </a:solidFill>
                <a:uFill>
                  <a:solidFill>
                    <a:srgbClr val="DD33C5"/>
                  </a:solidFill>
                </a:uFill>
                <a:latin typeface="Gill Sans" charset="0"/>
                <a:ea typeface="Gill Sans" charset="0"/>
                <a:cs typeface="Gill Sans" charset="0"/>
              </a:rPr>
              <a:t>only trans</a:t>
            </a:r>
          </a:p>
        </p:txBody>
      </p:sp>
      <p:sp>
        <p:nvSpPr>
          <p:cNvPr id="3" name="Freeform 2">
            <a:extLst>
              <a:ext uri="{FF2B5EF4-FFF2-40B4-BE49-F238E27FC236}">
                <a16:creationId xmlns:a16="http://schemas.microsoft.com/office/drawing/2014/main" id="{7E6C958B-2840-4045-A420-4D2BC6F7B0A0}"/>
              </a:ext>
            </a:extLst>
          </p:cNvPr>
          <p:cNvSpPr/>
          <p:nvPr/>
        </p:nvSpPr>
        <p:spPr>
          <a:xfrm>
            <a:off x="7443216" y="1499616"/>
            <a:ext cx="548640" cy="689731"/>
          </a:xfrm>
          <a:custGeom>
            <a:avLst/>
            <a:gdLst>
              <a:gd name="connsiteX0" fmla="*/ 502920 w 548640"/>
              <a:gd name="connsiteY0" fmla="*/ 237744 h 689731"/>
              <a:gd name="connsiteX1" fmla="*/ 502920 w 548640"/>
              <a:gd name="connsiteY1" fmla="*/ 237744 h 689731"/>
              <a:gd name="connsiteX2" fmla="*/ 493776 w 548640"/>
              <a:gd name="connsiteY2" fmla="*/ 146304 h 689731"/>
              <a:gd name="connsiteX3" fmla="*/ 475488 w 548640"/>
              <a:gd name="connsiteY3" fmla="*/ 64008 h 689731"/>
              <a:gd name="connsiteX4" fmla="*/ 448056 w 548640"/>
              <a:gd name="connsiteY4" fmla="*/ 9144 h 689731"/>
              <a:gd name="connsiteX5" fmla="*/ 420624 w 548640"/>
              <a:gd name="connsiteY5" fmla="*/ 0 h 689731"/>
              <a:gd name="connsiteX6" fmla="*/ 283464 w 548640"/>
              <a:gd name="connsiteY6" fmla="*/ 9144 h 689731"/>
              <a:gd name="connsiteX7" fmla="*/ 246888 w 548640"/>
              <a:gd name="connsiteY7" fmla="*/ 18288 h 689731"/>
              <a:gd name="connsiteX8" fmla="*/ 228600 w 548640"/>
              <a:gd name="connsiteY8" fmla="*/ 45720 h 689731"/>
              <a:gd name="connsiteX9" fmla="*/ 201168 w 548640"/>
              <a:gd name="connsiteY9" fmla="*/ 54864 h 689731"/>
              <a:gd name="connsiteX10" fmla="*/ 173736 w 548640"/>
              <a:gd name="connsiteY10" fmla="*/ 73152 h 689731"/>
              <a:gd name="connsiteX11" fmla="*/ 137160 w 548640"/>
              <a:gd name="connsiteY11" fmla="*/ 118872 h 689731"/>
              <a:gd name="connsiteX12" fmla="*/ 128016 w 548640"/>
              <a:gd name="connsiteY12" fmla="*/ 146304 h 689731"/>
              <a:gd name="connsiteX13" fmla="*/ 109728 w 548640"/>
              <a:gd name="connsiteY13" fmla="*/ 173736 h 689731"/>
              <a:gd name="connsiteX14" fmla="*/ 91440 w 548640"/>
              <a:gd name="connsiteY14" fmla="*/ 228600 h 689731"/>
              <a:gd name="connsiteX15" fmla="*/ 64008 w 548640"/>
              <a:gd name="connsiteY15" fmla="*/ 283464 h 689731"/>
              <a:gd name="connsiteX16" fmla="*/ 45720 w 548640"/>
              <a:gd name="connsiteY16" fmla="*/ 347472 h 689731"/>
              <a:gd name="connsiteX17" fmla="*/ 27432 w 548640"/>
              <a:gd name="connsiteY17" fmla="*/ 374904 h 689731"/>
              <a:gd name="connsiteX18" fmla="*/ 18288 w 548640"/>
              <a:gd name="connsiteY18" fmla="*/ 402336 h 689731"/>
              <a:gd name="connsiteX19" fmla="*/ 0 w 548640"/>
              <a:gd name="connsiteY19" fmla="*/ 438912 h 689731"/>
              <a:gd name="connsiteX20" fmla="*/ 9144 w 548640"/>
              <a:gd name="connsiteY20" fmla="*/ 521208 h 689731"/>
              <a:gd name="connsiteX21" fmla="*/ 45720 w 548640"/>
              <a:gd name="connsiteY21" fmla="*/ 548640 h 689731"/>
              <a:gd name="connsiteX22" fmla="*/ 100584 w 548640"/>
              <a:gd name="connsiteY22" fmla="*/ 594360 h 689731"/>
              <a:gd name="connsiteX23" fmla="*/ 118872 w 548640"/>
              <a:gd name="connsiteY23" fmla="*/ 630936 h 689731"/>
              <a:gd name="connsiteX24" fmla="*/ 201168 w 548640"/>
              <a:gd name="connsiteY24" fmla="*/ 658368 h 689731"/>
              <a:gd name="connsiteX25" fmla="*/ 283464 w 548640"/>
              <a:gd name="connsiteY25" fmla="*/ 685800 h 689731"/>
              <a:gd name="connsiteX26" fmla="*/ 530352 w 548640"/>
              <a:gd name="connsiteY26" fmla="*/ 630936 h 689731"/>
              <a:gd name="connsiteX27" fmla="*/ 548640 w 548640"/>
              <a:gd name="connsiteY27" fmla="*/ 603504 h 689731"/>
              <a:gd name="connsiteX28" fmla="*/ 502920 w 548640"/>
              <a:gd name="connsiteY28" fmla="*/ 237744 h 689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48640" h="689731">
                <a:moveTo>
                  <a:pt x="502920" y="237744"/>
                </a:moveTo>
                <a:lnTo>
                  <a:pt x="502920" y="237744"/>
                </a:lnTo>
                <a:cubicBezTo>
                  <a:pt x="499872" y="207264"/>
                  <a:pt x="497824" y="176667"/>
                  <a:pt x="493776" y="146304"/>
                </a:cubicBezTo>
                <a:cubicBezTo>
                  <a:pt x="491419" y="128627"/>
                  <a:pt x="480920" y="83022"/>
                  <a:pt x="475488" y="64008"/>
                </a:cubicBezTo>
                <a:cubicBezTo>
                  <a:pt x="470580" y="46829"/>
                  <a:pt x="462899" y="21018"/>
                  <a:pt x="448056" y="9144"/>
                </a:cubicBezTo>
                <a:cubicBezTo>
                  <a:pt x="440530" y="3123"/>
                  <a:pt x="429768" y="3048"/>
                  <a:pt x="420624" y="0"/>
                </a:cubicBezTo>
                <a:cubicBezTo>
                  <a:pt x="374904" y="3048"/>
                  <a:pt x="329034" y="4347"/>
                  <a:pt x="283464" y="9144"/>
                </a:cubicBezTo>
                <a:cubicBezTo>
                  <a:pt x="270966" y="10460"/>
                  <a:pt x="257345" y="11317"/>
                  <a:pt x="246888" y="18288"/>
                </a:cubicBezTo>
                <a:cubicBezTo>
                  <a:pt x="237744" y="24384"/>
                  <a:pt x="237182" y="38855"/>
                  <a:pt x="228600" y="45720"/>
                </a:cubicBezTo>
                <a:cubicBezTo>
                  <a:pt x="221074" y="51741"/>
                  <a:pt x="209789" y="50553"/>
                  <a:pt x="201168" y="54864"/>
                </a:cubicBezTo>
                <a:cubicBezTo>
                  <a:pt x="191338" y="59779"/>
                  <a:pt x="182880" y="67056"/>
                  <a:pt x="173736" y="73152"/>
                </a:cubicBezTo>
                <a:cubicBezTo>
                  <a:pt x="150752" y="142103"/>
                  <a:pt x="184429" y="59786"/>
                  <a:pt x="137160" y="118872"/>
                </a:cubicBezTo>
                <a:cubicBezTo>
                  <a:pt x="131139" y="126398"/>
                  <a:pt x="132327" y="137683"/>
                  <a:pt x="128016" y="146304"/>
                </a:cubicBezTo>
                <a:cubicBezTo>
                  <a:pt x="123101" y="156134"/>
                  <a:pt x="114191" y="163693"/>
                  <a:pt x="109728" y="173736"/>
                </a:cubicBezTo>
                <a:cubicBezTo>
                  <a:pt x="101899" y="191352"/>
                  <a:pt x="102133" y="212560"/>
                  <a:pt x="91440" y="228600"/>
                </a:cubicBezTo>
                <a:cubicBezTo>
                  <a:pt x="71402" y="258656"/>
                  <a:pt x="73472" y="250338"/>
                  <a:pt x="64008" y="283464"/>
                </a:cubicBezTo>
                <a:cubicBezTo>
                  <a:pt x="60102" y="297136"/>
                  <a:pt x="53028" y="332856"/>
                  <a:pt x="45720" y="347472"/>
                </a:cubicBezTo>
                <a:cubicBezTo>
                  <a:pt x="40805" y="357302"/>
                  <a:pt x="32347" y="365074"/>
                  <a:pt x="27432" y="374904"/>
                </a:cubicBezTo>
                <a:cubicBezTo>
                  <a:pt x="23121" y="383525"/>
                  <a:pt x="22085" y="393477"/>
                  <a:pt x="18288" y="402336"/>
                </a:cubicBezTo>
                <a:cubicBezTo>
                  <a:pt x="12918" y="414865"/>
                  <a:pt x="6096" y="426720"/>
                  <a:pt x="0" y="438912"/>
                </a:cubicBezTo>
                <a:cubicBezTo>
                  <a:pt x="3048" y="466344"/>
                  <a:pt x="-1472" y="495730"/>
                  <a:pt x="9144" y="521208"/>
                </a:cubicBezTo>
                <a:cubicBezTo>
                  <a:pt x="15006" y="535276"/>
                  <a:pt x="34944" y="537864"/>
                  <a:pt x="45720" y="548640"/>
                </a:cubicBezTo>
                <a:cubicBezTo>
                  <a:pt x="97418" y="600338"/>
                  <a:pt x="22117" y="555126"/>
                  <a:pt x="100584" y="594360"/>
                </a:cubicBezTo>
                <a:cubicBezTo>
                  <a:pt x="106680" y="606552"/>
                  <a:pt x="107372" y="623618"/>
                  <a:pt x="118872" y="630936"/>
                </a:cubicBezTo>
                <a:cubicBezTo>
                  <a:pt x="143267" y="646460"/>
                  <a:pt x="175305" y="645436"/>
                  <a:pt x="201168" y="658368"/>
                </a:cubicBezTo>
                <a:cubicBezTo>
                  <a:pt x="251645" y="683607"/>
                  <a:pt x="224378" y="673983"/>
                  <a:pt x="283464" y="685800"/>
                </a:cubicBezTo>
                <a:cubicBezTo>
                  <a:pt x="569705" y="662901"/>
                  <a:pt x="470022" y="736514"/>
                  <a:pt x="530352" y="630936"/>
                </a:cubicBezTo>
                <a:cubicBezTo>
                  <a:pt x="535804" y="621394"/>
                  <a:pt x="542544" y="612648"/>
                  <a:pt x="548640" y="603504"/>
                </a:cubicBezTo>
                <a:cubicBezTo>
                  <a:pt x="539330" y="221786"/>
                  <a:pt x="510540" y="298704"/>
                  <a:pt x="502920" y="237744"/>
                </a:cubicBezTo>
                <a:close/>
              </a:path>
            </a:pathLst>
          </a:cu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4" name="Freeform 3">
            <a:extLst>
              <a:ext uri="{FF2B5EF4-FFF2-40B4-BE49-F238E27FC236}">
                <a16:creationId xmlns:a16="http://schemas.microsoft.com/office/drawing/2014/main" id="{820B7070-8091-DB46-95DC-A20A1A37A951}"/>
              </a:ext>
            </a:extLst>
          </p:cNvPr>
          <p:cNvSpPr/>
          <p:nvPr/>
        </p:nvSpPr>
        <p:spPr>
          <a:xfrm>
            <a:off x="1115568" y="1197864"/>
            <a:ext cx="1289304" cy="540077"/>
          </a:xfrm>
          <a:custGeom>
            <a:avLst/>
            <a:gdLst>
              <a:gd name="connsiteX0" fmla="*/ 1271016 w 1289304"/>
              <a:gd name="connsiteY0" fmla="*/ 100584 h 540077"/>
              <a:gd name="connsiteX1" fmla="*/ 1271016 w 1289304"/>
              <a:gd name="connsiteY1" fmla="*/ 100584 h 540077"/>
              <a:gd name="connsiteX2" fmla="*/ 1060704 w 1289304"/>
              <a:gd name="connsiteY2" fmla="*/ 36576 h 540077"/>
              <a:gd name="connsiteX3" fmla="*/ 1014984 w 1289304"/>
              <a:gd name="connsiteY3" fmla="*/ 18288 h 540077"/>
              <a:gd name="connsiteX4" fmla="*/ 868680 w 1289304"/>
              <a:gd name="connsiteY4" fmla="*/ 0 h 540077"/>
              <a:gd name="connsiteX5" fmla="*/ 210312 w 1289304"/>
              <a:gd name="connsiteY5" fmla="*/ 36576 h 540077"/>
              <a:gd name="connsiteX6" fmla="*/ 109728 w 1289304"/>
              <a:gd name="connsiteY6" fmla="*/ 54864 h 540077"/>
              <a:gd name="connsiteX7" fmla="*/ 82296 w 1289304"/>
              <a:gd name="connsiteY7" fmla="*/ 64008 h 540077"/>
              <a:gd name="connsiteX8" fmla="*/ 54864 w 1289304"/>
              <a:gd name="connsiteY8" fmla="*/ 100584 h 540077"/>
              <a:gd name="connsiteX9" fmla="*/ 27432 w 1289304"/>
              <a:gd name="connsiteY9" fmla="*/ 128016 h 540077"/>
              <a:gd name="connsiteX10" fmla="*/ 18288 w 1289304"/>
              <a:gd name="connsiteY10" fmla="*/ 192024 h 540077"/>
              <a:gd name="connsiteX11" fmla="*/ 0 w 1289304"/>
              <a:gd name="connsiteY11" fmla="*/ 228600 h 540077"/>
              <a:gd name="connsiteX12" fmla="*/ 9144 w 1289304"/>
              <a:gd name="connsiteY12" fmla="*/ 329184 h 540077"/>
              <a:gd name="connsiteX13" fmla="*/ 64008 w 1289304"/>
              <a:gd name="connsiteY13" fmla="*/ 365760 h 540077"/>
              <a:gd name="connsiteX14" fmla="*/ 137160 w 1289304"/>
              <a:gd name="connsiteY14" fmla="*/ 402336 h 540077"/>
              <a:gd name="connsiteX15" fmla="*/ 210312 w 1289304"/>
              <a:gd name="connsiteY15" fmla="*/ 429768 h 540077"/>
              <a:gd name="connsiteX16" fmla="*/ 228600 w 1289304"/>
              <a:gd name="connsiteY16" fmla="*/ 466344 h 540077"/>
              <a:gd name="connsiteX17" fmla="*/ 256032 w 1289304"/>
              <a:gd name="connsiteY17" fmla="*/ 475488 h 540077"/>
              <a:gd name="connsiteX18" fmla="*/ 292608 w 1289304"/>
              <a:gd name="connsiteY18" fmla="*/ 493776 h 540077"/>
              <a:gd name="connsiteX19" fmla="*/ 320040 w 1289304"/>
              <a:gd name="connsiteY19" fmla="*/ 502920 h 540077"/>
              <a:gd name="connsiteX20" fmla="*/ 356616 w 1289304"/>
              <a:gd name="connsiteY20" fmla="*/ 521208 h 540077"/>
              <a:gd name="connsiteX21" fmla="*/ 402336 w 1289304"/>
              <a:gd name="connsiteY21" fmla="*/ 530352 h 540077"/>
              <a:gd name="connsiteX22" fmla="*/ 969264 w 1289304"/>
              <a:gd name="connsiteY22" fmla="*/ 502920 h 540077"/>
              <a:gd name="connsiteX23" fmla="*/ 1014984 w 1289304"/>
              <a:gd name="connsiteY23" fmla="*/ 484632 h 540077"/>
              <a:gd name="connsiteX24" fmla="*/ 1042416 w 1289304"/>
              <a:gd name="connsiteY24" fmla="*/ 457200 h 540077"/>
              <a:gd name="connsiteX25" fmla="*/ 1097280 w 1289304"/>
              <a:gd name="connsiteY25" fmla="*/ 438912 h 540077"/>
              <a:gd name="connsiteX26" fmla="*/ 1152144 w 1289304"/>
              <a:gd name="connsiteY26" fmla="*/ 384048 h 540077"/>
              <a:gd name="connsiteX27" fmla="*/ 1243584 w 1289304"/>
              <a:gd name="connsiteY27" fmla="*/ 301752 h 540077"/>
              <a:gd name="connsiteX28" fmla="*/ 1289304 w 1289304"/>
              <a:gd name="connsiteY28" fmla="*/ 201168 h 540077"/>
              <a:gd name="connsiteX29" fmla="*/ 1271016 w 1289304"/>
              <a:gd name="connsiteY29" fmla="*/ 100584 h 540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89304" h="540077">
                <a:moveTo>
                  <a:pt x="1271016" y="100584"/>
                </a:moveTo>
                <a:lnTo>
                  <a:pt x="1271016" y="100584"/>
                </a:lnTo>
                <a:lnTo>
                  <a:pt x="1060704" y="36576"/>
                </a:lnTo>
                <a:cubicBezTo>
                  <a:pt x="1045077" y="31553"/>
                  <a:pt x="1030706" y="23005"/>
                  <a:pt x="1014984" y="18288"/>
                </a:cubicBezTo>
                <a:cubicBezTo>
                  <a:pt x="973906" y="5965"/>
                  <a:pt x="903175" y="3136"/>
                  <a:pt x="868680" y="0"/>
                </a:cubicBezTo>
                <a:lnTo>
                  <a:pt x="210312" y="36576"/>
                </a:lnTo>
                <a:cubicBezTo>
                  <a:pt x="185855" y="40652"/>
                  <a:pt x="135288" y="48474"/>
                  <a:pt x="109728" y="54864"/>
                </a:cubicBezTo>
                <a:cubicBezTo>
                  <a:pt x="100377" y="57202"/>
                  <a:pt x="91440" y="60960"/>
                  <a:pt x="82296" y="64008"/>
                </a:cubicBezTo>
                <a:cubicBezTo>
                  <a:pt x="73152" y="76200"/>
                  <a:pt x="64782" y="89013"/>
                  <a:pt x="54864" y="100584"/>
                </a:cubicBezTo>
                <a:cubicBezTo>
                  <a:pt x="46448" y="110402"/>
                  <a:pt x="32235" y="116009"/>
                  <a:pt x="27432" y="128016"/>
                </a:cubicBezTo>
                <a:cubicBezTo>
                  <a:pt x="19428" y="148027"/>
                  <a:pt x="23959" y="171231"/>
                  <a:pt x="18288" y="192024"/>
                </a:cubicBezTo>
                <a:cubicBezTo>
                  <a:pt x="14701" y="205175"/>
                  <a:pt x="6096" y="216408"/>
                  <a:pt x="0" y="228600"/>
                </a:cubicBezTo>
                <a:cubicBezTo>
                  <a:pt x="3048" y="262128"/>
                  <a:pt x="-105" y="296813"/>
                  <a:pt x="9144" y="329184"/>
                </a:cubicBezTo>
                <a:cubicBezTo>
                  <a:pt x="17398" y="358072"/>
                  <a:pt x="43683" y="356521"/>
                  <a:pt x="64008" y="365760"/>
                </a:cubicBezTo>
                <a:cubicBezTo>
                  <a:pt x="88827" y="377041"/>
                  <a:pt x="110712" y="395724"/>
                  <a:pt x="137160" y="402336"/>
                </a:cubicBezTo>
                <a:cubicBezTo>
                  <a:pt x="186960" y="414786"/>
                  <a:pt x="162496" y="405860"/>
                  <a:pt x="210312" y="429768"/>
                </a:cubicBezTo>
                <a:cubicBezTo>
                  <a:pt x="216408" y="441960"/>
                  <a:pt x="218961" y="456705"/>
                  <a:pt x="228600" y="466344"/>
                </a:cubicBezTo>
                <a:cubicBezTo>
                  <a:pt x="235416" y="473160"/>
                  <a:pt x="247173" y="471691"/>
                  <a:pt x="256032" y="475488"/>
                </a:cubicBezTo>
                <a:cubicBezTo>
                  <a:pt x="268561" y="480858"/>
                  <a:pt x="280079" y="488406"/>
                  <a:pt x="292608" y="493776"/>
                </a:cubicBezTo>
                <a:cubicBezTo>
                  <a:pt x="301467" y="497573"/>
                  <a:pt x="311181" y="499123"/>
                  <a:pt x="320040" y="502920"/>
                </a:cubicBezTo>
                <a:cubicBezTo>
                  <a:pt x="332569" y="508290"/>
                  <a:pt x="343684" y="516897"/>
                  <a:pt x="356616" y="521208"/>
                </a:cubicBezTo>
                <a:cubicBezTo>
                  <a:pt x="371360" y="526123"/>
                  <a:pt x="387096" y="527304"/>
                  <a:pt x="402336" y="530352"/>
                </a:cubicBezTo>
                <a:cubicBezTo>
                  <a:pt x="511626" y="528365"/>
                  <a:pt x="798529" y="566946"/>
                  <a:pt x="969264" y="502920"/>
                </a:cubicBezTo>
                <a:cubicBezTo>
                  <a:pt x="984633" y="497157"/>
                  <a:pt x="999744" y="490728"/>
                  <a:pt x="1014984" y="484632"/>
                </a:cubicBezTo>
                <a:cubicBezTo>
                  <a:pt x="1024128" y="475488"/>
                  <a:pt x="1031112" y="463480"/>
                  <a:pt x="1042416" y="457200"/>
                </a:cubicBezTo>
                <a:cubicBezTo>
                  <a:pt x="1059267" y="447838"/>
                  <a:pt x="1097280" y="438912"/>
                  <a:pt x="1097280" y="438912"/>
                </a:cubicBezTo>
                <a:cubicBezTo>
                  <a:pt x="1132830" y="385588"/>
                  <a:pt x="1094562" y="436395"/>
                  <a:pt x="1152144" y="384048"/>
                </a:cubicBezTo>
                <a:cubicBezTo>
                  <a:pt x="1250840" y="294324"/>
                  <a:pt x="1181242" y="343313"/>
                  <a:pt x="1243584" y="301752"/>
                </a:cubicBezTo>
                <a:cubicBezTo>
                  <a:pt x="1288781" y="233956"/>
                  <a:pt x="1275849" y="268441"/>
                  <a:pt x="1289304" y="201168"/>
                </a:cubicBezTo>
                <a:lnTo>
                  <a:pt x="1271016" y="100584"/>
                </a:lnTo>
                <a:close/>
              </a:path>
            </a:pathLst>
          </a:cu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sp>
        <p:nvSpPr>
          <p:cNvPr id="5" name="Freeform 4">
            <a:extLst>
              <a:ext uri="{FF2B5EF4-FFF2-40B4-BE49-F238E27FC236}">
                <a16:creationId xmlns:a16="http://schemas.microsoft.com/office/drawing/2014/main" id="{9106C2FD-2B68-154F-A553-F5E8661FE583}"/>
              </a:ext>
            </a:extLst>
          </p:cNvPr>
          <p:cNvSpPr/>
          <p:nvPr/>
        </p:nvSpPr>
        <p:spPr>
          <a:xfrm>
            <a:off x="1792224" y="2916679"/>
            <a:ext cx="613322" cy="1006097"/>
          </a:xfrm>
          <a:custGeom>
            <a:avLst/>
            <a:gdLst>
              <a:gd name="connsiteX0" fmla="*/ 466344 w 613322"/>
              <a:gd name="connsiteY0" fmla="*/ 82553 h 1006097"/>
              <a:gd name="connsiteX1" fmla="*/ 466344 w 613322"/>
              <a:gd name="connsiteY1" fmla="*/ 82553 h 1006097"/>
              <a:gd name="connsiteX2" fmla="*/ 420624 w 613322"/>
              <a:gd name="connsiteY2" fmla="*/ 18545 h 1006097"/>
              <a:gd name="connsiteX3" fmla="*/ 338328 w 613322"/>
              <a:gd name="connsiteY3" fmla="*/ 64265 h 1006097"/>
              <a:gd name="connsiteX4" fmla="*/ 310896 w 613322"/>
              <a:gd name="connsiteY4" fmla="*/ 119129 h 1006097"/>
              <a:gd name="connsiteX5" fmla="*/ 301752 w 613322"/>
              <a:gd name="connsiteY5" fmla="*/ 210569 h 1006097"/>
              <a:gd name="connsiteX6" fmla="*/ 320040 w 613322"/>
              <a:gd name="connsiteY6" fmla="*/ 457457 h 1006097"/>
              <a:gd name="connsiteX7" fmla="*/ 283464 w 613322"/>
              <a:gd name="connsiteY7" fmla="*/ 548897 h 1006097"/>
              <a:gd name="connsiteX8" fmla="*/ 228600 w 613322"/>
              <a:gd name="connsiteY8" fmla="*/ 567185 h 1006097"/>
              <a:gd name="connsiteX9" fmla="*/ 155448 w 613322"/>
              <a:gd name="connsiteY9" fmla="*/ 585473 h 1006097"/>
              <a:gd name="connsiteX10" fmla="*/ 118872 w 613322"/>
              <a:gd name="connsiteY10" fmla="*/ 640337 h 1006097"/>
              <a:gd name="connsiteX11" fmla="*/ 109728 w 613322"/>
              <a:gd name="connsiteY11" fmla="*/ 713489 h 1006097"/>
              <a:gd name="connsiteX12" fmla="*/ 54864 w 613322"/>
              <a:gd name="connsiteY12" fmla="*/ 750065 h 1006097"/>
              <a:gd name="connsiteX13" fmla="*/ 36576 w 613322"/>
              <a:gd name="connsiteY13" fmla="*/ 777497 h 1006097"/>
              <a:gd name="connsiteX14" fmla="*/ 9144 w 613322"/>
              <a:gd name="connsiteY14" fmla="*/ 795785 h 1006097"/>
              <a:gd name="connsiteX15" fmla="*/ 0 w 613322"/>
              <a:gd name="connsiteY15" fmla="*/ 832361 h 1006097"/>
              <a:gd name="connsiteX16" fmla="*/ 9144 w 613322"/>
              <a:gd name="connsiteY16" fmla="*/ 896369 h 1006097"/>
              <a:gd name="connsiteX17" fmla="*/ 36576 w 613322"/>
              <a:gd name="connsiteY17" fmla="*/ 905513 h 1006097"/>
              <a:gd name="connsiteX18" fmla="*/ 91440 w 613322"/>
              <a:gd name="connsiteY18" fmla="*/ 942089 h 1006097"/>
              <a:gd name="connsiteX19" fmla="*/ 109728 w 613322"/>
              <a:gd name="connsiteY19" fmla="*/ 978665 h 1006097"/>
              <a:gd name="connsiteX20" fmla="*/ 265176 w 613322"/>
              <a:gd name="connsiteY20" fmla="*/ 1006097 h 1006097"/>
              <a:gd name="connsiteX21" fmla="*/ 530352 w 613322"/>
              <a:gd name="connsiteY21" fmla="*/ 987809 h 1006097"/>
              <a:gd name="connsiteX22" fmla="*/ 585216 w 613322"/>
              <a:gd name="connsiteY22" fmla="*/ 969521 h 1006097"/>
              <a:gd name="connsiteX23" fmla="*/ 594360 w 613322"/>
              <a:gd name="connsiteY23" fmla="*/ 932945 h 1006097"/>
              <a:gd name="connsiteX24" fmla="*/ 612648 w 613322"/>
              <a:gd name="connsiteY24" fmla="*/ 896369 h 1006097"/>
              <a:gd name="connsiteX25" fmla="*/ 603504 w 613322"/>
              <a:gd name="connsiteY25" fmla="*/ 768353 h 1006097"/>
              <a:gd name="connsiteX26" fmla="*/ 585216 w 613322"/>
              <a:gd name="connsiteY26" fmla="*/ 740921 h 1006097"/>
              <a:gd name="connsiteX27" fmla="*/ 512064 w 613322"/>
              <a:gd name="connsiteY27" fmla="*/ 658625 h 1006097"/>
              <a:gd name="connsiteX28" fmla="*/ 493776 w 613322"/>
              <a:gd name="connsiteY28" fmla="*/ 530609 h 1006097"/>
              <a:gd name="connsiteX29" fmla="*/ 484632 w 613322"/>
              <a:gd name="connsiteY29" fmla="*/ 494033 h 1006097"/>
              <a:gd name="connsiteX30" fmla="*/ 466344 w 613322"/>
              <a:gd name="connsiteY30" fmla="*/ 366017 h 1006097"/>
              <a:gd name="connsiteX31" fmla="*/ 475488 w 613322"/>
              <a:gd name="connsiteY31" fmla="*/ 173993 h 1006097"/>
              <a:gd name="connsiteX32" fmla="*/ 475488 w 613322"/>
              <a:gd name="connsiteY32" fmla="*/ 18545 h 1006097"/>
              <a:gd name="connsiteX33" fmla="*/ 384048 w 613322"/>
              <a:gd name="connsiteY33" fmla="*/ 257 h 1006097"/>
              <a:gd name="connsiteX34" fmla="*/ 420624 w 613322"/>
              <a:gd name="connsiteY34" fmla="*/ 18545 h 1006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13322" h="1006097">
                <a:moveTo>
                  <a:pt x="466344" y="82553"/>
                </a:moveTo>
                <a:lnTo>
                  <a:pt x="466344" y="82553"/>
                </a:lnTo>
                <a:cubicBezTo>
                  <a:pt x="451104" y="61217"/>
                  <a:pt x="445096" y="27957"/>
                  <a:pt x="420624" y="18545"/>
                </a:cubicBezTo>
                <a:cubicBezTo>
                  <a:pt x="341386" y="-11931"/>
                  <a:pt x="354168" y="32585"/>
                  <a:pt x="338328" y="64265"/>
                </a:cubicBezTo>
                <a:cubicBezTo>
                  <a:pt x="302876" y="135169"/>
                  <a:pt x="333880" y="50178"/>
                  <a:pt x="310896" y="119129"/>
                </a:cubicBezTo>
                <a:cubicBezTo>
                  <a:pt x="307848" y="149609"/>
                  <a:pt x="301752" y="179937"/>
                  <a:pt x="301752" y="210569"/>
                </a:cubicBezTo>
                <a:cubicBezTo>
                  <a:pt x="301752" y="306644"/>
                  <a:pt x="310190" y="368807"/>
                  <a:pt x="320040" y="457457"/>
                </a:cubicBezTo>
                <a:cubicBezTo>
                  <a:pt x="312682" y="516323"/>
                  <a:pt x="329934" y="528243"/>
                  <a:pt x="283464" y="548897"/>
                </a:cubicBezTo>
                <a:cubicBezTo>
                  <a:pt x="265848" y="556726"/>
                  <a:pt x="247302" y="562510"/>
                  <a:pt x="228600" y="567185"/>
                </a:cubicBezTo>
                <a:lnTo>
                  <a:pt x="155448" y="585473"/>
                </a:lnTo>
                <a:cubicBezTo>
                  <a:pt x="143256" y="603761"/>
                  <a:pt x="121598" y="618527"/>
                  <a:pt x="118872" y="640337"/>
                </a:cubicBezTo>
                <a:cubicBezTo>
                  <a:pt x="115824" y="664721"/>
                  <a:pt x="122110" y="692263"/>
                  <a:pt x="109728" y="713489"/>
                </a:cubicBezTo>
                <a:cubicBezTo>
                  <a:pt x="98653" y="732474"/>
                  <a:pt x="54864" y="750065"/>
                  <a:pt x="54864" y="750065"/>
                </a:cubicBezTo>
                <a:cubicBezTo>
                  <a:pt x="48768" y="759209"/>
                  <a:pt x="44347" y="769726"/>
                  <a:pt x="36576" y="777497"/>
                </a:cubicBezTo>
                <a:cubicBezTo>
                  <a:pt x="28805" y="785268"/>
                  <a:pt x="15240" y="786641"/>
                  <a:pt x="9144" y="795785"/>
                </a:cubicBezTo>
                <a:cubicBezTo>
                  <a:pt x="2173" y="806242"/>
                  <a:pt x="3048" y="820169"/>
                  <a:pt x="0" y="832361"/>
                </a:cubicBezTo>
                <a:cubicBezTo>
                  <a:pt x="3048" y="853697"/>
                  <a:pt x="-495" y="877092"/>
                  <a:pt x="9144" y="896369"/>
                </a:cubicBezTo>
                <a:cubicBezTo>
                  <a:pt x="13455" y="904990"/>
                  <a:pt x="28150" y="900832"/>
                  <a:pt x="36576" y="905513"/>
                </a:cubicBezTo>
                <a:cubicBezTo>
                  <a:pt x="55789" y="916187"/>
                  <a:pt x="91440" y="942089"/>
                  <a:pt x="91440" y="942089"/>
                </a:cubicBezTo>
                <a:cubicBezTo>
                  <a:pt x="97536" y="954281"/>
                  <a:pt x="98039" y="971652"/>
                  <a:pt x="109728" y="978665"/>
                </a:cubicBezTo>
                <a:cubicBezTo>
                  <a:pt x="138117" y="995698"/>
                  <a:pt x="236459" y="1002906"/>
                  <a:pt x="265176" y="1006097"/>
                </a:cubicBezTo>
                <a:cubicBezTo>
                  <a:pt x="353568" y="1000001"/>
                  <a:pt x="442323" y="997869"/>
                  <a:pt x="530352" y="987809"/>
                </a:cubicBezTo>
                <a:cubicBezTo>
                  <a:pt x="549505" y="985620"/>
                  <a:pt x="585216" y="969521"/>
                  <a:pt x="585216" y="969521"/>
                </a:cubicBezTo>
                <a:cubicBezTo>
                  <a:pt x="588264" y="957329"/>
                  <a:pt x="589947" y="944712"/>
                  <a:pt x="594360" y="932945"/>
                </a:cubicBezTo>
                <a:cubicBezTo>
                  <a:pt x="599146" y="920182"/>
                  <a:pt x="611892" y="909979"/>
                  <a:pt x="612648" y="896369"/>
                </a:cubicBezTo>
                <a:cubicBezTo>
                  <a:pt x="615021" y="853654"/>
                  <a:pt x="610939" y="810483"/>
                  <a:pt x="603504" y="768353"/>
                </a:cubicBezTo>
                <a:cubicBezTo>
                  <a:pt x="601594" y="757531"/>
                  <a:pt x="592517" y="749135"/>
                  <a:pt x="585216" y="740921"/>
                </a:cubicBezTo>
                <a:cubicBezTo>
                  <a:pt x="501703" y="646969"/>
                  <a:pt x="553570" y="720884"/>
                  <a:pt x="512064" y="658625"/>
                </a:cubicBezTo>
                <a:cubicBezTo>
                  <a:pt x="505968" y="615953"/>
                  <a:pt x="500862" y="573128"/>
                  <a:pt x="493776" y="530609"/>
                </a:cubicBezTo>
                <a:cubicBezTo>
                  <a:pt x="491710" y="518213"/>
                  <a:pt x="486698" y="506429"/>
                  <a:pt x="484632" y="494033"/>
                </a:cubicBezTo>
                <a:cubicBezTo>
                  <a:pt x="477546" y="451514"/>
                  <a:pt x="472440" y="408689"/>
                  <a:pt x="466344" y="366017"/>
                </a:cubicBezTo>
                <a:cubicBezTo>
                  <a:pt x="469392" y="302009"/>
                  <a:pt x="470573" y="237885"/>
                  <a:pt x="475488" y="173993"/>
                </a:cubicBezTo>
                <a:cubicBezTo>
                  <a:pt x="480169" y="113146"/>
                  <a:pt x="513462" y="94493"/>
                  <a:pt x="475488" y="18545"/>
                </a:cubicBezTo>
                <a:cubicBezTo>
                  <a:pt x="464416" y="-3598"/>
                  <a:pt x="404889" y="257"/>
                  <a:pt x="384048" y="257"/>
                </a:cubicBezTo>
                <a:lnTo>
                  <a:pt x="420624" y="18545"/>
                </a:lnTo>
              </a:path>
            </a:pathLst>
          </a:cu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28" name="Freeform 27">
            <a:extLst>
              <a:ext uri="{FF2B5EF4-FFF2-40B4-BE49-F238E27FC236}">
                <a16:creationId xmlns:a16="http://schemas.microsoft.com/office/drawing/2014/main" id="{F7E8B719-7ECA-EC49-8DCF-B93C38040855}"/>
              </a:ext>
            </a:extLst>
          </p:cNvPr>
          <p:cNvSpPr/>
          <p:nvPr/>
        </p:nvSpPr>
        <p:spPr>
          <a:xfrm>
            <a:off x="1095253" y="4292218"/>
            <a:ext cx="613322" cy="1006097"/>
          </a:xfrm>
          <a:custGeom>
            <a:avLst/>
            <a:gdLst>
              <a:gd name="connsiteX0" fmla="*/ 466344 w 613322"/>
              <a:gd name="connsiteY0" fmla="*/ 82553 h 1006097"/>
              <a:gd name="connsiteX1" fmla="*/ 466344 w 613322"/>
              <a:gd name="connsiteY1" fmla="*/ 82553 h 1006097"/>
              <a:gd name="connsiteX2" fmla="*/ 420624 w 613322"/>
              <a:gd name="connsiteY2" fmla="*/ 18545 h 1006097"/>
              <a:gd name="connsiteX3" fmla="*/ 338328 w 613322"/>
              <a:gd name="connsiteY3" fmla="*/ 64265 h 1006097"/>
              <a:gd name="connsiteX4" fmla="*/ 310896 w 613322"/>
              <a:gd name="connsiteY4" fmla="*/ 119129 h 1006097"/>
              <a:gd name="connsiteX5" fmla="*/ 301752 w 613322"/>
              <a:gd name="connsiteY5" fmla="*/ 210569 h 1006097"/>
              <a:gd name="connsiteX6" fmla="*/ 320040 w 613322"/>
              <a:gd name="connsiteY6" fmla="*/ 457457 h 1006097"/>
              <a:gd name="connsiteX7" fmla="*/ 283464 w 613322"/>
              <a:gd name="connsiteY7" fmla="*/ 548897 h 1006097"/>
              <a:gd name="connsiteX8" fmla="*/ 228600 w 613322"/>
              <a:gd name="connsiteY8" fmla="*/ 567185 h 1006097"/>
              <a:gd name="connsiteX9" fmla="*/ 155448 w 613322"/>
              <a:gd name="connsiteY9" fmla="*/ 585473 h 1006097"/>
              <a:gd name="connsiteX10" fmla="*/ 118872 w 613322"/>
              <a:gd name="connsiteY10" fmla="*/ 640337 h 1006097"/>
              <a:gd name="connsiteX11" fmla="*/ 109728 w 613322"/>
              <a:gd name="connsiteY11" fmla="*/ 713489 h 1006097"/>
              <a:gd name="connsiteX12" fmla="*/ 54864 w 613322"/>
              <a:gd name="connsiteY12" fmla="*/ 750065 h 1006097"/>
              <a:gd name="connsiteX13" fmla="*/ 36576 w 613322"/>
              <a:gd name="connsiteY13" fmla="*/ 777497 h 1006097"/>
              <a:gd name="connsiteX14" fmla="*/ 9144 w 613322"/>
              <a:gd name="connsiteY14" fmla="*/ 795785 h 1006097"/>
              <a:gd name="connsiteX15" fmla="*/ 0 w 613322"/>
              <a:gd name="connsiteY15" fmla="*/ 832361 h 1006097"/>
              <a:gd name="connsiteX16" fmla="*/ 9144 w 613322"/>
              <a:gd name="connsiteY16" fmla="*/ 896369 h 1006097"/>
              <a:gd name="connsiteX17" fmla="*/ 36576 w 613322"/>
              <a:gd name="connsiteY17" fmla="*/ 905513 h 1006097"/>
              <a:gd name="connsiteX18" fmla="*/ 91440 w 613322"/>
              <a:gd name="connsiteY18" fmla="*/ 942089 h 1006097"/>
              <a:gd name="connsiteX19" fmla="*/ 109728 w 613322"/>
              <a:gd name="connsiteY19" fmla="*/ 978665 h 1006097"/>
              <a:gd name="connsiteX20" fmla="*/ 265176 w 613322"/>
              <a:gd name="connsiteY20" fmla="*/ 1006097 h 1006097"/>
              <a:gd name="connsiteX21" fmla="*/ 530352 w 613322"/>
              <a:gd name="connsiteY21" fmla="*/ 987809 h 1006097"/>
              <a:gd name="connsiteX22" fmla="*/ 585216 w 613322"/>
              <a:gd name="connsiteY22" fmla="*/ 969521 h 1006097"/>
              <a:gd name="connsiteX23" fmla="*/ 594360 w 613322"/>
              <a:gd name="connsiteY23" fmla="*/ 932945 h 1006097"/>
              <a:gd name="connsiteX24" fmla="*/ 612648 w 613322"/>
              <a:gd name="connsiteY24" fmla="*/ 896369 h 1006097"/>
              <a:gd name="connsiteX25" fmla="*/ 603504 w 613322"/>
              <a:gd name="connsiteY25" fmla="*/ 768353 h 1006097"/>
              <a:gd name="connsiteX26" fmla="*/ 585216 w 613322"/>
              <a:gd name="connsiteY26" fmla="*/ 740921 h 1006097"/>
              <a:gd name="connsiteX27" fmla="*/ 512064 w 613322"/>
              <a:gd name="connsiteY27" fmla="*/ 658625 h 1006097"/>
              <a:gd name="connsiteX28" fmla="*/ 493776 w 613322"/>
              <a:gd name="connsiteY28" fmla="*/ 530609 h 1006097"/>
              <a:gd name="connsiteX29" fmla="*/ 484632 w 613322"/>
              <a:gd name="connsiteY29" fmla="*/ 494033 h 1006097"/>
              <a:gd name="connsiteX30" fmla="*/ 466344 w 613322"/>
              <a:gd name="connsiteY30" fmla="*/ 366017 h 1006097"/>
              <a:gd name="connsiteX31" fmla="*/ 475488 w 613322"/>
              <a:gd name="connsiteY31" fmla="*/ 173993 h 1006097"/>
              <a:gd name="connsiteX32" fmla="*/ 475488 w 613322"/>
              <a:gd name="connsiteY32" fmla="*/ 18545 h 1006097"/>
              <a:gd name="connsiteX33" fmla="*/ 384048 w 613322"/>
              <a:gd name="connsiteY33" fmla="*/ 257 h 1006097"/>
              <a:gd name="connsiteX34" fmla="*/ 420624 w 613322"/>
              <a:gd name="connsiteY34" fmla="*/ 18545 h 1006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13322" h="1006097">
                <a:moveTo>
                  <a:pt x="466344" y="82553"/>
                </a:moveTo>
                <a:lnTo>
                  <a:pt x="466344" y="82553"/>
                </a:lnTo>
                <a:cubicBezTo>
                  <a:pt x="451104" y="61217"/>
                  <a:pt x="445096" y="27957"/>
                  <a:pt x="420624" y="18545"/>
                </a:cubicBezTo>
                <a:cubicBezTo>
                  <a:pt x="341386" y="-11931"/>
                  <a:pt x="354168" y="32585"/>
                  <a:pt x="338328" y="64265"/>
                </a:cubicBezTo>
                <a:cubicBezTo>
                  <a:pt x="302876" y="135169"/>
                  <a:pt x="333880" y="50178"/>
                  <a:pt x="310896" y="119129"/>
                </a:cubicBezTo>
                <a:cubicBezTo>
                  <a:pt x="307848" y="149609"/>
                  <a:pt x="301752" y="179937"/>
                  <a:pt x="301752" y="210569"/>
                </a:cubicBezTo>
                <a:cubicBezTo>
                  <a:pt x="301752" y="306644"/>
                  <a:pt x="310190" y="368807"/>
                  <a:pt x="320040" y="457457"/>
                </a:cubicBezTo>
                <a:cubicBezTo>
                  <a:pt x="312682" y="516323"/>
                  <a:pt x="329934" y="528243"/>
                  <a:pt x="283464" y="548897"/>
                </a:cubicBezTo>
                <a:cubicBezTo>
                  <a:pt x="265848" y="556726"/>
                  <a:pt x="247302" y="562510"/>
                  <a:pt x="228600" y="567185"/>
                </a:cubicBezTo>
                <a:lnTo>
                  <a:pt x="155448" y="585473"/>
                </a:lnTo>
                <a:cubicBezTo>
                  <a:pt x="143256" y="603761"/>
                  <a:pt x="121598" y="618527"/>
                  <a:pt x="118872" y="640337"/>
                </a:cubicBezTo>
                <a:cubicBezTo>
                  <a:pt x="115824" y="664721"/>
                  <a:pt x="122110" y="692263"/>
                  <a:pt x="109728" y="713489"/>
                </a:cubicBezTo>
                <a:cubicBezTo>
                  <a:pt x="98653" y="732474"/>
                  <a:pt x="54864" y="750065"/>
                  <a:pt x="54864" y="750065"/>
                </a:cubicBezTo>
                <a:cubicBezTo>
                  <a:pt x="48768" y="759209"/>
                  <a:pt x="44347" y="769726"/>
                  <a:pt x="36576" y="777497"/>
                </a:cubicBezTo>
                <a:cubicBezTo>
                  <a:pt x="28805" y="785268"/>
                  <a:pt x="15240" y="786641"/>
                  <a:pt x="9144" y="795785"/>
                </a:cubicBezTo>
                <a:cubicBezTo>
                  <a:pt x="2173" y="806242"/>
                  <a:pt x="3048" y="820169"/>
                  <a:pt x="0" y="832361"/>
                </a:cubicBezTo>
                <a:cubicBezTo>
                  <a:pt x="3048" y="853697"/>
                  <a:pt x="-495" y="877092"/>
                  <a:pt x="9144" y="896369"/>
                </a:cubicBezTo>
                <a:cubicBezTo>
                  <a:pt x="13455" y="904990"/>
                  <a:pt x="28150" y="900832"/>
                  <a:pt x="36576" y="905513"/>
                </a:cubicBezTo>
                <a:cubicBezTo>
                  <a:pt x="55789" y="916187"/>
                  <a:pt x="91440" y="942089"/>
                  <a:pt x="91440" y="942089"/>
                </a:cubicBezTo>
                <a:cubicBezTo>
                  <a:pt x="97536" y="954281"/>
                  <a:pt x="98039" y="971652"/>
                  <a:pt x="109728" y="978665"/>
                </a:cubicBezTo>
                <a:cubicBezTo>
                  <a:pt x="138117" y="995698"/>
                  <a:pt x="236459" y="1002906"/>
                  <a:pt x="265176" y="1006097"/>
                </a:cubicBezTo>
                <a:cubicBezTo>
                  <a:pt x="353568" y="1000001"/>
                  <a:pt x="442323" y="997869"/>
                  <a:pt x="530352" y="987809"/>
                </a:cubicBezTo>
                <a:cubicBezTo>
                  <a:pt x="549505" y="985620"/>
                  <a:pt x="585216" y="969521"/>
                  <a:pt x="585216" y="969521"/>
                </a:cubicBezTo>
                <a:cubicBezTo>
                  <a:pt x="588264" y="957329"/>
                  <a:pt x="589947" y="944712"/>
                  <a:pt x="594360" y="932945"/>
                </a:cubicBezTo>
                <a:cubicBezTo>
                  <a:pt x="599146" y="920182"/>
                  <a:pt x="611892" y="909979"/>
                  <a:pt x="612648" y="896369"/>
                </a:cubicBezTo>
                <a:cubicBezTo>
                  <a:pt x="615021" y="853654"/>
                  <a:pt x="610939" y="810483"/>
                  <a:pt x="603504" y="768353"/>
                </a:cubicBezTo>
                <a:cubicBezTo>
                  <a:pt x="601594" y="757531"/>
                  <a:pt x="592517" y="749135"/>
                  <a:pt x="585216" y="740921"/>
                </a:cubicBezTo>
                <a:cubicBezTo>
                  <a:pt x="501703" y="646969"/>
                  <a:pt x="553570" y="720884"/>
                  <a:pt x="512064" y="658625"/>
                </a:cubicBezTo>
                <a:cubicBezTo>
                  <a:pt x="505968" y="615953"/>
                  <a:pt x="500862" y="573128"/>
                  <a:pt x="493776" y="530609"/>
                </a:cubicBezTo>
                <a:cubicBezTo>
                  <a:pt x="491710" y="518213"/>
                  <a:pt x="486698" y="506429"/>
                  <a:pt x="484632" y="494033"/>
                </a:cubicBezTo>
                <a:cubicBezTo>
                  <a:pt x="477546" y="451514"/>
                  <a:pt x="472440" y="408689"/>
                  <a:pt x="466344" y="366017"/>
                </a:cubicBezTo>
                <a:cubicBezTo>
                  <a:pt x="469392" y="302009"/>
                  <a:pt x="470573" y="237885"/>
                  <a:pt x="475488" y="173993"/>
                </a:cubicBezTo>
                <a:cubicBezTo>
                  <a:pt x="480169" y="113146"/>
                  <a:pt x="513462" y="94493"/>
                  <a:pt x="475488" y="18545"/>
                </a:cubicBezTo>
                <a:cubicBezTo>
                  <a:pt x="464416" y="-3598"/>
                  <a:pt x="404889" y="257"/>
                  <a:pt x="384048" y="257"/>
                </a:cubicBezTo>
                <a:lnTo>
                  <a:pt x="420624" y="18545"/>
                </a:lnTo>
              </a:path>
            </a:pathLst>
          </a:cu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29" name="Freeform 28">
            <a:extLst>
              <a:ext uri="{FF2B5EF4-FFF2-40B4-BE49-F238E27FC236}">
                <a16:creationId xmlns:a16="http://schemas.microsoft.com/office/drawing/2014/main" id="{BD5ABDE0-D4C4-B54B-BDDD-E985BC884D64}"/>
              </a:ext>
            </a:extLst>
          </p:cNvPr>
          <p:cNvSpPr/>
          <p:nvPr/>
        </p:nvSpPr>
        <p:spPr>
          <a:xfrm>
            <a:off x="4304015" y="2189347"/>
            <a:ext cx="515762" cy="985781"/>
          </a:xfrm>
          <a:custGeom>
            <a:avLst/>
            <a:gdLst>
              <a:gd name="connsiteX0" fmla="*/ 466344 w 613322"/>
              <a:gd name="connsiteY0" fmla="*/ 82553 h 1006097"/>
              <a:gd name="connsiteX1" fmla="*/ 466344 w 613322"/>
              <a:gd name="connsiteY1" fmla="*/ 82553 h 1006097"/>
              <a:gd name="connsiteX2" fmla="*/ 420624 w 613322"/>
              <a:gd name="connsiteY2" fmla="*/ 18545 h 1006097"/>
              <a:gd name="connsiteX3" fmla="*/ 338328 w 613322"/>
              <a:gd name="connsiteY3" fmla="*/ 64265 h 1006097"/>
              <a:gd name="connsiteX4" fmla="*/ 310896 w 613322"/>
              <a:gd name="connsiteY4" fmla="*/ 119129 h 1006097"/>
              <a:gd name="connsiteX5" fmla="*/ 301752 w 613322"/>
              <a:gd name="connsiteY5" fmla="*/ 210569 h 1006097"/>
              <a:gd name="connsiteX6" fmla="*/ 320040 w 613322"/>
              <a:gd name="connsiteY6" fmla="*/ 457457 h 1006097"/>
              <a:gd name="connsiteX7" fmla="*/ 283464 w 613322"/>
              <a:gd name="connsiteY7" fmla="*/ 548897 h 1006097"/>
              <a:gd name="connsiteX8" fmla="*/ 228600 w 613322"/>
              <a:gd name="connsiteY8" fmla="*/ 567185 h 1006097"/>
              <a:gd name="connsiteX9" fmla="*/ 155448 w 613322"/>
              <a:gd name="connsiteY9" fmla="*/ 585473 h 1006097"/>
              <a:gd name="connsiteX10" fmla="*/ 118872 w 613322"/>
              <a:gd name="connsiteY10" fmla="*/ 640337 h 1006097"/>
              <a:gd name="connsiteX11" fmla="*/ 109728 w 613322"/>
              <a:gd name="connsiteY11" fmla="*/ 713489 h 1006097"/>
              <a:gd name="connsiteX12" fmla="*/ 54864 w 613322"/>
              <a:gd name="connsiteY12" fmla="*/ 750065 h 1006097"/>
              <a:gd name="connsiteX13" fmla="*/ 36576 w 613322"/>
              <a:gd name="connsiteY13" fmla="*/ 777497 h 1006097"/>
              <a:gd name="connsiteX14" fmla="*/ 9144 w 613322"/>
              <a:gd name="connsiteY14" fmla="*/ 795785 h 1006097"/>
              <a:gd name="connsiteX15" fmla="*/ 0 w 613322"/>
              <a:gd name="connsiteY15" fmla="*/ 832361 h 1006097"/>
              <a:gd name="connsiteX16" fmla="*/ 9144 w 613322"/>
              <a:gd name="connsiteY16" fmla="*/ 896369 h 1006097"/>
              <a:gd name="connsiteX17" fmla="*/ 36576 w 613322"/>
              <a:gd name="connsiteY17" fmla="*/ 905513 h 1006097"/>
              <a:gd name="connsiteX18" fmla="*/ 91440 w 613322"/>
              <a:gd name="connsiteY18" fmla="*/ 942089 h 1006097"/>
              <a:gd name="connsiteX19" fmla="*/ 109728 w 613322"/>
              <a:gd name="connsiteY19" fmla="*/ 978665 h 1006097"/>
              <a:gd name="connsiteX20" fmla="*/ 265176 w 613322"/>
              <a:gd name="connsiteY20" fmla="*/ 1006097 h 1006097"/>
              <a:gd name="connsiteX21" fmla="*/ 530352 w 613322"/>
              <a:gd name="connsiteY21" fmla="*/ 987809 h 1006097"/>
              <a:gd name="connsiteX22" fmla="*/ 585216 w 613322"/>
              <a:gd name="connsiteY22" fmla="*/ 969521 h 1006097"/>
              <a:gd name="connsiteX23" fmla="*/ 594360 w 613322"/>
              <a:gd name="connsiteY23" fmla="*/ 932945 h 1006097"/>
              <a:gd name="connsiteX24" fmla="*/ 612648 w 613322"/>
              <a:gd name="connsiteY24" fmla="*/ 896369 h 1006097"/>
              <a:gd name="connsiteX25" fmla="*/ 603504 w 613322"/>
              <a:gd name="connsiteY25" fmla="*/ 768353 h 1006097"/>
              <a:gd name="connsiteX26" fmla="*/ 585216 w 613322"/>
              <a:gd name="connsiteY26" fmla="*/ 740921 h 1006097"/>
              <a:gd name="connsiteX27" fmla="*/ 512064 w 613322"/>
              <a:gd name="connsiteY27" fmla="*/ 658625 h 1006097"/>
              <a:gd name="connsiteX28" fmla="*/ 493776 w 613322"/>
              <a:gd name="connsiteY28" fmla="*/ 530609 h 1006097"/>
              <a:gd name="connsiteX29" fmla="*/ 484632 w 613322"/>
              <a:gd name="connsiteY29" fmla="*/ 494033 h 1006097"/>
              <a:gd name="connsiteX30" fmla="*/ 466344 w 613322"/>
              <a:gd name="connsiteY30" fmla="*/ 366017 h 1006097"/>
              <a:gd name="connsiteX31" fmla="*/ 475488 w 613322"/>
              <a:gd name="connsiteY31" fmla="*/ 173993 h 1006097"/>
              <a:gd name="connsiteX32" fmla="*/ 475488 w 613322"/>
              <a:gd name="connsiteY32" fmla="*/ 18545 h 1006097"/>
              <a:gd name="connsiteX33" fmla="*/ 384048 w 613322"/>
              <a:gd name="connsiteY33" fmla="*/ 257 h 1006097"/>
              <a:gd name="connsiteX34" fmla="*/ 420624 w 613322"/>
              <a:gd name="connsiteY34" fmla="*/ 18545 h 1006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13322" h="1006097">
                <a:moveTo>
                  <a:pt x="466344" y="82553"/>
                </a:moveTo>
                <a:lnTo>
                  <a:pt x="466344" y="82553"/>
                </a:lnTo>
                <a:cubicBezTo>
                  <a:pt x="451104" y="61217"/>
                  <a:pt x="445096" y="27957"/>
                  <a:pt x="420624" y="18545"/>
                </a:cubicBezTo>
                <a:cubicBezTo>
                  <a:pt x="341386" y="-11931"/>
                  <a:pt x="354168" y="32585"/>
                  <a:pt x="338328" y="64265"/>
                </a:cubicBezTo>
                <a:cubicBezTo>
                  <a:pt x="302876" y="135169"/>
                  <a:pt x="333880" y="50178"/>
                  <a:pt x="310896" y="119129"/>
                </a:cubicBezTo>
                <a:cubicBezTo>
                  <a:pt x="307848" y="149609"/>
                  <a:pt x="301752" y="179937"/>
                  <a:pt x="301752" y="210569"/>
                </a:cubicBezTo>
                <a:cubicBezTo>
                  <a:pt x="301752" y="306644"/>
                  <a:pt x="310190" y="368807"/>
                  <a:pt x="320040" y="457457"/>
                </a:cubicBezTo>
                <a:cubicBezTo>
                  <a:pt x="312682" y="516323"/>
                  <a:pt x="329934" y="528243"/>
                  <a:pt x="283464" y="548897"/>
                </a:cubicBezTo>
                <a:cubicBezTo>
                  <a:pt x="265848" y="556726"/>
                  <a:pt x="247302" y="562510"/>
                  <a:pt x="228600" y="567185"/>
                </a:cubicBezTo>
                <a:lnTo>
                  <a:pt x="155448" y="585473"/>
                </a:lnTo>
                <a:cubicBezTo>
                  <a:pt x="143256" y="603761"/>
                  <a:pt x="121598" y="618527"/>
                  <a:pt x="118872" y="640337"/>
                </a:cubicBezTo>
                <a:cubicBezTo>
                  <a:pt x="115824" y="664721"/>
                  <a:pt x="122110" y="692263"/>
                  <a:pt x="109728" y="713489"/>
                </a:cubicBezTo>
                <a:cubicBezTo>
                  <a:pt x="98653" y="732474"/>
                  <a:pt x="54864" y="750065"/>
                  <a:pt x="54864" y="750065"/>
                </a:cubicBezTo>
                <a:cubicBezTo>
                  <a:pt x="48768" y="759209"/>
                  <a:pt x="44347" y="769726"/>
                  <a:pt x="36576" y="777497"/>
                </a:cubicBezTo>
                <a:cubicBezTo>
                  <a:pt x="28805" y="785268"/>
                  <a:pt x="15240" y="786641"/>
                  <a:pt x="9144" y="795785"/>
                </a:cubicBezTo>
                <a:cubicBezTo>
                  <a:pt x="2173" y="806242"/>
                  <a:pt x="3048" y="820169"/>
                  <a:pt x="0" y="832361"/>
                </a:cubicBezTo>
                <a:cubicBezTo>
                  <a:pt x="3048" y="853697"/>
                  <a:pt x="-495" y="877092"/>
                  <a:pt x="9144" y="896369"/>
                </a:cubicBezTo>
                <a:cubicBezTo>
                  <a:pt x="13455" y="904990"/>
                  <a:pt x="28150" y="900832"/>
                  <a:pt x="36576" y="905513"/>
                </a:cubicBezTo>
                <a:cubicBezTo>
                  <a:pt x="55789" y="916187"/>
                  <a:pt x="91440" y="942089"/>
                  <a:pt x="91440" y="942089"/>
                </a:cubicBezTo>
                <a:cubicBezTo>
                  <a:pt x="97536" y="954281"/>
                  <a:pt x="98039" y="971652"/>
                  <a:pt x="109728" y="978665"/>
                </a:cubicBezTo>
                <a:cubicBezTo>
                  <a:pt x="138117" y="995698"/>
                  <a:pt x="236459" y="1002906"/>
                  <a:pt x="265176" y="1006097"/>
                </a:cubicBezTo>
                <a:cubicBezTo>
                  <a:pt x="353568" y="1000001"/>
                  <a:pt x="442323" y="997869"/>
                  <a:pt x="530352" y="987809"/>
                </a:cubicBezTo>
                <a:cubicBezTo>
                  <a:pt x="549505" y="985620"/>
                  <a:pt x="585216" y="969521"/>
                  <a:pt x="585216" y="969521"/>
                </a:cubicBezTo>
                <a:cubicBezTo>
                  <a:pt x="588264" y="957329"/>
                  <a:pt x="589947" y="944712"/>
                  <a:pt x="594360" y="932945"/>
                </a:cubicBezTo>
                <a:cubicBezTo>
                  <a:pt x="599146" y="920182"/>
                  <a:pt x="611892" y="909979"/>
                  <a:pt x="612648" y="896369"/>
                </a:cubicBezTo>
                <a:cubicBezTo>
                  <a:pt x="615021" y="853654"/>
                  <a:pt x="610939" y="810483"/>
                  <a:pt x="603504" y="768353"/>
                </a:cubicBezTo>
                <a:cubicBezTo>
                  <a:pt x="601594" y="757531"/>
                  <a:pt x="592517" y="749135"/>
                  <a:pt x="585216" y="740921"/>
                </a:cubicBezTo>
                <a:cubicBezTo>
                  <a:pt x="501703" y="646969"/>
                  <a:pt x="553570" y="720884"/>
                  <a:pt x="512064" y="658625"/>
                </a:cubicBezTo>
                <a:cubicBezTo>
                  <a:pt x="505968" y="615953"/>
                  <a:pt x="500862" y="573128"/>
                  <a:pt x="493776" y="530609"/>
                </a:cubicBezTo>
                <a:cubicBezTo>
                  <a:pt x="491710" y="518213"/>
                  <a:pt x="486698" y="506429"/>
                  <a:pt x="484632" y="494033"/>
                </a:cubicBezTo>
                <a:cubicBezTo>
                  <a:pt x="477546" y="451514"/>
                  <a:pt x="472440" y="408689"/>
                  <a:pt x="466344" y="366017"/>
                </a:cubicBezTo>
                <a:cubicBezTo>
                  <a:pt x="469392" y="302009"/>
                  <a:pt x="470573" y="237885"/>
                  <a:pt x="475488" y="173993"/>
                </a:cubicBezTo>
                <a:cubicBezTo>
                  <a:pt x="480169" y="113146"/>
                  <a:pt x="513462" y="94493"/>
                  <a:pt x="475488" y="18545"/>
                </a:cubicBezTo>
                <a:cubicBezTo>
                  <a:pt x="464416" y="-3598"/>
                  <a:pt x="404889" y="257"/>
                  <a:pt x="384048" y="257"/>
                </a:cubicBezTo>
                <a:lnTo>
                  <a:pt x="420624" y="18545"/>
                </a:lnTo>
              </a:path>
            </a:pathLst>
          </a:cu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55" name="Shape 55"/>
          <p:cNvSpPr/>
          <p:nvPr/>
        </p:nvSpPr>
        <p:spPr>
          <a:xfrm>
            <a:off x="4384013" y="2557569"/>
            <a:ext cx="698500" cy="430887"/>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1400"/>
              </a:spcBef>
              <a:buClr>
                <a:srgbClr val="000000"/>
              </a:buClr>
              <a:buFont typeface="Symbol"/>
              <a:defRPr sz="2800" b="0">
                <a:latin typeface="Symbol"/>
                <a:ea typeface="Symbol"/>
                <a:cs typeface="Symbol"/>
                <a:sym typeface="Symbol"/>
              </a:defRPr>
            </a:lvl1pPr>
          </a:lstStyle>
          <a:p>
            <a:pPr lvl="0">
              <a:defRPr sz="1800">
                <a:uFillTx/>
              </a:defRPr>
            </a:pPr>
            <a:r>
              <a:rPr sz="2800" dirty="0">
                <a:solidFill>
                  <a:schemeClr val="tx1"/>
                </a:solidFill>
                <a:uFill>
                  <a:solidFill/>
                </a:uFill>
                <a:latin typeface="Gill Sans" charset="0"/>
                <a:ea typeface="Gill Sans" charset="0"/>
                <a:cs typeface="Gill Sans" charset="0"/>
              </a:rPr>
              <a:t>α</a:t>
            </a:r>
          </a:p>
        </p:txBody>
      </p:sp>
    </p:spTree>
    <p:extLst>
      <p:ext uri="{BB962C8B-B14F-4D97-AF65-F5344CB8AC3E}">
        <p14:creationId xmlns:p14="http://schemas.microsoft.com/office/powerpoint/2010/main" val="547854004"/>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dvAuto="0"/>
      <p:bldP spid="48" grpId="0" advAuto="0"/>
      <p:bldP spid="51" grpId="0" advAuto="0"/>
      <p:bldP spid="54" grpId="0" advAuto="0"/>
      <p:bldP spid="5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381000" y="609600"/>
            <a:ext cx="8229600" cy="1143000"/>
          </a:xfrm>
        </p:spPr>
        <p:txBody>
          <a:bodyPr>
            <a:normAutofit fontScale="90000"/>
          </a:bodyPr>
          <a:lstStyle/>
          <a:p>
            <a:pPr eaLnBrk="1" hangingPunct="1"/>
            <a:r>
              <a:rPr lang="en-US" i="1">
                <a:solidFill>
                  <a:srgbClr val="0000FF"/>
                </a:solidFill>
                <a:latin typeface="Calibri" charset="0"/>
                <a:ea typeface="ＭＳ Ｐゴシック" charset="0"/>
                <a:cs typeface="ＭＳ Ｐゴシック" charset="0"/>
              </a:rPr>
              <a:t>cis</a:t>
            </a:r>
            <a:r>
              <a:rPr lang="en-US">
                <a:solidFill>
                  <a:srgbClr val="0000FF"/>
                </a:solidFill>
                <a:latin typeface="Calibri" charset="0"/>
                <a:ea typeface="ＭＳ Ｐゴシック" charset="0"/>
                <a:cs typeface="ＭＳ Ｐゴシック" charset="0"/>
              </a:rPr>
              <a:t> and </a:t>
            </a:r>
            <a:r>
              <a:rPr lang="en-US" i="1">
                <a:solidFill>
                  <a:srgbClr val="0000FF"/>
                </a:solidFill>
                <a:latin typeface="Calibri" charset="0"/>
                <a:ea typeface="ＭＳ Ｐゴシック" charset="0"/>
                <a:cs typeface="ＭＳ Ｐゴシック" charset="0"/>
              </a:rPr>
              <a:t>trans </a:t>
            </a:r>
            <a:r>
              <a:rPr lang="en-US">
                <a:solidFill>
                  <a:srgbClr val="0000FF"/>
                </a:solidFill>
                <a:latin typeface="Calibri" charset="0"/>
                <a:ea typeface="ＭＳ Ｐゴシック" charset="0"/>
                <a:cs typeface="ＭＳ Ｐゴシック" charset="0"/>
              </a:rPr>
              <a:t>isomers </a:t>
            </a:r>
            <a:br>
              <a:rPr lang="en-US">
                <a:solidFill>
                  <a:srgbClr val="0000FF"/>
                </a:solidFill>
                <a:latin typeface="Calibri" charset="0"/>
                <a:ea typeface="ＭＳ Ｐゴシック" charset="0"/>
                <a:cs typeface="ＭＳ Ｐゴシック" charset="0"/>
              </a:rPr>
            </a:br>
            <a:r>
              <a:rPr lang="en-US">
                <a:solidFill>
                  <a:srgbClr val="0000FF"/>
                </a:solidFill>
                <a:latin typeface="Calibri" charset="0"/>
                <a:ea typeface="ＭＳ Ｐゴシック" charset="0"/>
                <a:cs typeface="ＭＳ Ｐゴシック" charset="0"/>
              </a:rPr>
              <a:t>of the X-Pro</a:t>
            </a:r>
            <a:r>
              <a:rPr lang="en-US" i="1">
                <a:solidFill>
                  <a:srgbClr val="0000FF"/>
                </a:solidFill>
                <a:latin typeface="Calibri" charset="0"/>
                <a:ea typeface="ＭＳ Ｐゴシック" charset="0"/>
                <a:cs typeface="ＭＳ Ｐゴシック" charset="0"/>
              </a:rPr>
              <a:t> </a:t>
            </a:r>
            <a:r>
              <a:rPr lang="en-US">
                <a:solidFill>
                  <a:srgbClr val="0000FF"/>
                </a:solidFill>
                <a:latin typeface="Calibri" charset="0"/>
                <a:ea typeface="ＭＳ Ｐゴシック" charset="0"/>
                <a:cs typeface="ＭＳ Ｐゴシック" charset="0"/>
              </a:rPr>
              <a:t>peptide bond</a:t>
            </a:r>
          </a:p>
        </p:txBody>
      </p:sp>
      <p:sp>
        <p:nvSpPr>
          <p:cNvPr id="9" name="Rectangle 8"/>
          <p:cNvSpPr/>
          <p:nvPr/>
        </p:nvSpPr>
        <p:spPr>
          <a:xfrm>
            <a:off x="838200" y="2667000"/>
            <a:ext cx="7391400" cy="3200400"/>
          </a:xfrm>
          <a:prstGeom prst="rect">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914400" fontAlgn="base">
              <a:spcBef>
                <a:spcPct val="0"/>
              </a:spcBef>
              <a:spcAft>
                <a:spcPct val="0"/>
              </a:spcAft>
              <a:defRPr/>
            </a:pPr>
            <a:endParaRPr lang="en-US" sz="9600">
              <a:solidFill>
                <a:prstClr val="white"/>
              </a:solidFill>
              <a:latin typeface="Calibri"/>
            </a:endParaRPr>
          </a:p>
        </p:txBody>
      </p:sp>
      <p:sp>
        <p:nvSpPr>
          <p:cNvPr id="102404" name="TextBox 6"/>
          <p:cNvSpPr txBox="1">
            <a:spLocks noChangeArrowheads="1"/>
          </p:cNvSpPr>
          <p:nvPr/>
        </p:nvSpPr>
        <p:spPr bwMode="auto">
          <a:xfrm>
            <a:off x="5334000" y="5029200"/>
            <a:ext cx="1198563" cy="585788"/>
          </a:xfrm>
          <a:prstGeom prst="rect">
            <a:avLst/>
          </a:prstGeom>
          <a:solidFill>
            <a:srgbClr val="00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9600">
                <a:solidFill>
                  <a:schemeClr val="tx1"/>
                </a:solidFill>
                <a:latin typeface="Arial" charset="0"/>
                <a:ea typeface="ＭＳ Ｐゴシック" charset="0"/>
                <a:cs typeface="ＭＳ Ｐゴシック" charset="0"/>
              </a:defRPr>
            </a:lvl1pPr>
            <a:lvl2pPr marL="37931725" indent="-37474525" eaLnBrk="0" hangingPunct="0">
              <a:defRPr sz="9600">
                <a:solidFill>
                  <a:schemeClr val="tx1"/>
                </a:solidFill>
                <a:latin typeface="Arial" charset="0"/>
                <a:ea typeface="ＭＳ Ｐゴシック" charset="0"/>
              </a:defRPr>
            </a:lvl2pPr>
            <a:lvl3pPr eaLnBrk="0" hangingPunct="0">
              <a:defRPr sz="9600">
                <a:solidFill>
                  <a:schemeClr val="tx1"/>
                </a:solidFill>
                <a:latin typeface="Arial" charset="0"/>
                <a:ea typeface="ＭＳ Ｐゴシック" charset="0"/>
              </a:defRPr>
            </a:lvl3pPr>
            <a:lvl4pPr eaLnBrk="0" hangingPunct="0">
              <a:defRPr sz="9600">
                <a:solidFill>
                  <a:schemeClr val="tx1"/>
                </a:solidFill>
                <a:latin typeface="Arial" charset="0"/>
                <a:ea typeface="ＭＳ Ｐゴシック" charset="0"/>
              </a:defRPr>
            </a:lvl4pPr>
            <a:lvl5pPr eaLnBrk="0" hangingPunct="0">
              <a:defRPr sz="9600">
                <a:solidFill>
                  <a:schemeClr val="tx1"/>
                </a:solidFill>
                <a:latin typeface="Arial" charset="0"/>
                <a:ea typeface="ＭＳ Ｐゴシック" charset="0"/>
              </a:defRPr>
            </a:lvl5pPr>
            <a:lvl6pPr marL="457200" eaLnBrk="0" fontAlgn="base" hangingPunct="0">
              <a:spcBef>
                <a:spcPct val="0"/>
              </a:spcBef>
              <a:spcAft>
                <a:spcPct val="0"/>
              </a:spcAft>
              <a:defRPr sz="9600">
                <a:solidFill>
                  <a:schemeClr val="tx1"/>
                </a:solidFill>
                <a:latin typeface="Arial" charset="0"/>
                <a:ea typeface="ＭＳ Ｐゴシック" charset="0"/>
              </a:defRPr>
            </a:lvl6pPr>
            <a:lvl7pPr marL="914400" eaLnBrk="0" fontAlgn="base" hangingPunct="0">
              <a:spcBef>
                <a:spcPct val="0"/>
              </a:spcBef>
              <a:spcAft>
                <a:spcPct val="0"/>
              </a:spcAft>
              <a:defRPr sz="9600">
                <a:solidFill>
                  <a:schemeClr val="tx1"/>
                </a:solidFill>
                <a:latin typeface="Arial" charset="0"/>
                <a:ea typeface="ＭＳ Ｐゴシック" charset="0"/>
              </a:defRPr>
            </a:lvl7pPr>
            <a:lvl8pPr marL="1371600" eaLnBrk="0" fontAlgn="base" hangingPunct="0">
              <a:spcBef>
                <a:spcPct val="0"/>
              </a:spcBef>
              <a:spcAft>
                <a:spcPct val="0"/>
              </a:spcAft>
              <a:defRPr sz="9600">
                <a:solidFill>
                  <a:schemeClr val="tx1"/>
                </a:solidFill>
                <a:latin typeface="Arial" charset="0"/>
                <a:ea typeface="ＭＳ Ｐゴシック" charset="0"/>
              </a:defRPr>
            </a:lvl8pPr>
            <a:lvl9pPr marL="1828800" eaLnBrk="0" fontAlgn="base" hangingPunct="0">
              <a:spcBef>
                <a:spcPct val="0"/>
              </a:spcBef>
              <a:spcAft>
                <a:spcPct val="0"/>
              </a:spcAft>
              <a:defRPr sz="9600">
                <a:solidFill>
                  <a:schemeClr val="tx1"/>
                </a:solidFill>
                <a:latin typeface="Arial" charset="0"/>
                <a:ea typeface="ＭＳ Ｐゴシック" charset="0"/>
              </a:defRPr>
            </a:lvl9pPr>
          </a:lstStyle>
          <a:p>
            <a:pPr defTabSz="914400" eaLnBrk="1" fontAlgn="base" hangingPunct="1">
              <a:spcBef>
                <a:spcPct val="0"/>
              </a:spcBef>
              <a:spcAft>
                <a:spcPct val="0"/>
              </a:spcAft>
            </a:pPr>
            <a:r>
              <a:rPr lang="en-US" sz="3200" i="1">
                <a:solidFill>
                  <a:srgbClr val="FFFFFF"/>
                </a:solidFill>
              </a:rPr>
              <a:t>trans</a:t>
            </a:r>
          </a:p>
        </p:txBody>
      </p:sp>
      <p:pic>
        <p:nvPicPr>
          <p:cNvPr id="102405" name="Content Placeholder 3" descr="cis_anyAA"/>
          <p:cNvPicPr>
            <a:picLocks noGrp="1" noChangeAspect="1"/>
          </p:cNvPicPr>
          <p:nvPr>
            <p:ph idx="1"/>
          </p:nvPr>
        </p:nvPicPr>
        <p:blipFill>
          <a:blip r:embed="rId3">
            <a:extLst>
              <a:ext uri="{28A0092B-C50C-407E-A947-70E740481C1C}">
                <a14:useLocalDpi xmlns:a14="http://schemas.microsoft.com/office/drawing/2010/main" val="0"/>
              </a:ext>
            </a:extLst>
          </a:blip>
          <a:srcRect l="25519" t="9657" r="30827" b="42516"/>
          <a:stretch>
            <a:fillRect/>
          </a:stretch>
        </p:blipFill>
        <p:spPr>
          <a:xfrm>
            <a:off x="1143000" y="2971800"/>
            <a:ext cx="2362200" cy="1885950"/>
          </a:xfrm>
        </p:spPr>
      </p:pic>
      <p:sp>
        <p:nvSpPr>
          <p:cNvPr id="102406" name="TextBox 5"/>
          <p:cNvSpPr txBox="1">
            <a:spLocks noChangeArrowheads="1"/>
          </p:cNvSpPr>
          <p:nvPr/>
        </p:nvSpPr>
        <p:spPr bwMode="auto">
          <a:xfrm>
            <a:off x="1905000" y="5029200"/>
            <a:ext cx="785813" cy="584200"/>
          </a:xfrm>
          <a:prstGeom prst="rect">
            <a:avLst/>
          </a:prstGeom>
          <a:solidFill>
            <a:srgbClr val="00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9600">
                <a:solidFill>
                  <a:schemeClr val="tx1"/>
                </a:solidFill>
                <a:latin typeface="Arial" charset="0"/>
                <a:ea typeface="ＭＳ Ｐゴシック" charset="0"/>
                <a:cs typeface="ＭＳ Ｐゴシック" charset="0"/>
              </a:defRPr>
            </a:lvl1pPr>
            <a:lvl2pPr marL="37931725" indent="-37474525" eaLnBrk="0" hangingPunct="0">
              <a:defRPr sz="9600">
                <a:solidFill>
                  <a:schemeClr val="tx1"/>
                </a:solidFill>
                <a:latin typeface="Arial" charset="0"/>
                <a:ea typeface="ＭＳ Ｐゴシック" charset="0"/>
              </a:defRPr>
            </a:lvl2pPr>
            <a:lvl3pPr eaLnBrk="0" hangingPunct="0">
              <a:defRPr sz="9600">
                <a:solidFill>
                  <a:schemeClr val="tx1"/>
                </a:solidFill>
                <a:latin typeface="Arial" charset="0"/>
                <a:ea typeface="ＭＳ Ｐゴシック" charset="0"/>
              </a:defRPr>
            </a:lvl3pPr>
            <a:lvl4pPr eaLnBrk="0" hangingPunct="0">
              <a:defRPr sz="9600">
                <a:solidFill>
                  <a:schemeClr val="tx1"/>
                </a:solidFill>
                <a:latin typeface="Arial" charset="0"/>
                <a:ea typeface="ＭＳ Ｐゴシック" charset="0"/>
              </a:defRPr>
            </a:lvl4pPr>
            <a:lvl5pPr eaLnBrk="0" hangingPunct="0">
              <a:defRPr sz="9600">
                <a:solidFill>
                  <a:schemeClr val="tx1"/>
                </a:solidFill>
                <a:latin typeface="Arial" charset="0"/>
                <a:ea typeface="ＭＳ Ｐゴシック" charset="0"/>
              </a:defRPr>
            </a:lvl5pPr>
            <a:lvl6pPr marL="457200" eaLnBrk="0" fontAlgn="base" hangingPunct="0">
              <a:spcBef>
                <a:spcPct val="0"/>
              </a:spcBef>
              <a:spcAft>
                <a:spcPct val="0"/>
              </a:spcAft>
              <a:defRPr sz="9600">
                <a:solidFill>
                  <a:schemeClr val="tx1"/>
                </a:solidFill>
                <a:latin typeface="Arial" charset="0"/>
                <a:ea typeface="ＭＳ Ｐゴシック" charset="0"/>
              </a:defRPr>
            </a:lvl6pPr>
            <a:lvl7pPr marL="914400" eaLnBrk="0" fontAlgn="base" hangingPunct="0">
              <a:spcBef>
                <a:spcPct val="0"/>
              </a:spcBef>
              <a:spcAft>
                <a:spcPct val="0"/>
              </a:spcAft>
              <a:defRPr sz="9600">
                <a:solidFill>
                  <a:schemeClr val="tx1"/>
                </a:solidFill>
                <a:latin typeface="Arial" charset="0"/>
                <a:ea typeface="ＭＳ Ｐゴシック" charset="0"/>
              </a:defRPr>
            </a:lvl7pPr>
            <a:lvl8pPr marL="1371600" eaLnBrk="0" fontAlgn="base" hangingPunct="0">
              <a:spcBef>
                <a:spcPct val="0"/>
              </a:spcBef>
              <a:spcAft>
                <a:spcPct val="0"/>
              </a:spcAft>
              <a:defRPr sz="9600">
                <a:solidFill>
                  <a:schemeClr val="tx1"/>
                </a:solidFill>
                <a:latin typeface="Arial" charset="0"/>
                <a:ea typeface="ＭＳ Ｐゴシック" charset="0"/>
              </a:defRPr>
            </a:lvl8pPr>
            <a:lvl9pPr marL="1828800" eaLnBrk="0" fontAlgn="base" hangingPunct="0">
              <a:spcBef>
                <a:spcPct val="0"/>
              </a:spcBef>
              <a:spcAft>
                <a:spcPct val="0"/>
              </a:spcAft>
              <a:defRPr sz="9600">
                <a:solidFill>
                  <a:schemeClr val="tx1"/>
                </a:solidFill>
                <a:latin typeface="Arial" charset="0"/>
                <a:ea typeface="ＭＳ Ｐゴシック" charset="0"/>
              </a:defRPr>
            </a:lvl9pPr>
          </a:lstStyle>
          <a:p>
            <a:pPr defTabSz="914400" eaLnBrk="1" fontAlgn="base" hangingPunct="1">
              <a:spcBef>
                <a:spcPct val="0"/>
              </a:spcBef>
              <a:spcAft>
                <a:spcPct val="0"/>
              </a:spcAft>
            </a:pPr>
            <a:r>
              <a:rPr lang="en-US" sz="3200" i="1">
                <a:solidFill>
                  <a:srgbClr val="FFFFFF"/>
                </a:solidFill>
              </a:rPr>
              <a:t>cis</a:t>
            </a:r>
          </a:p>
        </p:txBody>
      </p:sp>
      <p:pic>
        <p:nvPicPr>
          <p:cNvPr id="102407" name="Picture 4" descr="trans_anyAA"/>
          <p:cNvPicPr>
            <a:picLocks noChangeAspect="1"/>
          </p:cNvPicPr>
          <p:nvPr/>
        </p:nvPicPr>
        <p:blipFill>
          <a:blip r:embed="rId4">
            <a:extLst>
              <a:ext uri="{28A0092B-C50C-407E-A947-70E740481C1C}">
                <a14:useLocalDpi xmlns:a14="http://schemas.microsoft.com/office/drawing/2010/main" val="0"/>
              </a:ext>
            </a:extLst>
          </a:blip>
          <a:srcRect l="25909" t="27629" r="33261" b="17657"/>
          <a:stretch>
            <a:fillRect/>
          </a:stretch>
        </p:blipFill>
        <p:spPr bwMode="auto">
          <a:xfrm>
            <a:off x="4876800" y="3048000"/>
            <a:ext cx="2128838" cy="2081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2" name="Group 13"/>
          <p:cNvGrpSpPr>
            <a:grpSpLocks/>
          </p:cNvGrpSpPr>
          <p:nvPr/>
        </p:nvGrpSpPr>
        <p:grpSpPr bwMode="auto">
          <a:xfrm>
            <a:off x="2668588" y="3048000"/>
            <a:ext cx="1544637" cy="1681163"/>
            <a:chOff x="2668588" y="3048000"/>
            <a:chExt cx="1544637" cy="1680865"/>
          </a:xfrm>
        </p:grpSpPr>
        <p:sp>
          <p:nvSpPr>
            <p:cNvPr id="8" name="Regular Pentagon 7"/>
            <p:cNvSpPr/>
            <p:nvPr/>
          </p:nvSpPr>
          <p:spPr>
            <a:xfrm rot="3532994">
              <a:off x="2633012" y="3137541"/>
              <a:ext cx="1615789" cy="1544637"/>
            </a:xfrm>
            <a:prstGeom prst="pentagon">
              <a:avLst/>
            </a:prstGeom>
          </p:spPr>
          <p:style>
            <a:lnRef idx="1">
              <a:schemeClr val="accent1"/>
            </a:lnRef>
            <a:fillRef idx="3">
              <a:schemeClr val="accent1"/>
            </a:fillRef>
            <a:effectRef idx="2">
              <a:schemeClr val="accent1"/>
            </a:effectRef>
            <a:fontRef idx="minor">
              <a:schemeClr val="lt1"/>
            </a:fontRef>
          </p:style>
          <p:txBody>
            <a:bodyPr anchor="ctr"/>
            <a:lstStyle/>
            <a:p>
              <a:pPr algn="ctr" defTabSz="914400" fontAlgn="base">
                <a:spcBef>
                  <a:spcPct val="0"/>
                </a:spcBef>
                <a:spcAft>
                  <a:spcPct val="0"/>
                </a:spcAft>
                <a:defRPr/>
              </a:pPr>
              <a:endParaRPr lang="en-US" sz="9600" dirty="0">
                <a:solidFill>
                  <a:prstClr val="white"/>
                </a:solidFill>
                <a:latin typeface="Calibri"/>
              </a:endParaRPr>
            </a:p>
          </p:txBody>
        </p:sp>
        <p:sp>
          <p:nvSpPr>
            <p:cNvPr id="102418" name="TextBox 10"/>
            <p:cNvSpPr txBox="1">
              <a:spLocks noChangeArrowheads="1"/>
            </p:cNvSpPr>
            <p:nvPr/>
          </p:nvSpPr>
          <p:spPr bwMode="auto">
            <a:xfrm>
              <a:off x="3044460" y="3048000"/>
              <a:ext cx="355987"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9600">
                  <a:solidFill>
                    <a:schemeClr val="tx1"/>
                  </a:solidFill>
                  <a:latin typeface="Arial" charset="0"/>
                  <a:ea typeface="ＭＳ Ｐゴシック" charset="0"/>
                  <a:cs typeface="ＭＳ Ｐゴシック" charset="0"/>
                </a:defRPr>
              </a:lvl1pPr>
              <a:lvl2pPr marL="37931725" indent="-37474525" eaLnBrk="0" hangingPunct="0">
                <a:defRPr sz="9600">
                  <a:solidFill>
                    <a:schemeClr val="tx1"/>
                  </a:solidFill>
                  <a:latin typeface="Arial" charset="0"/>
                  <a:ea typeface="ＭＳ Ｐゴシック" charset="0"/>
                </a:defRPr>
              </a:lvl2pPr>
              <a:lvl3pPr eaLnBrk="0" hangingPunct="0">
                <a:defRPr sz="9600">
                  <a:solidFill>
                    <a:schemeClr val="tx1"/>
                  </a:solidFill>
                  <a:latin typeface="Arial" charset="0"/>
                  <a:ea typeface="ＭＳ Ｐゴシック" charset="0"/>
                </a:defRPr>
              </a:lvl3pPr>
              <a:lvl4pPr eaLnBrk="0" hangingPunct="0">
                <a:defRPr sz="9600">
                  <a:solidFill>
                    <a:schemeClr val="tx1"/>
                  </a:solidFill>
                  <a:latin typeface="Arial" charset="0"/>
                  <a:ea typeface="ＭＳ Ｐゴシック" charset="0"/>
                </a:defRPr>
              </a:lvl4pPr>
              <a:lvl5pPr eaLnBrk="0" hangingPunct="0">
                <a:defRPr sz="9600">
                  <a:solidFill>
                    <a:schemeClr val="tx1"/>
                  </a:solidFill>
                  <a:latin typeface="Arial" charset="0"/>
                  <a:ea typeface="ＭＳ Ｐゴシック" charset="0"/>
                </a:defRPr>
              </a:lvl5pPr>
              <a:lvl6pPr marL="457200" eaLnBrk="0" fontAlgn="base" hangingPunct="0">
                <a:spcBef>
                  <a:spcPct val="0"/>
                </a:spcBef>
                <a:spcAft>
                  <a:spcPct val="0"/>
                </a:spcAft>
                <a:defRPr sz="9600">
                  <a:solidFill>
                    <a:schemeClr val="tx1"/>
                  </a:solidFill>
                  <a:latin typeface="Arial" charset="0"/>
                  <a:ea typeface="ＭＳ Ｐゴシック" charset="0"/>
                </a:defRPr>
              </a:lvl6pPr>
              <a:lvl7pPr marL="914400" eaLnBrk="0" fontAlgn="base" hangingPunct="0">
                <a:spcBef>
                  <a:spcPct val="0"/>
                </a:spcBef>
                <a:spcAft>
                  <a:spcPct val="0"/>
                </a:spcAft>
                <a:defRPr sz="9600">
                  <a:solidFill>
                    <a:schemeClr val="tx1"/>
                  </a:solidFill>
                  <a:latin typeface="Arial" charset="0"/>
                  <a:ea typeface="ＭＳ Ｐゴシック" charset="0"/>
                </a:defRPr>
              </a:lvl7pPr>
              <a:lvl8pPr marL="1371600" eaLnBrk="0" fontAlgn="base" hangingPunct="0">
                <a:spcBef>
                  <a:spcPct val="0"/>
                </a:spcBef>
                <a:spcAft>
                  <a:spcPct val="0"/>
                </a:spcAft>
                <a:defRPr sz="9600">
                  <a:solidFill>
                    <a:schemeClr val="tx1"/>
                  </a:solidFill>
                  <a:latin typeface="Arial" charset="0"/>
                  <a:ea typeface="ＭＳ Ｐゴシック" charset="0"/>
                </a:defRPr>
              </a:lvl8pPr>
              <a:lvl9pPr marL="1828800" eaLnBrk="0" fontAlgn="base" hangingPunct="0">
                <a:spcBef>
                  <a:spcPct val="0"/>
                </a:spcBef>
                <a:spcAft>
                  <a:spcPct val="0"/>
                </a:spcAft>
                <a:defRPr sz="9600">
                  <a:solidFill>
                    <a:schemeClr val="tx1"/>
                  </a:solidFill>
                  <a:latin typeface="Arial" charset="0"/>
                  <a:ea typeface="ＭＳ Ｐゴシック" charset="0"/>
                </a:defRPr>
              </a:lvl9pPr>
            </a:lstStyle>
            <a:p>
              <a:pPr defTabSz="914400" eaLnBrk="1" fontAlgn="base" hangingPunct="1">
                <a:spcBef>
                  <a:spcPct val="0"/>
                </a:spcBef>
                <a:spcAft>
                  <a:spcPct val="0"/>
                </a:spcAft>
              </a:pPr>
              <a:r>
                <a:rPr lang="en-US" sz="2400">
                  <a:solidFill>
                    <a:srgbClr val="000000"/>
                  </a:solidFill>
                </a:rPr>
                <a:t>δ</a:t>
              </a:r>
            </a:p>
          </p:txBody>
        </p:sp>
        <p:sp>
          <p:nvSpPr>
            <p:cNvPr id="102419" name="TextBox 12"/>
            <p:cNvSpPr txBox="1">
              <a:spLocks noChangeArrowheads="1"/>
            </p:cNvSpPr>
            <p:nvPr/>
          </p:nvSpPr>
          <p:spPr bwMode="auto">
            <a:xfrm>
              <a:off x="2895600" y="4267200"/>
              <a:ext cx="362599"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9600">
                  <a:solidFill>
                    <a:schemeClr val="tx1"/>
                  </a:solidFill>
                  <a:latin typeface="Arial" charset="0"/>
                  <a:ea typeface="ＭＳ Ｐゴシック" charset="0"/>
                  <a:cs typeface="ＭＳ Ｐゴシック" charset="0"/>
                </a:defRPr>
              </a:lvl1pPr>
              <a:lvl2pPr marL="37931725" indent="-37474525" eaLnBrk="0" hangingPunct="0">
                <a:defRPr sz="9600">
                  <a:solidFill>
                    <a:schemeClr val="tx1"/>
                  </a:solidFill>
                  <a:latin typeface="Arial" charset="0"/>
                  <a:ea typeface="ＭＳ Ｐゴシック" charset="0"/>
                </a:defRPr>
              </a:lvl2pPr>
              <a:lvl3pPr eaLnBrk="0" hangingPunct="0">
                <a:defRPr sz="9600">
                  <a:solidFill>
                    <a:schemeClr val="tx1"/>
                  </a:solidFill>
                  <a:latin typeface="Arial" charset="0"/>
                  <a:ea typeface="ＭＳ Ｐゴシック" charset="0"/>
                </a:defRPr>
              </a:lvl3pPr>
              <a:lvl4pPr eaLnBrk="0" hangingPunct="0">
                <a:defRPr sz="9600">
                  <a:solidFill>
                    <a:schemeClr val="tx1"/>
                  </a:solidFill>
                  <a:latin typeface="Arial" charset="0"/>
                  <a:ea typeface="ＭＳ Ｐゴシック" charset="0"/>
                </a:defRPr>
              </a:lvl4pPr>
              <a:lvl5pPr eaLnBrk="0" hangingPunct="0">
                <a:defRPr sz="9600">
                  <a:solidFill>
                    <a:schemeClr val="tx1"/>
                  </a:solidFill>
                  <a:latin typeface="Arial" charset="0"/>
                  <a:ea typeface="ＭＳ Ｐゴシック" charset="0"/>
                </a:defRPr>
              </a:lvl5pPr>
              <a:lvl6pPr marL="457200" eaLnBrk="0" fontAlgn="base" hangingPunct="0">
                <a:spcBef>
                  <a:spcPct val="0"/>
                </a:spcBef>
                <a:spcAft>
                  <a:spcPct val="0"/>
                </a:spcAft>
                <a:defRPr sz="9600">
                  <a:solidFill>
                    <a:schemeClr val="tx1"/>
                  </a:solidFill>
                  <a:latin typeface="Arial" charset="0"/>
                  <a:ea typeface="ＭＳ Ｐゴシック" charset="0"/>
                </a:defRPr>
              </a:lvl6pPr>
              <a:lvl7pPr marL="914400" eaLnBrk="0" fontAlgn="base" hangingPunct="0">
                <a:spcBef>
                  <a:spcPct val="0"/>
                </a:spcBef>
                <a:spcAft>
                  <a:spcPct val="0"/>
                </a:spcAft>
                <a:defRPr sz="9600">
                  <a:solidFill>
                    <a:schemeClr val="tx1"/>
                  </a:solidFill>
                  <a:latin typeface="Arial" charset="0"/>
                  <a:ea typeface="ＭＳ Ｐゴシック" charset="0"/>
                </a:defRPr>
              </a:lvl7pPr>
              <a:lvl8pPr marL="1371600" eaLnBrk="0" fontAlgn="base" hangingPunct="0">
                <a:spcBef>
                  <a:spcPct val="0"/>
                </a:spcBef>
                <a:spcAft>
                  <a:spcPct val="0"/>
                </a:spcAft>
                <a:defRPr sz="9600">
                  <a:solidFill>
                    <a:schemeClr val="tx1"/>
                  </a:solidFill>
                  <a:latin typeface="Arial" charset="0"/>
                  <a:ea typeface="ＭＳ Ｐゴシック" charset="0"/>
                </a:defRPr>
              </a:lvl8pPr>
              <a:lvl9pPr marL="1828800" eaLnBrk="0" fontAlgn="base" hangingPunct="0">
                <a:spcBef>
                  <a:spcPct val="0"/>
                </a:spcBef>
                <a:spcAft>
                  <a:spcPct val="0"/>
                </a:spcAft>
                <a:defRPr sz="9600">
                  <a:solidFill>
                    <a:schemeClr val="tx1"/>
                  </a:solidFill>
                  <a:latin typeface="Arial" charset="0"/>
                  <a:ea typeface="ＭＳ Ｐゴシック" charset="0"/>
                </a:defRPr>
              </a:lvl9pPr>
            </a:lstStyle>
            <a:p>
              <a:pPr defTabSz="914400" eaLnBrk="1" fontAlgn="base" hangingPunct="1">
                <a:spcBef>
                  <a:spcPct val="0"/>
                </a:spcBef>
                <a:spcAft>
                  <a:spcPct val="0"/>
                </a:spcAft>
              </a:pPr>
              <a:r>
                <a:rPr lang="en-US" sz="2400">
                  <a:solidFill>
                    <a:srgbClr val="000000"/>
                  </a:solidFill>
                </a:rPr>
                <a:t>α</a:t>
              </a:r>
            </a:p>
          </p:txBody>
        </p:sp>
      </p:grpSp>
      <p:grpSp>
        <p:nvGrpSpPr>
          <p:cNvPr id="3" name="Group 15"/>
          <p:cNvGrpSpPr>
            <a:grpSpLocks/>
          </p:cNvGrpSpPr>
          <p:nvPr/>
        </p:nvGrpSpPr>
        <p:grpSpPr bwMode="auto">
          <a:xfrm>
            <a:off x="6288088" y="3048000"/>
            <a:ext cx="1544637" cy="1752600"/>
            <a:chOff x="6288088" y="3048000"/>
            <a:chExt cx="1544637" cy="1752600"/>
          </a:xfrm>
        </p:grpSpPr>
        <p:sp>
          <p:nvSpPr>
            <p:cNvPr id="10" name="Regular Pentagon 9"/>
            <p:cNvSpPr/>
            <p:nvPr/>
          </p:nvSpPr>
          <p:spPr>
            <a:xfrm rot="2761179">
              <a:off x="6252369" y="3088482"/>
              <a:ext cx="1616075" cy="1544637"/>
            </a:xfrm>
            <a:prstGeom prst="pentagon">
              <a:avLst/>
            </a:prstGeom>
          </p:spPr>
          <p:style>
            <a:lnRef idx="1">
              <a:schemeClr val="accent1"/>
            </a:lnRef>
            <a:fillRef idx="3">
              <a:schemeClr val="accent1"/>
            </a:fillRef>
            <a:effectRef idx="2">
              <a:schemeClr val="accent1"/>
            </a:effectRef>
            <a:fontRef idx="minor">
              <a:schemeClr val="lt1"/>
            </a:fontRef>
          </p:style>
          <p:txBody>
            <a:bodyPr anchor="ctr"/>
            <a:lstStyle/>
            <a:p>
              <a:pPr algn="ctr" defTabSz="914400" fontAlgn="base">
                <a:spcBef>
                  <a:spcPct val="0"/>
                </a:spcBef>
                <a:spcAft>
                  <a:spcPct val="0"/>
                </a:spcAft>
                <a:defRPr/>
              </a:pPr>
              <a:endParaRPr lang="en-US" sz="9600">
                <a:solidFill>
                  <a:prstClr val="white"/>
                </a:solidFill>
                <a:latin typeface="Calibri"/>
              </a:endParaRPr>
            </a:p>
          </p:txBody>
        </p:sp>
        <p:sp>
          <p:nvSpPr>
            <p:cNvPr id="102415" name="TextBox 11"/>
            <p:cNvSpPr txBox="1">
              <a:spLocks noChangeArrowheads="1"/>
            </p:cNvSpPr>
            <p:nvPr/>
          </p:nvSpPr>
          <p:spPr bwMode="auto">
            <a:xfrm>
              <a:off x="6694055" y="4338935"/>
              <a:ext cx="355987"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9600">
                  <a:solidFill>
                    <a:schemeClr val="tx1"/>
                  </a:solidFill>
                  <a:latin typeface="Arial" charset="0"/>
                  <a:ea typeface="ＭＳ Ｐゴシック" charset="0"/>
                  <a:cs typeface="ＭＳ Ｐゴシック" charset="0"/>
                </a:defRPr>
              </a:lvl1pPr>
              <a:lvl2pPr marL="37931725" indent="-37474525" eaLnBrk="0" hangingPunct="0">
                <a:defRPr sz="9600">
                  <a:solidFill>
                    <a:schemeClr val="tx1"/>
                  </a:solidFill>
                  <a:latin typeface="Arial" charset="0"/>
                  <a:ea typeface="ＭＳ Ｐゴシック" charset="0"/>
                </a:defRPr>
              </a:lvl2pPr>
              <a:lvl3pPr eaLnBrk="0" hangingPunct="0">
                <a:defRPr sz="9600">
                  <a:solidFill>
                    <a:schemeClr val="tx1"/>
                  </a:solidFill>
                  <a:latin typeface="Arial" charset="0"/>
                  <a:ea typeface="ＭＳ Ｐゴシック" charset="0"/>
                </a:defRPr>
              </a:lvl3pPr>
              <a:lvl4pPr eaLnBrk="0" hangingPunct="0">
                <a:defRPr sz="9600">
                  <a:solidFill>
                    <a:schemeClr val="tx1"/>
                  </a:solidFill>
                  <a:latin typeface="Arial" charset="0"/>
                  <a:ea typeface="ＭＳ Ｐゴシック" charset="0"/>
                </a:defRPr>
              </a:lvl4pPr>
              <a:lvl5pPr eaLnBrk="0" hangingPunct="0">
                <a:defRPr sz="9600">
                  <a:solidFill>
                    <a:schemeClr val="tx1"/>
                  </a:solidFill>
                  <a:latin typeface="Arial" charset="0"/>
                  <a:ea typeface="ＭＳ Ｐゴシック" charset="0"/>
                </a:defRPr>
              </a:lvl5pPr>
              <a:lvl6pPr marL="457200" eaLnBrk="0" fontAlgn="base" hangingPunct="0">
                <a:spcBef>
                  <a:spcPct val="0"/>
                </a:spcBef>
                <a:spcAft>
                  <a:spcPct val="0"/>
                </a:spcAft>
                <a:defRPr sz="9600">
                  <a:solidFill>
                    <a:schemeClr val="tx1"/>
                  </a:solidFill>
                  <a:latin typeface="Arial" charset="0"/>
                  <a:ea typeface="ＭＳ Ｐゴシック" charset="0"/>
                </a:defRPr>
              </a:lvl6pPr>
              <a:lvl7pPr marL="914400" eaLnBrk="0" fontAlgn="base" hangingPunct="0">
                <a:spcBef>
                  <a:spcPct val="0"/>
                </a:spcBef>
                <a:spcAft>
                  <a:spcPct val="0"/>
                </a:spcAft>
                <a:defRPr sz="9600">
                  <a:solidFill>
                    <a:schemeClr val="tx1"/>
                  </a:solidFill>
                  <a:latin typeface="Arial" charset="0"/>
                  <a:ea typeface="ＭＳ Ｐゴシック" charset="0"/>
                </a:defRPr>
              </a:lvl7pPr>
              <a:lvl8pPr marL="1371600" eaLnBrk="0" fontAlgn="base" hangingPunct="0">
                <a:spcBef>
                  <a:spcPct val="0"/>
                </a:spcBef>
                <a:spcAft>
                  <a:spcPct val="0"/>
                </a:spcAft>
                <a:defRPr sz="9600">
                  <a:solidFill>
                    <a:schemeClr val="tx1"/>
                  </a:solidFill>
                  <a:latin typeface="Arial" charset="0"/>
                  <a:ea typeface="ＭＳ Ｐゴシック" charset="0"/>
                </a:defRPr>
              </a:lvl8pPr>
              <a:lvl9pPr marL="1828800" eaLnBrk="0" fontAlgn="base" hangingPunct="0">
                <a:spcBef>
                  <a:spcPct val="0"/>
                </a:spcBef>
                <a:spcAft>
                  <a:spcPct val="0"/>
                </a:spcAft>
                <a:defRPr sz="9600">
                  <a:solidFill>
                    <a:schemeClr val="tx1"/>
                  </a:solidFill>
                  <a:latin typeface="Arial" charset="0"/>
                  <a:ea typeface="ＭＳ Ｐゴシック" charset="0"/>
                </a:defRPr>
              </a:lvl9pPr>
            </a:lstStyle>
            <a:p>
              <a:pPr defTabSz="914400" eaLnBrk="1" fontAlgn="base" hangingPunct="1">
                <a:spcBef>
                  <a:spcPct val="0"/>
                </a:spcBef>
                <a:spcAft>
                  <a:spcPct val="0"/>
                </a:spcAft>
              </a:pPr>
              <a:r>
                <a:rPr lang="en-US" sz="2400">
                  <a:solidFill>
                    <a:srgbClr val="000000"/>
                  </a:solidFill>
                </a:rPr>
                <a:t>δ</a:t>
              </a:r>
            </a:p>
          </p:txBody>
        </p:sp>
        <p:sp>
          <p:nvSpPr>
            <p:cNvPr id="102416" name="TextBox 14"/>
            <p:cNvSpPr txBox="1">
              <a:spLocks noChangeArrowheads="1"/>
            </p:cNvSpPr>
            <p:nvPr/>
          </p:nvSpPr>
          <p:spPr bwMode="auto">
            <a:xfrm>
              <a:off x="6553200" y="3048000"/>
              <a:ext cx="362599"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9600">
                  <a:solidFill>
                    <a:schemeClr val="tx1"/>
                  </a:solidFill>
                  <a:latin typeface="Arial" charset="0"/>
                  <a:ea typeface="ＭＳ Ｐゴシック" charset="0"/>
                  <a:cs typeface="ＭＳ Ｐゴシック" charset="0"/>
                </a:defRPr>
              </a:lvl1pPr>
              <a:lvl2pPr marL="37931725" indent="-37474525" eaLnBrk="0" hangingPunct="0">
                <a:defRPr sz="9600">
                  <a:solidFill>
                    <a:schemeClr val="tx1"/>
                  </a:solidFill>
                  <a:latin typeface="Arial" charset="0"/>
                  <a:ea typeface="ＭＳ Ｐゴシック" charset="0"/>
                </a:defRPr>
              </a:lvl2pPr>
              <a:lvl3pPr eaLnBrk="0" hangingPunct="0">
                <a:defRPr sz="9600">
                  <a:solidFill>
                    <a:schemeClr val="tx1"/>
                  </a:solidFill>
                  <a:latin typeface="Arial" charset="0"/>
                  <a:ea typeface="ＭＳ Ｐゴシック" charset="0"/>
                </a:defRPr>
              </a:lvl3pPr>
              <a:lvl4pPr eaLnBrk="0" hangingPunct="0">
                <a:defRPr sz="9600">
                  <a:solidFill>
                    <a:schemeClr val="tx1"/>
                  </a:solidFill>
                  <a:latin typeface="Arial" charset="0"/>
                  <a:ea typeface="ＭＳ Ｐゴシック" charset="0"/>
                </a:defRPr>
              </a:lvl4pPr>
              <a:lvl5pPr eaLnBrk="0" hangingPunct="0">
                <a:defRPr sz="9600">
                  <a:solidFill>
                    <a:schemeClr val="tx1"/>
                  </a:solidFill>
                  <a:latin typeface="Arial" charset="0"/>
                  <a:ea typeface="ＭＳ Ｐゴシック" charset="0"/>
                </a:defRPr>
              </a:lvl5pPr>
              <a:lvl6pPr marL="457200" eaLnBrk="0" fontAlgn="base" hangingPunct="0">
                <a:spcBef>
                  <a:spcPct val="0"/>
                </a:spcBef>
                <a:spcAft>
                  <a:spcPct val="0"/>
                </a:spcAft>
                <a:defRPr sz="9600">
                  <a:solidFill>
                    <a:schemeClr val="tx1"/>
                  </a:solidFill>
                  <a:latin typeface="Arial" charset="0"/>
                  <a:ea typeface="ＭＳ Ｐゴシック" charset="0"/>
                </a:defRPr>
              </a:lvl6pPr>
              <a:lvl7pPr marL="914400" eaLnBrk="0" fontAlgn="base" hangingPunct="0">
                <a:spcBef>
                  <a:spcPct val="0"/>
                </a:spcBef>
                <a:spcAft>
                  <a:spcPct val="0"/>
                </a:spcAft>
                <a:defRPr sz="9600">
                  <a:solidFill>
                    <a:schemeClr val="tx1"/>
                  </a:solidFill>
                  <a:latin typeface="Arial" charset="0"/>
                  <a:ea typeface="ＭＳ Ｐゴシック" charset="0"/>
                </a:defRPr>
              </a:lvl7pPr>
              <a:lvl8pPr marL="1371600" eaLnBrk="0" fontAlgn="base" hangingPunct="0">
                <a:spcBef>
                  <a:spcPct val="0"/>
                </a:spcBef>
                <a:spcAft>
                  <a:spcPct val="0"/>
                </a:spcAft>
                <a:defRPr sz="9600">
                  <a:solidFill>
                    <a:schemeClr val="tx1"/>
                  </a:solidFill>
                  <a:latin typeface="Arial" charset="0"/>
                  <a:ea typeface="ＭＳ Ｐゴシック" charset="0"/>
                </a:defRPr>
              </a:lvl8pPr>
              <a:lvl9pPr marL="1828800" eaLnBrk="0" fontAlgn="base" hangingPunct="0">
                <a:spcBef>
                  <a:spcPct val="0"/>
                </a:spcBef>
                <a:spcAft>
                  <a:spcPct val="0"/>
                </a:spcAft>
                <a:defRPr sz="9600">
                  <a:solidFill>
                    <a:schemeClr val="tx1"/>
                  </a:solidFill>
                  <a:latin typeface="Arial" charset="0"/>
                  <a:ea typeface="ＭＳ Ｐゴシック" charset="0"/>
                </a:defRPr>
              </a:lvl9pPr>
            </a:lstStyle>
            <a:p>
              <a:pPr defTabSz="914400" eaLnBrk="1" fontAlgn="base" hangingPunct="1">
                <a:spcBef>
                  <a:spcPct val="0"/>
                </a:spcBef>
                <a:spcAft>
                  <a:spcPct val="0"/>
                </a:spcAft>
              </a:pPr>
              <a:r>
                <a:rPr lang="en-US" sz="2400">
                  <a:solidFill>
                    <a:srgbClr val="000000"/>
                  </a:solidFill>
                </a:rPr>
                <a:t>α</a:t>
              </a:r>
            </a:p>
          </p:txBody>
        </p:sp>
      </p:grpSp>
      <p:sp>
        <p:nvSpPr>
          <p:cNvPr id="17" name="Freeform 16"/>
          <p:cNvSpPr/>
          <p:nvPr/>
        </p:nvSpPr>
        <p:spPr>
          <a:xfrm>
            <a:off x="2197100" y="3608388"/>
            <a:ext cx="241300" cy="658812"/>
          </a:xfrm>
          <a:custGeom>
            <a:avLst/>
            <a:gdLst>
              <a:gd name="connsiteX0" fmla="*/ 182803 w 240530"/>
              <a:gd name="connsiteY0" fmla="*/ 658091 h 658091"/>
              <a:gd name="connsiteX1" fmla="*/ 21167 w 240530"/>
              <a:gd name="connsiteY1" fmla="*/ 450273 h 658091"/>
              <a:gd name="connsiteX2" fmla="*/ 55803 w 240530"/>
              <a:gd name="connsiteY2" fmla="*/ 138546 h 658091"/>
              <a:gd name="connsiteX3" fmla="*/ 240530 w 240530"/>
              <a:gd name="connsiteY3" fmla="*/ 0 h 658091"/>
              <a:gd name="connsiteX4" fmla="*/ 240530 w 240530"/>
              <a:gd name="connsiteY4" fmla="*/ 0 h 658091"/>
              <a:gd name="connsiteX5" fmla="*/ 205894 w 240530"/>
              <a:gd name="connsiteY5" fmla="*/ 11546 h 658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0530" h="658091">
                <a:moveTo>
                  <a:pt x="182803" y="658091"/>
                </a:moveTo>
                <a:cubicBezTo>
                  <a:pt x="112568" y="597477"/>
                  <a:pt x="42334" y="536864"/>
                  <a:pt x="21167" y="450273"/>
                </a:cubicBezTo>
                <a:cubicBezTo>
                  <a:pt x="0" y="363682"/>
                  <a:pt x="19243" y="213592"/>
                  <a:pt x="55803" y="138546"/>
                </a:cubicBezTo>
                <a:cubicBezTo>
                  <a:pt x="92364" y="63501"/>
                  <a:pt x="240530" y="0"/>
                  <a:pt x="240530" y="0"/>
                </a:cubicBezTo>
                <a:lnTo>
                  <a:pt x="240530" y="0"/>
                </a:lnTo>
                <a:lnTo>
                  <a:pt x="205894" y="11546"/>
                </a:lnTo>
              </a:path>
            </a:pathLst>
          </a:custGeom>
          <a:ln w="38100" cap="flat" cmpd="sng" algn="ctr">
            <a:solidFill>
              <a:srgbClr val="FFFF00"/>
            </a:solidFill>
            <a:prstDash val="solid"/>
            <a:round/>
            <a:headEnd type="arrow" w="med" len="med"/>
            <a:tailEnd type="none" w="med" len="med"/>
          </a:ln>
        </p:spPr>
        <p:style>
          <a:lnRef idx="2">
            <a:schemeClr val="accent1"/>
          </a:lnRef>
          <a:fillRef idx="0">
            <a:schemeClr val="accent1"/>
          </a:fillRef>
          <a:effectRef idx="1">
            <a:schemeClr val="accent1"/>
          </a:effectRef>
          <a:fontRef idx="minor">
            <a:schemeClr val="tx1"/>
          </a:fontRef>
        </p:style>
        <p:txBody>
          <a:bodyPr anchor="ctr"/>
          <a:lstStyle/>
          <a:p>
            <a:pPr algn="ctr" defTabSz="914400" fontAlgn="base">
              <a:spcBef>
                <a:spcPct val="0"/>
              </a:spcBef>
              <a:spcAft>
                <a:spcPct val="0"/>
              </a:spcAft>
              <a:defRPr/>
            </a:pPr>
            <a:endParaRPr lang="en-US" sz="9600">
              <a:solidFill>
                <a:prstClr val="black"/>
              </a:solidFill>
              <a:latin typeface="Calibri"/>
            </a:endParaRPr>
          </a:p>
        </p:txBody>
      </p:sp>
      <p:sp>
        <p:nvSpPr>
          <p:cNvPr id="102411" name="TextBox 17"/>
          <p:cNvSpPr txBox="1">
            <a:spLocks noChangeArrowheads="1"/>
          </p:cNvSpPr>
          <p:nvPr/>
        </p:nvSpPr>
        <p:spPr bwMode="auto">
          <a:xfrm>
            <a:off x="1905000" y="3105150"/>
            <a:ext cx="819150" cy="400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9600">
                <a:solidFill>
                  <a:schemeClr val="tx1"/>
                </a:solidFill>
                <a:latin typeface="Arial" charset="0"/>
                <a:ea typeface="ＭＳ Ｐゴシック" charset="0"/>
                <a:cs typeface="ＭＳ Ｐゴシック" charset="0"/>
              </a:defRPr>
            </a:lvl1pPr>
            <a:lvl2pPr marL="37931725" indent="-37474525" eaLnBrk="0" hangingPunct="0">
              <a:defRPr sz="9600">
                <a:solidFill>
                  <a:schemeClr val="tx1"/>
                </a:solidFill>
                <a:latin typeface="Arial" charset="0"/>
                <a:ea typeface="ＭＳ Ｐゴシック" charset="0"/>
              </a:defRPr>
            </a:lvl2pPr>
            <a:lvl3pPr eaLnBrk="0" hangingPunct="0">
              <a:defRPr sz="9600">
                <a:solidFill>
                  <a:schemeClr val="tx1"/>
                </a:solidFill>
                <a:latin typeface="Arial" charset="0"/>
                <a:ea typeface="ＭＳ Ｐゴシック" charset="0"/>
              </a:defRPr>
            </a:lvl3pPr>
            <a:lvl4pPr eaLnBrk="0" hangingPunct="0">
              <a:defRPr sz="9600">
                <a:solidFill>
                  <a:schemeClr val="tx1"/>
                </a:solidFill>
                <a:latin typeface="Arial" charset="0"/>
                <a:ea typeface="ＭＳ Ｐゴシック" charset="0"/>
              </a:defRPr>
            </a:lvl4pPr>
            <a:lvl5pPr eaLnBrk="0" hangingPunct="0">
              <a:defRPr sz="9600">
                <a:solidFill>
                  <a:schemeClr val="tx1"/>
                </a:solidFill>
                <a:latin typeface="Arial" charset="0"/>
                <a:ea typeface="ＭＳ Ｐゴシック" charset="0"/>
              </a:defRPr>
            </a:lvl5pPr>
            <a:lvl6pPr marL="457200" eaLnBrk="0" fontAlgn="base" hangingPunct="0">
              <a:spcBef>
                <a:spcPct val="0"/>
              </a:spcBef>
              <a:spcAft>
                <a:spcPct val="0"/>
              </a:spcAft>
              <a:defRPr sz="9600">
                <a:solidFill>
                  <a:schemeClr val="tx1"/>
                </a:solidFill>
                <a:latin typeface="Arial" charset="0"/>
                <a:ea typeface="ＭＳ Ｐゴシック" charset="0"/>
              </a:defRPr>
            </a:lvl6pPr>
            <a:lvl7pPr marL="914400" eaLnBrk="0" fontAlgn="base" hangingPunct="0">
              <a:spcBef>
                <a:spcPct val="0"/>
              </a:spcBef>
              <a:spcAft>
                <a:spcPct val="0"/>
              </a:spcAft>
              <a:defRPr sz="9600">
                <a:solidFill>
                  <a:schemeClr val="tx1"/>
                </a:solidFill>
                <a:latin typeface="Arial" charset="0"/>
                <a:ea typeface="ＭＳ Ｐゴシック" charset="0"/>
              </a:defRPr>
            </a:lvl7pPr>
            <a:lvl8pPr marL="1371600" eaLnBrk="0" fontAlgn="base" hangingPunct="0">
              <a:spcBef>
                <a:spcPct val="0"/>
              </a:spcBef>
              <a:spcAft>
                <a:spcPct val="0"/>
              </a:spcAft>
              <a:defRPr sz="9600">
                <a:solidFill>
                  <a:schemeClr val="tx1"/>
                </a:solidFill>
                <a:latin typeface="Arial" charset="0"/>
                <a:ea typeface="ＭＳ Ｐゴシック" charset="0"/>
              </a:defRPr>
            </a:lvl8pPr>
            <a:lvl9pPr marL="1828800" eaLnBrk="0" fontAlgn="base" hangingPunct="0">
              <a:spcBef>
                <a:spcPct val="0"/>
              </a:spcBef>
              <a:spcAft>
                <a:spcPct val="0"/>
              </a:spcAft>
              <a:defRPr sz="9600">
                <a:solidFill>
                  <a:schemeClr val="tx1"/>
                </a:solidFill>
                <a:latin typeface="Arial" charset="0"/>
                <a:ea typeface="ＭＳ Ｐゴシック" charset="0"/>
              </a:defRPr>
            </a:lvl9pPr>
          </a:lstStyle>
          <a:p>
            <a:pPr defTabSz="914400" eaLnBrk="1" fontAlgn="base" hangingPunct="1">
              <a:spcBef>
                <a:spcPct val="0"/>
              </a:spcBef>
              <a:spcAft>
                <a:spcPct val="0"/>
              </a:spcAft>
            </a:pPr>
            <a:r>
              <a:rPr lang="en-US" sz="2000">
                <a:solidFill>
                  <a:srgbClr val="FFFF00"/>
                </a:solidFill>
              </a:rPr>
              <a:t>ω = 0</a:t>
            </a:r>
          </a:p>
        </p:txBody>
      </p:sp>
      <p:sp>
        <p:nvSpPr>
          <p:cNvPr id="19" name="Freeform 18"/>
          <p:cNvSpPr/>
          <p:nvPr/>
        </p:nvSpPr>
        <p:spPr>
          <a:xfrm>
            <a:off x="5854700" y="3689350"/>
            <a:ext cx="241300" cy="658813"/>
          </a:xfrm>
          <a:custGeom>
            <a:avLst/>
            <a:gdLst>
              <a:gd name="connsiteX0" fmla="*/ 182803 w 240530"/>
              <a:gd name="connsiteY0" fmla="*/ 658091 h 658091"/>
              <a:gd name="connsiteX1" fmla="*/ 21167 w 240530"/>
              <a:gd name="connsiteY1" fmla="*/ 450273 h 658091"/>
              <a:gd name="connsiteX2" fmla="*/ 55803 w 240530"/>
              <a:gd name="connsiteY2" fmla="*/ 138546 h 658091"/>
              <a:gd name="connsiteX3" fmla="*/ 240530 w 240530"/>
              <a:gd name="connsiteY3" fmla="*/ 0 h 658091"/>
              <a:gd name="connsiteX4" fmla="*/ 240530 w 240530"/>
              <a:gd name="connsiteY4" fmla="*/ 0 h 658091"/>
              <a:gd name="connsiteX5" fmla="*/ 205894 w 240530"/>
              <a:gd name="connsiteY5" fmla="*/ 11546 h 658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0530" h="658091">
                <a:moveTo>
                  <a:pt x="182803" y="658091"/>
                </a:moveTo>
                <a:cubicBezTo>
                  <a:pt x="112568" y="597477"/>
                  <a:pt x="42334" y="536864"/>
                  <a:pt x="21167" y="450273"/>
                </a:cubicBezTo>
                <a:cubicBezTo>
                  <a:pt x="0" y="363682"/>
                  <a:pt x="19243" y="213592"/>
                  <a:pt x="55803" y="138546"/>
                </a:cubicBezTo>
                <a:cubicBezTo>
                  <a:pt x="92364" y="63501"/>
                  <a:pt x="240530" y="0"/>
                  <a:pt x="240530" y="0"/>
                </a:cubicBezTo>
                <a:lnTo>
                  <a:pt x="240530" y="0"/>
                </a:lnTo>
                <a:lnTo>
                  <a:pt x="205894" y="11546"/>
                </a:lnTo>
              </a:path>
            </a:pathLst>
          </a:custGeom>
          <a:ln w="38100" cap="flat" cmpd="sng" algn="ctr">
            <a:solidFill>
              <a:srgbClr val="FFFF00"/>
            </a:solidFill>
            <a:prstDash val="solid"/>
            <a:round/>
            <a:headEnd type="arrow" w="med" len="med"/>
            <a:tailEnd type="none" w="med" len="med"/>
          </a:ln>
        </p:spPr>
        <p:style>
          <a:lnRef idx="2">
            <a:schemeClr val="accent1"/>
          </a:lnRef>
          <a:fillRef idx="0">
            <a:schemeClr val="accent1"/>
          </a:fillRef>
          <a:effectRef idx="1">
            <a:schemeClr val="accent1"/>
          </a:effectRef>
          <a:fontRef idx="minor">
            <a:schemeClr val="tx1"/>
          </a:fontRef>
        </p:style>
        <p:txBody>
          <a:bodyPr anchor="ctr"/>
          <a:lstStyle/>
          <a:p>
            <a:pPr algn="ctr" defTabSz="914400" fontAlgn="base">
              <a:spcBef>
                <a:spcPct val="0"/>
              </a:spcBef>
              <a:spcAft>
                <a:spcPct val="0"/>
              </a:spcAft>
              <a:defRPr/>
            </a:pPr>
            <a:endParaRPr lang="en-US" sz="9600">
              <a:solidFill>
                <a:prstClr val="black"/>
              </a:solidFill>
              <a:latin typeface="Calibri"/>
            </a:endParaRPr>
          </a:p>
        </p:txBody>
      </p:sp>
      <p:sp>
        <p:nvSpPr>
          <p:cNvPr id="102413" name="TextBox 19"/>
          <p:cNvSpPr txBox="1">
            <a:spLocks noChangeArrowheads="1"/>
          </p:cNvSpPr>
          <p:nvPr/>
        </p:nvSpPr>
        <p:spPr bwMode="auto">
          <a:xfrm>
            <a:off x="5410200" y="3200400"/>
            <a:ext cx="1104900" cy="400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9600">
                <a:solidFill>
                  <a:schemeClr val="tx1"/>
                </a:solidFill>
                <a:latin typeface="Arial" charset="0"/>
                <a:ea typeface="ＭＳ Ｐゴシック" charset="0"/>
                <a:cs typeface="ＭＳ Ｐゴシック" charset="0"/>
              </a:defRPr>
            </a:lvl1pPr>
            <a:lvl2pPr marL="37931725" indent="-37474525" eaLnBrk="0" hangingPunct="0">
              <a:defRPr sz="9600">
                <a:solidFill>
                  <a:schemeClr val="tx1"/>
                </a:solidFill>
                <a:latin typeface="Arial" charset="0"/>
                <a:ea typeface="ＭＳ Ｐゴシック" charset="0"/>
              </a:defRPr>
            </a:lvl2pPr>
            <a:lvl3pPr eaLnBrk="0" hangingPunct="0">
              <a:defRPr sz="9600">
                <a:solidFill>
                  <a:schemeClr val="tx1"/>
                </a:solidFill>
                <a:latin typeface="Arial" charset="0"/>
                <a:ea typeface="ＭＳ Ｐゴシック" charset="0"/>
              </a:defRPr>
            </a:lvl3pPr>
            <a:lvl4pPr eaLnBrk="0" hangingPunct="0">
              <a:defRPr sz="9600">
                <a:solidFill>
                  <a:schemeClr val="tx1"/>
                </a:solidFill>
                <a:latin typeface="Arial" charset="0"/>
                <a:ea typeface="ＭＳ Ｐゴシック" charset="0"/>
              </a:defRPr>
            </a:lvl4pPr>
            <a:lvl5pPr eaLnBrk="0" hangingPunct="0">
              <a:defRPr sz="9600">
                <a:solidFill>
                  <a:schemeClr val="tx1"/>
                </a:solidFill>
                <a:latin typeface="Arial" charset="0"/>
                <a:ea typeface="ＭＳ Ｐゴシック" charset="0"/>
              </a:defRPr>
            </a:lvl5pPr>
            <a:lvl6pPr marL="457200" eaLnBrk="0" fontAlgn="base" hangingPunct="0">
              <a:spcBef>
                <a:spcPct val="0"/>
              </a:spcBef>
              <a:spcAft>
                <a:spcPct val="0"/>
              </a:spcAft>
              <a:defRPr sz="9600">
                <a:solidFill>
                  <a:schemeClr val="tx1"/>
                </a:solidFill>
                <a:latin typeface="Arial" charset="0"/>
                <a:ea typeface="ＭＳ Ｐゴシック" charset="0"/>
              </a:defRPr>
            </a:lvl6pPr>
            <a:lvl7pPr marL="914400" eaLnBrk="0" fontAlgn="base" hangingPunct="0">
              <a:spcBef>
                <a:spcPct val="0"/>
              </a:spcBef>
              <a:spcAft>
                <a:spcPct val="0"/>
              </a:spcAft>
              <a:defRPr sz="9600">
                <a:solidFill>
                  <a:schemeClr val="tx1"/>
                </a:solidFill>
                <a:latin typeface="Arial" charset="0"/>
                <a:ea typeface="ＭＳ Ｐゴシック" charset="0"/>
              </a:defRPr>
            </a:lvl7pPr>
            <a:lvl8pPr marL="1371600" eaLnBrk="0" fontAlgn="base" hangingPunct="0">
              <a:spcBef>
                <a:spcPct val="0"/>
              </a:spcBef>
              <a:spcAft>
                <a:spcPct val="0"/>
              </a:spcAft>
              <a:defRPr sz="9600">
                <a:solidFill>
                  <a:schemeClr val="tx1"/>
                </a:solidFill>
                <a:latin typeface="Arial" charset="0"/>
                <a:ea typeface="ＭＳ Ｐゴシック" charset="0"/>
              </a:defRPr>
            </a:lvl8pPr>
            <a:lvl9pPr marL="1828800" eaLnBrk="0" fontAlgn="base" hangingPunct="0">
              <a:spcBef>
                <a:spcPct val="0"/>
              </a:spcBef>
              <a:spcAft>
                <a:spcPct val="0"/>
              </a:spcAft>
              <a:defRPr sz="9600">
                <a:solidFill>
                  <a:schemeClr val="tx1"/>
                </a:solidFill>
                <a:latin typeface="Arial" charset="0"/>
                <a:ea typeface="ＭＳ Ｐゴシック" charset="0"/>
              </a:defRPr>
            </a:lvl9pPr>
          </a:lstStyle>
          <a:p>
            <a:pPr defTabSz="914400" eaLnBrk="1" fontAlgn="base" hangingPunct="1">
              <a:spcBef>
                <a:spcPct val="0"/>
              </a:spcBef>
              <a:spcAft>
                <a:spcPct val="0"/>
              </a:spcAft>
            </a:pPr>
            <a:r>
              <a:rPr lang="en-US" sz="2000">
                <a:solidFill>
                  <a:srgbClr val="FFFF00"/>
                </a:solidFill>
              </a:rPr>
              <a:t>ω = 180</a:t>
            </a:r>
          </a:p>
        </p:txBody>
      </p:sp>
    </p:spTree>
    <p:extLst>
      <p:ext uri="{BB962C8B-B14F-4D97-AF65-F5344CB8AC3E}">
        <p14:creationId xmlns:p14="http://schemas.microsoft.com/office/powerpoint/2010/main" val="33041709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p:cNvSpPr>
          <p:nvPr>
            <p:ph type="ctrTitle"/>
          </p:nvPr>
        </p:nvSpPr>
        <p:spPr>
          <a:xfrm>
            <a:off x="685800" y="-228600"/>
            <a:ext cx="7772400" cy="1470025"/>
          </a:xfrm>
        </p:spPr>
        <p:txBody>
          <a:bodyPr/>
          <a:lstStyle/>
          <a:p>
            <a:pPr eaLnBrk="1" hangingPunct="1"/>
            <a:r>
              <a:rPr lang="en-US">
                <a:latin typeface="Calibri" charset="0"/>
                <a:ea typeface="ＭＳ Ｐゴシック" charset="0"/>
                <a:cs typeface="ＭＳ Ｐゴシック" charset="0"/>
              </a:rPr>
              <a:t>Pro allows population of </a:t>
            </a:r>
            <a:r>
              <a:rPr lang="en-US" i="1">
                <a:latin typeface="Calibri" charset="0"/>
                <a:ea typeface="ＭＳ Ｐゴシック" charset="0"/>
                <a:cs typeface="ＭＳ Ｐゴシック" charset="0"/>
              </a:rPr>
              <a:t>cis</a:t>
            </a:r>
          </a:p>
        </p:txBody>
      </p:sp>
      <p:pic>
        <p:nvPicPr>
          <p:cNvPr id="104451" name="Picture 3" descr="Box1Fig.pdf"/>
          <p:cNvPicPr>
            <a:picLocks noChangeAspect="1"/>
          </p:cNvPicPr>
          <p:nvPr/>
        </p:nvPicPr>
        <p:blipFill>
          <a:blip r:embed="rId3">
            <a:extLst>
              <a:ext uri="{28A0092B-C50C-407E-A947-70E740481C1C}">
                <a14:useLocalDpi xmlns:a14="http://schemas.microsoft.com/office/drawing/2010/main" val="0"/>
              </a:ext>
            </a:extLst>
          </a:blip>
          <a:srcRect l="19235" t="17383" r="13763" b="52763"/>
          <a:stretch>
            <a:fillRect/>
          </a:stretch>
        </p:blipFill>
        <p:spPr bwMode="auto">
          <a:xfrm>
            <a:off x="685800" y="914400"/>
            <a:ext cx="7232650" cy="4171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Freeform 6"/>
          <p:cNvSpPr/>
          <p:nvPr/>
        </p:nvSpPr>
        <p:spPr>
          <a:xfrm>
            <a:off x="1676400" y="5562600"/>
            <a:ext cx="1333500" cy="549275"/>
          </a:xfrm>
          <a:custGeom>
            <a:avLst/>
            <a:gdLst>
              <a:gd name="connsiteX0" fmla="*/ 0 w 1334749"/>
              <a:gd name="connsiteY0" fmla="*/ 0 h 548554"/>
              <a:gd name="connsiteX1" fmla="*/ 168464 w 1334749"/>
              <a:gd name="connsiteY1" fmla="*/ 272117 h 548554"/>
              <a:gd name="connsiteX2" fmla="*/ 336927 w 1334749"/>
              <a:gd name="connsiteY2" fmla="*/ 427613 h 548554"/>
              <a:gd name="connsiteX3" fmla="*/ 570184 w 1334749"/>
              <a:gd name="connsiteY3" fmla="*/ 518319 h 548554"/>
              <a:gd name="connsiteX4" fmla="*/ 842317 w 1334749"/>
              <a:gd name="connsiteY4" fmla="*/ 531277 h 548554"/>
              <a:gd name="connsiteX5" fmla="*/ 1088533 w 1334749"/>
              <a:gd name="connsiteY5" fmla="*/ 414655 h 548554"/>
              <a:gd name="connsiteX6" fmla="*/ 1244038 w 1334749"/>
              <a:gd name="connsiteY6" fmla="*/ 246201 h 548554"/>
              <a:gd name="connsiteX7" fmla="*/ 1334749 w 1334749"/>
              <a:gd name="connsiteY7" fmla="*/ 77748 h 54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4749" h="548554">
                <a:moveTo>
                  <a:pt x="0" y="0"/>
                </a:moveTo>
                <a:cubicBezTo>
                  <a:pt x="56154" y="100424"/>
                  <a:pt x="112309" y="200848"/>
                  <a:pt x="168464" y="272117"/>
                </a:cubicBezTo>
                <a:cubicBezTo>
                  <a:pt x="224619" y="343386"/>
                  <a:pt x="269974" y="386579"/>
                  <a:pt x="336927" y="427613"/>
                </a:cubicBezTo>
                <a:cubicBezTo>
                  <a:pt x="403880" y="468647"/>
                  <a:pt x="485952" y="501042"/>
                  <a:pt x="570184" y="518319"/>
                </a:cubicBezTo>
                <a:cubicBezTo>
                  <a:pt x="654416" y="535596"/>
                  <a:pt x="755926" y="548554"/>
                  <a:pt x="842317" y="531277"/>
                </a:cubicBezTo>
                <a:cubicBezTo>
                  <a:pt x="928708" y="514000"/>
                  <a:pt x="1021580" y="462168"/>
                  <a:pt x="1088533" y="414655"/>
                </a:cubicBezTo>
                <a:cubicBezTo>
                  <a:pt x="1155486" y="367142"/>
                  <a:pt x="1203002" y="302352"/>
                  <a:pt x="1244038" y="246201"/>
                </a:cubicBezTo>
                <a:cubicBezTo>
                  <a:pt x="1285074" y="190050"/>
                  <a:pt x="1334749" y="77748"/>
                  <a:pt x="1334749" y="77748"/>
                </a:cubicBezTo>
              </a:path>
            </a:pathLst>
          </a:custGeom>
          <a:ln w="57150" cap="flat" cmpd="sng" algn="ctr">
            <a:solidFill>
              <a:srgbClr val="0000FF"/>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anchor="ctr"/>
          <a:lstStyle/>
          <a:p>
            <a:pPr algn="ctr" fontAlgn="base">
              <a:spcBef>
                <a:spcPct val="0"/>
              </a:spcBef>
              <a:spcAft>
                <a:spcPct val="0"/>
              </a:spcAft>
              <a:defRPr/>
            </a:pPr>
            <a:endParaRPr lang="en-US">
              <a:solidFill>
                <a:prstClr val="black"/>
              </a:solidFill>
              <a:latin typeface="Calibri"/>
            </a:endParaRPr>
          </a:p>
        </p:txBody>
      </p:sp>
      <p:cxnSp>
        <p:nvCxnSpPr>
          <p:cNvPr id="9" name="Straight Connector 8"/>
          <p:cNvCxnSpPr/>
          <p:nvPr/>
        </p:nvCxnSpPr>
        <p:spPr>
          <a:xfrm rot="5400000">
            <a:off x="2006600" y="5613400"/>
            <a:ext cx="712788" cy="1588"/>
          </a:xfrm>
          <a:prstGeom prst="line">
            <a:avLst/>
          </a:prstGeom>
          <a:ln w="57150" cap="flat" cmpd="sng" algn="ctr">
            <a:solidFill>
              <a:srgbClr val="0000FF"/>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04454" name="TextBox 9"/>
          <p:cNvSpPr txBox="1">
            <a:spLocks noChangeArrowheads="1"/>
          </p:cNvSpPr>
          <p:nvPr/>
        </p:nvSpPr>
        <p:spPr bwMode="auto">
          <a:xfrm>
            <a:off x="3046413" y="5334000"/>
            <a:ext cx="1722437" cy="830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defTabSz="457200" eaLnBrk="0" hangingPunct="0">
              <a:defRPr sz="9600">
                <a:solidFill>
                  <a:schemeClr val="tx1"/>
                </a:solidFill>
                <a:latin typeface="Arial" charset="0"/>
                <a:ea typeface="ＭＳ Ｐゴシック" charset="0"/>
                <a:cs typeface="ＭＳ Ｐゴシック" charset="0"/>
              </a:defRPr>
            </a:lvl1pPr>
            <a:lvl2pPr marL="37931725" indent="-37474525" defTabSz="457200" eaLnBrk="0" hangingPunct="0">
              <a:defRPr sz="9600">
                <a:solidFill>
                  <a:schemeClr val="tx1"/>
                </a:solidFill>
                <a:latin typeface="Arial" charset="0"/>
                <a:ea typeface="ＭＳ Ｐゴシック" charset="0"/>
              </a:defRPr>
            </a:lvl2pPr>
            <a:lvl3pPr eaLnBrk="0" hangingPunct="0">
              <a:defRPr sz="9600">
                <a:solidFill>
                  <a:schemeClr val="tx1"/>
                </a:solidFill>
                <a:latin typeface="Arial" charset="0"/>
                <a:ea typeface="ＭＳ Ｐゴシック" charset="0"/>
              </a:defRPr>
            </a:lvl3pPr>
            <a:lvl4pPr eaLnBrk="0" hangingPunct="0">
              <a:defRPr sz="9600">
                <a:solidFill>
                  <a:schemeClr val="tx1"/>
                </a:solidFill>
                <a:latin typeface="Arial" charset="0"/>
                <a:ea typeface="ＭＳ Ｐゴシック" charset="0"/>
              </a:defRPr>
            </a:lvl4pPr>
            <a:lvl5pPr eaLnBrk="0" hangingPunct="0">
              <a:defRPr sz="9600">
                <a:solidFill>
                  <a:schemeClr val="tx1"/>
                </a:solidFill>
                <a:latin typeface="Arial" charset="0"/>
                <a:ea typeface="ＭＳ Ｐゴシック" charset="0"/>
              </a:defRPr>
            </a:lvl5pPr>
            <a:lvl6pPr marL="457200" eaLnBrk="0" fontAlgn="base" hangingPunct="0">
              <a:spcBef>
                <a:spcPct val="0"/>
              </a:spcBef>
              <a:spcAft>
                <a:spcPct val="0"/>
              </a:spcAft>
              <a:defRPr sz="9600">
                <a:solidFill>
                  <a:schemeClr val="tx1"/>
                </a:solidFill>
                <a:latin typeface="Arial" charset="0"/>
                <a:ea typeface="ＭＳ Ｐゴシック" charset="0"/>
              </a:defRPr>
            </a:lvl6pPr>
            <a:lvl7pPr marL="914400" eaLnBrk="0" fontAlgn="base" hangingPunct="0">
              <a:spcBef>
                <a:spcPct val="0"/>
              </a:spcBef>
              <a:spcAft>
                <a:spcPct val="0"/>
              </a:spcAft>
              <a:defRPr sz="9600">
                <a:solidFill>
                  <a:schemeClr val="tx1"/>
                </a:solidFill>
                <a:latin typeface="Arial" charset="0"/>
                <a:ea typeface="ＭＳ Ｐゴシック" charset="0"/>
              </a:defRPr>
            </a:lvl7pPr>
            <a:lvl8pPr marL="1371600" eaLnBrk="0" fontAlgn="base" hangingPunct="0">
              <a:spcBef>
                <a:spcPct val="0"/>
              </a:spcBef>
              <a:spcAft>
                <a:spcPct val="0"/>
              </a:spcAft>
              <a:defRPr sz="9600">
                <a:solidFill>
                  <a:schemeClr val="tx1"/>
                </a:solidFill>
                <a:latin typeface="Arial" charset="0"/>
                <a:ea typeface="ＭＳ Ｐゴシック" charset="0"/>
              </a:defRPr>
            </a:lvl8pPr>
            <a:lvl9pPr marL="1828800" eaLnBrk="0" fontAlgn="base" hangingPunct="0">
              <a:spcBef>
                <a:spcPct val="0"/>
              </a:spcBef>
              <a:spcAft>
                <a:spcPct val="0"/>
              </a:spcAft>
              <a:defRPr sz="9600">
                <a:solidFill>
                  <a:schemeClr val="tx1"/>
                </a:solidFill>
                <a:latin typeface="Arial" charset="0"/>
                <a:ea typeface="ＭＳ Ｐゴシック" charset="0"/>
              </a:defRPr>
            </a:lvl9pPr>
          </a:lstStyle>
          <a:p>
            <a:pPr algn="ctr" eaLnBrk="1" fontAlgn="base" hangingPunct="1">
              <a:spcBef>
                <a:spcPct val="0"/>
              </a:spcBef>
              <a:spcAft>
                <a:spcPct val="0"/>
              </a:spcAft>
            </a:pPr>
            <a:r>
              <a:rPr lang="en-US" sz="2400" i="1">
                <a:solidFill>
                  <a:srgbClr val="000000"/>
                </a:solidFill>
              </a:rPr>
              <a:t>trans</a:t>
            </a:r>
            <a:r>
              <a:rPr lang="en-US" sz="2400">
                <a:solidFill>
                  <a:srgbClr val="000000"/>
                </a:solidFill>
              </a:rPr>
              <a:t> for all </a:t>
            </a:r>
          </a:p>
          <a:p>
            <a:pPr algn="ctr" eaLnBrk="1" fontAlgn="base" hangingPunct="1">
              <a:spcBef>
                <a:spcPct val="0"/>
              </a:spcBef>
              <a:spcAft>
                <a:spcPct val="0"/>
              </a:spcAft>
            </a:pPr>
            <a:r>
              <a:rPr lang="en-US" sz="2400">
                <a:solidFill>
                  <a:srgbClr val="000000"/>
                </a:solidFill>
              </a:rPr>
              <a:t>non-Pro</a:t>
            </a:r>
          </a:p>
        </p:txBody>
      </p:sp>
      <p:sp>
        <p:nvSpPr>
          <p:cNvPr id="63495" name="TextBox 10"/>
          <p:cNvSpPr txBox="1">
            <a:spLocks noChangeArrowheads="1"/>
          </p:cNvSpPr>
          <p:nvPr/>
        </p:nvSpPr>
        <p:spPr bwMode="auto">
          <a:xfrm>
            <a:off x="349250" y="6248400"/>
            <a:ext cx="8685213" cy="400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defTabSz="457200" eaLnBrk="0" hangingPunct="0">
              <a:defRPr sz="9600">
                <a:solidFill>
                  <a:schemeClr val="tx1"/>
                </a:solidFill>
                <a:latin typeface="Arial" charset="0"/>
                <a:ea typeface="ＭＳ Ｐゴシック" charset="0"/>
                <a:cs typeface="ＭＳ Ｐゴシック" charset="0"/>
              </a:defRPr>
            </a:lvl1pPr>
            <a:lvl2pPr marL="37931725" indent="-37474525" defTabSz="457200" eaLnBrk="0" hangingPunct="0">
              <a:defRPr sz="9600">
                <a:solidFill>
                  <a:schemeClr val="tx1"/>
                </a:solidFill>
                <a:latin typeface="Arial" charset="0"/>
                <a:ea typeface="ＭＳ Ｐゴシック" charset="0"/>
              </a:defRPr>
            </a:lvl2pPr>
            <a:lvl3pPr eaLnBrk="0" hangingPunct="0">
              <a:defRPr sz="9600">
                <a:solidFill>
                  <a:schemeClr val="tx1"/>
                </a:solidFill>
                <a:latin typeface="Arial" charset="0"/>
                <a:ea typeface="ＭＳ Ｐゴシック" charset="0"/>
              </a:defRPr>
            </a:lvl3pPr>
            <a:lvl4pPr eaLnBrk="0" hangingPunct="0">
              <a:defRPr sz="9600">
                <a:solidFill>
                  <a:schemeClr val="tx1"/>
                </a:solidFill>
                <a:latin typeface="Arial" charset="0"/>
                <a:ea typeface="ＭＳ Ｐゴシック" charset="0"/>
              </a:defRPr>
            </a:lvl4pPr>
            <a:lvl5pPr eaLnBrk="0" hangingPunct="0">
              <a:defRPr sz="9600">
                <a:solidFill>
                  <a:schemeClr val="tx1"/>
                </a:solidFill>
                <a:latin typeface="Arial" charset="0"/>
                <a:ea typeface="ＭＳ Ｐゴシック" charset="0"/>
              </a:defRPr>
            </a:lvl5pPr>
            <a:lvl6pPr marL="457200" eaLnBrk="0" fontAlgn="base" hangingPunct="0">
              <a:spcBef>
                <a:spcPct val="0"/>
              </a:spcBef>
              <a:spcAft>
                <a:spcPct val="0"/>
              </a:spcAft>
              <a:defRPr sz="9600">
                <a:solidFill>
                  <a:schemeClr val="tx1"/>
                </a:solidFill>
                <a:latin typeface="Arial" charset="0"/>
                <a:ea typeface="ＭＳ Ｐゴシック" charset="0"/>
              </a:defRPr>
            </a:lvl6pPr>
            <a:lvl7pPr marL="914400" eaLnBrk="0" fontAlgn="base" hangingPunct="0">
              <a:spcBef>
                <a:spcPct val="0"/>
              </a:spcBef>
              <a:spcAft>
                <a:spcPct val="0"/>
              </a:spcAft>
              <a:defRPr sz="9600">
                <a:solidFill>
                  <a:schemeClr val="tx1"/>
                </a:solidFill>
                <a:latin typeface="Arial" charset="0"/>
                <a:ea typeface="ＭＳ Ｐゴシック" charset="0"/>
              </a:defRPr>
            </a:lvl7pPr>
            <a:lvl8pPr marL="1371600" eaLnBrk="0" fontAlgn="base" hangingPunct="0">
              <a:spcBef>
                <a:spcPct val="0"/>
              </a:spcBef>
              <a:spcAft>
                <a:spcPct val="0"/>
              </a:spcAft>
              <a:defRPr sz="9600">
                <a:solidFill>
                  <a:schemeClr val="tx1"/>
                </a:solidFill>
                <a:latin typeface="Arial" charset="0"/>
                <a:ea typeface="ＭＳ Ｐゴシック" charset="0"/>
              </a:defRPr>
            </a:lvl8pPr>
            <a:lvl9pPr marL="1828800" eaLnBrk="0" fontAlgn="base" hangingPunct="0">
              <a:spcBef>
                <a:spcPct val="0"/>
              </a:spcBef>
              <a:spcAft>
                <a:spcPct val="0"/>
              </a:spcAft>
              <a:defRPr sz="9600">
                <a:solidFill>
                  <a:schemeClr val="tx1"/>
                </a:solidFill>
                <a:latin typeface="Arial" charset="0"/>
                <a:ea typeface="ＭＳ Ｐゴシック" charset="0"/>
              </a:defRPr>
            </a:lvl9pPr>
          </a:lstStyle>
          <a:p>
            <a:pPr eaLnBrk="1" fontAlgn="base" hangingPunct="1">
              <a:spcBef>
                <a:spcPct val="0"/>
              </a:spcBef>
              <a:spcAft>
                <a:spcPct val="0"/>
              </a:spcAft>
            </a:pPr>
            <a:r>
              <a:rPr lang="en-US" sz="2000" b="1" i="1">
                <a:solidFill>
                  <a:srgbClr val="000000"/>
                </a:solidFill>
              </a:rPr>
              <a:t>peptidyl prolyl isomerase enzymes accelerate cis-trans isomerization </a:t>
            </a:r>
          </a:p>
        </p:txBody>
      </p:sp>
      <p:sp>
        <p:nvSpPr>
          <p:cNvPr id="104456" name="TextBox 7"/>
          <p:cNvSpPr txBox="1">
            <a:spLocks noChangeArrowheads="1"/>
          </p:cNvSpPr>
          <p:nvPr/>
        </p:nvSpPr>
        <p:spPr bwMode="auto">
          <a:xfrm>
            <a:off x="533400" y="3048000"/>
            <a:ext cx="971550" cy="461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defTabSz="457200" eaLnBrk="0" hangingPunct="0">
              <a:defRPr sz="9600">
                <a:solidFill>
                  <a:schemeClr val="tx1"/>
                </a:solidFill>
                <a:latin typeface="Arial" charset="0"/>
                <a:ea typeface="ＭＳ Ｐゴシック" charset="0"/>
                <a:cs typeface="ＭＳ Ｐゴシック" charset="0"/>
              </a:defRPr>
            </a:lvl1pPr>
            <a:lvl2pPr marL="37931725" indent="-37474525" defTabSz="457200" eaLnBrk="0" hangingPunct="0">
              <a:defRPr sz="9600">
                <a:solidFill>
                  <a:schemeClr val="tx1"/>
                </a:solidFill>
                <a:latin typeface="Arial" charset="0"/>
                <a:ea typeface="ＭＳ Ｐゴシック" charset="0"/>
              </a:defRPr>
            </a:lvl2pPr>
            <a:lvl3pPr eaLnBrk="0" hangingPunct="0">
              <a:defRPr sz="9600">
                <a:solidFill>
                  <a:schemeClr val="tx1"/>
                </a:solidFill>
                <a:latin typeface="Arial" charset="0"/>
                <a:ea typeface="ＭＳ Ｐゴシック" charset="0"/>
              </a:defRPr>
            </a:lvl3pPr>
            <a:lvl4pPr eaLnBrk="0" hangingPunct="0">
              <a:defRPr sz="9600">
                <a:solidFill>
                  <a:schemeClr val="tx1"/>
                </a:solidFill>
                <a:latin typeface="Arial" charset="0"/>
                <a:ea typeface="ＭＳ Ｐゴシック" charset="0"/>
              </a:defRPr>
            </a:lvl4pPr>
            <a:lvl5pPr eaLnBrk="0" hangingPunct="0">
              <a:defRPr sz="9600">
                <a:solidFill>
                  <a:schemeClr val="tx1"/>
                </a:solidFill>
                <a:latin typeface="Arial" charset="0"/>
                <a:ea typeface="ＭＳ Ｐゴシック" charset="0"/>
              </a:defRPr>
            </a:lvl5pPr>
            <a:lvl6pPr marL="457200" eaLnBrk="0" fontAlgn="base" hangingPunct="0">
              <a:spcBef>
                <a:spcPct val="0"/>
              </a:spcBef>
              <a:spcAft>
                <a:spcPct val="0"/>
              </a:spcAft>
              <a:defRPr sz="9600">
                <a:solidFill>
                  <a:schemeClr val="tx1"/>
                </a:solidFill>
                <a:latin typeface="Arial" charset="0"/>
                <a:ea typeface="ＭＳ Ｐゴシック" charset="0"/>
              </a:defRPr>
            </a:lvl6pPr>
            <a:lvl7pPr marL="914400" eaLnBrk="0" fontAlgn="base" hangingPunct="0">
              <a:spcBef>
                <a:spcPct val="0"/>
              </a:spcBef>
              <a:spcAft>
                <a:spcPct val="0"/>
              </a:spcAft>
              <a:defRPr sz="9600">
                <a:solidFill>
                  <a:schemeClr val="tx1"/>
                </a:solidFill>
                <a:latin typeface="Arial" charset="0"/>
                <a:ea typeface="ＭＳ Ｐゴシック" charset="0"/>
              </a:defRPr>
            </a:lvl7pPr>
            <a:lvl8pPr marL="1371600" eaLnBrk="0" fontAlgn="base" hangingPunct="0">
              <a:spcBef>
                <a:spcPct val="0"/>
              </a:spcBef>
              <a:spcAft>
                <a:spcPct val="0"/>
              </a:spcAft>
              <a:defRPr sz="9600">
                <a:solidFill>
                  <a:schemeClr val="tx1"/>
                </a:solidFill>
                <a:latin typeface="Arial" charset="0"/>
                <a:ea typeface="ＭＳ Ｐゴシック" charset="0"/>
              </a:defRPr>
            </a:lvl8pPr>
            <a:lvl9pPr marL="1828800" eaLnBrk="0" fontAlgn="base" hangingPunct="0">
              <a:spcBef>
                <a:spcPct val="0"/>
              </a:spcBef>
              <a:spcAft>
                <a:spcPct val="0"/>
              </a:spcAft>
              <a:defRPr sz="9600">
                <a:solidFill>
                  <a:schemeClr val="tx1"/>
                </a:solidFill>
                <a:latin typeface="Arial" charset="0"/>
                <a:ea typeface="ＭＳ Ｐゴシック" charset="0"/>
              </a:defRPr>
            </a:lvl9pPr>
          </a:lstStyle>
          <a:p>
            <a:pPr eaLnBrk="1" fontAlgn="base" hangingPunct="1">
              <a:spcBef>
                <a:spcPct val="0"/>
              </a:spcBef>
              <a:spcAft>
                <a:spcPct val="0"/>
              </a:spcAft>
            </a:pPr>
            <a:r>
              <a:rPr lang="en-US" sz="2400">
                <a:solidFill>
                  <a:srgbClr val="000000"/>
                </a:solidFill>
              </a:rPr>
              <a:t>X-Pro</a:t>
            </a:r>
          </a:p>
        </p:txBody>
      </p:sp>
      <p:sp>
        <p:nvSpPr>
          <p:cNvPr id="104457" name="TextBox 9"/>
          <p:cNvSpPr txBox="1">
            <a:spLocks noChangeArrowheads="1"/>
          </p:cNvSpPr>
          <p:nvPr/>
        </p:nvSpPr>
        <p:spPr bwMode="auto">
          <a:xfrm>
            <a:off x="7239000" y="3429000"/>
            <a:ext cx="1795463" cy="1631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9600">
                <a:solidFill>
                  <a:schemeClr val="tx1"/>
                </a:solidFill>
                <a:latin typeface="Arial" charset="0"/>
                <a:ea typeface="ＭＳ Ｐゴシック" charset="0"/>
                <a:cs typeface="ＭＳ Ｐゴシック" charset="0"/>
              </a:defRPr>
            </a:lvl1pPr>
            <a:lvl2pPr marL="37931725" indent="-37474525" eaLnBrk="0" hangingPunct="0">
              <a:defRPr sz="9600">
                <a:solidFill>
                  <a:schemeClr val="tx1"/>
                </a:solidFill>
                <a:latin typeface="Arial" charset="0"/>
                <a:ea typeface="ＭＳ Ｐゴシック" charset="0"/>
              </a:defRPr>
            </a:lvl2pPr>
            <a:lvl3pPr eaLnBrk="0" hangingPunct="0">
              <a:defRPr sz="9600">
                <a:solidFill>
                  <a:schemeClr val="tx1"/>
                </a:solidFill>
                <a:latin typeface="Arial" charset="0"/>
                <a:ea typeface="ＭＳ Ｐゴシック" charset="0"/>
              </a:defRPr>
            </a:lvl3pPr>
            <a:lvl4pPr eaLnBrk="0" hangingPunct="0">
              <a:defRPr sz="9600">
                <a:solidFill>
                  <a:schemeClr val="tx1"/>
                </a:solidFill>
                <a:latin typeface="Arial" charset="0"/>
                <a:ea typeface="ＭＳ Ｐゴシック" charset="0"/>
              </a:defRPr>
            </a:lvl4pPr>
            <a:lvl5pPr eaLnBrk="0" hangingPunct="0">
              <a:defRPr sz="9600">
                <a:solidFill>
                  <a:schemeClr val="tx1"/>
                </a:solidFill>
                <a:latin typeface="Arial" charset="0"/>
                <a:ea typeface="ＭＳ Ｐゴシック" charset="0"/>
              </a:defRPr>
            </a:lvl5pPr>
            <a:lvl6pPr marL="457200" eaLnBrk="0" fontAlgn="base" hangingPunct="0">
              <a:spcBef>
                <a:spcPct val="0"/>
              </a:spcBef>
              <a:spcAft>
                <a:spcPct val="0"/>
              </a:spcAft>
              <a:defRPr sz="9600">
                <a:solidFill>
                  <a:schemeClr val="tx1"/>
                </a:solidFill>
                <a:latin typeface="Arial" charset="0"/>
                <a:ea typeface="ＭＳ Ｐゴシック" charset="0"/>
              </a:defRPr>
            </a:lvl6pPr>
            <a:lvl7pPr marL="914400" eaLnBrk="0" fontAlgn="base" hangingPunct="0">
              <a:spcBef>
                <a:spcPct val="0"/>
              </a:spcBef>
              <a:spcAft>
                <a:spcPct val="0"/>
              </a:spcAft>
              <a:defRPr sz="9600">
                <a:solidFill>
                  <a:schemeClr val="tx1"/>
                </a:solidFill>
                <a:latin typeface="Arial" charset="0"/>
                <a:ea typeface="ＭＳ Ｐゴシック" charset="0"/>
              </a:defRPr>
            </a:lvl7pPr>
            <a:lvl8pPr marL="1371600" eaLnBrk="0" fontAlgn="base" hangingPunct="0">
              <a:spcBef>
                <a:spcPct val="0"/>
              </a:spcBef>
              <a:spcAft>
                <a:spcPct val="0"/>
              </a:spcAft>
              <a:defRPr sz="9600">
                <a:solidFill>
                  <a:schemeClr val="tx1"/>
                </a:solidFill>
                <a:latin typeface="Arial" charset="0"/>
                <a:ea typeface="ＭＳ Ｐゴシック" charset="0"/>
              </a:defRPr>
            </a:lvl8pPr>
            <a:lvl9pPr marL="1828800" eaLnBrk="0" fontAlgn="base" hangingPunct="0">
              <a:spcBef>
                <a:spcPct val="0"/>
              </a:spcBef>
              <a:spcAft>
                <a:spcPct val="0"/>
              </a:spcAft>
              <a:defRPr sz="9600">
                <a:solidFill>
                  <a:schemeClr val="tx1"/>
                </a:solidFill>
                <a:latin typeface="Arial" charset="0"/>
                <a:ea typeface="ＭＳ Ｐゴシック" charset="0"/>
              </a:defRPr>
            </a:lvl9pPr>
          </a:lstStyle>
          <a:p>
            <a:pPr defTabSz="914400" eaLnBrk="1" fontAlgn="base" hangingPunct="1">
              <a:spcBef>
                <a:spcPct val="0"/>
              </a:spcBef>
              <a:spcAft>
                <a:spcPct val="0"/>
              </a:spcAft>
            </a:pPr>
            <a:r>
              <a:rPr lang="en-US" sz="2000" dirty="0">
                <a:solidFill>
                  <a:srgbClr val="000000"/>
                </a:solidFill>
              </a:rPr>
              <a:t>can be</a:t>
            </a:r>
          </a:p>
          <a:p>
            <a:pPr defTabSz="914400" eaLnBrk="1" fontAlgn="base" hangingPunct="1">
              <a:spcBef>
                <a:spcPct val="0"/>
              </a:spcBef>
              <a:spcAft>
                <a:spcPct val="0"/>
              </a:spcAft>
            </a:pPr>
            <a:r>
              <a:rPr lang="en-US" sz="2000" dirty="0">
                <a:solidFill>
                  <a:srgbClr val="000000"/>
                </a:solidFill>
              </a:rPr>
              <a:t>~5 – 50% </a:t>
            </a:r>
            <a:r>
              <a:rPr lang="en-US" sz="2000" i="1" dirty="0">
                <a:solidFill>
                  <a:srgbClr val="000000"/>
                </a:solidFill>
              </a:rPr>
              <a:t>cis</a:t>
            </a:r>
            <a:r>
              <a:rPr lang="en-US" sz="2000" dirty="0">
                <a:solidFill>
                  <a:srgbClr val="000000"/>
                </a:solidFill>
              </a:rPr>
              <a:t> </a:t>
            </a:r>
          </a:p>
          <a:p>
            <a:pPr defTabSz="914400" eaLnBrk="1" fontAlgn="base" hangingPunct="1">
              <a:spcBef>
                <a:spcPct val="0"/>
              </a:spcBef>
              <a:spcAft>
                <a:spcPct val="0"/>
              </a:spcAft>
            </a:pPr>
            <a:r>
              <a:rPr lang="en-US" sz="2000" dirty="0">
                <a:solidFill>
                  <a:srgbClr val="000000"/>
                </a:solidFill>
              </a:rPr>
              <a:t>in loops, tails,</a:t>
            </a:r>
          </a:p>
          <a:p>
            <a:pPr defTabSz="914400" eaLnBrk="1" fontAlgn="base" hangingPunct="1">
              <a:spcBef>
                <a:spcPct val="0"/>
              </a:spcBef>
              <a:spcAft>
                <a:spcPct val="0"/>
              </a:spcAft>
            </a:pPr>
            <a:r>
              <a:rPr lang="en-US" sz="2000" dirty="0">
                <a:solidFill>
                  <a:srgbClr val="000000"/>
                </a:solidFill>
              </a:rPr>
              <a:t>unconstrained</a:t>
            </a:r>
          </a:p>
          <a:p>
            <a:pPr defTabSz="914400" eaLnBrk="1" fontAlgn="base" hangingPunct="1">
              <a:spcBef>
                <a:spcPct val="0"/>
              </a:spcBef>
              <a:spcAft>
                <a:spcPct val="0"/>
              </a:spcAft>
            </a:pPr>
            <a:r>
              <a:rPr lang="en-US" sz="2000" dirty="0">
                <a:solidFill>
                  <a:srgbClr val="000000"/>
                </a:solidFill>
              </a:rPr>
              <a:t>peptides</a:t>
            </a:r>
          </a:p>
        </p:txBody>
      </p:sp>
      <p:sp>
        <p:nvSpPr>
          <p:cNvPr id="2" name="TextBox 1"/>
          <p:cNvSpPr txBox="1"/>
          <p:nvPr/>
        </p:nvSpPr>
        <p:spPr>
          <a:xfrm>
            <a:off x="7336559" y="2340114"/>
            <a:ext cx="1909818" cy="707886"/>
          </a:xfrm>
          <a:prstGeom prst="rect">
            <a:avLst/>
          </a:prstGeom>
          <a:noFill/>
        </p:spPr>
        <p:txBody>
          <a:bodyPr wrap="none" rtlCol="0">
            <a:spAutoFit/>
          </a:bodyPr>
          <a:lstStyle/>
          <a:p>
            <a:r>
              <a:rPr lang="en-US" b="1" dirty="0">
                <a:solidFill>
                  <a:srgbClr val="FF0000"/>
                </a:solidFill>
              </a:rPr>
              <a:t>X = Aromatic </a:t>
            </a:r>
          </a:p>
          <a:p>
            <a:r>
              <a:rPr lang="en-US" b="1" dirty="0">
                <a:solidFill>
                  <a:srgbClr val="FF0000"/>
                </a:solidFill>
              </a:rPr>
              <a:t>residues</a:t>
            </a:r>
          </a:p>
        </p:txBody>
      </p:sp>
      <p:cxnSp>
        <p:nvCxnSpPr>
          <p:cNvPr id="4" name="Straight Arrow Connector 3"/>
          <p:cNvCxnSpPr>
            <a:cxnSpLocks/>
            <a:stCxn id="2" idx="2"/>
          </p:cNvCxnSpPr>
          <p:nvPr/>
        </p:nvCxnSpPr>
        <p:spPr>
          <a:xfrm flipH="1">
            <a:off x="8181160" y="3048000"/>
            <a:ext cx="110308" cy="800084"/>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16246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3495"/>
                                        </p:tgtEl>
                                        <p:attrNameLst>
                                          <p:attrName>style.visibility</p:attrName>
                                        </p:attrNameLst>
                                      </p:cBhvr>
                                      <p:to>
                                        <p:strVal val="visible"/>
                                      </p:to>
                                    </p:set>
                                    <p:animEffect transition="in" filter="dissolve">
                                      <p:cBhvr>
                                        <p:cTn id="7" dur="500"/>
                                        <p:tgtEl>
                                          <p:spTgt spid="63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image.pdf"/>
          <p:cNvPicPr/>
          <p:nvPr/>
        </p:nvPicPr>
        <p:blipFill>
          <a:blip r:embed="rId3">
            <a:alphaModFix amt="80000"/>
          </a:blip>
          <a:stretch>
            <a:fillRect/>
          </a:stretch>
        </p:blipFill>
        <p:spPr>
          <a:xfrm>
            <a:off x="1599531" y="54579"/>
            <a:ext cx="6645275" cy="6858000"/>
          </a:xfrm>
          <a:prstGeom prst="rect">
            <a:avLst/>
          </a:prstGeom>
          <a:ln>
            <a:miter lim="400000"/>
          </a:ln>
        </p:spPr>
      </p:pic>
      <p:sp>
        <p:nvSpPr>
          <p:cNvPr id="68" name="Shape 68"/>
          <p:cNvSpPr/>
          <p:nvPr/>
        </p:nvSpPr>
        <p:spPr>
          <a:xfrm>
            <a:off x="4114800" y="-11340"/>
            <a:ext cx="3733800" cy="304800"/>
          </a:xfrm>
          <a:prstGeom prst="rect">
            <a:avLst/>
          </a:prstGeom>
          <a:solidFill>
            <a:srgbClr val="FFFFFF"/>
          </a:solidFill>
          <a:ln>
            <a:miter lim="400000"/>
          </a:ln>
        </p:spPr>
        <p:txBody>
          <a:bodyPr lIns="0" tIns="0" rIns="0" bIns="0" anchor="ctr"/>
          <a:lstStyle/>
          <a:p>
            <a:pPr lvl="0">
              <a:defRPr sz="2400" b="0">
                <a:latin typeface="+mn-lt"/>
                <a:ea typeface="+mn-ea"/>
                <a:cs typeface="+mn-cs"/>
                <a:sym typeface="Times Roman"/>
              </a:defRPr>
            </a:pPr>
            <a:endParaRPr b="0">
              <a:latin typeface="Gill Sans" charset="0"/>
              <a:ea typeface="Gill Sans" charset="0"/>
              <a:cs typeface="Gill Sans" charset="0"/>
            </a:endParaRPr>
          </a:p>
        </p:txBody>
      </p:sp>
      <p:sp>
        <p:nvSpPr>
          <p:cNvPr id="69" name="Shape 69"/>
          <p:cNvSpPr/>
          <p:nvPr/>
        </p:nvSpPr>
        <p:spPr>
          <a:xfrm>
            <a:off x="2438400" y="-11340"/>
            <a:ext cx="2286000" cy="381000"/>
          </a:xfrm>
          <a:prstGeom prst="rect">
            <a:avLst/>
          </a:prstGeom>
          <a:solidFill>
            <a:srgbClr val="FFFFFF"/>
          </a:solidFill>
          <a:ln>
            <a:miter lim="400000"/>
          </a:ln>
        </p:spPr>
        <p:txBody>
          <a:bodyPr lIns="0" tIns="0" rIns="0" bIns="0" anchor="ctr"/>
          <a:lstStyle/>
          <a:p>
            <a:pPr lvl="0">
              <a:defRPr sz="2400" b="0">
                <a:latin typeface="+mn-lt"/>
                <a:ea typeface="+mn-ea"/>
                <a:cs typeface="+mn-cs"/>
                <a:sym typeface="Times Roman"/>
              </a:defRPr>
            </a:pPr>
            <a:endParaRPr b="0">
              <a:latin typeface="Gill Sans" charset="0"/>
              <a:ea typeface="Gill Sans" charset="0"/>
              <a:cs typeface="Gill Sans" charset="0"/>
            </a:endParaRPr>
          </a:p>
        </p:txBody>
      </p:sp>
      <p:grpSp>
        <p:nvGrpSpPr>
          <p:cNvPr id="79" name="Group 79"/>
          <p:cNvGrpSpPr/>
          <p:nvPr/>
        </p:nvGrpSpPr>
        <p:grpSpPr>
          <a:xfrm>
            <a:off x="1752600" y="4343400"/>
            <a:ext cx="2971800" cy="458788"/>
            <a:chOff x="0" y="0"/>
            <a:chExt cx="2971800" cy="458787"/>
          </a:xfrm>
        </p:grpSpPr>
        <p:sp>
          <p:nvSpPr>
            <p:cNvPr id="70" name="Shape 70"/>
            <p:cNvSpPr/>
            <p:nvPr/>
          </p:nvSpPr>
          <p:spPr>
            <a:xfrm>
              <a:off x="304800" y="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sp>
          <p:nvSpPr>
            <p:cNvPr id="71" name="Shape 71"/>
            <p:cNvSpPr/>
            <p:nvPr/>
          </p:nvSpPr>
          <p:spPr>
            <a:xfrm>
              <a:off x="1066800" y="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sp>
          <p:nvSpPr>
            <p:cNvPr id="72" name="Shape 72"/>
            <p:cNvSpPr/>
            <p:nvPr/>
          </p:nvSpPr>
          <p:spPr>
            <a:xfrm>
              <a:off x="2667000" y="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sp>
          <p:nvSpPr>
            <p:cNvPr id="73" name="Shape 73"/>
            <p:cNvSpPr/>
            <p:nvPr/>
          </p:nvSpPr>
          <p:spPr>
            <a:xfrm>
              <a:off x="0" y="22860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sp>
          <p:nvSpPr>
            <p:cNvPr id="74" name="Shape 74"/>
            <p:cNvSpPr/>
            <p:nvPr/>
          </p:nvSpPr>
          <p:spPr>
            <a:xfrm>
              <a:off x="1066800" y="22860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sp>
          <p:nvSpPr>
            <p:cNvPr id="75" name="Shape 75"/>
            <p:cNvSpPr/>
            <p:nvPr/>
          </p:nvSpPr>
          <p:spPr>
            <a:xfrm>
              <a:off x="2286000" y="22860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sp>
          <p:nvSpPr>
            <p:cNvPr id="76" name="Shape 76"/>
            <p:cNvSpPr/>
            <p:nvPr/>
          </p:nvSpPr>
          <p:spPr>
            <a:xfrm>
              <a:off x="2667000" y="22860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sp>
          <p:nvSpPr>
            <p:cNvPr id="77" name="Shape 77"/>
            <p:cNvSpPr/>
            <p:nvPr/>
          </p:nvSpPr>
          <p:spPr>
            <a:xfrm>
              <a:off x="0" y="45720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sp>
          <p:nvSpPr>
            <p:cNvPr id="78" name="Shape 78"/>
            <p:cNvSpPr/>
            <p:nvPr/>
          </p:nvSpPr>
          <p:spPr>
            <a:xfrm>
              <a:off x="1371600" y="45720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grpSp>
      <p:grpSp>
        <p:nvGrpSpPr>
          <p:cNvPr id="86" name="Group 86"/>
          <p:cNvGrpSpPr/>
          <p:nvPr/>
        </p:nvGrpSpPr>
        <p:grpSpPr>
          <a:xfrm>
            <a:off x="5562600" y="6553200"/>
            <a:ext cx="2209800" cy="230188"/>
            <a:chOff x="0" y="0"/>
            <a:chExt cx="2209800" cy="230187"/>
          </a:xfrm>
        </p:grpSpPr>
        <p:sp>
          <p:nvSpPr>
            <p:cNvPr id="80" name="Shape 80"/>
            <p:cNvSpPr/>
            <p:nvPr/>
          </p:nvSpPr>
          <p:spPr>
            <a:xfrm>
              <a:off x="0" y="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sp>
          <p:nvSpPr>
            <p:cNvPr id="81" name="Shape 81"/>
            <p:cNvSpPr/>
            <p:nvPr/>
          </p:nvSpPr>
          <p:spPr>
            <a:xfrm>
              <a:off x="381000" y="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sp>
          <p:nvSpPr>
            <p:cNvPr id="82" name="Shape 82"/>
            <p:cNvSpPr/>
            <p:nvPr/>
          </p:nvSpPr>
          <p:spPr>
            <a:xfrm>
              <a:off x="1143000" y="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sp>
          <p:nvSpPr>
            <p:cNvPr id="83" name="Shape 83"/>
            <p:cNvSpPr/>
            <p:nvPr/>
          </p:nvSpPr>
          <p:spPr>
            <a:xfrm>
              <a:off x="1905000" y="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sp>
          <p:nvSpPr>
            <p:cNvPr id="84" name="Shape 84"/>
            <p:cNvSpPr/>
            <p:nvPr/>
          </p:nvSpPr>
          <p:spPr>
            <a:xfrm>
              <a:off x="381000" y="22860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sp>
          <p:nvSpPr>
            <p:cNvPr id="85" name="Shape 85"/>
            <p:cNvSpPr/>
            <p:nvPr/>
          </p:nvSpPr>
          <p:spPr>
            <a:xfrm>
              <a:off x="1905000" y="228600"/>
              <a:ext cx="304800" cy="1588"/>
            </a:xfrm>
            <a:prstGeom prst="line">
              <a:avLst/>
            </a:prstGeom>
            <a:noFill/>
            <a:ln w="28575"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grpSp>
      <p:sp>
        <p:nvSpPr>
          <p:cNvPr id="87" name="Shape 87"/>
          <p:cNvSpPr/>
          <p:nvPr/>
        </p:nvSpPr>
        <p:spPr>
          <a:xfrm>
            <a:off x="22680" y="1587500"/>
            <a:ext cx="2663370" cy="1077218"/>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lvl="0">
              <a:spcBef>
                <a:spcPts val="900"/>
              </a:spcBef>
              <a:buClr>
                <a:srgbClr val="E62C9A"/>
              </a:buClr>
              <a:buFont typeface="Helvetica"/>
              <a:defRPr sz="1800" b="0">
                <a:uFillTx/>
              </a:defRPr>
            </a:pPr>
            <a:r>
              <a:rPr sz="1600" b="0" dirty="0">
                <a:solidFill>
                  <a:schemeClr val="tx1"/>
                </a:solidFill>
                <a:uFill>
                  <a:solidFill>
                    <a:srgbClr val="E62C9A"/>
                  </a:solidFill>
                </a:uFill>
                <a:latin typeface="Gill Sans" charset="0"/>
                <a:ea typeface="Gill Sans" charset="0"/>
                <a:cs typeface="Gill Sans" charset="0"/>
              </a:rPr>
              <a:t>H</a:t>
            </a:r>
            <a:r>
              <a:rPr lang="en-US" sz="1600" b="0" dirty="0">
                <a:solidFill>
                  <a:schemeClr val="tx1"/>
                </a:solidFill>
                <a:uFill>
                  <a:solidFill>
                    <a:srgbClr val="E62C9A"/>
                  </a:solidFill>
                </a:uFill>
                <a:latin typeface="Gill Sans" charset="0"/>
                <a:ea typeface="Gill Sans" charset="0"/>
                <a:cs typeface="Gill Sans" charset="0"/>
              </a:rPr>
              <a:t>elix turns 360</a:t>
            </a:r>
            <a:r>
              <a:rPr lang="en-US" sz="1600" b="0" baseline="35999" dirty="0">
                <a:solidFill>
                  <a:schemeClr val="tx1"/>
                </a:solidFill>
                <a:uFill>
                  <a:solidFill>
                    <a:srgbClr val="E62C9A"/>
                  </a:solidFill>
                </a:uFill>
                <a:latin typeface="Gill Sans" charset="0"/>
                <a:ea typeface="Gill Sans" charset="0"/>
                <a:cs typeface="Gill Sans" charset="0"/>
              </a:rPr>
              <a:t>o</a:t>
            </a:r>
            <a:r>
              <a:rPr lang="en-US" sz="1600" b="0" dirty="0">
                <a:solidFill>
                  <a:schemeClr val="tx1"/>
                </a:solidFill>
                <a:uFill>
                  <a:solidFill>
                    <a:srgbClr val="E62C9A"/>
                  </a:solidFill>
                </a:uFill>
                <a:latin typeface="Gill Sans" charset="0"/>
                <a:ea typeface="Gill Sans" charset="0"/>
                <a:cs typeface="Gill Sans" charset="0"/>
              </a:rPr>
              <a:t> every </a:t>
            </a:r>
            <a:r>
              <a:rPr sz="1600" b="0" dirty="0">
                <a:solidFill>
                  <a:schemeClr val="tx1"/>
                </a:solidFill>
                <a:uFill>
                  <a:solidFill>
                    <a:srgbClr val="E62C9A"/>
                  </a:solidFill>
                </a:uFill>
                <a:latin typeface="Gill Sans" charset="0"/>
                <a:ea typeface="Gill Sans" charset="0"/>
                <a:cs typeface="Gill Sans" charset="0"/>
              </a:rPr>
              <a:t>3.6 AA </a:t>
            </a:r>
            <a:r>
              <a:rPr sz="2200" b="0" dirty="0">
                <a:solidFill>
                  <a:schemeClr val="tx1"/>
                </a:solidFill>
                <a:uFill>
                  <a:solidFill>
                    <a:srgbClr val="E62C9A"/>
                  </a:solidFill>
                </a:uFill>
                <a:latin typeface="Gill Sans" charset="0"/>
                <a:ea typeface="Gill Sans" charset="0"/>
                <a:cs typeface="Gill Sans" charset="0"/>
                <a:sym typeface="Symbol"/>
              </a:rPr>
              <a:t>∴</a:t>
            </a:r>
            <a:r>
              <a:rPr sz="1600" b="0" dirty="0">
                <a:solidFill>
                  <a:schemeClr val="tx1"/>
                </a:solidFill>
                <a:uFill>
                  <a:solidFill>
                    <a:srgbClr val="E62C9A"/>
                  </a:solidFill>
                </a:uFill>
                <a:latin typeface="Gill Sans" charset="0"/>
                <a:ea typeface="Gill Sans" charset="0"/>
                <a:cs typeface="Gill Sans" charset="0"/>
              </a:rPr>
              <a:t> </a:t>
            </a:r>
            <a:r>
              <a:rPr lang="en-US" sz="1600" b="0" dirty="0">
                <a:solidFill>
                  <a:schemeClr val="tx1"/>
                </a:solidFill>
                <a:uFill>
                  <a:solidFill>
                    <a:srgbClr val="E62C9A"/>
                  </a:solidFill>
                </a:uFill>
                <a:latin typeface="Gill Sans" charset="0"/>
                <a:ea typeface="Gill Sans" charset="0"/>
                <a:cs typeface="Gill Sans" charset="0"/>
              </a:rPr>
              <a:t>IF polar residues are spaced  </a:t>
            </a:r>
            <a:r>
              <a:rPr lang="en-US" sz="2400" b="0" baseline="-5000" dirty="0">
                <a:solidFill>
                  <a:schemeClr val="tx1"/>
                </a:solidFill>
                <a:uFill>
                  <a:solidFill>
                    <a:srgbClr val="E62C9A"/>
                  </a:solidFill>
                </a:uFill>
                <a:latin typeface="Gill Sans" charset="0"/>
                <a:ea typeface="Gill Sans" charset="0"/>
                <a:cs typeface="Gill Sans" charset="0"/>
              </a:rPr>
              <a:t>~</a:t>
            </a:r>
            <a:r>
              <a:rPr lang="en-US" sz="1600" b="0" dirty="0">
                <a:solidFill>
                  <a:schemeClr val="tx1"/>
                </a:solidFill>
                <a:uFill>
                  <a:solidFill>
                    <a:srgbClr val="E62C9A"/>
                  </a:solidFill>
                </a:uFill>
                <a:latin typeface="Gill Sans" charset="0"/>
                <a:ea typeface="Gill Sans" charset="0"/>
                <a:cs typeface="Gill Sans" charset="0"/>
              </a:rPr>
              <a:t> every 3 - 4 </a:t>
            </a:r>
            <a:r>
              <a:rPr sz="1600" b="0" dirty="0">
                <a:solidFill>
                  <a:schemeClr val="tx1"/>
                </a:solidFill>
                <a:uFill>
                  <a:solidFill>
                    <a:srgbClr val="E62C9A"/>
                  </a:solidFill>
                </a:uFill>
                <a:latin typeface="Gill Sans" charset="0"/>
                <a:ea typeface="Gill Sans" charset="0"/>
                <a:cs typeface="Gill Sans" charset="0"/>
              </a:rPr>
              <a:t>AA, </a:t>
            </a:r>
            <a:r>
              <a:rPr lang="en-US" sz="1600" b="0" dirty="0">
                <a:solidFill>
                  <a:schemeClr val="tx1"/>
                </a:solidFill>
                <a:uFill>
                  <a:solidFill>
                    <a:srgbClr val="E62C9A"/>
                  </a:solidFill>
                </a:uFill>
                <a:latin typeface="Gill Sans" charset="0"/>
                <a:ea typeface="Gill Sans" charset="0"/>
                <a:cs typeface="Gill Sans" charset="0"/>
              </a:rPr>
              <a:t>they are all on one side of the helix!</a:t>
            </a:r>
          </a:p>
        </p:txBody>
      </p:sp>
      <p:sp>
        <p:nvSpPr>
          <p:cNvPr id="88" name="Shape 88"/>
          <p:cNvSpPr/>
          <p:nvPr/>
        </p:nvSpPr>
        <p:spPr>
          <a:xfrm>
            <a:off x="102059" y="-26852"/>
            <a:ext cx="9156701" cy="338554"/>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1100"/>
              </a:spcBef>
              <a:buClr>
                <a:srgbClr val="000000"/>
              </a:buClr>
              <a:buFont typeface="Helvetica"/>
              <a:defRPr sz="1900"/>
            </a:lvl1pPr>
          </a:lstStyle>
          <a:p>
            <a:pPr lvl="0" algn="ctr">
              <a:defRPr sz="1800" b="0">
                <a:uFillTx/>
              </a:defRPr>
            </a:pPr>
            <a:r>
              <a:rPr sz="1900" b="0" dirty="0">
                <a:uFill>
                  <a:solidFill/>
                </a:uFill>
                <a:latin typeface="Gill Sans" charset="0"/>
                <a:ea typeface="Gill Sans" charset="0"/>
                <a:cs typeface="Gill Sans" charset="0"/>
              </a:rPr>
              <a:t>O</a:t>
            </a:r>
            <a:r>
              <a:rPr lang="en-US" sz="1900" b="0" dirty="0">
                <a:uFill>
                  <a:solidFill/>
                </a:uFill>
                <a:latin typeface="Gill Sans" charset="0"/>
                <a:ea typeface="Gill Sans" charset="0"/>
                <a:cs typeface="Gill Sans" charset="0"/>
              </a:rPr>
              <a:t>ne way </a:t>
            </a:r>
            <a:r>
              <a:rPr lang="en-US" sz="2200" b="0" dirty="0">
                <a:uFill>
                  <a:solidFill/>
                </a:uFill>
                <a:latin typeface="Gill Sans" charset="0"/>
                <a:ea typeface="Gill Sans" charset="0"/>
                <a:cs typeface="Gill Sans" charset="0"/>
              </a:rPr>
              <a:t>hydrophobic</a:t>
            </a:r>
            <a:r>
              <a:rPr lang="en-US" sz="1900" b="0" dirty="0">
                <a:uFill>
                  <a:solidFill/>
                </a:uFill>
                <a:latin typeface="Gill Sans" charset="0"/>
                <a:ea typeface="Gill Sans" charset="0"/>
                <a:cs typeface="Gill Sans" charset="0"/>
              </a:rPr>
              <a:t> effect shows up</a:t>
            </a:r>
            <a:r>
              <a:rPr sz="1900" b="0" dirty="0">
                <a:uFill>
                  <a:solidFill/>
                </a:uFill>
                <a:latin typeface="Gill Sans" charset="0"/>
                <a:ea typeface="Gill Sans" charset="0"/>
                <a:cs typeface="Gill Sans" charset="0"/>
              </a:rPr>
              <a:t>: A</a:t>
            </a:r>
            <a:r>
              <a:rPr lang="en-US" sz="1900" b="0" dirty="0">
                <a:uFill>
                  <a:solidFill/>
                </a:uFill>
                <a:latin typeface="Gill Sans" charset="0"/>
                <a:ea typeface="Gill Sans" charset="0"/>
                <a:cs typeface="Gill Sans" charset="0"/>
              </a:rPr>
              <a:t>mphipathic helices</a:t>
            </a:r>
          </a:p>
        </p:txBody>
      </p:sp>
      <p:sp>
        <p:nvSpPr>
          <p:cNvPr id="89" name="Shape 89"/>
          <p:cNvSpPr/>
          <p:nvPr/>
        </p:nvSpPr>
        <p:spPr>
          <a:xfrm rot="20700000">
            <a:off x="4982190" y="942283"/>
            <a:ext cx="1193801" cy="22606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ln w="127000" cap="rnd">
            <a:solidFill/>
            <a:prstDash val="sysDot"/>
            <a:round/>
          </a:ln>
        </p:spPr>
        <p:txBody>
          <a:bodyPr lIns="0" tIns="0" rIns="0" bIns="0" anchor="ctr"/>
          <a:lstStyle/>
          <a:p>
            <a:pPr lvl="0">
              <a:defRPr sz="2400" b="0">
                <a:latin typeface="+mn-lt"/>
                <a:ea typeface="+mn-ea"/>
                <a:cs typeface="+mn-cs"/>
                <a:sym typeface="Times Roman"/>
              </a:defRPr>
            </a:pPr>
            <a:endParaRPr b="0">
              <a:latin typeface="Gill Sans" charset="0"/>
              <a:ea typeface="Gill Sans" charset="0"/>
              <a:cs typeface="Gill Sans" charset="0"/>
            </a:endParaRPr>
          </a:p>
        </p:txBody>
      </p:sp>
      <p:sp>
        <p:nvSpPr>
          <p:cNvPr id="90" name="Shape 90"/>
          <p:cNvSpPr/>
          <p:nvPr/>
        </p:nvSpPr>
        <p:spPr>
          <a:xfrm rot="20880000">
            <a:off x="5397329" y="2729969"/>
            <a:ext cx="2159001" cy="10795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ln w="101600" cap="rnd">
            <a:solidFill/>
            <a:prstDash val="sysDash"/>
            <a:round/>
          </a:ln>
        </p:spPr>
        <p:txBody>
          <a:bodyPr lIns="0" tIns="0" rIns="0" bIns="0" anchor="ctr"/>
          <a:lstStyle/>
          <a:p>
            <a:pPr lvl="0">
              <a:defRPr sz="2400" b="0">
                <a:latin typeface="+mn-lt"/>
                <a:ea typeface="+mn-ea"/>
                <a:cs typeface="+mn-cs"/>
                <a:sym typeface="Times Roman"/>
              </a:defRPr>
            </a:pPr>
            <a:endParaRPr b="0">
              <a:latin typeface="Gill Sans" charset="0"/>
              <a:ea typeface="Gill Sans" charset="0"/>
              <a:cs typeface="Gill Sans" charset="0"/>
            </a:endParaRPr>
          </a:p>
        </p:txBody>
      </p:sp>
      <p:sp>
        <p:nvSpPr>
          <p:cNvPr id="91" name="Shape 91"/>
          <p:cNvSpPr/>
          <p:nvPr/>
        </p:nvSpPr>
        <p:spPr>
          <a:xfrm>
            <a:off x="1600200" y="3683000"/>
            <a:ext cx="3314700" cy="1295400"/>
          </a:xfrm>
          <a:prstGeom prst="rect">
            <a:avLst/>
          </a:prstGeom>
          <a:solidFill>
            <a:srgbClr val="FFFFFF"/>
          </a:solidFill>
          <a:ln>
            <a:miter lim="400000"/>
          </a:ln>
        </p:spPr>
        <p:txBody>
          <a:bodyPr lIns="0" tIns="0" rIns="0" bIns="0" anchor="ctr"/>
          <a:lstStyle/>
          <a:p>
            <a:pPr lvl="0">
              <a:defRPr sz="2400" b="0">
                <a:latin typeface="+mn-lt"/>
                <a:ea typeface="+mn-ea"/>
                <a:cs typeface="+mn-cs"/>
                <a:sym typeface="Times Roman"/>
              </a:defRPr>
            </a:pPr>
            <a:endParaRPr b="0">
              <a:latin typeface="Gill Sans" charset="0"/>
              <a:ea typeface="Gill Sans" charset="0"/>
              <a:cs typeface="Gill Sans" charset="0"/>
            </a:endParaRPr>
          </a:p>
        </p:txBody>
      </p:sp>
      <p:sp>
        <p:nvSpPr>
          <p:cNvPr id="92" name="Shape 92"/>
          <p:cNvSpPr/>
          <p:nvPr/>
        </p:nvSpPr>
        <p:spPr>
          <a:xfrm>
            <a:off x="1676400" y="3340100"/>
            <a:ext cx="3369733" cy="1100301"/>
          </a:xfrm>
          <a:prstGeom prst="rect">
            <a:avLst/>
          </a:prstGeom>
          <a:solidFill>
            <a:srgbClr val="FFFFFF"/>
          </a:solidFill>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lvl="0" algn="ctr">
              <a:spcBef>
                <a:spcPts val="900"/>
              </a:spcBef>
              <a:buClr>
                <a:srgbClr val="000000"/>
              </a:buClr>
              <a:buFont typeface="Helvetica"/>
              <a:defRPr sz="1800" b="0">
                <a:uFillTx/>
              </a:defRPr>
            </a:pPr>
            <a:r>
              <a:rPr sz="1600" b="0" dirty="0">
                <a:uFill>
                  <a:solidFill/>
                </a:uFill>
                <a:latin typeface="Gill Sans" charset="0"/>
                <a:ea typeface="Gill Sans" charset="0"/>
                <a:cs typeface="Gill Sans" charset="0"/>
              </a:rPr>
              <a:t>AA 125 - 146</a:t>
            </a:r>
          </a:p>
          <a:p>
            <a:pPr lvl="0">
              <a:spcBef>
                <a:spcPts val="900"/>
              </a:spcBef>
              <a:buClr>
                <a:srgbClr val="000000"/>
              </a:buClr>
              <a:buFont typeface="Helvetica"/>
              <a:defRPr sz="1800" b="0">
                <a:uFillTx/>
              </a:defRPr>
            </a:pPr>
            <a:r>
              <a:rPr sz="1600" b="0" dirty="0">
                <a:uFill>
                  <a:solidFill/>
                </a:uFill>
                <a:latin typeface="Gill Sans" charset="0"/>
                <a:ea typeface="Gill Sans" charset="0"/>
                <a:cs typeface="Gill Sans" charset="0"/>
              </a:rPr>
              <a:t>Ala-</a:t>
            </a:r>
            <a:r>
              <a:rPr sz="1600" b="0" u="sng" dirty="0">
                <a:solidFill>
                  <a:srgbClr val="1E31E3"/>
                </a:solidFill>
                <a:uFill>
                  <a:solidFill>
                    <a:srgbClr val="1E31E3"/>
                  </a:solidFill>
                </a:uFill>
                <a:latin typeface="Gill Sans" charset="0"/>
                <a:ea typeface="Gill Sans" charset="0"/>
                <a:cs typeface="Gill Sans" charset="0"/>
              </a:rPr>
              <a:t>Asp</a:t>
            </a:r>
            <a:r>
              <a:rPr sz="1600" b="0" dirty="0">
                <a:uFill>
                  <a:solidFill/>
                </a:uFill>
                <a:latin typeface="Gill Sans" charset="0"/>
                <a:ea typeface="Gill Sans" charset="0"/>
                <a:cs typeface="Gill Sans" charset="0"/>
              </a:rPr>
              <a:t>-Ala-</a:t>
            </a:r>
            <a:r>
              <a:rPr sz="1600" b="0" u="sng" dirty="0">
                <a:solidFill>
                  <a:srgbClr val="1E31E3"/>
                </a:solidFill>
                <a:uFill>
                  <a:solidFill>
                    <a:srgbClr val="1E31E3"/>
                  </a:solidFill>
                </a:uFill>
                <a:latin typeface="Gill Sans" charset="0"/>
                <a:ea typeface="Gill Sans" charset="0"/>
                <a:cs typeface="Gill Sans" charset="0"/>
              </a:rPr>
              <a:t>Gln</a:t>
            </a:r>
            <a:r>
              <a:rPr sz="1600" b="0" dirty="0">
                <a:uFill>
                  <a:solidFill/>
                </a:uFill>
                <a:latin typeface="Gill Sans" charset="0"/>
                <a:ea typeface="Gill Sans" charset="0"/>
                <a:cs typeface="Gill Sans" charset="0"/>
              </a:rPr>
              <a:t>-Gly-Ala-Met-</a:t>
            </a:r>
            <a:r>
              <a:rPr sz="1600" b="0" u="sng" dirty="0">
                <a:solidFill>
                  <a:srgbClr val="1E31E3"/>
                </a:solidFill>
                <a:uFill>
                  <a:solidFill>
                    <a:srgbClr val="1E31E3"/>
                  </a:solidFill>
                </a:uFill>
                <a:latin typeface="Gill Sans" charset="0"/>
                <a:ea typeface="Gill Sans" charset="0"/>
                <a:cs typeface="Gill Sans" charset="0"/>
              </a:rPr>
              <a:t>Asn</a:t>
            </a:r>
            <a:r>
              <a:rPr sz="1600" b="0" dirty="0">
                <a:uFill>
                  <a:solidFill/>
                </a:uFill>
                <a:latin typeface="Gill Sans" charset="0"/>
                <a:ea typeface="Gill Sans" charset="0"/>
                <a:cs typeface="Gill Sans" charset="0"/>
              </a:rPr>
              <a:t>-   </a:t>
            </a:r>
            <a:r>
              <a:rPr sz="1600" b="0" u="sng" dirty="0">
                <a:solidFill>
                  <a:srgbClr val="1E31E3"/>
                </a:solidFill>
                <a:uFill>
                  <a:solidFill>
                    <a:srgbClr val="1E31E3"/>
                  </a:solidFill>
                </a:uFill>
                <a:latin typeface="Gill Sans" charset="0"/>
                <a:ea typeface="Gill Sans" charset="0"/>
                <a:cs typeface="Gill Sans" charset="0"/>
              </a:rPr>
              <a:t>Lys</a:t>
            </a:r>
            <a:r>
              <a:rPr sz="1600" b="0" dirty="0">
                <a:uFill>
                  <a:solidFill/>
                </a:uFill>
                <a:latin typeface="Gill Sans" charset="0"/>
                <a:ea typeface="Gill Sans" charset="0"/>
                <a:cs typeface="Gill Sans" charset="0"/>
              </a:rPr>
              <a:t>-Ala-Leu-</a:t>
            </a:r>
            <a:r>
              <a:rPr sz="1600" b="0" u="sng" dirty="0">
                <a:solidFill>
                  <a:srgbClr val="1E31E3"/>
                </a:solidFill>
                <a:uFill>
                  <a:solidFill>
                    <a:srgbClr val="1E31E3"/>
                  </a:solidFill>
                </a:uFill>
                <a:latin typeface="Gill Sans" charset="0"/>
                <a:ea typeface="Gill Sans" charset="0"/>
                <a:cs typeface="Gill Sans" charset="0"/>
              </a:rPr>
              <a:t>Glu</a:t>
            </a:r>
            <a:r>
              <a:rPr sz="1600" b="0" dirty="0">
                <a:uFill>
                  <a:solidFill/>
                </a:uFill>
                <a:latin typeface="Gill Sans" charset="0"/>
                <a:ea typeface="Gill Sans" charset="0"/>
                <a:cs typeface="Gill Sans" charset="0"/>
              </a:rPr>
              <a:t>-Leu-Phe-</a:t>
            </a:r>
            <a:r>
              <a:rPr sz="1600" b="0" u="sng" dirty="0">
                <a:solidFill>
                  <a:srgbClr val="1E31E3"/>
                </a:solidFill>
                <a:uFill>
                  <a:solidFill>
                    <a:srgbClr val="1E31E3"/>
                  </a:solidFill>
                </a:uFill>
                <a:latin typeface="Gill Sans" charset="0"/>
                <a:ea typeface="Gill Sans" charset="0"/>
                <a:cs typeface="Gill Sans" charset="0"/>
              </a:rPr>
              <a:t>Arg</a:t>
            </a:r>
            <a:r>
              <a:rPr sz="1600" b="0" dirty="0">
                <a:solidFill>
                  <a:srgbClr val="1E31E3"/>
                </a:solidFill>
                <a:uFill>
                  <a:solidFill>
                    <a:srgbClr val="1E31E3"/>
                  </a:solidFill>
                </a:uFill>
                <a:latin typeface="Gill Sans" charset="0"/>
                <a:ea typeface="Gill Sans" charset="0"/>
                <a:cs typeface="Gill Sans" charset="0"/>
              </a:rPr>
              <a:t>-</a:t>
            </a:r>
            <a:r>
              <a:rPr sz="1600" b="0" u="sng" dirty="0">
                <a:solidFill>
                  <a:srgbClr val="1E31E3"/>
                </a:solidFill>
                <a:uFill>
                  <a:solidFill>
                    <a:srgbClr val="1E31E3"/>
                  </a:solidFill>
                </a:uFill>
                <a:latin typeface="Gill Sans" charset="0"/>
                <a:ea typeface="Gill Sans" charset="0"/>
                <a:cs typeface="Gill Sans" charset="0"/>
              </a:rPr>
              <a:t>Lys</a:t>
            </a:r>
            <a:r>
              <a:rPr sz="1600" b="0" dirty="0">
                <a:uFill>
                  <a:solidFill/>
                </a:uFill>
                <a:latin typeface="Gill Sans" charset="0"/>
                <a:ea typeface="Gill Sans" charset="0"/>
                <a:cs typeface="Gill Sans" charset="0"/>
              </a:rPr>
              <a:t>-  </a:t>
            </a:r>
            <a:r>
              <a:rPr sz="1600" b="0" u="sng" dirty="0">
                <a:solidFill>
                  <a:srgbClr val="1E31E3"/>
                </a:solidFill>
                <a:uFill>
                  <a:solidFill>
                    <a:srgbClr val="1E31E3"/>
                  </a:solidFill>
                </a:uFill>
                <a:latin typeface="Gill Sans" charset="0"/>
                <a:ea typeface="Gill Sans" charset="0"/>
                <a:cs typeface="Gill Sans" charset="0"/>
              </a:rPr>
              <a:t>Asp</a:t>
            </a:r>
            <a:r>
              <a:rPr sz="1600" b="0" dirty="0">
                <a:uFill>
                  <a:solidFill/>
                </a:uFill>
                <a:latin typeface="Gill Sans" charset="0"/>
                <a:ea typeface="Gill Sans" charset="0"/>
                <a:cs typeface="Gill Sans" charset="0"/>
              </a:rPr>
              <a:t>-Ile-Ala-Ala-</a:t>
            </a:r>
            <a:r>
              <a:rPr sz="1600" b="0" u="sng" dirty="0">
                <a:solidFill>
                  <a:srgbClr val="1E31E3"/>
                </a:solidFill>
                <a:uFill>
                  <a:solidFill>
                    <a:srgbClr val="1E31E3"/>
                  </a:solidFill>
                </a:uFill>
                <a:latin typeface="Gill Sans" charset="0"/>
                <a:ea typeface="Gill Sans" charset="0"/>
                <a:cs typeface="Gill Sans" charset="0"/>
              </a:rPr>
              <a:t>Lys</a:t>
            </a:r>
            <a:r>
              <a:rPr sz="1600" b="0" dirty="0">
                <a:uFill>
                  <a:solidFill/>
                </a:uFill>
                <a:latin typeface="Gill Sans" charset="0"/>
                <a:ea typeface="Gill Sans" charset="0"/>
                <a:cs typeface="Gill Sans" charset="0"/>
              </a:rPr>
              <a:t>-Tyr-</a:t>
            </a:r>
          </a:p>
        </p:txBody>
      </p:sp>
      <p:sp>
        <p:nvSpPr>
          <p:cNvPr id="93" name="Shape 93"/>
          <p:cNvSpPr/>
          <p:nvPr/>
        </p:nvSpPr>
        <p:spPr>
          <a:xfrm>
            <a:off x="4800600" y="6019800"/>
            <a:ext cx="3429000" cy="838200"/>
          </a:xfrm>
          <a:prstGeom prst="rect">
            <a:avLst/>
          </a:prstGeom>
          <a:solidFill>
            <a:srgbClr val="FFFFFF"/>
          </a:solidFill>
          <a:ln>
            <a:miter lim="400000"/>
          </a:ln>
        </p:spPr>
        <p:txBody>
          <a:bodyPr lIns="0" tIns="0" rIns="0" bIns="0" anchor="ctr"/>
          <a:lstStyle/>
          <a:p>
            <a:pPr lvl="0">
              <a:defRPr sz="2400" b="0">
                <a:latin typeface="+mn-lt"/>
                <a:ea typeface="+mn-ea"/>
                <a:cs typeface="+mn-cs"/>
                <a:sym typeface="Times Roman"/>
              </a:defRPr>
            </a:pPr>
            <a:endParaRPr b="0">
              <a:latin typeface="Gill Sans" charset="0"/>
              <a:ea typeface="Gill Sans" charset="0"/>
              <a:cs typeface="Gill Sans" charset="0"/>
            </a:endParaRPr>
          </a:p>
        </p:txBody>
      </p:sp>
      <p:sp>
        <p:nvSpPr>
          <p:cNvPr id="94" name="Shape 94"/>
          <p:cNvSpPr/>
          <p:nvPr/>
        </p:nvSpPr>
        <p:spPr>
          <a:xfrm>
            <a:off x="2768600" y="-176440"/>
            <a:ext cx="3810000" cy="165100"/>
          </a:xfrm>
          <a:prstGeom prst="rect">
            <a:avLst/>
          </a:prstGeom>
          <a:solidFill>
            <a:srgbClr val="FFFFFF"/>
          </a:solidFill>
          <a:ln>
            <a:miter lim="400000"/>
          </a:ln>
        </p:spPr>
        <p:txBody>
          <a:bodyPr lIns="0" tIns="0" rIns="0" bIns="0" anchor="ctr"/>
          <a:lstStyle/>
          <a:p>
            <a:pPr lvl="0">
              <a:defRPr sz="2400" b="0">
                <a:latin typeface="+mn-lt"/>
                <a:ea typeface="+mn-ea"/>
                <a:cs typeface="+mn-cs"/>
                <a:sym typeface="Times Roman"/>
              </a:defRPr>
            </a:pPr>
            <a:endParaRPr b="0">
              <a:latin typeface="Gill Sans" charset="0"/>
              <a:ea typeface="Gill Sans" charset="0"/>
              <a:cs typeface="Gill Sans" charset="0"/>
            </a:endParaRPr>
          </a:p>
        </p:txBody>
      </p:sp>
      <p:sp>
        <p:nvSpPr>
          <p:cNvPr id="95" name="Shape 95"/>
          <p:cNvSpPr/>
          <p:nvPr/>
        </p:nvSpPr>
        <p:spPr>
          <a:xfrm>
            <a:off x="6324600" y="5918200"/>
            <a:ext cx="990600" cy="215900"/>
          </a:xfrm>
          <a:prstGeom prst="rect">
            <a:avLst/>
          </a:prstGeom>
          <a:solidFill>
            <a:srgbClr val="FFFFFF"/>
          </a:solidFill>
          <a:ln>
            <a:miter lim="400000"/>
          </a:ln>
        </p:spPr>
        <p:txBody>
          <a:bodyPr lIns="0" tIns="0" rIns="0" bIns="0" anchor="ctr"/>
          <a:lstStyle/>
          <a:p>
            <a:pPr lvl="0">
              <a:defRPr sz="2400" b="0">
                <a:latin typeface="+mn-lt"/>
                <a:ea typeface="+mn-ea"/>
                <a:cs typeface="+mn-cs"/>
                <a:sym typeface="Times Roman"/>
              </a:defRPr>
            </a:pPr>
            <a:endParaRPr b="0">
              <a:latin typeface="Gill Sans" charset="0"/>
              <a:ea typeface="Gill Sans" charset="0"/>
              <a:cs typeface="Gill Sans" charset="0"/>
            </a:endParaRPr>
          </a:p>
        </p:txBody>
      </p:sp>
      <p:sp>
        <p:nvSpPr>
          <p:cNvPr id="96" name="Shape 96"/>
          <p:cNvSpPr/>
          <p:nvPr/>
        </p:nvSpPr>
        <p:spPr>
          <a:xfrm>
            <a:off x="5077731" y="5950627"/>
            <a:ext cx="3560538" cy="738664"/>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lvl="0" algn="ctr">
              <a:spcBef>
                <a:spcPts val="1100"/>
              </a:spcBef>
              <a:buClr>
                <a:srgbClr val="000000"/>
              </a:buClr>
              <a:buFont typeface="Helvetica"/>
              <a:defRPr sz="1800" b="0">
                <a:uFillTx/>
              </a:defRPr>
            </a:pPr>
            <a:r>
              <a:rPr sz="1600" b="0" dirty="0">
                <a:uFill>
                  <a:solidFill/>
                </a:uFill>
                <a:latin typeface="Gill Sans" charset="0"/>
                <a:ea typeface="Gill Sans" charset="0"/>
                <a:cs typeface="Gill Sans" charset="0"/>
              </a:rPr>
              <a:t>AA 1 - 17                                          </a:t>
            </a:r>
            <a:r>
              <a:rPr lang="en-US" sz="1600" b="0" dirty="0">
                <a:uFill>
                  <a:solidFill/>
                </a:uFill>
                <a:latin typeface="Gill Sans" charset="0"/>
                <a:ea typeface="Gill Sans" charset="0"/>
                <a:cs typeface="Gill Sans" charset="0"/>
              </a:rPr>
              <a:t>       </a:t>
            </a:r>
            <a:r>
              <a:rPr sz="1600" b="0" dirty="0">
                <a:uFill>
                  <a:solidFill/>
                </a:uFill>
                <a:latin typeface="Gill Sans" charset="0"/>
                <a:ea typeface="Gill Sans" charset="0"/>
                <a:cs typeface="Gill Sans" charset="0"/>
              </a:rPr>
              <a:t>Val-Leu-</a:t>
            </a:r>
            <a:r>
              <a:rPr sz="1600" b="0" u="sng" dirty="0">
                <a:solidFill>
                  <a:srgbClr val="1E31E3"/>
                </a:solidFill>
                <a:uFill>
                  <a:solidFill>
                    <a:srgbClr val="1E31E3"/>
                  </a:solidFill>
                </a:uFill>
                <a:latin typeface="Gill Sans" charset="0"/>
                <a:ea typeface="Gill Sans" charset="0"/>
                <a:cs typeface="Gill Sans" charset="0"/>
              </a:rPr>
              <a:t>Ser</a:t>
            </a:r>
            <a:r>
              <a:rPr sz="1600" b="0" dirty="0">
                <a:solidFill>
                  <a:srgbClr val="1E31E3"/>
                </a:solidFill>
                <a:uFill>
                  <a:solidFill>
                    <a:srgbClr val="1E31E3"/>
                  </a:solidFill>
                </a:uFill>
                <a:latin typeface="Gill Sans" charset="0"/>
                <a:ea typeface="Gill Sans" charset="0"/>
                <a:cs typeface="Gill Sans" charset="0"/>
              </a:rPr>
              <a:t>-</a:t>
            </a:r>
            <a:r>
              <a:rPr sz="1600" b="0" u="sng" dirty="0">
                <a:solidFill>
                  <a:srgbClr val="1E31E3"/>
                </a:solidFill>
                <a:uFill>
                  <a:solidFill>
                    <a:srgbClr val="1E31E3"/>
                  </a:solidFill>
                </a:uFill>
                <a:latin typeface="Gill Sans" charset="0"/>
                <a:ea typeface="Gill Sans" charset="0"/>
                <a:cs typeface="Gill Sans" charset="0"/>
              </a:rPr>
              <a:t>Glu</a:t>
            </a:r>
            <a:r>
              <a:rPr sz="1600" b="0" dirty="0">
                <a:uFill>
                  <a:solidFill/>
                </a:uFill>
                <a:latin typeface="Gill Sans" charset="0"/>
                <a:ea typeface="Gill Sans" charset="0"/>
                <a:cs typeface="Gill Sans" charset="0"/>
              </a:rPr>
              <a:t>-Gly-</a:t>
            </a:r>
            <a:r>
              <a:rPr sz="1600" b="0" u="sng" dirty="0">
                <a:solidFill>
                  <a:srgbClr val="1E31E3"/>
                </a:solidFill>
                <a:uFill>
                  <a:solidFill>
                    <a:srgbClr val="1E31E3"/>
                  </a:solidFill>
                </a:uFill>
                <a:latin typeface="Gill Sans" charset="0"/>
                <a:ea typeface="Gill Sans" charset="0"/>
                <a:cs typeface="Gill Sans" charset="0"/>
              </a:rPr>
              <a:t>Glu</a:t>
            </a:r>
            <a:r>
              <a:rPr sz="1600" b="0" dirty="0">
                <a:uFill>
                  <a:solidFill/>
                </a:uFill>
                <a:latin typeface="Gill Sans" charset="0"/>
                <a:ea typeface="Gill Sans" charset="0"/>
                <a:cs typeface="Gill Sans" charset="0"/>
              </a:rPr>
              <a:t>-Trp-</a:t>
            </a:r>
            <a:r>
              <a:rPr sz="1600" b="0" u="sng" dirty="0">
                <a:solidFill>
                  <a:srgbClr val="1E31E3"/>
                </a:solidFill>
                <a:uFill>
                  <a:solidFill>
                    <a:srgbClr val="1E31E3"/>
                  </a:solidFill>
                </a:uFill>
                <a:latin typeface="Gill Sans" charset="0"/>
                <a:ea typeface="Gill Sans" charset="0"/>
                <a:cs typeface="Gill Sans" charset="0"/>
              </a:rPr>
              <a:t>Gln</a:t>
            </a:r>
            <a:r>
              <a:rPr sz="1600" b="0" dirty="0">
                <a:uFill>
                  <a:solidFill/>
                </a:uFill>
                <a:latin typeface="Gill Sans" charset="0"/>
                <a:ea typeface="Gill Sans" charset="0"/>
                <a:cs typeface="Gill Sans" charset="0"/>
              </a:rPr>
              <a:t>-Leu-Val-Leu-</a:t>
            </a:r>
            <a:r>
              <a:rPr sz="1600" b="0" u="sng" dirty="0">
                <a:solidFill>
                  <a:srgbClr val="1E31E3"/>
                </a:solidFill>
                <a:uFill>
                  <a:solidFill>
                    <a:srgbClr val="1E31E3"/>
                  </a:solidFill>
                </a:uFill>
                <a:latin typeface="Gill Sans" charset="0"/>
                <a:ea typeface="Gill Sans" charset="0"/>
                <a:cs typeface="Gill Sans" charset="0"/>
              </a:rPr>
              <a:t>His</a:t>
            </a:r>
            <a:r>
              <a:rPr sz="1600" b="0" dirty="0">
                <a:uFill>
                  <a:solidFill/>
                </a:uFill>
                <a:latin typeface="Gill Sans" charset="0"/>
                <a:ea typeface="Gill Sans" charset="0"/>
                <a:cs typeface="Gill Sans" charset="0"/>
              </a:rPr>
              <a:t>-Val-Trp-Ala-</a:t>
            </a:r>
            <a:r>
              <a:rPr sz="1600" b="0" u="sng" dirty="0">
                <a:solidFill>
                  <a:srgbClr val="1E31E3"/>
                </a:solidFill>
                <a:uFill>
                  <a:solidFill>
                    <a:srgbClr val="1E31E3"/>
                  </a:solidFill>
                </a:uFill>
                <a:latin typeface="Gill Sans" charset="0"/>
                <a:ea typeface="Gill Sans" charset="0"/>
                <a:cs typeface="Gill Sans" charset="0"/>
              </a:rPr>
              <a:t>Lys</a:t>
            </a:r>
            <a:r>
              <a:rPr sz="1600" b="0" dirty="0">
                <a:uFill>
                  <a:solidFill/>
                </a:uFill>
                <a:latin typeface="Gill Sans" charset="0"/>
                <a:ea typeface="Gill Sans" charset="0"/>
                <a:cs typeface="Gill Sans" charset="0"/>
              </a:rPr>
              <a:t>-Val-</a:t>
            </a:r>
          </a:p>
        </p:txBody>
      </p:sp>
      <p:grpSp>
        <p:nvGrpSpPr>
          <p:cNvPr id="99" name="Group 99"/>
          <p:cNvGrpSpPr/>
          <p:nvPr/>
        </p:nvGrpSpPr>
        <p:grpSpPr>
          <a:xfrm>
            <a:off x="-33431" y="557377"/>
            <a:ext cx="3139620" cy="525651"/>
            <a:chOff x="-37189" y="-445"/>
            <a:chExt cx="3139620" cy="525650"/>
          </a:xfrm>
        </p:grpSpPr>
        <p:sp>
          <p:nvSpPr>
            <p:cNvPr id="97" name="Shape 97"/>
            <p:cNvSpPr/>
            <p:nvPr/>
          </p:nvSpPr>
          <p:spPr>
            <a:xfrm>
              <a:off x="-37189" y="-445"/>
              <a:ext cx="3139620" cy="24622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900"/>
                </a:spcBef>
                <a:buClr>
                  <a:srgbClr val="000000"/>
                </a:buClr>
                <a:buFont typeface="Helvetica"/>
                <a:defRPr sz="1800" b="0">
                  <a:uFillTx/>
                </a:defRPr>
              </a:pPr>
              <a:r>
                <a:rPr sz="1600" b="0" u="sng" dirty="0">
                  <a:uFill>
                    <a:solidFill/>
                  </a:uFill>
                  <a:latin typeface="Gill Sans" charset="0"/>
                  <a:ea typeface="Gill Sans" charset="0"/>
                  <a:cs typeface="Gill Sans" charset="0"/>
                </a:rPr>
                <a:t>C</a:t>
              </a:r>
              <a:r>
                <a:rPr lang="en-US" sz="1600" b="0" u="sng" dirty="0">
                  <a:uFill>
                    <a:solidFill/>
                  </a:uFill>
                  <a:latin typeface="Gill Sans" charset="0"/>
                  <a:ea typeface="Gill Sans" charset="0"/>
                  <a:cs typeface="Gill Sans" charset="0"/>
                </a:rPr>
                <a:t>olor scheme</a:t>
              </a:r>
              <a:r>
                <a:rPr sz="1600" b="0">
                  <a:uFill>
                    <a:solidFill/>
                  </a:uFill>
                  <a:latin typeface="Gill Sans" charset="0"/>
                  <a:ea typeface="Gill Sans" charset="0"/>
                  <a:cs typeface="Gill Sans" charset="0"/>
                </a:rPr>
                <a:t>: </a:t>
              </a:r>
              <a:r>
                <a:rPr sz="1600" b="0">
                  <a:solidFill>
                    <a:srgbClr val="182BCF"/>
                  </a:solidFill>
                  <a:uFill>
                    <a:solidFill>
                      <a:srgbClr val="182BCF"/>
                    </a:solidFill>
                  </a:uFill>
                  <a:latin typeface="Gill Sans" charset="0"/>
                  <a:ea typeface="Gill Sans" charset="0"/>
                  <a:cs typeface="Gill Sans" charset="0"/>
                </a:rPr>
                <a:t>B</a:t>
              </a:r>
              <a:r>
                <a:rPr lang="en-US" sz="1600" b="0" dirty="0">
                  <a:solidFill>
                    <a:srgbClr val="182BCF"/>
                  </a:solidFill>
                  <a:uFill>
                    <a:solidFill>
                      <a:srgbClr val="182BCF"/>
                    </a:solidFill>
                  </a:uFill>
                  <a:latin typeface="Gill Sans" charset="0"/>
                  <a:ea typeface="Gill Sans" charset="0"/>
                  <a:cs typeface="Gill Sans" charset="0"/>
                </a:rPr>
                <a:t>lue - polar/charged</a:t>
              </a:r>
            </a:p>
          </p:txBody>
        </p:sp>
        <p:sp>
          <p:nvSpPr>
            <p:cNvPr id="98" name="Shape 98"/>
            <p:cNvSpPr/>
            <p:nvPr/>
          </p:nvSpPr>
          <p:spPr>
            <a:xfrm>
              <a:off x="408992" y="278984"/>
              <a:ext cx="2527300" cy="246221"/>
            </a:xfrm>
            <a:prstGeom prst="rect">
              <a:avLst/>
            </a:prstGeom>
            <a:solidFill>
              <a:srgbClr val="AB4500">
                <a:alpha val="27843"/>
              </a:srgbClr>
            </a:solid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spcBef>
                  <a:spcPts val="900"/>
                </a:spcBef>
                <a:buClr>
                  <a:srgbClr val="FBF33A"/>
                </a:buClr>
                <a:buFont typeface="Helvetica"/>
                <a:defRPr>
                  <a:solidFill>
                    <a:srgbClr val="FBF33A"/>
                  </a:solidFill>
                  <a:uFill>
                    <a:solidFill>
                      <a:srgbClr val="FBF33A"/>
                    </a:solidFill>
                  </a:uFill>
                </a:defRPr>
              </a:lvl1pPr>
            </a:lstStyle>
            <a:p>
              <a:pPr lvl="0">
                <a:defRPr sz="1800" b="0">
                  <a:solidFill>
                    <a:srgbClr val="000000"/>
                  </a:solidFill>
                  <a:uFillTx/>
                </a:defRPr>
              </a:pPr>
              <a:r>
                <a:rPr sz="1600" b="0" dirty="0">
                  <a:solidFill>
                    <a:srgbClr val="FBF33A"/>
                  </a:solidFill>
                  <a:uFill>
                    <a:solidFill>
                      <a:srgbClr val="FBF33A"/>
                    </a:solidFill>
                  </a:uFill>
                  <a:latin typeface="Gill Sans" charset="0"/>
                  <a:ea typeface="Gill Sans" charset="0"/>
                  <a:cs typeface="Gill Sans" charset="0"/>
                </a:rPr>
                <a:t>YELLOW - NONPOLAR</a:t>
              </a:r>
            </a:p>
          </p:txBody>
        </p:sp>
      </p:grpSp>
      <p:sp>
        <p:nvSpPr>
          <p:cNvPr id="100" name="Shape 100"/>
          <p:cNvSpPr/>
          <p:nvPr/>
        </p:nvSpPr>
        <p:spPr>
          <a:xfrm>
            <a:off x="7543800" y="609600"/>
            <a:ext cx="1155700" cy="369332"/>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1400"/>
              </a:spcBef>
              <a:buClr>
                <a:srgbClr val="000000"/>
              </a:buClr>
              <a:buFont typeface="Helvetica"/>
              <a:defRPr sz="2400"/>
            </a:lvl1pPr>
          </a:lstStyle>
          <a:p>
            <a:pPr lvl="0">
              <a:defRPr sz="1800" b="0">
                <a:uFillTx/>
              </a:defRPr>
            </a:pPr>
            <a:r>
              <a:rPr sz="2400" b="0">
                <a:uFill>
                  <a:solidFill/>
                </a:uFill>
                <a:latin typeface="Gill Sans" charset="0"/>
                <a:ea typeface="Gill Sans" charset="0"/>
                <a:cs typeface="Gill Sans" charset="0"/>
              </a:rPr>
              <a:t>Mb</a:t>
            </a:r>
          </a:p>
        </p:txBody>
      </p:sp>
      <p:grpSp>
        <p:nvGrpSpPr>
          <p:cNvPr id="105" name="Group 105"/>
          <p:cNvGrpSpPr/>
          <p:nvPr/>
        </p:nvGrpSpPr>
        <p:grpSpPr>
          <a:xfrm>
            <a:off x="5735997" y="254379"/>
            <a:ext cx="1875525" cy="215444"/>
            <a:chOff x="71437" y="11972"/>
            <a:chExt cx="1875525" cy="215444"/>
          </a:xfrm>
        </p:grpSpPr>
        <p:grpSp>
          <p:nvGrpSpPr>
            <p:cNvPr id="103" name="Group 103"/>
            <p:cNvGrpSpPr/>
            <p:nvPr/>
          </p:nvGrpSpPr>
          <p:grpSpPr>
            <a:xfrm>
              <a:off x="71437" y="25561"/>
              <a:ext cx="1239029" cy="3015"/>
              <a:chOff x="0" y="-1425"/>
              <a:chExt cx="1239028" cy="3013"/>
            </a:xfrm>
          </p:grpSpPr>
          <p:sp>
            <p:nvSpPr>
              <p:cNvPr id="101" name="Shape 101"/>
              <p:cNvSpPr/>
              <p:nvPr/>
            </p:nvSpPr>
            <p:spPr>
              <a:xfrm flipV="1">
                <a:off x="0" y="0"/>
                <a:ext cx="774700" cy="1588"/>
              </a:xfrm>
              <a:prstGeom prst="line">
                <a:avLst/>
              </a:prstGeom>
              <a:noFill/>
              <a:ln w="38100" cap="flat">
                <a:solidFill>
                  <a:srgbClr val="1E31E3"/>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sp>
            <p:nvSpPr>
              <p:cNvPr id="102" name="Shape 102"/>
              <p:cNvSpPr/>
              <p:nvPr/>
            </p:nvSpPr>
            <p:spPr>
              <a:xfrm>
                <a:off x="702453" y="-1425"/>
                <a:ext cx="536575" cy="1"/>
              </a:xfrm>
              <a:prstGeom prst="line">
                <a:avLst/>
              </a:prstGeom>
              <a:noFill/>
              <a:ln w="38100" cap="flat">
                <a:solidFill>
                  <a:srgbClr val="DD33C5"/>
                </a:solidFill>
                <a:prstDash val="solid"/>
                <a:roun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grpSp>
        <p:sp>
          <p:nvSpPr>
            <p:cNvPr id="104" name="Shape 104"/>
            <p:cNvSpPr/>
            <p:nvPr/>
          </p:nvSpPr>
          <p:spPr>
            <a:xfrm>
              <a:off x="105462" y="11972"/>
              <a:ext cx="1841500" cy="21544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lvl="0">
                <a:spcBef>
                  <a:spcPts val="800"/>
                </a:spcBef>
                <a:buClr>
                  <a:srgbClr val="1E31E3"/>
                </a:buClr>
                <a:buFont typeface="Helvetica"/>
                <a:defRPr sz="1800" b="0">
                  <a:uFillTx/>
                </a:defRPr>
              </a:pPr>
              <a:r>
                <a:rPr sz="1400" b="0" dirty="0">
                  <a:solidFill>
                    <a:srgbClr val="1E31E3"/>
                  </a:solidFill>
                  <a:uFill>
                    <a:solidFill>
                      <a:srgbClr val="1E31E3"/>
                    </a:solidFill>
                  </a:uFill>
                  <a:latin typeface="Gill Sans" charset="0"/>
                  <a:ea typeface="Gill Sans" charset="0"/>
                  <a:cs typeface="Gill Sans" charset="0"/>
                </a:rPr>
                <a:t>   B</a:t>
              </a:r>
              <a:r>
                <a:rPr lang="en-US" sz="1400" b="0" dirty="0">
                  <a:solidFill>
                    <a:srgbClr val="1E31E3"/>
                  </a:solidFill>
                  <a:uFill>
                    <a:solidFill>
                      <a:srgbClr val="1E31E3"/>
                    </a:solidFill>
                  </a:uFill>
                  <a:latin typeface="Gill Sans" charset="0"/>
                  <a:ea typeface="Gill Sans" charset="0"/>
                  <a:cs typeface="Gill Sans" charset="0"/>
                </a:rPr>
                <a:t>oth</a:t>
              </a:r>
              <a:r>
                <a:rPr sz="1400" b="0" dirty="0">
                  <a:uFill>
                    <a:solidFill/>
                  </a:uFill>
                  <a:latin typeface="Gill Sans" charset="0"/>
                  <a:ea typeface="Gill Sans" charset="0"/>
                  <a:cs typeface="Gill Sans" charset="0"/>
                </a:rPr>
                <a:t>  </a:t>
              </a:r>
              <a:r>
                <a:rPr sz="1400" b="0" dirty="0">
                  <a:solidFill>
                    <a:srgbClr val="DD33C5"/>
                  </a:solidFill>
                  <a:uFill>
                    <a:solidFill>
                      <a:srgbClr val="DD33C5"/>
                    </a:solidFill>
                  </a:uFill>
                  <a:latin typeface="Gill Sans" charset="0"/>
                  <a:ea typeface="Gill Sans" charset="0"/>
                  <a:cs typeface="Gill Sans" charset="0"/>
                </a:rPr>
                <a:t> </a:t>
              </a:r>
              <a:r>
                <a:rPr lang="en-US" sz="1400" b="0" dirty="0">
                  <a:solidFill>
                    <a:srgbClr val="DD33C5"/>
                  </a:solidFill>
                  <a:uFill>
                    <a:solidFill>
                      <a:srgbClr val="DD33C5"/>
                    </a:solidFill>
                  </a:uFill>
                  <a:latin typeface="Gill Sans" charset="0"/>
                  <a:ea typeface="Gill Sans" charset="0"/>
                  <a:cs typeface="Gill Sans" charset="0"/>
                </a:rPr>
                <a:t> </a:t>
              </a:r>
              <a:r>
                <a:rPr sz="1400" b="0" dirty="0">
                  <a:solidFill>
                    <a:srgbClr val="DD33C5"/>
                  </a:solidFill>
                  <a:uFill>
                    <a:solidFill>
                      <a:srgbClr val="DD33C5"/>
                    </a:solidFill>
                  </a:uFill>
                  <a:latin typeface="Gill Sans" charset="0"/>
                  <a:ea typeface="Gill Sans" charset="0"/>
                  <a:cs typeface="Gill Sans" charset="0"/>
                </a:rPr>
                <a:t>F</a:t>
              </a:r>
              <a:r>
                <a:rPr lang="en-US" sz="1400" b="0" dirty="0">
                  <a:solidFill>
                    <a:srgbClr val="DD33C5"/>
                  </a:solidFill>
                  <a:uFill>
                    <a:solidFill>
                      <a:srgbClr val="DD33C5"/>
                    </a:solidFill>
                  </a:uFill>
                  <a:latin typeface="Gill Sans" charset="0"/>
                  <a:ea typeface="Gill Sans" charset="0"/>
                  <a:cs typeface="Gill Sans" charset="0"/>
                </a:rPr>
                <a:t>eeling</a:t>
              </a:r>
            </a:p>
          </p:txBody>
        </p:sp>
      </p:grpSp>
      <p:sp>
        <p:nvSpPr>
          <p:cNvPr id="106" name="Shape 106"/>
          <p:cNvSpPr/>
          <p:nvPr/>
        </p:nvSpPr>
        <p:spPr>
          <a:xfrm>
            <a:off x="0" y="5868062"/>
            <a:ext cx="4965701" cy="24622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spcBef>
                <a:spcPts val="900"/>
              </a:spcBef>
              <a:buClr>
                <a:srgbClr val="E62C9A"/>
              </a:buClr>
              <a:buFont typeface="Helvetica"/>
              <a:defRPr>
                <a:solidFill>
                  <a:srgbClr val="E62C9A"/>
                </a:solidFill>
                <a:uFill>
                  <a:solidFill>
                    <a:srgbClr val="E62C9A"/>
                  </a:solidFill>
                </a:uFill>
              </a:defRPr>
            </a:lvl1pPr>
          </a:lstStyle>
          <a:p>
            <a:pPr lvl="0">
              <a:defRPr sz="1800" b="0">
                <a:solidFill>
                  <a:srgbClr val="000000"/>
                </a:solidFill>
                <a:uFillTx/>
              </a:defRPr>
            </a:pPr>
            <a:r>
              <a:rPr sz="1600" b="0" dirty="0">
                <a:solidFill>
                  <a:schemeClr val="tx1"/>
                </a:solidFill>
                <a:uFill>
                  <a:solidFill>
                    <a:srgbClr val="E62C9A"/>
                  </a:solidFill>
                </a:uFill>
                <a:latin typeface="Gill Sans" charset="0"/>
                <a:ea typeface="Gill Sans" charset="0"/>
                <a:cs typeface="Gill Sans" charset="0"/>
              </a:rPr>
              <a:t>E</a:t>
            </a:r>
            <a:r>
              <a:rPr lang="en-US" sz="1600" b="0" dirty="0">
                <a:solidFill>
                  <a:schemeClr val="tx1"/>
                </a:solidFill>
                <a:uFill>
                  <a:solidFill>
                    <a:srgbClr val="E62C9A"/>
                  </a:solidFill>
                </a:uFill>
                <a:latin typeface="Gill Sans" charset="0"/>
                <a:ea typeface="Gill Sans" charset="0"/>
                <a:cs typeface="Gill Sans" charset="0"/>
              </a:rPr>
              <a:t>volution drives most proteins to become more stable</a:t>
            </a:r>
          </a:p>
        </p:txBody>
      </p:sp>
      <p:sp>
        <p:nvSpPr>
          <p:cNvPr id="107" name="Shape 107"/>
          <p:cNvSpPr/>
          <p:nvPr/>
        </p:nvSpPr>
        <p:spPr>
          <a:xfrm>
            <a:off x="8466" y="4826000"/>
            <a:ext cx="5037667" cy="984885"/>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spcBef>
                <a:spcPts val="900"/>
              </a:spcBef>
              <a:buClr>
                <a:srgbClr val="E62C9A"/>
              </a:buClr>
              <a:buFont typeface="Helvetica"/>
              <a:defRPr>
                <a:solidFill>
                  <a:srgbClr val="E62C9A"/>
                </a:solidFill>
                <a:uFill>
                  <a:solidFill>
                    <a:srgbClr val="E62C9A"/>
                  </a:solidFill>
                </a:uFill>
              </a:defRPr>
            </a:lvl1pPr>
          </a:lstStyle>
          <a:p>
            <a:pPr lvl="0">
              <a:defRPr sz="1800" b="0">
                <a:solidFill>
                  <a:srgbClr val="000000"/>
                </a:solidFill>
                <a:uFillTx/>
              </a:defRPr>
            </a:pPr>
            <a:r>
              <a:rPr sz="1600" b="0" dirty="0">
                <a:solidFill>
                  <a:schemeClr val="tx1"/>
                </a:solidFill>
                <a:uFill>
                  <a:solidFill>
                    <a:srgbClr val="E62C9A"/>
                  </a:solidFill>
                </a:uFill>
                <a:latin typeface="Gill Sans" charset="0"/>
                <a:ea typeface="Gill Sans" charset="0"/>
                <a:cs typeface="Gill Sans" charset="0"/>
              </a:rPr>
              <a:t>A</a:t>
            </a:r>
            <a:r>
              <a:rPr lang="en-US" sz="1600" b="0" dirty="0">
                <a:solidFill>
                  <a:schemeClr val="tx1"/>
                </a:solidFill>
                <a:uFill>
                  <a:solidFill>
                    <a:srgbClr val="E62C9A"/>
                  </a:solidFill>
                </a:uFill>
                <a:latin typeface="Gill Sans" charset="0"/>
                <a:ea typeface="Gill Sans" charset="0"/>
                <a:cs typeface="Gill Sans" charset="0"/>
              </a:rPr>
              <a:t>mphipathic helices are on the protein surface.  They follow the “rule of the hydrophobic interaction": Nonpolar residues are driven out of water, making the </a:t>
            </a:r>
            <a:r>
              <a:rPr lang="en-US" sz="1600" i="1" dirty="0">
                <a:solidFill>
                  <a:schemeClr val="tx1"/>
                </a:solidFill>
                <a:uFill>
                  <a:solidFill>
                    <a:srgbClr val="E62C9A"/>
                  </a:solidFill>
                </a:uFill>
                <a:latin typeface="Gill Sans SemiBold" charset="0"/>
                <a:ea typeface="Gill Sans SemiBold" charset="0"/>
                <a:cs typeface="Gill Sans SemiBold" charset="0"/>
              </a:rPr>
              <a:t>folded protein </a:t>
            </a:r>
            <a:r>
              <a:rPr lang="en-US" sz="1600" b="0" dirty="0">
                <a:solidFill>
                  <a:schemeClr val="tx1"/>
                </a:solidFill>
                <a:uFill>
                  <a:solidFill>
                    <a:srgbClr val="E62C9A"/>
                  </a:solidFill>
                </a:uFill>
                <a:latin typeface="Gill Sans" charset="0"/>
                <a:ea typeface="Gill Sans" charset="0"/>
                <a:cs typeface="Gill Sans" charset="0"/>
              </a:rPr>
              <a:t>more stable</a:t>
            </a:r>
          </a:p>
        </p:txBody>
      </p:sp>
    </p:spTree>
    <p:extLst>
      <p:ext uri="{BB962C8B-B14F-4D97-AF65-F5344CB8AC3E}">
        <p14:creationId xmlns:p14="http://schemas.microsoft.com/office/powerpoint/2010/main" val="426218307"/>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9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8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10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advAuto="0"/>
      <p:bldP spid="89" grpId="0" animBg="1" advAuto="0"/>
      <p:bldP spid="90" grpId="0" animBg="1" advAuto="0"/>
      <p:bldP spid="99" grpId="0" animBg="1" advAuto="0"/>
      <p:bldP spid="105" grpId="0" animBg="1" advAuto="0"/>
      <p:bldP spid="106" grpId="0" animBg="1" advAuto="0"/>
      <p:bldP spid="107" grpId="0"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Shape 110"/>
          <p:cNvSpPr/>
          <p:nvPr/>
        </p:nvSpPr>
        <p:spPr>
          <a:xfrm>
            <a:off x="4987059" y="4171748"/>
            <a:ext cx="1308100" cy="21544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800"/>
              </a:spcBef>
              <a:buClr>
                <a:srgbClr val="000000"/>
              </a:buClr>
              <a:buFont typeface="Helvetica"/>
              <a:defRPr sz="1400"/>
            </a:lvl1pPr>
          </a:lstStyle>
          <a:p>
            <a:pPr lvl="0">
              <a:defRPr sz="1800" b="0">
                <a:uFillTx/>
              </a:defRPr>
            </a:pPr>
            <a:r>
              <a:rPr sz="1400" b="0" dirty="0">
                <a:uFill>
                  <a:solidFill/>
                </a:uFill>
                <a:latin typeface="Gill Sans" charset="0"/>
                <a:ea typeface="Gill Sans" charset="0"/>
                <a:cs typeface="Gill Sans" charset="0"/>
              </a:rPr>
              <a:t>P</a:t>
            </a:r>
            <a:r>
              <a:rPr lang="en-US" sz="1400" b="0" dirty="0">
                <a:uFill>
                  <a:solidFill/>
                </a:uFill>
                <a:latin typeface="Gill Sans" charset="0"/>
                <a:ea typeface="Gill Sans" charset="0"/>
                <a:cs typeface="Gill Sans" charset="0"/>
              </a:rPr>
              <a:t>arallel</a:t>
            </a:r>
          </a:p>
        </p:txBody>
      </p:sp>
      <p:sp>
        <p:nvSpPr>
          <p:cNvPr id="111" name="Shape 111"/>
          <p:cNvSpPr/>
          <p:nvPr/>
        </p:nvSpPr>
        <p:spPr>
          <a:xfrm>
            <a:off x="6254750" y="360362"/>
            <a:ext cx="2984500" cy="73866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800"/>
              </a:spcBef>
              <a:buClr>
                <a:srgbClr val="DD33C5"/>
              </a:buClr>
              <a:buFont typeface="Symbol"/>
              <a:defRPr sz="1800" b="0">
                <a:uFillTx/>
              </a:defRPr>
            </a:pPr>
            <a:r>
              <a:rPr lang="en-US" sz="1600" b="0" dirty="0" err="1">
                <a:solidFill>
                  <a:schemeClr val="tx1"/>
                </a:solidFill>
                <a:uFill>
                  <a:solidFill>
                    <a:srgbClr val="DD33C5"/>
                  </a:solidFill>
                </a:uFill>
                <a:latin typeface="Gill Sans" charset="0"/>
                <a:ea typeface="Gill Sans" charset="0"/>
                <a:cs typeface="Gill Sans" charset="0"/>
                <a:sym typeface="Symbol"/>
              </a:rPr>
              <a:t>φ</a:t>
            </a:r>
            <a:r>
              <a:rPr lang="en-US" sz="1600" b="0" dirty="0">
                <a:solidFill>
                  <a:schemeClr val="tx1"/>
                </a:solidFill>
                <a:uFill>
                  <a:solidFill>
                    <a:srgbClr val="DD33C5"/>
                  </a:solidFill>
                </a:uFill>
                <a:latin typeface="Gill Sans" charset="0"/>
                <a:ea typeface="Gill Sans" charset="0"/>
                <a:cs typeface="Gill Sans" charset="0"/>
              </a:rPr>
              <a:t> ~ -60</a:t>
            </a:r>
            <a:r>
              <a:rPr lang="en-US" sz="1600" b="0" baseline="35999" dirty="0">
                <a:solidFill>
                  <a:schemeClr val="tx1"/>
                </a:solidFill>
                <a:uFill>
                  <a:solidFill>
                    <a:srgbClr val="DD33C5"/>
                  </a:solidFill>
                </a:uFill>
                <a:latin typeface="Gill Sans" charset="0"/>
                <a:ea typeface="Gill Sans" charset="0"/>
                <a:cs typeface="Gill Sans" charset="0"/>
              </a:rPr>
              <a:t>o </a:t>
            </a:r>
            <a:r>
              <a:rPr lang="en-US" sz="1600" b="0" dirty="0">
                <a:solidFill>
                  <a:schemeClr val="tx1"/>
                </a:solidFill>
                <a:uFill>
                  <a:solidFill>
                    <a:srgbClr val="DD33C5"/>
                  </a:solidFill>
                </a:uFill>
                <a:latin typeface="Gill Sans" charset="0"/>
                <a:ea typeface="Gill Sans" charset="0"/>
                <a:cs typeface="Gill Sans" charset="0"/>
              </a:rPr>
              <a:t>to -150</a:t>
            </a:r>
            <a:r>
              <a:rPr lang="en-US" sz="1600" b="0" baseline="29999" dirty="0">
                <a:solidFill>
                  <a:schemeClr val="tx1"/>
                </a:solidFill>
                <a:uFill>
                  <a:solidFill>
                    <a:srgbClr val="DD33C5"/>
                  </a:solidFill>
                </a:uFill>
                <a:latin typeface="Gill Sans" charset="0"/>
                <a:ea typeface="Gill Sans" charset="0"/>
                <a:cs typeface="Gill Sans" charset="0"/>
              </a:rPr>
              <a:t>o</a:t>
            </a:r>
            <a:r>
              <a:rPr lang="en-US" sz="1600" b="0" dirty="0">
                <a:solidFill>
                  <a:schemeClr val="tx1"/>
                </a:solidFill>
                <a:uFill>
                  <a:solidFill>
                    <a:srgbClr val="DD33C5"/>
                  </a:solidFill>
                </a:uFill>
                <a:latin typeface="Gill Sans" charset="0"/>
                <a:ea typeface="Gill Sans" charset="0"/>
                <a:cs typeface="Gill Sans" charset="0"/>
              </a:rPr>
              <a:t>, </a:t>
            </a:r>
            <a:r>
              <a:rPr lang="en-US" sz="1600" b="0" dirty="0" err="1">
                <a:solidFill>
                  <a:schemeClr val="tx1"/>
                </a:solidFill>
                <a:uFill>
                  <a:solidFill>
                    <a:srgbClr val="DD33C5"/>
                  </a:solidFill>
                </a:uFill>
                <a:latin typeface="Gill Sans" charset="0"/>
                <a:ea typeface="Gill Sans" charset="0"/>
                <a:cs typeface="Gill Sans" charset="0"/>
                <a:sym typeface="Symbol"/>
              </a:rPr>
              <a:t>ψ</a:t>
            </a:r>
            <a:r>
              <a:rPr lang="en-US" sz="1600" b="0" dirty="0">
                <a:solidFill>
                  <a:schemeClr val="tx1"/>
                </a:solidFill>
                <a:uFill>
                  <a:solidFill>
                    <a:srgbClr val="DD33C5"/>
                  </a:solidFill>
                </a:uFill>
                <a:latin typeface="Gill Sans" charset="0"/>
                <a:ea typeface="Gill Sans" charset="0"/>
                <a:cs typeface="Gill Sans" charset="0"/>
              </a:rPr>
              <a:t> ~ +90</a:t>
            </a:r>
            <a:r>
              <a:rPr lang="en-US" sz="1600" b="0" baseline="35999" dirty="0">
                <a:solidFill>
                  <a:schemeClr val="tx1"/>
                </a:solidFill>
                <a:uFill>
                  <a:solidFill>
                    <a:srgbClr val="DD33C5"/>
                  </a:solidFill>
                </a:uFill>
                <a:latin typeface="Gill Sans" charset="0"/>
                <a:ea typeface="Gill Sans" charset="0"/>
                <a:cs typeface="Gill Sans" charset="0"/>
              </a:rPr>
              <a:t>o </a:t>
            </a:r>
            <a:r>
              <a:rPr lang="en-US" sz="1600" b="0" dirty="0">
                <a:solidFill>
                  <a:schemeClr val="tx1"/>
                </a:solidFill>
                <a:uFill>
                  <a:solidFill>
                    <a:srgbClr val="DD33C5"/>
                  </a:solidFill>
                </a:uFill>
                <a:latin typeface="Gill Sans" charset="0"/>
                <a:ea typeface="Gill Sans" charset="0"/>
                <a:cs typeface="Gill Sans" charset="0"/>
              </a:rPr>
              <a:t>to +180</a:t>
            </a:r>
            <a:r>
              <a:rPr lang="en-US" sz="1600" b="0" baseline="29999" dirty="0">
                <a:solidFill>
                  <a:schemeClr val="tx1"/>
                </a:solidFill>
                <a:uFill>
                  <a:solidFill>
                    <a:srgbClr val="DD33C5"/>
                  </a:solidFill>
                </a:uFill>
                <a:latin typeface="Gill Sans" charset="0"/>
                <a:ea typeface="Gill Sans" charset="0"/>
                <a:cs typeface="Gill Sans" charset="0"/>
              </a:rPr>
              <a:t>o   </a:t>
            </a:r>
            <a:r>
              <a:rPr lang="en-US" sz="1600" b="0" dirty="0">
                <a:solidFill>
                  <a:schemeClr val="tx1"/>
                </a:solidFill>
                <a:uFill>
                  <a:solidFill>
                    <a:srgbClr val="DD33C5"/>
                  </a:solidFill>
                </a:uFill>
                <a:latin typeface="Gill Sans" charset="0"/>
                <a:ea typeface="Gill Sans" charset="0"/>
                <a:cs typeface="Gill Sans" charset="0"/>
              </a:rPr>
              <a:t>repeating to yield a highly extended polypeptide chain.</a:t>
            </a:r>
          </a:p>
        </p:txBody>
      </p:sp>
      <p:sp>
        <p:nvSpPr>
          <p:cNvPr id="112" name="Shape 112"/>
          <p:cNvSpPr/>
          <p:nvPr/>
        </p:nvSpPr>
        <p:spPr>
          <a:xfrm>
            <a:off x="6228109" y="2572144"/>
            <a:ext cx="2908301" cy="49244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lvl="0">
              <a:spcBef>
                <a:spcPts val="900"/>
              </a:spcBef>
              <a:buClr>
                <a:srgbClr val="DD33C5"/>
              </a:buClr>
              <a:buFont typeface="Helvetica"/>
              <a:defRPr sz="1800" b="0">
                <a:uFillTx/>
              </a:defRPr>
            </a:pPr>
            <a:r>
              <a:rPr sz="1600" b="0" dirty="0">
                <a:solidFill>
                  <a:schemeClr val="tx1"/>
                </a:solidFill>
                <a:uFill>
                  <a:solidFill>
                    <a:srgbClr val="DD33C5"/>
                  </a:solidFill>
                </a:uFill>
                <a:latin typeface="Gill Sans" charset="0"/>
                <a:ea typeface="Gill Sans" charset="0"/>
                <a:cs typeface="Gill Sans" charset="0"/>
              </a:rPr>
              <a:t>R</a:t>
            </a:r>
            <a:r>
              <a:rPr lang="en-US" sz="1600" b="0" dirty="0">
                <a:solidFill>
                  <a:schemeClr val="tx1"/>
                </a:solidFill>
                <a:uFill>
                  <a:solidFill>
                    <a:srgbClr val="DD33C5"/>
                  </a:solidFill>
                </a:uFill>
                <a:latin typeface="Gill Sans" charset="0"/>
                <a:ea typeface="Gill Sans" charset="0"/>
                <a:cs typeface="Gill Sans" charset="0"/>
              </a:rPr>
              <a:t>uns of </a:t>
            </a:r>
            <a:r>
              <a:rPr lang="en-US" sz="1600" b="0" dirty="0">
                <a:solidFill>
                  <a:schemeClr val="tx1"/>
                </a:solidFill>
                <a:uFill>
                  <a:solidFill>
                    <a:srgbClr val="DD33C5"/>
                  </a:solidFill>
                </a:uFill>
                <a:latin typeface="Gill Sans" charset="0"/>
                <a:ea typeface="Gill Sans" charset="0"/>
                <a:cs typeface="Gill Sans" charset="0"/>
                <a:sym typeface="Symbol"/>
              </a:rPr>
              <a:t>β</a:t>
            </a:r>
            <a:r>
              <a:rPr lang="en-US" sz="1600" b="0" dirty="0">
                <a:solidFill>
                  <a:schemeClr val="tx1"/>
                </a:solidFill>
                <a:uFill>
                  <a:solidFill>
                    <a:srgbClr val="DD33C5"/>
                  </a:solidFill>
                </a:uFill>
                <a:latin typeface="Gill Sans" charset="0"/>
                <a:ea typeface="Gill Sans" charset="0"/>
                <a:cs typeface="Gill Sans" charset="0"/>
              </a:rPr>
              <a:t>-sheet are side-by-side strands, </a:t>
            </a:r>
            <a:r>
              <a:rPr lang="en-US" sz="1600" b="0" u="sng" dirty="0">
                <a:solidFill>
                  <a:schemeClr val="tx1"/>
                </a:solidFill>
                <a:uFill>
                  <a:solidFill>
                    <a:srgbClr val="DD33C5"/>
                  </a:solidFill>
                </a:uFill>
                <a:latin typeface="Gill Sans" charset="0"/>
                <a:ea typeface="Gill Sans" charset="0"/>
                <a:cs typeface="Gill Sans" charset="0"/>
              </a:rPr>
              <a:t>not</a:t>
            </a:r>
            <a:r>
              <a:rPr lang="en-US" sz="1600" b="0" dirty="0">
                <a:solidFill>
                  <a:schemeClr val="tx1"/>
                </a:solidFill>
                <a:uFill>
                  <a:solidFill>
                    <a:srgbClr val="DD33C5"/>
                  </a:solidFill>
                </a:uFill>
                <a:latin typeface="Gill Sans" charset="0"/>
                <a:ea typeface="Gill Sans" charset="0"/>
                <a:cs typeface="Gill Sans" charset="0"/>
              </a:rPr>
              <a:t> continuous sequence</a:t>
            </a:r>
          </a:p>
        </p:txBody>
      </p:sp>
      <p:sp>
        <p:nvSpPr>
          <p:cNvPr id="113" name="Shape 113"/>
          <p:cNvSpPr/>
          <p:nvPr/>
        </p:nvSpPr>
        <p:spPr>
          <a:xfrm>
            <a:off x="6216649" y="4019749"/>
            <a:ext cx="2984501" cy="492443"/>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900"/>
              </a:spcBef>
              <a:buClr>
                <a:srgbClr val="DD33C5"/>
              </a:buClr>
              <a:buFont typeface="Helvetica"/>
              <a:defRPr sz="1800" b="0">
                <a:uFillTx/>
              </a:defRPr>
            </a:pPr>
            <a:r>
              <a:rPr sz="1600" b="0" dirty="0">
                <a:solidFill>
                  <a:schemeClr val="tx1"/>
                </a:solidFill>
                <a:uFill>
                  <a:solidFill>
                    <a:srgbClr val="DD33C5"/>
                  </a:solidFill>
                </a:uFill>
                <a:latin typeface="Gill Sans" charset="0"/>
                <a:ea typeface="Gill Sans" charset="0"/>
                <a:cs typeface="Gill Sans" charset="0"/>
              </a:rPr>
              <a:t>A</a:t>
            </a:r>
            <a:r>
              <a:rPr lang="en-US" sz="1600" b="0" dirty="0">
                <a:solidFill>
                  <a:schemeClr val="tx1"/>
                </a:solidFill>
                <a:uFill>
                  <a:solidFill>
                    <a:srgbClr val="DD33C5"/>
                  </a:solidFill>
                </a:uFill>
                <a:latin typeface="Gill Sans" charset="0"/>
                <a:ea typeface="Gill Sans" charset="0"/>
                <a:cs typeface="Gill Sans" charset="0"/>
              </a:rPr>
              <a:t>ll possible </a:t>
            </a:r>
            <a:r>
              <a:rPr sz="1600" b="0" dirty="0">
                <a:solidFill>
                  <a:schemeClr val="tx1"/>
                </a:solidFill>
                <a:uFill>
                  <a:solidFill>
                    <a:srgbClr val="DD33C5"/>
                  </a:solidFill>
                </a:uFill>
                <a:latin typeface="Gill Sans" charset="0"/>
                <a:ea typeface="Gill Sans" charset="0"/>
                <a:cs typeface="Gill Sans" charset="0"/>
              </a:rPr>
              <a:t>H-</a:t>
            </a:r>
            <a:r>
              <a:rPr lang="en-US" sz="1600" b="0" dirty="0">
                <a:solidFill>
                  <a:schemeClr val="tx1"/>
                </a:solidFill>
                <a:uFill>
                  <a:solidFill>
                    <a:srgbClr val="DD33C5"/>
                  </a:solidFill>
                </a:uFill>
                <a:latin typeface="Gill Sans" charset="0"/>
                <a:ea typeface="Gill Sans" charset="0"/>
                <a:cs typeface="Gill Sans" charset="0"/>
              </a:rPr>
              <a:t>bonds are made </a:t>
            </a:r>
            <a:r>
              <a:rPr lang="en-US" sz="1600" b="0" u="sng" dirty="0">
                <a:solidFill>
                  <a:schemeClr val="tx1"/>
                </a:solidFill>
                <a:uFill>
                  <a:solidFill>
                    <a:srgbClr val="DD33C5"/>
                  </a:solidFill>
                </a:uFill>
                <a:latin typeface="Gill Sans" charset="0"/>
                <a:ea typeface="Gill Sans" charset="0"/>
                <a:cs typeface="Gill Sans" charset="0"/>
              </a:rPr>
              <a:t>between strands</a:t>
            </a:r>
          </a:p>
        </p:txBody>
      </p:sp>
      <p:sp>
        <p:nvSpPr>
          <p:cNvPr id="114" name="Shape 114"/>
          <p:cNvSpPr/>
          <p:nvPr/>
        </p:nvSpPr>
        <p:spPr>
          <a:xfrm>
            <a:off x="6206655" y="3332400"/>
            <a:ext cx="2908301" cy="492443"/>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DD33C5"/>
              </a:buClr>
              <a:buFont typeface="Helvetica"/>
              <a:defRPr>
                <a:solidFill>
                  <a:srgbClr val="DD33C5"/>
                </a:solidFill>
                <a:uFill>
                  <a:solidFill>
                    <a:srgbClr val="DD33C5"/>
                  </a:solidFill>
                </a:uFill>
              </a:defRPr>
            </a:lvl1pPr>
          </a:lstStyle>
          <a:p>
            <a:pPr lvl="0">
              <a:defRPr sz="1800" b="0">
                <a:solidFill>
                  <a:srgbClr val="000000"/>
                </a:solidFill>
                <a:uFillTx/>
              </a:defRPr>
            </a:pPr>
            <a:r>
              <a:rPr sz="1600" b="0" dirty="0">
                <a:solidFill>
                  <a:schemeClr val="tx1"/>
                </a:solidFill>
                <a:uFill>
                  <a:solidFill>
                    <a:srgbClr val="DD33C5"/>
                  </a:solidFill>
                </a:uFill>
                <a:latin typeface="Gill Sans" charset="0"/>
                <a:ea typeface="Gill Sans" charset="0"/>
                <a:cs typeface="Gill Sans" charset="0"/>
              </a:rPr>
              <a:t>S</a:t>
            </a:r>
            <a:r>
              <a:rPr lang="en-US" sz="1600" b="0" dirty="0">
                <a:solidFill>
                  <a:schemeClr val="tx1"/>
                </a:solidFill>
                <a:uFill>
                  <a:solidFill>
                    <a:srgbClr val="DD33C5"/>
                  </a:solidFill>
                </a:uFill>
                <a:latin typeface="Gill Sans" charset="0"/>
                <a:ea typeface="Gill Sans" charset="0"/>
                <a:cs typeface="Gill Sans" charset="0"/>
              </a:rPr>
              <a:t>trands have so-called “parallel” or else “anti-parallel” orientation</a:t>
            </a:r>
          </a:p>
        </p:txBody>
      </p:sp>
      <p:sp>
        <p:nvSpPr>
          <p:cNvPr id="115" name="Shape 115"/>
          <p:cNvSpPr/>
          <p:nvPr/>
        </p:nvSpPr>
        <p:spPr>
          <a:xfrm>
            <a:off x="6191249" y="4801507"/>
            <a:ext cx="3035300" cy="73866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spcBef>
                <a:spcPts val="900"/>
              </a:spcBef>
              <a:buClr>
                <a:srgbClr val="DD33C5"/>
              </a:buClr>
              <a:buFont typeface="Helvetica"/>
              <a:defRPr>
                <a:solidFill>
                  <a:srgbClr val="DD33C5"/>
                </a:solidFill>
                <a:uFill>
                  <a:solidFill>
                    <a:srgbClr val="DD33C5"/>
                  </a:solidFill>
                </a:uFill>
              </a:defRPr>
            </a:lvl1pPr>
          </a:lstStyle>
          <a:p>
            <a:pPr lvl="0">
              <a:defRPr sz="1800" b="0">
                <a:solidFill>
                  <a:srgbClr val="000000"/>
                </a:solidFill>
                <a:uFillTx/>
              </a:defRPr>
            </a:pPr>
            <a:r>
              <a:rPr lang="en-US" sz="1600" b="0" dirty="0">
                <a:solidFill>
                  <a:schemeClr val="tx1"/>
                </a:solidFill>
                <a:uFill>
                  <a:solidFill>
                    <a:srgbClr val="DD33C5"/>
                  </a:solidFill>
                </a:uFill>
                <a:latin typeface="Gill Sans" charset="0"/>
                <a:ea typeface="Gill Sans" charset="0"/>
                <a:cs typeface="Gill Sans" charset="0"/>
              </a:rPr>
              <a:t>All</a:t>
            </a:r>
            <a:r>
              <a:rPr sz="1600" b="0" dirty="0">
                <a:solidFill>
                  <a:schemeClr val="tx1"/>
                </a:solidFill>
                <a:uFill>
                  <a:solidFill>
                    <a:srgbClr val="DD33C5"/>
                  </a:solidFill>
                </a:uFill>
                <a:latin typeface="Gill Sans" charset="0"/>
                <a:ea typeface="Gill Sans" charset="0"/>
                <a:cs typeface="Gill Sans" charset="0"/>
              </a:rPr>
              <a:t> R </a:t>
            </a:r>
            <a:r>
              <a:rPr lang="en-US" sz="1600" b="0" dirty="0">
                <a:solidFill>
                  <a:schemeClr val="tx1"/>
                </a:solidFill>
                <a:uFill>
                  <a:solidFill>
                    <a:srgbClr val="DD33C5"/>
                  </a:solidFill>
                </a:uFill>
                <a:latin typeface="Gill Sans" charset="0"/>
                <a:ea typeface="Gill Sans" charset="0"/>
                <a:cs typeface="Gill Sans" charset="0"/>
              </a:rPr>
              <a:t>groups are either above or below the plane of the strands; they ALTERNATE above/below!</a:t>
            </a:r>
          </a:p>
        </p:txBody>
      </p:sp>
      <p:pic>
        <p:nvPicPr>
          <p:cNvPr id="116" name="image.png"/>
          <p:cNvPicPr/>
          <p:nvPr/>
        </p:nvPicPr>
        <p:blipFill>
          <a:blip r:embed="rId2"/>
          <a:stretch>
            <a:fillRect/>
          </a:stretch>
        </p:blipFill>
        <p:spPr>
          <a:xfrm>
            <a:off x="2244725" y="588962"/>
            <a:ext cx="4010025" cy="3609976"/>
          </a:xfrm>
          <a:prstGeom prst="rect">
            <a:avLst/>
          </a:prstGeom>
          <a:ln w="12700">
            <a:miter lim="400000"/>
          </a:ln>
        </p:spPr>
      </p:pic>
      <p:sp>
        <p:nvSpPr>
          <p:cNvPr id="117" name="Shape 117"/>
          <p:cNvSpPr/>
          <p:nvPr/>
        </p:nvSpPr>
        <p:spPr>
          <a:xfrm>
            <a:off x="2220912" y="2543175"/>
            <a:ext cx="317501"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00000"/>
              </a:buClr>
              <a:buFont typeface="Helvetica"/>
            </a:lvl1pPr>
          </a:lstStyle>
          <a:p>
            <a:pPr lvl="0">
              <a:defRPr sz="1800" b="0">
                <a:uFillTx/>
              </a:defRPr>
            </a:pPr>
            <a:r>
              <a:rPr sz="1600" b="0">
                <a:uFill>
                  <a:solidFill/>
                </a:uFill>
                <a:latin typeface="Gill Sans" charset="0"/>
                <a:ea typeface="Gill Sans" charset="0"/>
                <a:cs typeface="Gill Sans" charset="0"/>
              </a:rPr>
              <a:t>N</a:t>
            </a:r>
          </a:p>
        </p:txBody>
      </p:sp>
      <p:sp>
        <p:nvSpPr>
          <p:cNvPr id="118" name="Shape 118"/>
          <p:cNvSpPr/>
          <p:nvPr/>
        </p:nvSpPr>
        <p:spPr>
          <a:xfrm>
            <a:off x="3832225" y="1863725"/>
            <a:ext cx="242374" cy="24622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spcBef>
                <a:spcPts val="900"/>
              </a:spcBef>
              <a:buClr>
                <a:srgbClr val="000000"/>
              </a:buClr>
              <a:buFont typeface="Helvetica"/>
            </a:lvl1pPr>
          </a:lstStyle>
          <a:p>
            <a:pPr lvl="0">
              <a:defRPr sz="1800" b="0">
                <a:uFillTx/>
              </a:defRPr>
            </a:pPr>
            <a:r>
              <a:rPr sz="1600" b="0">
                <a:uFill>
                  <a:solidFill/>
                </a:uFill>
                <a:latin typeface="Gill Sans" charset="0"/>
                <a:ea typeface="Gill Sans" charset="0"/>
                <a:cs typeface="Gill Sans" charset="0"/>
              </a:rPr>
              <a:t>N</a:t>
            </a:r>
          </a:p>
        </p:txBody>
      </p:sp>
      <p:sp>
        <p:nvSpPr>
          <p:cNvPr id="119" name="Shape 119"/>
          <p:cNvSpPr/>
          <p:nvPr/>
        </p:nvSpPr>
        <p:spPr>
          <a:xfrm>
            <a:off x="4297362" y="2509837"/>
            <a:ext cx="242374" cy="24622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spcBef>
                <a:spcPts val="900"/>
              </a:spcBef>
              <a:buClr>
                <a:srgbClr val="000000"/>
              </a:buClr>
              <a:buFont typeface="Helvetica"/>
            </a:lvl1pPr>
          </a:lstStyle>
          <a:p>
            <a:pPr lvl="0">
              <a:defRPr sz="1800" b="0">
                <a:uFillTx/>
              </a:defRPr>
            </a:pPr>
            <a:r>
              <a:rPr sz="1600" b="0">
                <a:uFill>
                  <a:solidFill/>
                </a:uFill>
                <a:latin typeface="Gill Sans" charset="0"/>
                <a:ea typeface="Gill Sans" charset="0"/>
                <a:cs typeface="Gill Sans" charset="0"/>
              </a:rPr>
              <a:t>N</a:t>
            </a:r>
          </a:p>
        </p:txBody>
      </p:sp>
      <p:sp>
        <p:nvSpPr>
          <p:cNvPr id="120" name="Shape 120"/>
          <p:cNvSpPr/>
          <p:nvPr/>
        </p:nvSpPr>
        <p:spPr>
          <a:xfrm>
            <a:off x="5934075" y="2501900"/>
            <a:ext cx="242374" cy="24622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spcBef>
                <a:spcPts val="900"/>
              </a:spcBef>
              <a:buClr>
                <a:srgbClr val="000000"/>
              </a:buClr>
              <a:buFont typeface="Helvetica"/>
            </a:lvl1pPr>
          </a:lstStyle>
          <a:p>
            <a:pPr lvl="0">
              <a:defRPr sz="1800" b="0">
                <a:uFillTx/>
              </a:defRPr>
            </a:pPr>
            <a:r>
              <a:rPr sz="1600" b="0">
                <a:uFill>
                  <a:solidFill/>
                </a:uFill>
                <a:latin typeface="Gill Sans" charset="0"/>
                <a:ea typeface="Gill Sans" charset="0"/>
                <a:cs typeface="Gill Sans" charset="0"/>
              </a:rPr>
              <a:t>N</a:t>
            </a:r>
          </a:p>
        </p:txBody>
      </p:sp>
      <p:sp>
        <p:nvSpPr>
          <p:cNvPr id="121" name="Shape 121"/>
          <p:cNvSpPr/>
          <p:nvPr/>
        </p:nvSpPr>
        <p:spPr>
          <a:xfrm>
            <a:off x="2216150" y="1868487"/>
            <a:ext cx="469900" cy="24622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000000"/>
              </a:buClr>
              <a:buFont typeface="Helvetica"/>
            </a:lvl1pPr>
          </a:lstStyle>
          <a:p>
            <a:pPr lvl="0">
              <a:defRPr sz="1800" b="0">
                <a:uFillTx/>
              </a:defRPr>
            </a:pPr>
            <a:r>
              <a:rPr sz="1600" b="0">
                <a:uFill>
                  <a:solidFill/>
                </a:uFill>
                <a:latin typeface="Gill Sans" charset="0"/>
                <a:ea typeface="Gill Sans" charset="0"/>
                <a:cs typeface="Gill Sans" charset="0"/>
              </a:rPr>
              <a:t>C</a:t>
            </a:r>
          </a:p>
        </p:txBody>
      </p:sp>
      <p:sp>
        <p:nvSpPr>
          <p:cNvPr id="122" name="Shape 122"/>
          <p:cNvSpPr/>
          <p:nvPr/>
        </p:nvSpPr>
        <p:spPr>
          <a:xfrm>
            <a:off x="3840162" y="2538412"/>
            <a:ext cx="227948" cy="24622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buClr>
                <a:srgbClr val="000000"/>
              </a:buClr>
              <a:buFont typeface="Helvetica"/>
            </a:lvl1pPr>
          </a:lstStyle>
          <a:p>
            <a:pPr lvl="0">
              <a:defRPr sz="1800" b="0">
                <a:uFillTx/>
              </a:defRPr>
            </a:pPr>
            <a:r>
              <a:rPr sz="1600" b="0">
                <a:uFill>
                  <a:solidFill/>
                </a:uFill>
                <a:latin typeface="Gill Sans" charset="0"/>
                <a:ea typeface="Gill Sans" charset="0"/>
                <a:cs typeface="Gill Sans" charset="0"/>
              </a:rPr>
              <a:t>C</a:t>
            </a:r>
          </a:p>
        </p:txBody>
      </p:sp>
      <p:sp>
        <p:nvSpPr>
          <p:cNvPr id="123" name="Shape 123"/>
          <p:cNvSpPr/>
          <p:nvPr/>
        </p:nvSpPr>
        <p:spPr>
          <a:xfrm>
            <a:off x="4289425" y="1873250"/>
            <a:ext cx="227948" cy="24622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buClr>
                <a:srgbClr val="000000"/>
              </a:buClr>
              <a:buFont typeface="Helvetica"/>
            </a:lvl1pPr>
          </a:lstStyle>
          <a:p>
            <a:pPr lvl="0">
              <a:defRPr sz="1800" b="0">
                <a:uFillTx/>
              </a:defRPr>
            </a:pPr>
            <a:r>
              <a:rPr sz="1600" b="0">
                <a:uFill>
                  <a:solidFill/>
                </a:uFill>
                <a:latin typeface="Gill Sans" charset="0"/>
                <a:ea typeface="Gill Sans" charset="0"/>
                <a:cs typeface="Gill Sans" charset="0"/>
              </a:rPr>
              <a:t>C</a:t>
            </a:r>
          </a:p>
        </p:txBody>
      </p:sp>
      <p:sp>
        <p:nvSpPr>
          <p:cNvPr id="124" name="Shape 124"/>
          <p:cNvSpPr/>
          <p:nvPr/>
        </p:nvSpPr>
        <p:spPr>
          <a:xfrm>
            <a:off x="5918200" y="1852612"/>
            <a:ext cx="227948" cy="24622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buClr>
                <a:srgbClr val="000000"/>
              </a:buClr>
              <a:buFont typeface="Helvetica"/>
            </a:lvl1pPr>
          </a:lstStyle>
          <a:p>
            <a:pPr lvl="0">
              <a:defRPr sz="1800" b="0">
                <a:uFillTx/>
              </a:defRPr>
            </a:pPr>
            <a:r>
              <a:rPr sz="1600" b="0">
                <a:uFill>
                  <a:solidFill/>
                </a:uFill>
                <a:latin typeface="Gill Sans" charset="0"/>
                <a:ea typeface="Gill Sans" charset="0"/>
                <a:cs typeface="Gill Sans" charset="0"/>
              </a:rPr>
              <a:t>C</a:t>
            </a:r>
          </a:p>
        </p:txBody>
      </p:sp>
      <p:sp>
        <p:nvSpPr>
          <p:cNvPr id="125" name="Shape 125"/>
          <p:cNvSpPr/>
          <p:nvPr/>
        </p:nvSpPr>
        <p:spPr>
          <a:xfrm>
            <a:off x="2774950" y="4132262"/>
            <a:ext cx="863600" cy="4064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56" y="4809"/>
                  <a:pt x="794" y="11897"/>
                  <a:pt x="2859" y="14850"/>
                </a:cubicBezTo>
                <a:cubicBezTo>
                  <a:pt x="4606" y="20419"/>
                  <a:pt x="5162" y="20672"/>
                  <a:pt x="8576" y="21600"/>
                </a:cubicBezTo>
                <a:cubicBezTo>
                  <a:pt x="10800" y="21347"/>
                  <a:pt x="13024" y="21262"/>
                  <a:pt x="15247" y="20925"/>
                </a:cubicBezTo>
                <a:cubicBezTo>
                  <a:pt x="16518" y="20672"/>
                  <a:pt x="18741" y="17550"/>
                  <a:pt x="18741" y="17550"/>
                </a:cubicBezTo>
                <a:cubicBezTo>
                  <a:pt x="20329" y="12403"/>
                  <a:pt x="21600" y="6834"/>
                  <a:pt x="21600" y="675"/>
                </a:cubicBezTo>
              </a:path>
            </a:pathLst>
          </a:custGeom>
          <a:ln w="57150">
            <a:solidFill>
              <a:srgbClr val="0E33FF"/>
            </a:solidFill>
            <a:round/>
          </a:ln>
        </p:spPr>
        <p:txBody>
          <a:bodyPr lIns="0" tIns="0" rIns="0" bIns="0" anchor="ctr"/>
          <a:lstStyle/>
          <a:p>
            <a:pPr lvl="0">
              <a:defRPr sz="2400" b="0">
                <a:latin typeface="+mn-lt"/>
                <a:ea typeface="+mn-ea"/>
                <a:cs typeface="+mn-cs"/>
                <a:sym typeface="Times Roman"/>
              </a:defRPr>
            </a:pPr>
            <a:endParaRPr b="0">
              <a:latin typeface="Gill Sans" charset="0"/>
              <a:ea typeface="Gill Sans" charset="0"/>
              <a:cs typeface="Gill Sans" charset="0"/>
            </a:endParaRPr>
          </a:p>
        </p:txBody>
      </p:sp>
      <p:sp>
        <p:nvSpPr>
          <p:cNvPr id="126" name="Shape 126"/>
          <p:cNvSpPr/>
          <p:nvPr/>
        </p:nvSpPr>
        <p:spPr>
          <a:xfrm>
            <a:off x="2774950" y="4043362"/>
            <a:ext cx="932260" cy="2032001"/>
          </a:xfrm>
          <a:custGeom>
            <a:avLst/>
            <a:gdLst/>
            <a:ahLst/>
            <a:cxnLst>
              <a:cxn ang="0">
                <a:pos x="wd2" y="hd2"/>
              </a:cxn>
              <a:cxn ang="5400000">
                <a:pos x="wd2" y="hd2"/>
              </a:cxn>
              <a:cxn ang="10800000">
                <a:pos x="wd2" y="hd2"/>
              </a:cxn>
              <a:cxn ang="16200000">
                <a:pos x="wd2" y="hd2"/>
              </a:cxn>
            </a:cxnLst>
            <a:rect l="0" t="0" r="r" b="b"/>
            <a:pathLst>
              <a:path w="20525" h="21600" extrusionOk="0">
                <a:moveTo>
                  <a:pt x="0" y="0"/>
                </a:moveTo>
                <a:cubicBezTo>
                  <a:pt x="490" y="1485"/>
                  <a:pt x="1014" y="2936"/>
                  <a:pt x="1399" y="4455"/>
                </a:cubicBezTo>
                <a:cubicBezTo>
                  <a:pt x="1573" y="5231"/>
                  <a:pt x="1923" y="6463"/>
                  <a:pt x="3635" y="6750"/>
                </a:cubicBezTo>
                <a:cubicBezTo>
                  <a:pt x="3810" y="6615"/>
                  <a:pt x="4474" y="6412"/>
                  <a:pt x="4195" y="6345"/>
                </a:cubicBezTo>
                <a:cubicBezTo>
                  <a:pt x="3670" y="6210"/>
                  <a:pt x="2971" y="6311"/>
                  <a:pt x="2517" y="6480"/>
                </a:cubicBezTo>
                <a:cubicBezTo>
                  <a:pt x="1958" y="6666"/>
                  <a:pt x="1399" y="7290"/>
                  <a:pt x="1399" y="7290"/>
                </a:cubicBezTo>
                <a:cubicBezTo>
                  <a:pt x="1538" y="8083"/>
                  <a:pt x="734" y="10142"/>
                  <a:pt x="3076" y="10530"/>
                </a:cubicBezTo>
                <a:cubicBezTo>
                  <a:pt x="3356" y="10479"/>
                  <a:pt x="3915" y="10530"/>
                  <a:pt x="3915" y="10395"/>
                </a:cubicBezTo>
                <a:cubicBezTo>
                  <a:pt x="3915" y="10226"/>
                  <a:pt x="3391" y="10142"/>
                  <a:pt x="3076" y="10125"/>
                </a:cubicBezTo>
                <a:cubicBezTo>
                  <a:pt x="2587" y="10091"/>
                  <a:pt x="2133" y="10209"/>
                  <a:pt x="1678" y="10260"/>
                </a:cubicBezTo>
                <a:cubicBezTo>
                  <a:pt x="1084" y="11104"/>
                  <a:pt x="944" y="12876"/>
                  <a:pt x="3076" y="13230"/>
                </a:cubicBezTo>
                <a:cubicBezTo>
                  <a:pt x="3426" y="13179"/>
                  <a:pt x="4055" y="13264"/>
                  <a:pt x="4195" y="13095"/>
                </a:cubicBezTo>
                <a:cubicBezTo>
                  <a:pt x="4299" y="12926"/>
                  <a:pt x="2622" y="12707"/>
                  <a:pt x="2517" y="12690"/>
                </a:cubicBezTo>
                <a:cubicBezTo>
                  <a:pt x="1783" y="13196"/>
                  <a:pt x="1224" y="13399"/>
                  <a:pt x="2517" y="14175"/>
                </a:cubicBezTo>
                <a:cubicBezTo>
                  <a:pt x="2866" y="14394"/>
                  <a:pt x="4195" y="14445"/>
                  <a:pt x="4195" y="14445"/>
                </a:cubicBezTo>
                <a:cubicBezTo>
                  <a:pt x="4544" y="14394"/>
                  <a:pt x="4964" y="14411"/>
                  <a:pt x="5313" y="14310"/>
                </a:cubicBezTo>
                <a:cubicBezTo>
                  <a:pt x="6327" y="13972"/>
                  <a:pt x="5523" y="13365"/>
                  <a:pt x="5313" y="12960"/>
                </a:cubicBezTo>
                <a:cubicBezTo>
                  <a:pt x="5103" y="11542"/>
                  <a:pt x="4090" y="9551"/>
                  <a:pt x="6991" y="8640"/>
                </a:cubicBezTo>
                <a:cubicBezTo>
                  <a:pt x="7480" y="8876"/>
                  <a:pt x="8249" y="9011"/>
                  <a:pt x="8668" y="9315"/>
                </a:cubicBezTo>
                <a:cubicBezTo>
                  <a:pt x="9018" y="9585"/>
                  <a:pt x="8983" y="9939"/>
                  <a:pt x="9228" y="10260"/>
                </a:cubicBezTo>
                <a:cubicBezTo>
                  <a:pt x="9263" y="10800"/>
                  <a:pt x="8529" y="14276"/>
                  <a:pt x="11185" y="14715"/>
                </a:cubicBezTo>
                <a:cubicBezTo>
                  <a:pt x="11814" y="14664"/>
                  <a:pt x="12933" y="14867"/>
                  <a:pt x="13142" y="14580"/>
                </a:cubicBezTo>
                <a:cubicBezTo>
                  <a:pt x="13597" y="13821"/>
                  <a:pt x="12967" y="12403"/>
                  <a:pt x="12583" y="11475"/>
                </a:cubicBezTo>
                <a:cubicBezTo>
                  <a:pt x="12723" y="10260"/>
                  <a:pt x="12024" y="9382"/>
                  <a:pt x="13981" y="8775"/>
                </a:cubicBezTo>
                <a:cubicBezTo>
                  <a:pt x="14540" y="8809"/>
                  <a:pt x="15169" y="8758"/>
                  <a:pt x="15659" y="8910"/>
                </a:cubicBezTo>
                <a:cubicBezTo>
                  <a:pt x="16008" y="9011"/>
                  <a:pt x="15938" y="9281"/>
                  <a:pt x="16218" y="9450"/>
                </a:cubicBezTo>
                <a:cubicBezTo>
                  <a:pt x="16428" y="9568"/>
                  <a:pt x="16777" y="9619"/>
                  <a:pt x="17057" y="9720"/>
                </a:cubicBezTo>
                <a:cubicBezTo>
                  <a:pt x="17406" y="10749"/>
                  <a:pt x="17616" y="11171"/>
                  <a:pt x="17616" y="12420"/>
                </a:cubicBezTo>
                <a:cubicBezTo>
                  <a:pt x="17616" y="13230"/>
                  <a:pt x="17476" y="14040"/>
                  <a:pt x="17336" y="14850"/>
                </a:cubicBezTo>
                <a:cubicBezTo>
                  <a:pt x="17022" y="16504"/>
                  <a:pt x="11290" y="16352"/>
                  <a:pt x="8948" y="16470"/>
                </a:cubicBezTo>
                <a:cubicBezTo>
                  <a:pt x="5767" y="16268"/>
                  <a:pt x="3600" y="16234"/>
                  <a:pt x="280" y="16335"/>
                </a:cubicBezTo>
                <a:cubicBezTo>
                  <a:pt x="-384" y="17263"/>
                  <a:pt x="1049" y="17229"/>
                  <a:pt x="2517" y="17415"/>
                </a:cubicBezTo>
                <a:cubicBezTo>
                  <a:pt x="3845" y="17381"/>
                  <a:pt x="14191" y="16757"/>
                  <a:pt x="17057" y="17685"/>
                </a:cubicBezTo>
                <a:cubicBezTo>
                  <a:pt x="16428" y="19170"/>
                  <a:pt x="17336" y="17752"/>
                  <a:pt x="15938" y="18630"/>
                </a:cubicBezTo>
                <a:cubicBezTo>
                  <a:pt x="15729" y="18731"/>
                  <a:pt x="15903" y="18968"/>
                  <a:pt x="15659" y="19035"/>
                </a:cubicBezTo>
                <a:cubicBezTo>
                  <a:pt x="14785" y="19221"/>
                  <a:pt x="12863" y="19305"/>
                  <a:pt x="12863" y="19305"/>
                </a:cubicBezTo>
                <a:cubicBezTo>
                  <a:pt x="10591" y="19204"/>
                  <a:pt x="8599" y="19069"/>
                  <a:pt x="6432" y="18900"/>
                </a:cubicBezTo>
                <a:cubicBezTo>
                  <a:pt x="3461" y="19001"/>
                  <a:pt x="1748" y="18647"/>
                  <a:pt x="839" y="19980"/>
                </a:cubicBezTo>
                <a:cubicBezTo>
                  <a:pt x="1014" y="20250"/>
                  <a:pt x="839" y="20689"/>
                  <a:pt x="1399" y="20790"/>
                </a:cubicBezTo>
                <a:cubicBezTo>
                  <a:pt x="2762" y="21009"/>
                  <a:pt x="3775" y="21195"/>
                  <a:pt x="5033" y="21600"/>
                </a:cubicBezTo>
                <a:cubicBezTo>
                  <a:pt x="6501" y="21549"/>
                  <a:pt x="8004" y="21566"/>
                  <a:pt x="9507" y="21465"/>
                </a:cubicBezTo>
                <a:cubicBezTo>
                  <a:pt x="10661" y="21364"/>
                  <a:pt x="12583" y="20773"/>
                  <a:pt x="13981" y="20655"/>
                </a:cubicBezTo>
                <a:cubicBezTo>
                  <a:pt x="15414" y="20503"/>
                  <a:pt x="16637" y="20368"/>
                  <a:pt x="17896" y="19980"/>
                </a:cubicBezTo>
                <a:cubicBezTo>
                  <a:pt x="18140" y="19440"/>
                  <a:pt x="18350" y="19086"/>
                  <a:pt x="19014" y="18630"/>
                </a:cubicBezTo>
                <a:cubicBezTo>
                  <a:pt x="19888" y="15474"/>
                  <a:pt x="19329" y="16622"/>
                  <a:pt x="20133" y="15120"/>
                </a:cubicBezTo>
                <a:cubicBezTo>
                  <a:pt x="20377" y="12201"/>
                  <a:pt x="21216" y="9399"/>
                  <a:pt x="19294" y="6615"/>
                </a:cubicBezTo>
                <a:cubicBezTo>
                  <a:pt x="18909" y="4725"/>
                  <a:pt x="18734" y="2835"/>
                  <a:pt x="18734" y="945"/>
                </a:cubicBezTo>
              </a:path>
            </a:pathLst>
          </a:custGeom>
          <a:ln w="57150">
            <a:solidFill>
              <a:srgbClr val="00AD00"/>
            </a:solidFill>
            <a:round/>
          </a:ln>
        </p:spPr>
        <p:txBody>
          <a:bodyPr lIns="0" tIns="0" rIns="0" bIns="0" anchor="ctr"/>
          <a:lstStyle/>
          <a:p>
            <a:pPr lvl="0">
              <a:defRPr sz="2400" b="0">
                <a:latin typeface="+mn-lt"/>
                <a:ea typeface="+mn-ea"/>
                <a:cs typeface="+mn-cs"/>
                <a:sym typeface="Times Roman"/>
              </a:defRPr>
            </a:pPr>
            <a:endParaRPr b="0">
              <a:latin typeface="Gill Sans" charset="0"/>
              <a:ea typeface="Gill Sans" charset="0"/>
              <a:cs typeface="Gill Sans" charset="0"/>
            </a:endParaRPr>
          </a:p>
        </p:txBody>
      </p:sp>
      <p:sp>
        <p:nvSpPr>
          <p:cNvPr id="127" name="Shape 127"/>
          <p:cNvSpPr/>
          <p:nvPr/>
        </p:nvSpPr>
        <p:spPr>
          <a:xfrm>
            <a:off x="4856195" y="550862"/>
            <a:ext cx="738156" cy="3644901"/>
          </a:xfrm>
          <a:custGeom>
            <a:avLst/>
            <a:gdLst/>
            <a:ahLst/>
            <a:cxnLst>
              <a:cxn ang="0">
                <a:pos x="wd2" y="hd2"/>
              </a:cxn>
              <a:cxn ang="5400000">
                <a:pos x="wd2" y="hd2"/>
              </a:cxn>
              <a:cxn ang="10800000">
                <a:pos x="wd2" y="hd2"/>
              </a:cxn>
              <a:cxn ang="16200000">
                <a:pos x="wd2" y="hd2"/>
              </a:cxn>
            </a:cxnLst>
            <a:rect l="0" t="0" r="r" b="b"/>
            <a:pathLst>
              <a:path w="21100" h="21572" extrusionOk="0">
                <a:moveTo>
                  <a:pt x="21100" y="376"/>
                </a:moveTo>
                <a:cubicBezTo>
                  <a:pt x="19875" y="291"/>
                  <a:pt x="17833" y="0"/>
                  <a:pt x="17833" y="0"/>
                </a:cubicBezTo>
                <a:cubicBezTo>
                  <a:pt x="17243" y="10"/>
                  <a:pt x="14203" y="-28"/>
                  <a:pt x="13476" y="226"/>
                </a:cubicBezTo>
                <a:cubicBezTo>
                  <a:pt x="12387" y="573"/>
                  <a:pt x="11616" y="1372"/>
                  <a:pt x="11298" y="1804"/>
                </a:cubicBezTo>
                <a:cubicBezTo>
                  <a:pt x="10754" y="5374"/>
                  <a:pt x="11389" y="3223"/>
                  <a:pt x="10572" y="4961"/>
                </a:cubicBezTo>
                <a:cubicBezTo>
                  <a:pt x="10300" y="5478"/>
                  <a:pt x="9846" y="6539"/>
                  <a:pt x="9846" y="6539"/>
                </a:cubicBezTo>
                <a:cubicBezTo>
                  <a:pt x="9529" y="7977"/>
                  <a:pt x="8349" y="9320"/>
                  <a:pt x="7668" y="10749"/>
                </a:cubicBezTo>
                <a:cubicBezTo>
                  <a:pt x="7305" y="13229"/>
                  <a:pt x="7441" y="15869"/>
                  <a:pt x="5490" y="18340"/>
                </a:cubicBezTo>
                <a:cubicBezTo>
                  <a:pt x="5399" y="18641"/>
                  <a:pt x="6670" y="21262"/>
                  <a:pt x="2223" y="21572"/>
                </a:cubicBezTo>
                <a:cubicBezTo>
                  <a:pt x="-500" y="21459"/>
                  <a:pt x="45" y="21422"/>
                  <a:pt x="45" y="20896"/>
                </a:cubicBezTo>
              </a:path>
            </a:pathLst>
          </a:custGeom>
          <a:ln w="57150">
            <a:solidFill>
              <a:srgbClr val="E48D2E"/>
            </a:solidFill>
            <a:round/>
          </a:ln>
        </p:spPr>
        <p:txBody>
          <a:bodyPr lIns="0" tIns="0" rIns="0" bIns="0" anchor="ctr"/>
          <a:lstStyle/>
          <a:p>
            <a:pPr lvl="0">
              <a:defRPr sz="2400" b="0">
                <a:latin typeface="+mn-lt"/>
                <a:ea typeface="+mn-ea"/>
                <a:cs typeface="+mn-cs"/>
                <a:sym typeface="Times Roman"/>
              </a:defRPr>
            </a:pPr>
            <a:endParaRPr b="0">
              <a:latin typeface="Gill Sans" charset="0"/>
              <a:ea typeface="Gill Sans" charset="0"/>
              <a:cs typeface="Gill Sans" charset="0"/>
            </a:endParaRPr>
          </a:p>
        </p:txBody>
      </p:sp>
      <p:pic>
        <p:nvPicPr>
          <p:cNvPr id="128" name="image.png"/>
          <p:cNvPicPr/>
          <p:nvPr/>
        </p:nvPicPr>
        <p:blipFill>
          <a:blip r:embed="rId3"/>
          <a:stretch>
            <a:fillRect/>
          </a:stretch>
        </p:blipFill>
        <p:spPr>
          <a:xfrm>
            <a:off x="974725" y="3560762"/>
            <a:ext cx="715963" cy="1609726"/>
          </a:xfrm>
          <a:prstGeom prst="rect">
            <a:avLst/>
          </a:prstGeom>
          <a:ln w="12700">
            <a:miter lim="400000"/>
          </a:ln>
        </p:spPr>
      </p:pic>
      <p:pic>
        <p:nvPicPr>
          <p:cNvPr id="129" name="image.png"/>
          <p:cNvPicPr/>
          <p:nvPr/>
        </p:nvPicPr>
        <p:blipFill>
          <a:blip r:embed="rId4"/>
          <a:stretch>
            <a:fillRect/>
          </a:stretch>
        </p:blipFill>
        <p:spPr>
          <a:xfrm>
            <a:off x="1965325" y="3533775"/>
            <a:ext cx="654050" cy="1627188"/>
          </a:xfrm>
          <a:prstGeom prst="rect">
            <a:avLst/>
          </a:prstGeom>
          <a:ln w="12700">
            <a:miter lim="400000"/>
          </a:ln>
        </p:spPr>
      </p:pic>
      <p:pic>
        <p:nvPicPr>
          <p:cNvPr id="130" name="image.png"/>
          <p:cNvPicPr/>
          <p:nvPr/>
        </p:nvPicPr>
        <p:blipFill>
          <a:blip r:embed="rId5"/>
          <a:stretch>
            <a:fillRect/>
          </a:stretch>
        </p:blipFill>
        <p:spPr>
          <a:xfrm>
            <a:off x="1127125" y="5203825"/>
            <a:ext cx="355600" cy="1593850"/>
          </a:xfrm>
          <a:prstGeom prst="rect">
            <a:avLst/>
          </a:prstGeom>
          <a:ln w="12700">
            <a:miter lim="400000"/>
          </a:ln>
        </p:spPr>
      </p:pic>
      <p:grpSp>
        <p:nvGrpSpPr>
          <p:cNvPr id="157" name="Group 157"/>
          <p:cNvGrpSpPr/>
          <p:nvPr/>
        </p:nvGrpSpPr>
        <p:grpSpPr>
          <a:xfrm>
            <a:off x="1965323" y="5081587"/>
            <a:ext cx="573091" cy="1765301"/>
            <a:chOff x="-1" y="0"/>
            <a:chExt cx="573089" cy="1765300"/>
          </a:xfrm>
        </p:grpSpPr>
        <p:pic>
          <p:nvPicPr>
            <p:cNvPr id="131" name="image.pdf"/>
            <p:cNvPicPr/>
            <p:nvPr/>
          </p:nvPicPr>
          <p:blipFill>
            <a:blip r:embed="rId6"/>
            <a:stretch>
              <a:fillRect/>
            </a:stretch>
          </p:blipFill>
          <p:spPr>
            <a:xfrm>
              <a:off x="100012" y="49212"/>
              <a:ext cx="473076" cy="1716088"/>
            </a:xfrm>
            <a:prstGeom prst="rect">
              <a:avLst/>
            </a:prstGeom>
            <a:ln w="12700" cap="flat">
              <a:noFill/>
              <a:miter lim="400000"/>
            </a:ln>
            <a:effectLst/>
          </p:spPr>
        </p:pic>
        <p:grpSp>
          <p:nvGrpSpPr>
            <p:cNvPr id="156" name="Group 156"/>
            <p:cNvGrpSpPr/>
            <p:nvPr/>
          </p:nvGrpSpPr>
          <p:grpSpPr>
            <a:xfrm>
              <a:off x="-1" y="0"/>
              <a:ext cx="541420" cy="1740644"/>
              <a:chOff x="0" y="0"/>
              <a:chExt cx="541418" cy="1740644"/>
            </a:xfrm>
          </p:grpSpPr>
          <p:sp>
            <p:nvSpPr>
              <p:cNvPr id="132" name="Shape 132"/>
              <p:cNvSpPr/>
              <p:nvPr/>
            </p:nvSpPr>
            <p:spPr>
              <a:xfrm>
                <a:off x="0" y="1230312"/>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33" name="Shape 133"/>
              <p:cNvSpPr/>
              <p:nvPr/>
            </p:nvSpPr>
            <p:spPr>
              <a:xfrm>
                <a:off x="319087" y="1663700"/>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34" name="Shape 134"/>
              <p:cNvSpPr/>
              <p:nvPr/>
            </p:nvSpPr>
            <p:spPr>
              <a:xfrm>
                <a:off x="125412" y="0"/>
                <a:ext cx="206376"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300"/>
                  </a:spcBef>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35" name="Shape 135"/>
              <p:cNvSpPr/>
              <p:nvPr/>
            </p:nvSpPr>
            <p:spPr>
              <a:xfrm>
                <a:off x="93662" y="206375"/>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36" name="Shape 136"/>
              <p:cNvSpPr/>
              <p:nvPr/>
            </p:nvSpPr>
            <p:spPr>
              <a:xfrm>
                <a:off x="76200" y="561975"/>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37" name="Shape 137"/>
              <p:cNvSpPr/>
              <p:nvPr/>
            </p:nvSpPr>
            <p:spPr>
              <a:xfrm>
                <a:off x="68262" y="866775"/>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38" name="Shape 138"/>
              <p:cNvSpPr/>
              <p:nvPr/>
            </p:nvSpPr>
            <p:spPr>
              <a:xfrm>
                <a:off x="107950" y="1214437"/>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39" name="Shape 139"/>
              <p:cNvSpPr/>
              <p:nvPr/>
            </p:nvSpPr>
            <p:spPr>
              <a:xfrm>
                <a:off x="401637" y="41275"/>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40" name="Shape 140"/>
              <p:cNvSpPr/>
              <p:nvPr/>
            </p:nvSpPr>
            <p:spPr>
              <a:xfrm>
                <a:off x="303212" y="171450"/>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41" name="Shape 141"/>
              <p:cNvSpPr/>
              <p:nvPr/>
            </p:nvSpPr>
            <p:spPr>
              <a:xfrm>
                <a:off x="204787" y="168275"/>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42" name="Shape 142"/>
              <p:cNvSpPr/>
              <p:nvPr/>
            </p:nvSpPr>
            <p:spPr>
              <a:xfrm>
                <a:off x="358775" y="344487"/>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43" name="Shape 143"/>
              <p:cNvSpPr/>
              <p:nvPr/>
            </p:nvSpPr>
            <p:spPr>
              <a:xfrm>
                <a:off x="279400" y="381000"/>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44" name="Shape 144"/>
              <p:cNvSpPr/>
              <p:nvPr/>
            </p:nvSpPr>
            <p:spPr>
              <a:xfrm>
                <a:off x="249237" y="511175"/>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45" name="Shape 145"/>
              <p:cNvSpPr/>
              <p:nvPr/>
            </p:nvSpPr>
            <p:spPr>
              <a:xfrm>
                <a:off x="117475" y="519112"/>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46" name="Shape 146"/>
              <p:cNvSpPr/>
              <p:nvPr/>
            </p:nvSpPr>
            <p:spPr>
              <a:xfrm>
                <a:off x="322262" y="693737"/>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47" name="Shape 147"/>
              <p:cNvSpPr/>
              <p:nvPr/>
            </p:nvSpPr>
            <p:spPr>
              <a:xfrm>
                <a:off x="328612" y="727075"/>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48" name="Shape 148"/>
              <p:cNvSpPr/>
              <p:nvPr/>
            </p:nvSpPr>
            <p:spPr>
              <a:xfrm>
                <a:off x="131762" y="862012"/>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49" name="Shape 149"/>
              <p:cNvSpPr/>
              <p:nvPr/>
            </p:nvSpPr>
            <p:spPr>
              <a:xfrm>
                <a:off x="358775" y="1077912"/>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50" name="Shape 150"/>
              <p:cNvSpPr/>
              <p:nvPr/>
            </p:nvSpPr>
            <p:spPr>
              <a:xfrm>
                <a:off x="307975" y="1052512"/>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51" name="Shape 151"/>
              <p:cNvSpPr/>
              <p:nvPr/>
            </p:nvSpPr>
            <p:spPr>
              <a:xfrm>
                <a:off x="152400" y="1057275"/>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52" name="Shape 152"/>
              <p:cNvSpPr/>
              <p:nvPr/>
            </p:nvSpPr>
            <p:spPr>
              <a:xfrm>
                <a:off x="123825" y="1258887"/>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53" name="Shape 153"/>
              <p:cNvSpPr/>
              <p:nvPr/>
            </p:nvSpPr>
            <p:spPr>
              <a:xfrm>
                <a:off x="120650" y="1433512"/>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54" name="Shape 154"/>
              <p:cNvSpPr/>
              <p:nvPr/>
            </p:nvSpPr>
            <p:spPr>
              <a:xfrm>
                <a:off x="357187" y="1419225"/>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sp>
            <p:nvSpPr>
              <p:cNvPr id="155" name="Shape 155"/>
              <p:cNvSpPr/>
              <p:nvPr/>
            </p:nvSpPr>
            <p:spPr>
              <a:xfrm>
                <a:off x="138112" y="917575"/>
                <a:ext cx="139781" cy="7694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buClr>
                    <a:srgbClr val="000000"/>
                  </a:buClr>
                  <a:buFont typeface="Helvetica"/>
                  <a:defRPr sz="500" b="0">
                    <a:latin typeface="Wingdings 2"/>
                    <a:ea typeface="Wingdings 2"/>
                    <a:cs typeface="Wingdings 2"/>
                    <a:sym typeface="Wingdings 2"/>
                  </a:defRPr>
                </a:lvl1pPr>
              </a:lstStyle>
              <a:p>
                <a:pPr lvl="0">
                  <a:defRPr sz="1800">
                    <a:uFillTx/>
                  </a:defRPr>
                </a:pPr>
                <a:r>
                  <a:rPr sz="500">
                    <a:uFill>
                      <a:solidFill/>
                    </a:uFill>
                    <a:latin typeface="Gill Sans" charset="0"/>
                    <a:ea typeface="Gill Sans" charset="0"/>
                    <a:cs typeface="Gill Sans" charset="0"/>
                  </a:rPr>
                  <a:t></a:t>
                </a:r>
              </a:p>
            </p:txBody>
          </p:sp>
        </p:grpSp>
      </p:grpSp>
      <p:sp>
        <p:nvSpPr>
          <p:cNvPr id="158" name="Shape 158"/>
          <p:cNvSpPr/>
          <p:nvPr/>
        </p:nvSpPr>
        <p:spPr>
          <a:xfrm>
            <a:off x="1558925" y="3917950"/>
            <a:ext cx="850900" cy="677108"/>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2600"/>
              </a:spcBef>
              <a:buClr>
                <a:srgbClr val="000000"/>
              </a:buClr>
              <a:buFont typeface="Helvetica"/>
              <a:defRPr sz="4400" b="0">
                <a:latin typeface="Symbol"/>
                <a:ea typeface="Symbol"/>
                <a:cs typeface="Symbol"/>
                <a:sym typeface="Symbol"/>
              </a:defRPr>
            </a:lvl1pPr>
          </a:lstStyle>
          <a:p>
            <a:pPr lvl="0">
              <a:defRPr sz="1800">
                <a:uFillTx/>
              </a:defRPr>
            </a:pPr>
            <a:r>
              <a:rPr sz="4400">
                <a:uFill>
                  <a:solidFill/>
                </a:uFill>
                <a:latin typeface="Gill Sans" charset="0"/>
                <a:ea typeface="Gill Sans" charset="0"/>
                <a:cs typeface="Gill Sans" charset="0"/>
              </a:rPr>
              <a:t>≡</a:t>
            </a:r>
          </a:p>
        </p:txBody>
      </p:sp>
      <p:sp>
        <p:nvSpPr>
          <p:cNvPr id="159" name="Shape 159"/>
          <p:cNvSpPr/>
          <p:nvPr/>
        </p:nvSpPr>
        <p:spPr>
          <a:xfrm>
            <a:off x="1558925" y="5567362"/>
            <a:ext cx="362600" cy="677108"/>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spcBef>
                <a:spcPts val="2600"/>
              </a:spcBef>
              <a:buClr>
                <a:srgbClr val="000000"/>
              </a:buClr>
              <a:buFont typeface="Helvetica"/>
              <a:defRPr sz="4400" b="0">
                <a:latin typeface="Symbol"/>
                <a:ea typeface="Symbol"/>
                <a:cs typeface="Symbol"/>
                <a:sym typeface="Symbol"/>
              </a:defRPr>
            </a:lvl1pPr>
          </a:lstStyle>
          <a:p>
            <a:pPr lvl="0">
              <a:defRPr sz="1800">
                <a:uFillTx/>
              </a:defRPr>
            </a:pPr>
            <a:r>
              <a:rPr sz="4400">
                <a:uFill>
                  <a:solidFill/>
                </a:uFill>
                <a:latin typeface="Gill Sans" charset="0"/>
                <a:ea typeface="Gill Sans" charset="0"/>
                <a:cs typeface="Gill Sans" charset="0"/>
              </a:rPr>
              <a:t>≡</a:t>
            </a:r>
          </a:p>
        </p:txBody>
      </p:sp>
      <p:sp>
        <p:nvSpPr>
          <p:cNvPr id="160" name="Shape 160"/>
          <p:cNvSpPr/>
          <p:nvPr/>
        </p:nvSpPr>
        <p:spPr>
          <a:xfrm>
            <a:off x="6896295" y="617243"/>
            <a:ext cx="799062" cy="266701"/>
          </a:xfrm>
          <a:prstGeom prst="rect">
            <a:avLst/>
          </a:prstGeom>
          <a:ln w="19050">
            <a:solidFill>
              <a:srgbClr val="1E31E3"/>
            </a:solidFill>
            <a:prstDash val="sysDot"/>
            <a:miter lim="400000"/>
          </a:ln>
        </p:spPr>
        <p:txBody>
          <a:bodyPr lIns="0" tIns="0" rIns="0" bIns="0" anchor="ctr"/>
          <a:lstStyle/>
          <a:p>
            <a:pPr lvl="0">
              <a:defRPr sz="2400" b="0">
                <a:latin typeface="+mn-lt"/>
                <a:ea typeface="+mn-ea"/>
                <a:cs typeface="+mn-cs"/>
                <a:sym typeface="Times Roman"/>
              </a:defRPr>
            </a:pPr>
            <a:endParaRPr b="0">
              <a:latin typeface="Gill Sans" charset="0"/>
              <a:ea typeface="Gill Sans" charset="0"/>
              <a:cs typeface="Gill Sans" charset="0"/>
            </a:endParaRPr>
          </a:p>
        </p:txBody>
      </p:sp>
      <p:pic>
        <p:nvPicPr>
          <p:cNvPr id="161" name="image.pdf"/>
          <p:cNvPicPr/>
          <p:nvPr/>
        </p:nvPicPr>
        <p:blipFill>
          <a:blip r:embed="rId7"/>
          <a:stretch>
            <a:fillRect/>
          </a:stretch>
        </p:blipFill>
        <p:spPr>
          <a:xfrm>
            <a:off x="119062" y="479425"/>
            <a:ext cx="2106613" cy="2935288"/>
          </a:xfrm>
          <a:prstGeom prst="rect">
            <a:avLst/>
          </a:prstGeom>
          <a:ln w="12700">
            <a:miter lim="400000"/>
          </a:ln>
        </p:spPr>
      </p:pic>
      <p:sp>
        <p:nvSpPr>
          <p:cNvPr id="162" name="Shape 162"/>
          <p:cNvSpPr/>
          <p:nvPr/>
        </p:nvSpPr>
        <p:spPr>
          <a:xfrm>
            <a:off x="938212" y="3519487"/>
            <a:ext cx="720726" cy="3333751"/>
          </a:xfrm>
          <a:prstGeom prst="rect">
            <a:avLst/>
          </a:prstGeom>
          <a:solidFill>
            <a:srgbClr val="FFFFFF"/>
          </a:solidFill>
          <a:ln>
            <a:miter lim="400000"/>
          </a:ln>
        </p:spPr>
        <p:txBody>
          <a:bodyPr lIns="0" tIns="0" rIns="0" bIns="0" anchor="ctr"/>
          <a:lstStyle/>
          <a:p>
            <a:pPr lvl="0">
              <a:defRPr sz="2400" b="0">
                <a:latin typeface="+mn-lt"/>
                <a:ea typeface="+mn-ea"/>
                <a:cs typeface="+mn-cs"/>
                <a:sym typeface="Times Roman"/>
              </a:defRPr>
            </a:pPr>
            <a:endParaRPr b="0">
              <a:latin typeface="Gill Sans" charset="0"/>
              <a:ea typeface="Gill Sans" charset="0"/>
              <a:cs typeface="Gill Sans" charset="0"/>
            </a:endParaRPr>
          </a:p>
        </p:txBody>
      </p:sp>
      <p:pic>
        <p:nvPicPr>
          <p:cNvPr id="163" name="image.pdf"/>
          <p:cNvPicPr/>
          <p:nvPr/>
        </p:nvPicPr>
        <p:blipFill>
          <a:blip r:embed="rId8"/>
          <a:stretch>
            <a:fillRect/>
          </a:stretch>
        </p:blipFill>
        <p:spPr>
          <a:xfrm>
            <a:off x="788987" y="3694112"/>
            <a:ext cx="874713" cy="1525588"/>
          </a:xfrm>
          <a:prstGeom prst="rect">
            <a:avLst/>
          </a:prstGeom>
          <a:ln w="12700">
            <a:miter lim="400000"/>
          </a:ln>
        </p:spPr>
      </p:pic>
      <p:sp>
        <p:nvSpPr>
          <p:cNvPr id="164" name="Shape 164"/>
          <p:cNvSpPr/>
          <p:nvPr/>
        </p:nvSpPr>
        <p:spPr>
          <a:xfrm>
            <a:off x="0" y="4094162"/>
            <a:ext cx="995363" cy="40011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700"/>
              </a:spcBef>
              <a:buClr>
                <a:srgbClr val="000000"/>
              </a:buClr>
              <a:buFont typeface="Helvetica"/>
              <a:defRPr sz="1800" b="0">
                <a:uFillTx/>
              </a:defRPr>
            </a:pPr>
            <a:r>
              <a:rPr sz="1200" b="0" dirty="0">
                <a:uFill>
                  <a:solidFill/>
                </a:uFill>
                <a:latin typeface="Gill Sans" charset="0"/>
                <a:ea typeface="Gill Sans" charset="0"/>
                <a:cs typeface="Gill Sans" charset="0"/>
              </a:rPr>
              <a:t>3-</a:t>
            </a:r>
            <a:r>
              <a:rPr lang="en-US" sz="1200" b="0" dirty="0">
                <a:uFill>
                  <a:solidFill/>
                </a:uFill>
                <a:latin typeface="Gill Sans" charset="0"/>
                <a:ea typeface="Gill Sans" charset="0"/>
                <a:cs typeface="Gill Sans" charset="0"/>
              </a:rPr>
              <a:t>strand </a:t>
            </a:r>
            <a:r>
              <a:rPr lang="en-US" sz="1400" b="0" dirty="0">
                <a:uFill>
                  <a:solidFill/>
                </a:uFill>
                <a:latin typeface="Gill Sans" charset="0"/>
                <a:ea typeface="Gill Sans" charset="0"/>
                <a:cs typeface="Gill Sans" charset="0"/>
                <a:sym typeface="Symbol"/>
              </a:rPr>
              <a:t>β</a:t>
            </a:r>
            <a:r>
              <a:rPr lang="en-US" sz="1200" b="0" dirty="0">
                <a:uFill>
                  <a:solidFill/>
                </a:uFill>
                <a:latin typeface="Gill Sans" charset="0"/>
                <a:ea typeface="Gill Sans" charset="0"/>
                <a:cs typeface="Gill Sans" charset="0"/>
              </a:rPr>
              <a:t>-sheet</a:t>
            </a:r>
          </a:p>
        </p:txBody>
      </p:sp>
      <p:pic>
        <p:nvPicPr>
          <p:cNvPr id="165" name="image.pdf"/>
          <p:cNvPicPr/>
          <p:nvPr/>
        </p:nvPicPr>
        <p:blipFill>
          <a:blip r:embed="rId9"/>
          <a:stretch>
            <a:fillRect/>
          </a:stretch>
        </p:blipFill>
        <p:spPr>
          <a:xfrm>
            <a:off x="858837" y="5278437"/>
            <a:ext cx="795338" cy="1374776"/>
          </a:xfrm>
          <a:prstGeom prst="rect">
            <a:avLst/>
          </a:prstGeom>
          <a:ln w="12700">
            <a:miter lim="400000"/>
          </a:ln>
        </p:spPr>
      </p:pic>
      <p:sp>
        <p:nvSpPr>
          <p:cNvPr id="166" name="Shape 166"/>
          <p:cNvSpPr/>
          <p:nvPr/>
        </p:nvSpPr>
        <p:spPr>
          <a:xfrm>
            <a:off x="2752321" y="4163435"/>
            <a:ext cx="1841500" cy="21544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800"/>
              </a:spcBef>
              <a:buClr>
                <a:srgbClr val="000000"/>
              </a:buClr>
              <a:buFont typeface="Helvetica"/>
              <a:defRPr sz="1400"/>
            </a:lvl1pPr>
          </a:lstStyle>
          <a:p>
            <a:pPr lvl="0">
              <a:defRPr sz="1800" b="0">
                <a:uFillTx/>
              </a:defRPr>
            </a:pPr>
            <a:r>
              <a:rPr sz="1400" b="0" dirty="0">
                <a:uFill>
                  <a:solidFill/>
                </a:uFill>
                <a:latin typeface="Gill Sans" charset="0"/>
                <a:ea typeface="Gill Sans" charset="0"/>
                <a:cs typeface="Gill Sans" charset="0"/>
              </a:rPr>
              <a:t>A</a:t>
            </a:r>
            <a:r>
              <a:rPr lang="en-US" sz="1400" b="0" dirty="0">
                <a:uFill>
                  <a:solidFill/>
                </a:uFill>
                <a:latin typeface="Gill Sans" charset="0"/>
                <a:ea typeface="Gill Sans" charset="0"/>
                <a:cs typeface="Gill Sans" charset="0"/>
              </a:rPr>
              <a:t>ntiparallel</a:t>
            </a:r>
          </a:p>
        </p:txBody>
      </p:sp>
      <p:grpSp>
        <p:nvGrpSpPr>
          <p:cNvPr id="169" name="Group 169"/>
          <p:cNvGrpSpPr/>
          <p:nvPr/>
        </p:nvGrpSpPr>
        <p:grpSpPr>
          <a:xfrm>
            <a:off x="6254750" y="1807292"/>
            <a:ext cx="2908301" cy="609601"/>
            <a:chOff x="0" y="-89616"/>
            <a:chExt cx="2908300" cy="609600"/>
          </a:xfrm>
        </p:grpSpPr>
        <p:sp>
          <p:nvSpPr>
            <p:cNvPr id="167" name="Shape 167"/>
            <p:cNvSpPr/>
            <p:nvPr/>
          </p:nvSpPr>
          <p:spPr>
            <a:xfrm>
              <a:off x="0" y="139700"/>
              <a:ext cx="2908300" cy="24622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900"/>
                </a:spcBef>
                <a:buClr>
                  <a:srgbClr val="DD33C5"/>
                </a:buClr>
                <a:buFont typeface="Helvetica"/>
                <a:defRPr>
                  <a:solidFill>
                    <a:srgbClr val="DD33C5"/>
                  </a:solidFill>
                  <a:uFill>
                    <a:solidFill>
                      <a:srgbClr val="DD33C5"/>
                    </a:solidFill>
                  </a:uFill>
                </a:defRPr>
              </a:lvl1pPr>
            </a:lstStyle>
            <a:p>
              <a:pPr lvl="0">
                <a:defRPr sz="1800" b="0">
                  <a:solidFill>
                    <a:srgbClr val="000000"/>
                  </a:solidFill>
                  <a:uFillTx/>
                </a:defRPr>
              </a:pPr>
              <a:r>
                <a:rPr lang="en-US" sz="1600" b="0" dirty="0">
                  <a:solidFill>
                    <a:schemeClr val="tx1"/>
                  </a:solidFill>
                  <a:uFill>
                    <a:solidFill>
                      <a:srgbClr val="DD33C5"/>
                    </a:solidFill>
                  </a:uFill>
                  <a:latin typeface="Gill Sans" charset="0"/>
                  <a:ea typeface="Gill Sans" charset="0"/>
                  <a:cs typeface="Gill Sans" charset="0"/>
                </a:rPr>
                <a:t>Represent a strand</a:t>
              </a:r>
            </a:p>
          </p:txBody>
        </p:sp>
        <p:sp>
          <p:nvSpPr>
            <p:cNvPr id="168" name="Shape 168"/>
            <p:cNvSpPr/>
            <p:nvPr/>
          </p:nvSpPr>
          <p:spPr>
            <a:xfrm>
              <a:off x="1756071" y="-89616"/>
              <a:ext cx="152400" cy="609600"/>
            </a:xfrm>
            <a:custGeom>
              <a:avLst/>
              <a:gdLst/>
              <a:ahLst/>
              <a:cxnLst>
                <a:cxn ang="0">
                  <a:pos x="wd2" y="hd2"/>
                </a:cxn>
                <a:cxn ang="5400000">
                  <a:pos x="wd2" y="hd2"/>
                </a:cxn>
                <a:cxn ang="10800000">
                  <a:pos x="wd2" y="hd2"/>
                </a:cxn>
                <a:cxn ang="16200000">
                  <a:pos x="wd2" y="hd2"/>
                </a:cxn>
              </a:cxnLst>
              <a:rect l="0" t="0" r="r" b="b"/>
              <a:pathLst>
                <a:path w="21600" h="21600" extrusionOk="0">
                  <a:moveTo>
                    <a:pt x="0" y="5400"/>
                  </a:moveTo>
                  <a:lnTo>
                    <a:pt x="5400" y="5400"/>
                  </a:lnTo>
                  <a:lnTo>
                    <a:pt x="5400" y="21600"/>
                  </a:lnTo>
                  <a:lnTo>
                    <a:pt x="16200" y="21600"/>
                  </a:lnTo>
                  <a:lnTo>
                    <a:pt x="16200" y="5400"/>
                  </a:lnTo>
                  <a:lnTo>
                    <a:pt x="21600" y="5400"/>
                  </a:lnTo>
                  <a:lnTo>
                    <a:pt x="10800" y="0"/>
                  </a:lnTo>
                  <a:close/>
                </a:path>
              </a:pathLst>
            </a:custGeom>
            <a:solidFill>
              <a:srgbClr val="00882B"/>
            </a:solidFill>
            <a:ln w="9525" cap="flat">
              <a:solidFill>
                <a:srgbClr val="DD33C5"/>
              </a:solidFill>
              <a:prstDash val="solid"/>
              <a:miter lim="400000"/>
            </a:ln>
            <a:effectLst/>
          </p:spPr>
          <p:txBody>
            <a:bodyPr wrap="square" lIns="0" tIns="0" rIns="0" bIns="0" numCol="1" anchor="ctr">
              <a:noAutofit/>
            </a:bodyPr>
            <a:lstStyle/>
            <a:p>
              <a:pPr lvl="0">
                <a:defRPr sz="2400" b="0">
                  <a:latin typeface="+mn-lt"/>
                  <a:ea typeface="+mn-ea"/>
                  <a:cs typeface="+mn-cs"/>
                  <a:sym typeface="Times Roman"/>
                </a:defRPr>
              </a:pPr>
              <a:endParaRPr b="0">
                <a:solidFill>
                  <a:schemeClr val="tx1"/>
                </a:solidFill>
                <a:latin typeface="Gill Sans" charset="0"/>
                <a:ea typeface="Gill Sans" charset="0"/>
                <a:cs typeface="Gill Sans" charset="0"/>
              </a:endParaRPr>
            </a:p>
          </p:txBody>
        </p:sp>
      </p:grpSp>
      <p:sp>
        <p:nvSpPr>
          <p:cNvPr id="170" name="Shape 170"/>
          <p:cNvSpPr/>
          <p:nvPr/>
        </p:nvSpPr>
        <p:spPr>
          <a:xfrm>
            <a:off x="6262687" y="1305343"/>
            <a:ext cx="3019425" cy="492443"/>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spcBef>
                <a:spcPts val="900"/>
              </a:spcBef>
              <a:buClr>
                <a:srgbClr val="DD33C5"/>
              </a:buClr>
              <a:buFont typeface="Helvetica"/>
              <a:defRPr>
                <a:solidFill>
                  <a:srgbClr val="DD33C5"/>
                </a:solidFill>
                <a:uFill>
                  <a:solidFill>
                    <a:srgbClr val="DD33C5"/>
                  </a:solidFill>
                </a:uFill>
              </a:defRPr>
            </a:lvl1pPr>
          </a:lstStyle>
          <a:p>
            <a:pPr lvl="0">
              <a:defRPr sz="1800" b="0">
                <a:solidFill>
                  <a:srgbClr val="000000"/>
                </a:solidFill>
                <a:uFillTx/>
              </a:defRPr>
            </a:pPr>
            <a:r>
              <a:rPr sz="1600" b="0" dirty="0">
                <a:solidFill>
                  <a:schemeClr val="tx1"/>
                </a:solidFill>
                <a:uFill>
                  <a:solidFill>
                    <a:srgbClr val="DD33C5"/>
                  </a:solidFill>
                </a:uFill>
                <a:latin typeface="Gill Sans" charset="0"/>
                <a:ea typeface="Gill Sans" charset="0"/>
                <a:cs typeface="Gill Sans" charset="0"/>
              </a:rPr>
              <a:t>A</a:t>
            </a:r>
            <a:r>
              <a:rPr lang="en-US" sz="1600" b="0" dirty="0">
                <a:solidFill>
                  <a:schemeClr val="tx1"/>
                </a:solidFill>
                <a:uFill>
                  <a:solidFill>
                    <a:srgbClr val="DD33C5"/>
                  </a:solidFill>
                </a:uFill>
                <a:latin typeface="Gill Sans" charset="0"/>
                <a:ea typeface="Gill Sans" charset="0"/>
                <a:cs typeface="Gill Sans" charset="0"/>
              </a:rPr>
              <a:t>verage strand length 6 </a:t>
            </a:r>
            <a:r>
              <a:rPr sz="1600" b="0" dirty="0">
                <a:solidFill>
                  <a:schemeClr val="tx1"/>
                </a:solidFill>
                <a:uFill>
                  <a:solidFill>
                    <a:srgbClr val="DD33C5"/>
                  </a:solidFill>
                </a:uFill>
                <a:latin typeface="Gill Sans" charset="0"/>
                <a:ea typeface="Gill Sans" charset="0"/>
                <a:cs typeface="Gill Sans" charset="0"/>
              </a:rPr>
              <a:t>AA, </a:t>
            </a:r>
            <a:r>
              <a:rPr lang="en-US" sz="1600" b="0">
                <a:solidFill>
                  <a:schemeClr val="tx1"/>
                </a:solidFill>
                <a:uFill>
                  <a:solidFill>
                    <a:srgbClr val="DD33C5"/>
                  </a:solidFill>
                </a:uFill>
                <a:latin typeface="Gill Sans" charset="0"/>
                <a:ea typeface="Gill Sans" charset="0"/>
                <a:cs typeface="Gill Sans" charset="0"/>
              </a:rPr>
              <a:t>or     ~ 20 Angstrom</a:t>
            </a:r>
            <a:endParaRPr lang="en-US" sz="1600" b="0" dirty="0">
              <a:solidFill>
                <a:schemeClr val="tx1"/>
              </a:solidFill>
              <a:uFill>
                <a:solidFill>
                  <a:srgbClr val="DD33C5"/>
                </a:solidFill>
              </a:uFill>
              <a:latin typeface="Gill Sans" charset="0"/>
              <a:ea typeface="Gill Sans" charset="0"/>
              <a:cs typeface="Gill Sans" charset="0"/>
            </a:endParaRPr>
          </a:p>
        </p:txBody>
      </p:sp>
      <p:sp>
        <p:nvSpPr>
          <p:cNvPr id="171" name="Shape 171"/>
          <p:cNvSpPr/>
          <p:nvPr/>
        </p:nvSpPr>
        <p:spPr>
          <a:xfrm>
            <a:off x="275123" y="201225"/>
            <a:ext cx="1917701" cy="43088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800"/>
              </a:spcBef>
              <a:buClr>
                <a:srgbClr val="000000"/>
              </a:buClr>
              <a:buFont typeface="Helvetica"/>
              <a:defRPr sz="1800" b="0">
                <a:uFillTx/>
              </a:defRPr>
            </a:pPr>
            <a:r>
              <a:rPr lang="en-US" sz="1400" b="0" dirty="0">
                <a:uFill>
                  <a:solidFill/>
                </a:uFill>
                <a:latin typeface="Gill Sans" charset="0"/>
                <a:ea typeface="Gill Sans" charset="0"/>
                <a:cs typeface="Gill Sans" charset="0"/>
              </a:rPr>
              <a:t>3-strand</a:t>
            </a:r>
            <a:r>
              <a:rPr lang="en-US" sz="1200" b="0" dirty="0">
                <a:uFill>
                  <a:solidFill/>
                </a:uFill>
                <a:latin typeface="Gill Sans" charset="0"/>
                <a:ea typeface="Gill Sans" charset="0"/>
                <a:cs typeface="Gill Sans" charset="0"/>
              </a:rPr>
              <a:t> </a:t>
            </a:r>
            <a:r>
              <a:rPr lang="en-US" sz="1400" b="0" dirty="0">
                <a:uFill>
                  <a:solidFill/>
                </a:uFill>
                <a:latin typeface="Gill Sans" charset="0"/>
                <a:ea typeface="Gill Sans" charset="0"/>
                <a:cs typeface="Gill Sans" charset="0"/>
                <a:sym typeface="Symbol"/>
              </a:rPr>
              <a:t>β</a:t>
            </a:r>
            <a:r>
              <a:rPr lang="en-US" sz="1200" b="0" dirty="0">
                <a:uFill>
                  <a:solidFill/>
                </a:uFill>
                <a:latin typeface="Gill Sans" charset="0"/>
                <a:ea typeface="Gill Sans" charset="0"/>
                <a:cs typeface="Gill Sans" charset="0"/>
              </a:rPr>
              <a:t>-</a:t>
            </a:r>
            <a:r>
              <a:rPr lang="en-US" sz="1400" b="0" dirty="0">
                <a:uFill>
                  <a:solidFill/>
                </a:uFill>
                <a:latin typeface="Gill Sans" charset="0"/>
                <a:ea typeface="Gill Sans" charset="0"/>
                <a:cs typeface="Gill Sans" charset="0"/>
              </a:rPr>
              <a:t>sheet "spheres"</a:t>
            </a:r>
          </a:p>
        </p:txBody>
      </p:sp>
      <p:grpSp>
        <p:nvGrpSpPr>
          <p:cNvPr id="174" name="Group 174"/>
          <p:cNvGrpSpPr/>
          <p:nvPr/>
        </p:nvGrpSpPr>
        <p:grpSpPr>
          <a:xfrm>
            <a:off x="3506152" y="4509670"/>
            <a:ext cx="1847244" cy="986413"/>
            <a:chOff x="0" y="0"/>
            <a:chExt cx="1847243" cy="986412"/>
          </a:xfrm>
        </p:grpSpPr>
        <p:sp>
          <p:nvSpPr>
            <p:cNvPr id="172" name="Shape 172"/>
            <p:cNvSpPr/>
            <p:nvPr/>
          </p:nvSpPr>
          <p:spPr>
            <a:xfrm>
              <a:off x="230276" y="493969"/>
              <a:ext cx="1616967" cy="49244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lvl="0">
                <a:spcBef>
                  <a:spcPts val="900"/>
                </a:spcBef>
                <a:buClr>
                  <a:srgbClr val="DD33C5"/>
                </a:buClr>
                <a:buFont typeface="Helvetica"/>
                <a:defRPr sz="1800" b="0">
                  <a:uFillTx/>
                </a:defRPr>
              </a:pPr>
              <a:r>
                <a:rPr sz="1600" b="0" dirty="0">
                  <a:solidFill>
                    <a:srgbClr val="1134F0"/>
                  </a:solidFill>
                  <a:uFill>
                    <a:solidFill>
                      <a:srgbClr val="1134F0"/>
                    </a:solidFill>
                  </a:uFill>
                  <a:latin typeface="Gill Sans" charset="0"/>
                  <a:ea typeface="Gill Sans" charset="0"/>
                  <a:cs typeface="Gill Sans" charset="0"/>
                </a:rPr>
                <a:t>S</a:t>
              </a:r>
              <a:r>
                <a:rPr lang="en-US" sz="1600" b="0" dirty="0">
                  <a:solidFill>
                    <a:srgbClr val="1134F0"/>
                  </a:solidFill>
                  <a:uFill>
                    <a:solidFill>
                      <a:srgbClr val="1134F0"/>
                    </a:solidFill>
                  </a:uFill>
                  <a:latin typeface="Gill Sans" charset="0"/>
                  <a:ea typeface="Gill Sans" charset="0"/>
                  <a:cs typeface="Gill Sans" charset="0"/>
                </a:rPr>
                <a:t>trands are close in AA sequence</a:t>
              </a:r>
              <a:r>
                <a:rPr lang="en-US" sz="1600" b="0" dirty="0">
                  <a:solidFill>
                    <a:srgbClr val="DD33C5"/>
                  </a:solidFill>
                  <a:uFill>
                    <a:solidFill>
                      <a:srgbClr val="DD33C5"/>
                    </a:solidFill>
                  </a:uFill>
                  <a:latin typeface="Gill Sans" charset="0"/>
                  <a:ea typeface="Gill Sans" charset="0"/>
                  <a:cs typeface="Gill Sans" charset="0"/>
                </a:rPr>
                <a:t> </a:t>
              </a:r>
              <a:endParaRPr sz="1600" b="0" dirty="0">
                <a:solidFill>
                  <a:srgbClr val="DD33C5"/>
                </a:solidFill>
                <a:uFill>
                  <a:solidFill>
                    <a:srgbClr val="DD33C5"/>
                  </a:solidFill>
                </a:uFill>
                <a:latin typeface="Gill Sans" charset="0"/>
                <a:ea typeface="Gill Sans" charset="0"/>
                <a:cs typeface="Gill Sans" charset="0"/>
              </a:endParaRPr>
            </a:p>
          </p:txBody>
        </p:sp>
        <p:sp>
          <p:nvSpPr>
            <p:cNvPr id="173" name="Shape 173"/>
            <p:cNvSpPr/>
            <p:nvPr/>
          </p:nvSpPr>
          <p:spPr>
            <a:xfrm>
              <a:off x="0" y="0"/>
              <a:ext cx="468373" cy="543967"/>
            </a:xfrm>
            <a:prstGeom prst="line">
              <a:avLst/>
            </a:prstGeom>
            <a:noFill/>
            <a:ln w="38100" cap="flat">
              <a:solidFill>
                <a:srgbClr val="1631EE"/>
              </a:solidFill>
              <a:prstDash val="solid"/>
              <a:round/>
              <a:headEnd type="stealth" w="med" len="me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grpSp>
      <p:grpSp>
        <p:nvGrpSpPr>
          <p:cNvPr id="177" name="Group 177"/>
          <p:cNvGrpSpPr/>
          <p:nvPr/>
        </p:nvGrpSpPr>
        <p:grpSpPr>
          <a:xfrm>
            <a:off x="3505200" y="5924946"/>
            <a:ext cx="2089151" cy="739696"/>
            <a:chOff x="0" y="0"/>
            <a:chExt cx="2089151" cy="739695"/>
          </a:xfrm>
        </p:grpSpPr>
        <p:sp>
          <p:nvSpPr>
            <p:cNvPr id="175" name="Shape 175"/>
            <p:cNvSpPr/>
            <p:nvPr/>
          </p:nvSpPr>
          <p:spPr>
            <a:xfrm>
              <a:off x="0" y="247253"/>
              <a:ext cx="2089151" cy="49244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spcBef>
                  <a:spcPts val="900"/>
                </a:spcBef>
                <a:buClr>
                  <a:srgbClr val="DD33C5"/>
                </a:buClr>
                <a:buFont typeface="Helvetica"/>
                <a:defRPr>
                  <a:solidFill>
                    <a:srgbClr val="00B100"/>
                  </a:solidFill>
                  <a:uFill>
                    <a:solidFill>
                      <a:srgbClr val="00B100"/>
                    </a:solidFill>
                  </a:uFill>
                </a:defRPr>
              </a:lvl1pPr>
            </a:lstStyle>
            <a:p>
              <a:pPr lvl="0">
                <a:defRPr sz="1800" b="0">
                  <a:solidFill>
                    <a:srgbClr val="000000"/>
                  </a:solidFill>
                  <a:uFillTx/>
                </a:defRPr>
              </a:pPr>
              <a:r>
                <a:rPr lang="en-US" sz="1600" b="0">
                  <a:solidFill>
                    <a:srgbClr val="00B100"/>
                  </a:solidFill>
                  <a:uFill>
                    <a:solidFill>
                      <a:srgbClr val="00B100"/>
                    </a:solidFill>
                  </a:uFill>
                  <a:latin typeface="Gill Sans" charset="0"/>
                  <a:ea typeface="Gill Sans" charset="0"/>
                  <a:cs typeface="Gill Sans" charset="0"/>
                </a:rPr>
                <a:t>Strands </a:t>
              </a:r>
              <a:r>
                <a:rPr lang="en-US" sz="1600" b="0" dirty="0">
                  <a:solidFill>
                    <a:srgbClr val="00B100"/>
                  </a:solidFill>
                  <a:uFill>
                    <a:solidFill>
                      <a:srgbClr val="00B100"/>
                    </a:solidFill>
                  </a:uFill>
                  <a:latin typeface="Gill Sans" charset="0"/>
                  <a:ea typeface="Gill Sans" charset="0"/>
                  <a:cs typeface="Gill Sans" charset="0"/>
                </a:rPr>
                <a:t>are distant in </a:t>
              </a:r>
              <a:r>
                <a:rPr sz="1600" b="0" dirty="0">
                  <a:solidFill>
                    <a:srgbClr val="00B100"/>
                  </a:solidFill>
                  <a:uFill>
                    <a:solidFill>
                      <a:srgbClr val="00B100"/>
                    </a:solidFill>
                  </a:uFill>
                  <a:latin typeface="Gill Sans" charset="0"/>
                  <a:ea typeface="Gill Sans" charset="0"/>
                  <a:cs typeface="Gill Sans" charset="0"/>
                </a:rPr>
                <a:t>AA </a:t>
              </a:r>
              <a:r>
                <a:rPr lang="en-US" sz="1600" b="0" dirty="0">
                  <a:solidFill>
                    <a:srgbClr val="00B100"/>
                  </a:solidFill>
                  <a:uFill>
                    <a:solidFill>
                      <a:srgbClr val="00B100"/>
                    </a:solidFill>
                  </a:uFill>
                  <a:latin typeface="Gill Sans" charset="0"/>
                  <a:ea typeface="Gill Sans" charset="0"/>
                  <a:cs typeface="Gill Sans" charset="0"/>
                </a:rPr>
                <a:t>sequence</a:t>
              </a:r>
            </a:p>
          </p:txBody>
        </p:sp>
        <p:sp>
          <p:nvSpPr>
            <p:cNvPr id="176" name="Shape 176"/>
            <p:cNvSpPr/>
            <p:nvPr/>
          </p:nvSpPr>
          <p:spPr>
            <a:xfrm>
              <a:off x="98742" y="0"/>
              <a:ext cx="382906" cy="322283"/>
            </a:xfrm>
            <a:prstGeom prst="line">
              <a:avLst/>
            </a:prstGeom>
            <a:noFill/>
            <a:ln w="38100" cap="flat">
              <a:solidFill>
                <a:srgbClr val="00B801"/>
              </a:solidFill>
              <a:prstDash val="solid"/>
              <a:round/>
              <a:headEnd type="stealth" w="med" len="me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grpSp>
      <p:grpSp>
        <p:nvGrpSpPr>
          <p:cNvPr id="180" name="Group 180"/>
          <p:cNvGrpSpPr/>
          <p:nvPr/>
        </p:nvGrpSpPr>
        <p:grpSpPr>
          <a:xfrm>
            <a:off x="4151947" y="4171156"/>
            <a:ext cx="1994201" cy="739716"/>
            <a:chOff x="0" y="0"/>
            <a:chExt cx="1994200" cy="739715"/>
          </a:xfrm>
        </p:grpSpPr>
        <p:sp>
          <p:nvSpPr>
            <p:cNvPr id="178" name="Shape 178"/>
            <p:cNvSpPr/>
            <p:nvPr/>
          </p:nvSpPr>
          <p:spPr>
            <a:xfrm>
              <a:off x="0" y="247273"/>
              <a:ext cx="1994200" cy="49244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lvl="0">
                <a:spcBef>
                  <a:spcPts val="900"/>
                </a:spcBef>
                <a:buClr>
                  <a:srgbClr val="DD33C5"/>
                </a:buClr>
                <a:buFont typeface="Helvetica"/>
                <a:defRPr sz="1800" b="0">
                  <a:uFillTx/>
                </a:defRPr>
              </a:pPr>
              <a:r>
                <a:rPr sz="1600" b="0" dirty="0">
                  <a:solidFill>
                    <a:srgbClr val="C27B13"/>
                  </a:solidFill>
                  <a:uFill>
                    <a:solidFill>
                      <a:srgbClr val="C27B13"/>
                    </a:solidFill>
                  </a:uFill>
                  <a:latin typeface="Gill Sans" charset="0"/>
                  <a:ea typeface="Gill Sans" charset="0"/>
                  <a:cs typeface="Gill Sans" charset="0"/>
                </a:rPr>
                <a:t>S</a:t>
              </a:r>
              <a:r>
                <a:rPr lang="en-US" sz="1600" b="0" dirty="0">
                  <a:solidFill>
                    <a:srgbClr val="C27B13"/>
                  </a:solidFill>
                  <a:uFill>
                    <a:solidFill>
                      <a:srgbClr val="C27B13"/>
                    </a:solidFill>
                  </a:uFill>
                  <a:latin typeface="Gill Sans" charset="0"/>
                  <a:ea typeface="Gill Sans" charset="0"/>
                  <a:cs typeface="Gill Sans" charset="0"/>
                </a:rPr>
                <a:t>trands always distant </a:t>
              </a:r>
              <a:r>
                <a:rPr lang="en-US" sz="1600" b="0">
                  <a:solidFill>
                    <a:srgbClr val="C27B13"/>
                  </a:solidFill>
                  <a:uFill>
                    <a:solidFill>
                      <a:srgbClr val="C27B13"/>
                    </a:solidFill>
                  </a:uFill>
                  <a:latin typeface="Gill Sans" charset="0"/>
                  <a:ea typeface="Gill Sans" charset="0"/>
                  <a:cs typeface="Gill Sans" charset="0"/>
                </a:rPr>
                <a:t>in AA </a:t>
              </a:r>
              <a:r>
                <a:rPr lang="en-US" sz="1600" b="0" dirty="0">
                  <a:solidFill>
                    <a:srgbClr val="C27B13"/>
                  </a:solidFill>
                  <a:uFill>
                    <a:solidFill>
                      <a:srgbClr val="C27B13"/>
                    </a:solidFill>
                  </a:uFill>
                  <a:latin typeface="Gill Sans" charset="0"/>
                  <a:ea typeface="Gill Sans" charset="0"/>
                  <a:cs typeface="Gill Sans" charset="0"/>
                </a:rPr>
                <a:t>sequence</a:t>
              </a:r>
              <a:r>
                <a:rPr lang="en-US" sz="1600" b="0" dirty="0">
                  <a:solidFill>
                    <a:srgbClr val="DD33C5"/>
                  </a:solidFill>
                  <a:uFill>
                    <a:solidFill>
                      <a:srgbClr val="DD33C5"/>
                    </a:solidFill>
                  </a:uFill>
                  <a:latin typeface="Gill Sans" charset="0"/>
                  <a:ea typeface="Gill Sans" charset="0"/>
                  <a:cs typeface="Gill Sans" charset="0"/>
                </a:rPr>
                <a:t> </a:t>
              </a:r>
              <a:endParaRPr sz="1600" b="0" dirty="0">
                <a:solidFill>
                  <a:srgbClr val="DD33C5"/>
                </a:solidFill>
                <a:uFill>
                  <a:solidFill>
                    <a:srgbClr val="DD33C5"/>
                  </a:solidFill>
                </a:uFill>
                <a:latin typeface="Gill Sans" charset="0"/>
                <a:ea typeface="Gill Sans" charset="0"/>
                <a:cs typeface="Gill Sans" charset="0"/>
              </a:endParaRPr>
            </a:p>
          </p:txBody>
        </p:sp>
        <p:sp>
          <p:nvSpPr>
            <p:cNvPr id="179" name="Shape 179"/>
            <p:cNvSpPr/>
            <p:nvPr/>
          </p:nvSpPr>
          <p:spPr>
            <a:xfrm flipH="1">
              <a:off x="164525" y="0"/>
              <a:ext cx="558780" cy="284411"/>
            </a:xfrm>
            <a:prstGeom prst="line">
              <a:avLst/>
            </a:prstGeom>
            <a:noFill/>
            <a:ln w="38100" cap="flat">
              <a:solidFill>
                <a:srgbClr val="E5821C"/>
              </a:solidFill>
              <a:prstDash val="solid"/>
              <a:round/>
              <a:headEnd type="stealth" w="med" len="med"/>
            </a:ln>
            <a:effectLst/>
          </p:spPr>
          <p:txBody>
            <a:bodyPr wrap="square" lIns="0" tIns="0" rIns="0" bIns="0" numCol="1" anchor="t">
              <a:noAutofit/>
            </a:bodyPr>
            <a:lstStyle/>
            <a:p>
              <a:pPr marL="0" marR="0" lvl="0" defTabSz="457200">
                <a:defRPr sz="1200" b="0">
                  <a:uFillTx/>
                </a:defRPr>
              </a:pPr>
              <a:endParaRPr b="0">
                <a:latin typeface="Gill Sans" charset="0"/>
                <a:ea typeface="Gill Sans" charset="0"/>
                <a:cs typeface="Gill Sans" charset="0"/>
              </a:endParaRPr>
            </a:p>
          </p:txBody>
        </p:sp>
      </p:grpSp>
      <p:sp>
        <p:nvSpPr>
          <p:cNvPr id="181" name="Shape 181"/>
          <p:cNvSpPr/>
          <p:nvPr/>
        </p:nvSpPr>
        <p:spPr>
          <a:xfrm>
            <a:off x="31749" y="5694362"/>
            <a:ext cx="1155702" cy="40011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700"/>
              </a:spcBef>
              <a:buClr>
                <a:srgbClr val="000000"/>
              </a:buClr>
              <a:buFont typeface="Symbol"/>
              <a:defRPr sz="1800" b="0">
                <a:uFillTx/>
              </a:defRPr>
            </a:pPr>
            <a:r>
              <a:rPr sz="1400" b="0" dirty="0">
                <a:uFill>
                  <a:solidFill/>
                </a:uFill>
                <a:latin typeface="Gill Sans" charset="0"/>
                <a:ea typeface="Gill Sans" charset="0"/>
                <a:cs typeface="Gill Sans" charset="0"/>
                <a:sym typeface="Symbol"/>
              </a:rPr>
              <a:t>β</a:t>
            </a:r>
            <a:r>
              <a:rPr sz="1200" b="0" dirty="0">
                <a:uFill>
                  <a:solidFill/>
                </a:uFill>
                <a:latin typeface="Gill Sans" charset="0"/>
                <a:ea typeface="Gill Sans" charset="0"/>
                <a:cs typeface="Gill Sans" charset="0"/>
              </a:rPr>
              <a:t>-</a:t>
            </a:r>
            <a:r>
              <a:rPr lang="en-US" sz="1200" b="0" dirty="0">
                <a:uFill>
                  <a:solidFill/>
                </a:uFill>
                <a:latin typeface="Gill Sans" charset="0"/>
                <a:ea typeface="Gill Sans" charset="0"/>
                <a:cs typeface="Gill Sans" charset="0"/>
              </a:rPr>
              <a:t>sheet, edge view</a:t>
            </a:r>
          </a:p>
        </p:txBody>
      </p:sp>
      <p:sp>
        <p:nvSpPr>
          <p:cNvPr id="2" name="TextBox 1"/>
          <p:cNvSpPr txBox="1"/>
          <p:nvPr/>
        </p:nvSpPr>
        <p:spPr>
          <a:xfrm>
            <a:off x="31750" y="-95844"/>
            <a:ext cx="9104660" cy="44114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ctr" defTabSz="914400" rtl="0" fontAlgn="auto" latinLnBrk="1" hangingPunct="0">
              <a:lnSpc>
                <a:spcPct val="100000"/>
              </a:lnSpc>
              <a:spcBef>
                <a:spcPts val="0"/>
              </a:spcBef>
              <a:spcAft>
                <a:spcPts val="0"/>
              </a:spcAft>
              <a:buClrTx/>
              <a:buSzTx/>
              <a:buFontTx/>
              <a:buNone/>
              <a:tabLst/>
            </a:pPr>
            <a:r>
              <a:rPr kumimoji="0" lang="en-US" sz="2200" b="0" u="none" strike="noStrike" cap="none" spc="0" normalizeH="0" baseline="0" dirty="0">
                <a:ln>
                  <a:noFill/>
                </a:ln>
                <a:solidFill>
                  <a:srgbClr val="000000"/>
                </a:solidFill>
                <a:effectLst/>
                <a:uFill>
                  <a:solidFill>
                    <a:srgbClr val="000000"/>
                  </a:solidFill>
                </a:uFill>
                <a:latin typeface="Gill Sans" charset="0"/>
                <a:ea typeface="Gill Sans" charset="0"/>
                <a:cs typeface="Gill Sans" charset="0"/>
                <a:sym typeface="Helvetica"/>
              </a:rPr>
              <a:t>Secondary structure: </a:t>
            </a:r>
            <a:r>
              <a:rPr kumimoji="0" lang="el-GR" sz="2200" b="0" u="none" strike="noStrike" cap="none" spc="0" normalizeH="0" baseline="0" dirty="0">
                <a:ln>
                  <a:noFill/>
                </a:ln>
                <a:solidFill>
                  <a:srgbClr val="000000"/>
                </a:solidFill>
                <a:effectLst/>
                <a:uFill>
                  <a:solidFill>
                    <a:srgbClr val="000000"/>
                  </a:solidFill>
                </a:uFill>
                <a:latin typeface="Gill Sans" charset="0"/>
                <a:ea typeface="Gill Sans" charset="0"/>
                <a:cs typeface="Gill Sans" charset="0"/>
                <a:sym typeface="Helvetica"/>
              </a:rPr>
              <a:t>β</a:t>
            </a:r>
            <a:r>
              <a:rPr kumimoji="0" lang="en-US" sz="2200" b="0" u="none" strike="noStrike" cap="none" spc="0" normalizeH="0" baseline="0" dirty="0">
                <a:ln>
                  <a:noFill/>
                </a:ln>
                <a:solidFill>
                  <a:srgbClr val="000000"/>
                </a:solidFill>
                <a:effectLst/>
                <a:uFill>
                  <a:solidFill>
                    <a:srgbClr val="000000"/>
                  </a:solidFill>
                </a:uFill>
                <a:latin typeface="Gill Sans" charset="0"/>
                <a:ea typeface="Gill Sans" charset="0"/>
                <a:cs typeface="Gill Sans" charset="0"/>
                <a:sym typeface="Helvetica"/>
              </a:rPr>
              <a:t> sheets </a:t>
            </a:r>
          </a:p>
        </p:txBody>
      </p:sp>
      <p:sp>
        <p:nvSpPr>
          <p:cNvPr id="3" name="Rectangle 2">
            <a:extLst>
              <a:ext uri="{FF2B5EF4-FFF2-40B4-BE49-F238E27FC236}">
                <a16:creationId xmlns:a16="http://schemas.microsoft.com/office/drawing/2014/main" id="{A7C4BCD2-67A7-3A44-83B1-32DA91699B4D}"/>
              </a:ext>
            </a:extLst>
          </p:cNvPr>
          <p:cNvSpPr/>
          <p:nvPr/>
        </p:nvSpPr>
        <p:spPr>
          <a:xfrm>
            <a:off x="6604000" y="5808662"/>
            <a:ext cx="1244600" cy="435808"/>
          </a:xfrm>
          <a:prstGeom prst="rect">
            <a:avLst/>
          </a:prstGeom>
          <a:solidFill>
            <a:schemeClr val="bg1"/>
          </a:solidFill>
          <a:ln w="9525" cap="flat">
            <a:noFill/>
            <a:prstDash val="solid"/>
            <a:round/>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endParaRPr kumimoji="0" lang="en-US"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endParaRPr>
          </a:p>
        </p:txBody>
      </p:sp>
      <p:pic>
        <p:nvPicPr>
          <p:cNvPr id="76" name="Picture 75" descr="A close up of a map&#10;&#10;Description automatically generated">
            <a:extLst>
              <a:ext uri="{FF2B5EF4-FFF2-40B4-BE49-F238E27FC236}">
                <a16:creationId xmlns:a16="http://schemas.microsoft.com/office/drawing/2014/main" id="{24C7E6ED-BCA6-4E4C-9F55-742A3A6EFC4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954647" y="407524"/>
            <a:ext cx="7372924" cy="6500857"/>
          </a:xfrm>
          <a:prstGeom prst="rect">
            <a:avLst/>
          </a:prstGeom>
        </p:spPr>
      </p:pic>
    </p:spTree>
    <p:extLst>
      <p:ext uri="{BB962C8B-B14F-4D97-AF65-F5344CB8AC3E}">
        <p14:creationId xmlns:p14="http://schemas.microsoft.com/office/powerpoint/2010/main" val="1930607302"/>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76"/>
                                        </p:tgtEl>
                                        <p:attrNameLst>
                                          <p:attrName>style.visibility</p:attrName>
                                        </p:attrNameLst>
                                      </p:cBhvr>
                                      <p:to>
                                        <p:strVal val="visible"/>
                                      </p:to>
                                    </p:set>
                                    <p:animEffect transition="in" filter="dissolve">
                                      <p:cBhvr>
                                        <p:cTn id="11" dur="500"/>
                                        <p:tgtEl>
                                          <p:spTgt spid="7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nodeType="clickEffect">
                                  <p:stCondLst>
                                    <p:cond delay="0"/>
                                  </p:stCondLst>
                                  <p:childTnLst>
                                    <p:set>
                                      <p:cBhvr>
                                        <p:cTn id="15" dur="1" fill="hold">
                                          <p:stCondLst>
                                            <p:cond delay="0"/>
                                          </p:stCondLst>
                                        </p:cTn>
                                        <p:tgtEl>
                                          <p:spTgt spid="76"/>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iterate>
                                    <p:tmAbs val="0"/>
                                  </p:iterate>
                                  <p:childTnLst>
                                    <p:set>
                                      <p:cBhvr>
                                        <p:cTn id="19" fill="hold"/>
                                        <p:tgtEl>
                                          <p:spTgt spid="16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iterate>
                                    <p:tmAbs val="0"/>
                                  </p:iterate>
                                  <p:childTnLst>
                                    <p:set>
                                      <p:cBhvr>
                                        <p:cTn id="23" fill="hold"/>
                                        <p:tgtEl>
                                          <p:spTgt spid="17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p:tmAbs val="0"/>
                                  </p:iterate>
                                  <p:childTnLst>
                                    <p:set>
                                      <p:cBhvr>
                                        <p:cTn id="27" fill="hold"/>
                                        <p:tgtEl>
                                          <p:spTgt spid="16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iterate>
                                    <p:tmAbs val="0"/>
                                  </p:iterate>
                                  <p:childTnLst>
                                    <p:set>
                                      <p:cBhvr>
                                        <p:cTn id="31" fill="hold"/>
                                        <p:tgtEl>
                                          <p:spTgt spid="11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p:tmAbs val="0"/>
                                  </p:iterate>
                                  <p:childTnLst>
                                    <p:set>
                                      <p:cBhvr>
                                        <p:cTn id="35" fill="hold"/>
                                        <p:tgtEl>
                                          <p:spTgt spid="11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iterate>
                                    <p:tmAbs val="0"/>
                                  </p:iterate>
                                  <p:childTnLst>
                                    <p:set>
                                      <p:cBhvr>
                                        <p:cTn id="39" fill="hold"/>
                                        <p:tgtEl>
                                          <p:spTgt spid="125"/>
                                        </p:tgtEl>
                                        <p:attrNameLst>
                                          <p:attrName>style.visibility</p:attrName>
                                        </p:attrNameLst>
                                      </p:cBhvr>
                                      <p:to>
                                        <p:strVal val="visible"/>
                                      </p:to>
                                    </p:set>
                                  </p:childTnLst>
                                </p:cTn>
                              </p:par>
                              <p:par>
                                <p:cTn id="40" presetID="1" presetClass="entr" presetSubtype="0" fill="hold" grpId="0" nodeType="withEffect">
                                  <p:stCondLst>
                                    <p:cond delay="0"/>
                                  </p:stCondLst>
                                  <p:iterate>
                                    <p:tmAbs val="0"/>
                                  </p:iterate>
                                  <p:childTnLst>
                                    <p:set>
                                      <p:cBhvr>
                                        <p:cTn id="41" fill="hold"/>
                                        <p:tgtEl>
                                          <p:spTgt spid="17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iterate>
                                    <p:tmAbs val="0"/>
                                  </p:iterate>
                                  <p:childTnLst>
                                    <p:set>
                                      <p:cBhvr>
                                        <p:cTn id="45" fill="hold"/>
                                        <p:tgtEl>
                                          <p:spTgt spid="126"/>
                                        </p:tgtEl>
                                        <p:attrNameLst>
                                          <p:attrName>style.visibility</p:attrName>
                                        </p:attrNameLst>
                                      </p:cBhvr>
                                      <p:to>
                                        <p:strVal val="visible"/>
                                      </p:to>
                                    </p:set>
                                  </p:childTnLst>
                                </p:cTn>
                              </p:par>
                              <p:par>
                                <p:cTn id="46" presetID="1" presetClass="entr" presetSubtype="0" fill="hold" grpId="0" nodeType="withEffect">
                                  <p:stCondLst>
                                    <p:cond delay="0"/>
                                  </p:stCondLst>
                                  <p:iterate>
                                    <p:tmAbs val="0"/>
                                  </p:iterate>
                                  <p:childTnLst>
                                    <p:set>
                                      <p:cBhvr>
                                        <p:cTn id="47" fill="hold"/>
                                        <p:tgtEl>
                                          <p:spTgt spid="17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iterate>
                                    <p:tmAbs val="0"/>
                                  </p:iterate>
                                  <p:childTnLst>
                                    <p:set>
                                      <p:cBhvr>
                                        <p:cTn id="51" fill="hold"/>
                                        <p:tgtEl>
                                          <p:spTgt spid="127"/>
                                        </p:tgtEl>
                                        <p:attrNameLst>
                                          <p:attrName>style.visibility</p:attrName>
                                        </p:attrNameLst>
                                      </p:cBhvr>
                                      <p:to>
                                        <p:strVal val="visible"/>
                                      </p:to>
                                    </p:set>
                                  </p:childTnLst>
                                </p:cTn>
                              </p:par>
                              <p:par>
                                <p:cTn id="52" presetID="1" presetClass="entr" presetSubtype="0" fill="hold" grpId="0" nodeType="withEffect">
                                  <p:stCondLst>
                                    <p:cond delay="0"/>
                                  </p:stCondLst>
                                  <p:iterate>
                                    <p:tmAbs val="0"/>
                                  </p:iterate>
                                  <p:childTnLst>
                                    <p:set>
                                      <p:cBhvr>
                                        <p:cTn id="53" fill="hold"/>
                                        <p:tgtEl>
                                          <p:spTgt spid="18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iterate>
                                    <p:tmAbs val="0"/>
                                  </p:iterate>
                                  <p:childTnLst>
                                    <p:set>
                                      <p:cBhvr>
                                        <p:cTn id="57" fill="hold"/>
                                        <p:tgtEl>
                                          <p:spTgt spid="11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iterate>
                                    <p:tmAbs val="0"/>
                                  </p:iterate>
                                  <p:childTnLst>
                                    <p:set>
                                      <p:cBhvr>
                                        <p:cTn id="61" fill="hold"/>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advAuto="0"/>
      <p:bldP spid="112" grpId="0" animBg="1" advAuto="0"/>
      <p:bldP spid="113" grpId="0" animBg="1" advAuto="0"/>
      <p:bldP spid="114" grpId="0" animBg="1" advAuto="0"/>
      <p:bldP spid="115" grpId="0" animBg="1" advAuto="0"/>
      <p:bldP spid="125" grpId="0" animBg="1" advAuto="0"/>
      <p:bldP spid="126" grpId="0" animBg="1" advAuto="0"/>
      <p:bldP spid="127" grpId="0" animBg="1" advAuto="0"/>
      <p:bldP spid="160" grpId="0" animBg="1" advAuto="0"/>
      <p:bldP spid="169" grpId="0" advAuto="0"/>
      <p:bldP spid="170" grpId="0" animBg="1" advAuto="0"/>
      <p:bldP spid="174" grpId="0" animBg="1" advAuto="0"/>
      <p:bldP spid="177" grpId="0" animBg="1" advAuto="0"/>
      <p:bldP spid="180" grpId="0"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Shape 295"/>
          <p:cNvSpPr>
            <a:spLocks noGrp="1"/>
          </p:cNvSpPr>
          <p:nvPr>
            <p:ph type="title"/>
          </p:nvPr>
        </p:nvSpPr>
        <p:spPr>
          <a:xfrm>
            <a:off x="685800" y="196933"/>
            <a:ext cx="7772400" cy="419100"/>
          </a:xfrm>
          <a:prstGeom prst="rect">
            <a:avLst/>
          </a:prstGeom>
        </p:spPr>
        <p:txBody>
          <a:bodyPr/>
          <a:lstStyle/>
          <a:p>
            <a:pPr lvl="0">
              <a:defRPr sz="1800">
                <a:uFillTx/>
              </a:defRPr>
            </a:pPr>
            <a:r>
              <a:rPr lang="en-US" sz="2400" dirty="0">
                <a:uFill>
                  <a:solidFill/>
                </a:uFill>
                <a:latin typeface="Gill Sans" charset="0"/>
                <a:ea typeface="Gill Sans" charset="0"/>
                <a:cs typeface="Gill Sans" charset="0"/>
                <a:sym typeface="Helvetica"/>
              </a:rPr>
              <a:t>Peptide Plane Orientation: </a:t>
            </a:r>
            <a:r>
              <a:rPr lang="en-US" sz="2400" dirty="0">
                <a:uFill>
                  <a:solidFill/>
                </a:uFill>
                <a:latin typeface="Symbol" pitchFamily="2" charset="2"/>
                <a:ea typeface="Gill Sans" charset="0"/>
                <a:cs typeface="Gill Sans" charset="0"/>
                <a:sym typeface="Symbol"/>
              </a:rPr>
              <a:t>b</a:t>
            </a:r>
            <a:r>
              <a:rPr sz="2400" dirty="0">
                <a:uFill>
                  <a:solidFill/>
                </a:uFill>
                <a:latin typeface="Gill Sans" charset="0"/>
                <a:ea typeface="Gill Sans" charset="0"/>
                <a:cs typeface="Gill Sans" charset="0"/>
                <a:sym typeface="Helvetica"/>
              </a:rPr>
              <a:t>-</a:t>
            </a:r>
            <a:r>
              <a:rPr lang="en-US" sz="2400" dirty="0">
                <a:uFill>
                  <a:solidFill/>
                </a:uFill>
                <a:latin typeface="Gill Sans" charset="0"/>
                <a:ea typeface="Gill Sans" charset="0"/>
                <a:cs typeface="Gill Sans" charset="0"/>
                <a:sym typeface="Helvetica"/>
              </a:rPr>
              <a:t>strand</a:t>
            </a:r>
          </a:p>
        </p:txBody>
      </p:sp>
      <p:sp>
        <p:nvSpPr>
          <p:cNvPr id="24" name="TextBox 23">
            <a:extLst>
              <a:ext uri="{FF2B5EF4-FFF2-40B4-BE49-F238E27FC236}">
                <a16:creationId xmlns:a16="http://schemas.microsoft.com/office/drawing/2014/main" id="{AA0686FA-C3AB-8A4C-9DB1-0612DB9A988E}"/>
              </a:ext>
            </a:extLst>
          </p:cNvPr>
          <p:cNvSpPr txBox="1"/>
          <p:nvPr/>
        </p:nvSpPr>
        <p:spPr>
          <a:xfrm>
            <a:off x="6190566" y="1528946"/>
            <a:ext cx="2612572"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lang="en-US" dirty="0">
                <a:solidFill>
                  <a:srgbClr val="0737F8"/>
                </a:solidFill>
                <a:uFill>
                  <a:solidFill>
                    <a:srgbClr val="000000"/>
                  </a:solidFill>
                </a:uFill>
              </a:rPr>
              <a:t>N-H</a:t>
            </a:r>
            <a:r>
              <a:rPr lang="en-US" dirty="0">
                <a:solidFill>
                  <a:srgbClr val="000000"/>
                </a:solidFill>
                <a:uFill>
                  <a:solidFill>
                    <a:srgbClr val="000000"/>
                  </a:solidFill>
                </a:uFill>
              </a:rPr>
              <a:t> alternate </a:t>
            </a:r>
          </a:p>
          <a:p>
            <a:pPr marL="40639" marR="40639" indent="0" algn="l" defTabSz="914400" rtl="0" fontAlgn="auto" latinLnBrk="1" hangingPunct="0">
              <a:lnSpc>
                <a:spcPct val="100000"/>
              </a:lnSpc>
              <a:spcBef>
                <a:spcPts val="0"/>
              </a:spcBef>
              <a:spcAft>
                <a:spcPts val="0"/>
              </a:spcAft>
              <a:buClrTx/>
              <a:buSzTx/>
              <a:buFontTx/>
              <a:buNone/>
              <a:tabLst/>
            </a:pPr>
            <a:r>
              <a:rPr lang="en-US" dirty="0">
                <a:solidFill>
                  <a:srgbClr val="000000"/>
                </a:solidFill>
                <a:uFill>
                  <a:solidFill>
                    <a:srgbClr val="000000"/>
                  </a:solidFill>
                </a:uFill>
              </a:rPr>
              <a:t>directions</a:t>
            </a:r>
            <a:endPar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
        <p:nvSpPr>
          <p:cNvPr id="108" name="TextBox 107">
            <a:extLst>
              <a:ext uri="{FF2B5EF4-FFF2-40B4-BE49-F238E27FC236}">
                <a16:creationId xmlns:a16="http://schemas.microsoft.com/office/drawing/2014/main" id="{8F4458FF-6E69-984C-8290-60B72DFAE21C}"/>
              </a:ext>
            </a:extLst>
          </p:cNvPr>
          <p:cNvSpPr txBox="1"/>
          <p:nvPr/>
        </p:nvSpPr>
        <p:spPr>
          <a:xfrm>
            <a:off x="1275253" y="1460663"/>
            <a:ext cx="1922022"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1" hangingPunct="0">
              <a:lnSpc>
                <a:spcPct val="100000"/>
              </a:lnSpc>
              <a:spcBef>
                <a:spcPts val="0"/>
              </a:spcBef>
              <a:spcAft>
                <a:spcPts val="0"/>
              </a:spcAft>
              <a:buClrTx/>
              <a:buSzTx/>
              <a:buFontTx/>
              <a:buNone/>
              <a:tabLst/>
            </a:pPr>
            <a:r>
              <a:rPr lang="en-US" dirty="0">
                <a:solidFill>
                  <a:srgbClr val="C00000"/>
                </a:solidFill>
                <a:uFill>
                  <a:solidFill>
                    <a:srgbClr val="000000"/>
                  </a:solidFill>
                </a:uFill>
              </a:rPr>
              <a:t>C=0</a:t>
            </a:r>
            <a:r>
              <a:rPr lang="en-US" dirty="0">
                <a:solidFill>
                  <a:srgbClr val="000000"/>
                </a:solidFill>
                <a:uFill>
                  <a:solidFill>
                    <a:srgbClr val="000000"/>
                  </a:solidFill>
                </a:uFill>
              </a:rPr>
              <a:t> alternate directions</a:t>
            </a:r>
            <a:endPar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pic>
        <p:nvPicPr>
          <p:cNvPr id="8" name="Picture 7">
            <a:extLst>
              <a:ext uri="{FF2B5EF4-FFF2-40B4-BE49-F238E27FC236}">
                <a16:creationId xmlns:a16="http://schemas.microsoft.com/office/drawing/2014/main" id="{8E3DE8CA-EDFB-434F-9150-11754929EA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050" y="2247091"/>
            <a:ext cx="8851900" cy="3644900"/>
          </a:xfrm>
          <a:prstGeom prst="rect">
            <a:avLst/>
          </a:prstGeom>
        </p:spPr>
      </p:pic>
      <p:sp>
        <p:nvSpPr>
          <p:cNvPr id="6" name="TextBox 5">
            <a:extLst>
              <a:ext uri="{FF2B5EF4-FFF2-40B4-BE49-F238E27FC236}">
                <a16:creationId xmlns:a16="http://schemas.microsoft.com/office/drawing/2014/main" id="{E943C2BF-830D-7C4D-A311-553D2C5DD86F}"/>
              </a:ext>
            </a:extLst>
          </p:cNvPr>
          <p:cNvSpPr txBox="1"/>
          <p:nvPr/>
        </p:nvSpPr>
        <p:spPr>
          <a:xfrm>
            <a:off x="3197275" y="5898736"/>
            <a:ext cx="3081450"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ctr" defTabSz="914400" rtl="0" fontAlgn="auto" latinLnBrk="1" hangingPunct="0">
              <a:lnSpc>
                <a:spcPct val="100000"/>
              </a:lnSpc>
              <a:spcBef>
                <a:spcPts val="0"/>
              </a:spcBef>
              <a:spcAft>
                <a:spcPts val="0"/>
              </a:spcAft>
              <a:buClrTx/>
              <a:buSzTx/>
              <a:buFontTx/>
              <a:buNone/>
              <a:tabLst/>
            </a:pPr>
            <a:r>
              <a:rPr lang="en-US" dirty="0">
                <a:solidFill>
                  <a:srgbClr val="000000"/>
                </a:solidFill>
                <a:uFill>
                  <a:solidFill>
                    <a:srgbClr val="000000"/>
                  </a:solidFill>
                </a:uFill>
              </a:rPr>
              <a:t>Sidechains alternate </a:t>
            </a:r>
          </a:p>
          <a:p>
            <a:pPr marL="40639" marR="40639" indent="0" algn="ctr" defTabSz="914400" rtl="0" fontAlgn="auto" latinLnBrk="1" hangingPunct="0">
              <a:lnSpc>
                <a:spcPct val="100000"/>
              </a:lnSpc>
              <a:spcBef>
                <a:spcPts val="0"/>
              </a:spcBef>
              <a:spcAft>
                <a:spcPts val="0"/>
              </a:spcAft>
              <a:buClrTx/>
              <a:buSzTx/>
              <a:buFontTx/>
              <a:buNone/>
              <a:tabLst/>
            </a:pPr>
            <a:r>
              <a:rPr lang="en-US" dirty="0">
                <a:solidFill>
                  <a:srgbClr val="000000"/>
                </a:solidFill>
                <a:uFill>
                  <a:solidFill>
                    <a:srgbClr val="000000"/>
                  </a:solidFill>
                </a:uFill>
              </a:rPr>
              <a:t>above/below the sheet</a:t>
            </a:r>
            <a:endParaRPr kumimoji="0" lang="en-US" sz="2000" b="1" i="0" u="none" strike="noStrike" cap="none" spc="0" normalizeH="0" baseline="0" dirty="0">
              <a:ln>
                <a:noFill/>
              </a:ln>
              <a:solidFill>
                <a:srgbClr val="000000"/>
              </a:solidFill>
              <a:effectLst/>
              <a:uFill>
                <a:solidFill>
                  <a:srgbClr val="000000"/>
                </a:solidFill>
              </a:uFill>
              <a:latin typeface="Helvetica"/>
              <a:ea typeface="Helvetica"/>
              <a:cs typeface="Helvetica"/>
              <a:sym typeface="Helvetica"/>
            </a:endParaRPr>
          </a:p>
        </p:txBody>
      </p:sp>
    </p:spTree>
    <p:extLst>
      <p:ext uri="{BB962C8B-B14F-4D97-AF65-F5344CB8AC3E}">
        <p14:creationId xmlns:p14="http://schemas.microsoft.com/office/powerpoint/2010/main" val="3559008614"/>
      </p:ext>
    </p:extLst>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6E6E9"/>
        </a:solidFill>
        <a:ln w="9525" cap="flat">
          <a:solidFill>
            <a:srgbClr val="000000"/>
          </a:solidFill>
          <a:prstDash val="solid"/>
          <a:round/>
        </a:ln>
        <a:effectLst/>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1" hangingPunct="0">
          <a:lnSpc>
            <a:spcPct val="100000"/>
          </a:lnSpc>
          <a:spcBef>
            <a:spcPts val="0"/>
          </a:spcBef>
          <a:spcAft>
            <a:spcPts val="0"/>
          </a:spcAft>
          <a:buClrTx/>
          <a:buSzTx/>
          <a:buFontTx/>
          <a:buNone/>
          <a:tabLst/>
          <a:defRPr kumimoji="0"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000000"/>
          </a:solidFill>
          <a:prstDash val="solid"/>
          <a:round/>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1" hangingPunct="0">
          <a:lnSpc>
            <a:spcPct val="100000"/>
          </a:lnSpc>
          <a:spcBef>
            <a:spcPts val="0"/>
          </a:spcBef>
          <a:spcAft>
            <a:spcPts val="0"/>
          </a:spcAft>
          <a:buClrTx/>
          <a:buSzTx/>
          <a:buFontTx/>
          <a:buNone/>
          <a:tabLst/>
          <a:defRPr kumimoji="0"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Times Roman"/>
        <a:ea typeface="Times Roman"/>
        <a:cs typeface="Times Roman"/>
      </a:majorFont>
      <a:minorFont>
        <a:latin typeface="Times Roman"/>
        <a:ea typeface="Times Roman"/>
        <a:cs typeface="Times Roma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6E6E9"/>
        </a:solidFill>
        <a:ln w="9525" cap="flat">
          <a:solidFill>
            <a:srgbClr val="000000"/>
          </a:solidFill>
          <a:prstDash val="solid"/>
          <a:round/>
        </a:ln>
        <a:effectLst/>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1" hangingPunct="0">
          <a:lnSpc>
            <a:spcPct val="100000"/>
          </a:lnSpc>
          <a:spcBef>
            <a:spcPts val="0"/>
          </a:spcBef>
          <a:spcAft>
            <a:spcPts val="0"/>
          </a:spcAft>
          <a:buClrTx/>
          <a:buSzTx/>
          <a:buFontTx/>
          <a:buNone/>
          <a:tabLst/>
          <a:defRPr kumimoji="0"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000000"/>
          </a:solidFill>
          <a:prstDash val="solid"/>
          <a:round/>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1" hangingPunct="0">
          <a:lnSpc>
            <a:spcPct val="100000"/>
          </a:lnSpc>
          <a:spcBef>
            <a:spcPts val="0"/>
          </a:spcBef>
          <a:spcAft>
            <a:spcPts val="0"/>
          </a:spcAft>
          <a:buClrTx/>
          <a:buSzTx/>
          <a:buFontTx/>
          <a:buNone/>
          <a:tabLst/>
          <a:defRPr kumimoji="0" sz="2000" b="1" i="0" u="none" strike="noStrike" cap="none" spc="0" normalizeH="0" baseline="0">
            <a:ln>
              <a:noFill/>
            </a:ln>
            <a:solidFill>
              <a:srgbClr val="000000"/>
            </a:solidFill>
            <a:effectLst/>
            <a:uFill>
              <a:solidFill>
                <a:srgbClr val="000000"/>
              </a:solidFill>
            </a:uFill>
            <a:latin typeface="Helvetica"/>
            <a:ea typeface="Helvetica"/>
            <a:cs typeface="Helvetica"/>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54159</TotalTime>
  <Words>2200</Words>
  <Application>Microsoft Macintosh PowerPoint</Application>
  <PresentationFormat>On-screen Show (4:3)</PresentationFormat>
  <Paragraphs>390</Paragraphs>
  <Slides>17</Slides>
  <Notes>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17</vt:i4>
      </vt:variant>
    </vt:vector>
  </HeadingPairs>
  <TitlesOfParts>
    <vt:vector size="30" baseType="lpstr">
      <vt:lpstr>Arial</vt:lpstr>
      <vt:lpstr>ArialMT</vt:lpstr>
      <vt:lpstr>Calibri</vt:lpstr>
      <vt:lpstr>Chalkboard</vt:lpstr>
      <vt:lpstr>Gill Sans</vt:lpstr>
      <vt:lpstr>Gill Sans MT</vt:lpstr>
      <vt:lpstr>Gill Sans Regular</vt:lpstr>
      <vt:lpstr>Gill Sans SemiBold</vt:lpstr>
      <vt:lpstr>GillSans</vt:lpstr>
      <vt:lpstr>Helvetica</vt:lpstr>
      <vt:lpstr>Lucida Grande</vt:lpstr>
      <vt:lpstr>Symbol</vt:lpstr>
      <vt:lpstr>White</vt:lpstr>
      <vt:lpstr>PowerPoint Presentation</vt:lpstr>
      <vt:lpstr>PowerPoint Presentation</vt:lpstr>
      <vt:lpstr>PowerPoint Presentation</vt:lpstr>
      <vt:lpstr>Torsion angle vs. bond angle</vt:lpstr>
      <vt:lpstr>PowerPoint Presentation</vt:lpstr>
      <vt:lpstr>Steric hindrance: the real size of atoms, and the constraints around the peptide bond</vt:lpstr>
      <vt:lpstr> Ramachandran map: shows steric hindrance! AND</vt:lpstr>
      <vt:lpstr>Ramachandran map: let's add more reality</vt:lpstr>
      <vt:lpstr>Secondary structure: α-helix</vt:lpstr>
      <vt:lpstr>Secondary structure: α-helix</vt:lpstr>
      <vt:lpstr>Peptide Plane Orientation: α-helix</vt:lpstr>
      <vt:lpstr>Proline special properties</vt:lpstr>
      <vt:lpstr>cis and trans isomers  of the X-Pro peptide bond</vt:lpstr>
      <vt:lpstr>Pro allows population of cis</vt:lpstr>
      <vt:lpstr>PowerPoint Presentation</vt:lpstr>
      <vt:lpstr>PowerPoint Presentation</vt:lpstr>
      <vt:lpstr>Peptide Plane Orientation: b-strand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Linda K. Nicholson</cp:lastModifiedBy>
  <cp:revision>242</cp:revision>
  <cp:lastPrinted>2022-08-12T04:02:40Z</cp:lastPrinted>
  <dcterms:modified xsi:type="dcterms:W3CDTF">2024-08-22T19:31:10Z</dcterms:modified>
</cp:coreProperties>
</file>