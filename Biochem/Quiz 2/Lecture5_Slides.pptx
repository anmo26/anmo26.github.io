
<file path=[Content_Types].xml><?xml version="1.0" encoding="utf-8"?>
<Types xmlns="http://schemas.openxmlformats.org/package/2006/content-types">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96" r:id="rId2"/>
    <p:sldId id="310" r:id="rId3"/>
    <p:sldId id="311" r:id="rId4"/>
    <p:sldId id="299" r:id="rId5"/>
    <p:sldId id="300" r:id="rId6"/>
    <p:sldId id="301" r:id="rId7"/>
    <p:sldId id="312" r:id="rId8"/>
  </p:sldIdLst>
  <p:sldSz cx="9144000" cy="6858000" type="screen4x3"/>
  <p:notesSz cx="6858000" cy="9144000"/>
  <p:defaultTextStyle>
    <a:lvl1pPr marL="40639" marR="40639">
      <a:defRPr sz="2000" b="1">
        <a:uFill>
          <a:solidFill/>
        </a:uFill>
        <a:latin typeface="Helvetica"/>
        <a:ea typeface="Helvetica"/>
        <a:cs typeface="Helvetica"/>
        <a:sym typeface="Helvetica"/>
      </a:defRPr>
    </a:lvl1pPr>
    <a:lvl2pPr marL="40639" marR="40639" indent="342900">
      <a:defRPr sz="2000" b="1">
        <a:uFill>
          <a:solidFill/>
        </a:uFill>
        <a:latin typeface="Helvetica"/>
        <a:ea typeface="Helvetica"/>
        <a:cs typeface="Helvetica"/>
        <a:sym typeface="Helvetica"/>
      </a:defRPr>
    </a:lvl2pPr>
    <a:lvl3pPr marL="40639" marR="40639" indent="685800">
      <a:defRPr sz="2000" b="1">
        <a:uFill>
          <a:solidFill/>
        </a:uFill>
        <a:latin typeface="Helvetica"/>
        <a:ea typeface="Helvetica"/>
        <a:cs typeface="Helvetica"/>
        <a:sym typeface="Helvetica"/>
      </a:defRPr>
    </a:lvl3pPr>
    <a:lvl4pPr marL="40639" marR="40639" indent="1028700">
      <a:defRPr sz="2000" b="1">
        <a:uFill>
          <a:solidFill/>
        </a:uFill>
        <a:latin typeface="Helvetica"/>
        <a:ea typeface="Helvetica"/>
        <a:cs typeface="Helvetica"/>
        <a:sym typeface="Helvetica"/>
      </a:defRPr>
    </a:lvl4pPr>
    <a:lvl5pPr marL="40639" marR="40639" indent="1371600">
      <a:defRPr sz="2000" b="1">
        <a:uFill>
          <a:solidFill/>
        </a:uFill>
        <a:latin typeface="Helvetica"/>
        <a:ea typeface="Helvetica"/>
        <a:cs typeface="Helvetica"/>
        <a:sym typeface="Helvetica"/>
      </a:defRPr>
    </a:lvl5pPr>
    <a:lvl6pPr marL="40639" marR="40639" indent="1714500">
      <a:defRPr sz="2000" b="1">
        <a:uFill>
          <a:solidFill/>
        </a:uFill>
        <a:latin typeface="Helvetica"/>
        <a:ea typeface="Helvetica"/>
        <a:cs typeface="Helvetica"/>
        <a:sym typeface="Helvetica"/>
      </a:defRPr>
    </a:lvl6pPr>
    <a:lvl7pPr marL="40639" marR="40639" indent="2057400">
      <a:defRPr sz="2000" b="1">
        <a:uFill>
          <a:solidFill/>
        </a:uFill>
        <a:latin typeface="Helvetica"/>
        <a:ea typeface="Helvetica"/>
        <a:cs typeface="Helvetica"/>
        <a:sym typeface="Helvetica"/>
      </a:defRPr>
    </a:lvl7pPr>
    <a:lvl8pPr marL="40639" marR="40639" indent="2400300">
      <a:defRPr sz="2000" b="1">
        <a:uFill>
          <a:solidFill/>
        </a:uFill>
        <a:latin typeface="Helvetica"/>
        <a:ea typeface="Helvetica"/>
        <a:cs typeface="Helvetica"/>
        <a:sym typeface="Helvetica"/>
      </a:defRPr>
    </a:lvl8pPr>
    <a:lvl9pPr marL="40639" marR="40639" indent="2743200">
      <a:defRPr sz="2000" b="1">
        <a:uFill>
          <a:solidFill/>
        </a:uFill>
        <a:latin typeface="Helvetica"/>
        <a:ea typeface="Helvetica"/>
        <a:cs typeface="Helvetica"/>
        <a:sym typeface="Helvetica"/>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37F8"/>
    <a:srgbClr val="1855FF"/>
    <a:srgbClr val="0541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8F44A2F1-9E1F-4B54-A3A2-5F16C0AD49E2}"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C5C7C9">
              <a:alpha val="30000"/>
            </a:srgbClr>
          </a:solidFill>
        </a:fill>
      </a:tcStyle>
    </a:band2H>
    <a:firstCol>
      <a:tcTxStyle b="off" i="off">
        <a:fontRef idx="minor">
          <a:srgbClr val="000000"/>
        </a:fontRef>
        <a:srgbClr val="000000"/>
      </a:tcTxStyle>
      <a:tcStyle>
        <a:tcBdr>
          <a:left>
            <a:ln w="28575"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000000">
              <a:alpha val="25000"/>
            </a:srgbClr>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28575"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000000">
              <a:alpha val="25000"/>
            </a:srgbClr>
          </a:solidFill>
        </a:fill>
      </a:tcStyle>
    </a:lastRow>
    <a:fir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8575"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000000">
              <a:alpha val="25000"/>
            </a:srgbClr>
          </a:solidFill>
        </a:fill>
      </a:tcStyle>
    </a:firstRow>
  </a:tblStyle>
  <a:tblStyle styleId="{C7B018BB-80A7-4F77-B60F-C8B233D01FF8}" styleName="">
    <a:tblBg/>
    <a:wholeTbl>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a:font>
          <a:latin typeface="Helvetica Light"/>
          <a:ea typeface="Helvetica Light"/>
          <a:cs typeface="Helvetica Light"/>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a:font>
          <a:latin typeface="Helvetica Light"/>
          <a:ea typeface="Helvetica Light"/>
          <a:cs typeface="Helvetica Light"/>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00882B"/>
          </a:solidFill>
        </a:fill>
      </a:tcStyle>
    </a:firstRow>
  </a:tblStyle>
  <a:tblStyle styleId="{EEE7283C-3CF3-47DC-8721-378D4A62B228}" styleName="">
    <a:tblBg/>
    <a:wholeTbl>
      <a:tcTxStyle>
        <a:font>
          <a:latin typeface="Helvetica Light"/>
          <a:ea typeface="Helvetica Light"/>
          <a:cs typeface="Helvetica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a:font>
          <a:latin typeface="Helvetica Light"/>
          <a:ea typeface="Helvetica Light"/>
          <a:cs typeface="Helvetica Light"/>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a:font>
          <a:latin typeface="Helvetica Light"/>
          <a:ea typeface="Helvetica Light"/>
          <a:cs typeface="Helvetica Light"/>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a:font>
          <a:latin typeface="Helvetica Light"/>
          <a:ea typeface="Helvetica Light"/>
          <a:cs typeface="Helvetica Light"/>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a:font>
          <a:latin typeface="Helvetica Light"/>
          <a:ea typeface="Helvetica Light"/>
          <a:cs typeface="Helvetica Light"/>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a:font>
          <a:latin typeface="Helvetica Light"/>
          <a:ea typeface="Helvetica Light"/>
          <a:cs typeface="Helvetica Light"/>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a:font>
          <a:latin typeface="Helvetica Light"/>
          <a:ea typeface="Helvetica Light"/>
          <a:cs typeface="Helvetica Light"/>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a:font>
          <a:latin typeface="Helvetica Light"/>
          <a:ea typeface="Helvetica Light"/>
          <a:cs typeface="Helvetica Light"/>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a:font>
          <a:latin typeface="Helvetica Light"/>
          <a:ea typeface="Helvetica Light"/>
          <a:cs typeface="Helvetica Light"/>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a:font>
          <a:latin typeface="Helvetica Light"/>
          <a:ea typeface="Helvetica Light"/>
          <a:cs typeface="Helvetica Light"/>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a:font>
          <a:latin typeface="Helvetica Light"/>
          <a:ea typeface="Helvetica Light"/>
          <a:cs typeface="Helvetica Light"/>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a:font>
          <a:latin typeface="Helvetica Light"/>
          <a:ea typeface="Helvetica Light"/>
          <a:cs typeface="Helvetica Light"/>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a:font>
          <a:latin typeface="Helvetica Light"/>
          <a:ea typeface="Helvetica Light"/>
          <a:cs typeface="Helvetica Light"/>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4C3C2611-4C71-4FC5-86AE-919BDF0F9419}" styleName="">
    <a:tblBg/>
    <a:wholeTbl>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a:font>
          <a:latin typeface="Helvetica Light"/>
          <a:ea typeface="Helvetica Light"/>
          <a:cs typeface="Helvetica Light"/>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font>
          <a:latin typeface="Helvetica Light"/>
          <a:ea typeface="Helvetica Light"/>
          <a:cs typeface="Helvetica Light"/>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365C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79"/>
    <p:restoredTop sz="89084" autoAdjust="0"/>
  </p:normalViewPr>
  <p:slideViewPr>
    <p:cSldViewPr snapToGrid="0" snapToObjects="1">
      <p:cViewPr varScale="1">
        <p:scale>
          <a:sx n="96" d="100"/>
          <a:sy n="96" d="100"/>
        </p:scale>
        <p:origin x="1848" y="168"/>
      </p:cViewPr>
      <p:guideLst>
        <p:guide orient="horz" pos="2160"/>
        <p:guide pos="2880"/>
      </p:guideLst>
    </p:cSldViewPr>
  </p:slideViewPr>
  <p:outlineViewPr>
    <p:cViewPr>
      <p:scale>
        <a:sx n="33" d="100"/>
        <a:sy n="33" d="100"/>
      </p:scale>
      <p:origin x="0" y="-4568"/>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Shape 13"/>
          <p:cNvSpPr>
            <a:spLocks noGrp="1" noRot="1" noChangeAspect="1"/>
          </p:cNvSpPr>
          <p:nvPr>
            <p:ph type="sldImg"/>
          </p:nvPr>
        </p:nvSpPr>
        <p:spPr>
          <a:xfrm>
            <a:off x="1143000" y="685800"/>
            <a:ext cx="4572000" cy="3429000"/>
          </a:xfrm>
          <a:prstGeom prst="rect">
            <a:avLst/>
          </a:prstGeom>
        </p:spPr>
        <p:txBody>
          <a:bodyPr/>
          <a:lstStyle/>
          <a:p>
            <a:pPr lvl="0"/>
            <a:endParaRPr/>
          </a:p>
        </p:txBody>
      </p:sp>
      <p:sp>
        <p:nvSpPr>
          <p:cNvPr id="14" name="Shape 14"/>
          <p:cNvSpPr>
            <a:spLocks noGrp="1"/>
          </p:cNvSpPr>
          <p:nvPr>
            <p:ph type="body" sz="quarter" idx="1"/>
          </p:nvPr>
        </p:nvSpPr>
        <p:spPr>
          <a:xfrm>
            <a:off x="914400" y="4343400"/>
            <a:ext cx="5029200" cy="4114800"/>
          </a:xfrm>
          <a:prstGeom prst="rect">
            <a:avLst/>
          </a:prstGeom>
        </p:spPr>
        <p:txBody>
          <a:bodyPr/>
          <a:lstStyle/>
          <a:p>
            <a:pPr lvl="0"/>
            <a:endParaRPr/>
          </a:p>
        </p:txBody>
      </p:sp>
    </p:spTree>
    <p:extLst>
      <p:ext uri="{BB962C8B-B14F-4D97-AF65-F5344CB8AC3E}">
        <p14:creationId xmlns:p14="http://schemas.microsoft.com/office/powerpoint/2010/main" val="2005861389"/>
      </p:ext>
    </p:extLst>
  </p:cSld>
  <p:clrMap bg1="lt1" tx1="dk1" bg2="lt2" tx2="dk2" accent1="accent1" accent2="accent2" accent3="accent3" accent4="accent4" accent5="accent5" accent6="accent6" hlink="hlink" folHlink="folHlink"/>
  <p:notesStyle>
    <a:lvl1pPr defTabSz="584200">
      <a:defRPr sz="2200">
        <a:latin typeface="Lucida Grande"/>
        <a:ea typeface="Lucida Grande"/>
        <a:cs typeface="Lucida Grande"/>
        <a:sym typeface="Lucida Grande"/>
      </a:defRPr>
    </a:lvl1pPr>
    <a:lvl2pPr indent="228600" defTabSz="584200">
      <a:defRPr sz="2200">
        <a:latin typeface="Lucida Grande"/>
        <a:ea typeface="Lucida Grande"/>
        <a:cs typeface="Lucida Grande"/>
        <a:sym typeface="Lucida Grande"/>
      </a:defRPr>
    </a:lvl2pPr>
    <a:lvl3pPr indent="457200" defTabSz="584200">
      <a:defRPr sz="2200">
        <a:latin typeface="Lucida Grande"/>
        <a:ea typeface="Lucida Grande"/>
        <a:cs typeface="Lucida Grande"/>
        <a:sym typeface="Lucida Grande"/>
      </a:defRPr>
    </a:lvl3pPr>
    <a:lvl4pPr indent="685800" defTabSz="584200">
      <a:defRPr sz="2200">
        <a:latin typeface="Lucida Grande"/>
        <a:ea typeface="Lucida Grande"/>
        <a:cs typeface="Lucida Grande"/>
        <a:sym typeface="Lucida Grande"/>
      </a:defRPr>
    </a:lvl4pPr>
    <a:lvl5pPr indent="914400" defTabSz="584200">
      <a:defRPr sz="2200">
        <a:latin typeface="Lucida Grande"/>
        <a:ea typeface="Lucida Grande"/>
        <a:cs typeface="Lucida Grande"/>
        <a:sym typeface="Lucida Grande"/>
      </a:defRPr>
    </a:lvl5pPr>
    <a:lvl6pPr indent="1143000" defTabSz="584200">
      <a:defRPr sz="2200">
        <a:latin typeface="Lucida Grande"/>
        <a:ea typeface="Lucida Grande"/>
        <a:cs typeface="Lucida Grande"/>
        <a:sym typeface="Lucida Grande"/>
      </a:defRPr>
    </a:lvl6pPr>
    <a:lvl7pPr indent="1371600" defTabSz="584200">
      <a:defRPr sz="2200">
        <a:latin typeface="Lucida Grande"/>
        <a:ea typeface="Lucida Grande"/>
        <a:cs typeface="Lucida Grande"/>
        <a:sym typeface="Lucida Grande"/>
      </a:defRPr>
    </a:lvl7pPr>
    <a:lvl8pPr indent="1600200" defTabSz="584200">
      <a:defRPr sz="2200">
        <a:latin typeface="Lucida Grande"/>
        <a:ea typeface="Lucida Grande"/>
        <a:cs typeface="Lucida Grande"/>
        <a:sym typeface="Lucida Grande"/>
      </a:defRPr>
    </a:lvl8pPr>
    <a:lvl9pPr indent="1828800" defTabSz="584200">
      <a:defRPr sz="2200">
        <a:latin typeface="Lucida Grande"/>
        <a:ea typeface="Lucida Grande"/>
        <a:cs typeface="Lucida Grande"/>
        <a:sym typeface="Lucida Grand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x-ray diffraction experiment involves  directing a beam of very high energy LIGHT into a protein crystal and recording the pattern of scattered light using a detector. A protein crystal is a regularly spaced 3d array of uniformly aligned protein molecules; there is an identical set of atoms that are repeated throughout the crystal.  Crystals can form from a high concentration of highly pure protein in aqueous solution </a:t>
            </a:r>
            <a:r>
              <a:rPr lang="en-US" sz="2200" dirty="0">
                <a:effectLst/>
                <a:latin typeface="Lucida Grande"/>
                <a:ea typeface="Lucida Grande"/>
                <a:cs typeface="Lucida Grande"/>
                <a:sym typeface="Lucida Grande"/>
              </a:rPr>
              <a:t>is combined with agents that can favor crystallization such as salts or propylene glycol. </a:t>
            </a:r>
            <a:r>
              <a:rPr lang="en-US" dirty="0"/>
              <a:t> So, a protein crystal still has a LOT of water that is within it, and water molecules interact with the protein!  So the water molecules are often detected along with the protein.  </a:t>
            </a:r>
          </a:p>
          <a:p>
            <a:endParaRPr lang="en-US" dirty="0"/>
          </a:p>
          <a:p>
            <a:r>
              <a:rPr lang="en-US" dirty="0"/>
              <a:t>But what exactly is light, and why does an X-ray beam hitting a crystal make a scattering pattern? </a:t>
            </a:r>
          </a:p>
          <a:p>
            <a:endParaRPr lang="en-US" dirty="0"/>
          </a:p>
          <a:p>
            <a:r>
              <a:rPr lang="en-US" dirty="0"/>
              <a:t>Light is composed of photons.  Photons are packets of pure energy; they have no mass and they have a specific amount of energy that determines their wavelength, or equivalently, their frequency (recall that wavelength and frequency are inversely proportional, short wavelength is high frequency and high energy!).  Light (equivalently, a photon) is an oscillating electromagnetic WAVE.  As a wave it has direction, intensity, wavelength, and phase as shown.  These 4 wave properties contain all of the information needed to solve the 3D arrangement of atoms in the crystal!</a:t>
            </a:r>
          </a:p>
          <a:p>
            <a:endParaRPr lang="en-US" dirty="0"/>
          </a:p>
          <a:p>
            <a:r>
              <a:rPr lang="en-US" dirty="0"/>
              <a:t>Light (each photon in a light beam) has BOTH particle and wave behavior.  It acts like a particle when it scatters off an object (such as atoms in the protein crystal!) and it acts like a wave when it undergoes INTERFERENCE.  When two waves have different phases, they undergo constructive and destructive interference (as shown in the double-slit experiment of Thomas Young).  </a:t>
            </a:r>
          </a:p>
          <a:p>
            <a:endParaRPr lang="en-US" dirty="0"/>
          </a:p>
          <a:p>
            <a:r>
              <a:rPr lang="en-US" dirty="0"/>
              <a:t>When x-rays are scattered by the ELECTRONS of the atoms in the protein crystal, the scattered rays go in all directions.  Because these rays travel slightly different distances, depending on the 3D arrangement of the molecules and atoms in the crystal, the rays that hit the detector show a pattern of “spots” (high intensity) due to this interference.  Every atom in the crystal contributes to the intensity of every spot!  So, the 3D arrangement of the atoms in the protein determines the variation of spot intensities across the scattering pattern!  The spot intensities are recorded by the detector (in general this is a Charge-Coupled Device (CCD) detector that is used in digital imaging).  NOTE:  most protein crystallography experiments are done at 77 K (cryogenic temperatures!) to reduce the damage that results from the very high energy light scattering from the protein (“radiation damage”)?  The cold temperatures also help to reduce motions of the protein and the waters interacting with it! </a:t>
            </a:r>
          </a:p>
          <a:p>
            <a:endParaRPr lang="en-US" dirty="0"/>
          </a:p>
          <a:p>
            <a:r>
              <a:rPr lang="en-US" dirty="0"/>
              <a:t>BUT, in order to interpret the scattering pattern to determine the 3D arrangement of atoms that gave rise to this pattern, we NEED BOTH the INTENSITIES and the PHASES of the scattered rays that gave rise to the measured spots.  And OH NO!  Only the intensities are detected.  We lose all of the phase information.  However, by developing clever “tricks”, namely by changing (perturbing) the scattering pattern a little bit, the phases can be solved.  After many years of hard work by people such as Dorothy Crowfoot Hodgkin, the phase problem was solved!</a:t>
            </a:r>
          </a:p>
          <a:p>
            <a:endParaRPr lang="en-US" dirty="0"/>
          </a:p>
          <a:p>
            <a:r>
              <a:rPr lang="en-US" dirty="0"/>
              <a:t>The main hurdle now is whether or not a given protein can be coaxed into a highly ordered array,  or into a “good crystal”!</a:t>
            </a:r>
          </a:p>
          <a:p>
            <a:endParaRPr lang="en-US" dirty="0"/>
          </a:p>
          <a:p>
            <a:r>
              <a:rPr lang="en-US" dirty="0"/>
              <a:t>Cornell has a great x-ray source that is used for X-ray crystallography!</a:t>
            </a:r>
          </a:p>
          <a:p>
            <a:endParaRPr lang="en-US" dirty="0"/>
          </a:p>
          <a:p>
            <a:endParaRPr lang="en-US" dirty="0"/>
          </a:p>
        </p:txBody>
      </p:sp>
    </p:spTree>
    <p:extLst>
      <p:ext uri="{BB962C8B-B14F-4D97-AF65-F5344CB8AC3E}">
        <p14:creationId xmlns:p14="http://schemas.microsoft.com/office/powerpoint/2010/main" val="33112250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200" dirty="0">
                <a:effectLst/>
                <a:latin typeface="Lucida Grande"/>
                <a:ea typeface="Lucida Grande"/>
                <a:cs typeface="Lucida Grande"/>
                <a:sym typeface="Lucida Grande"/>
              </a:rPr>
              <a:t>An example of part of the Mb crystal x-ray diffraction pattern is given at the left top of this slide (p. 50 in the LG). </a:t>
            </a:r>
          </a:p>
          <a:p>
            <a:r>
              <a:rPr lang="en-US" sz="2200" dirty="0">
                <a:effectLst/>
                <a:latin typeface="Lucida Grande"/>
                <a:ea typeface="Lucida Grande"/>
                <a:cs typeface="Lucida Grande"/>
                <a:sym typeface="Lucida Grande"/>
              </a:rPr>
              <a:t> </a:t>
            </a:r>
          </a:p>
          <a:p>
            <a:r>
              <a:rPr lang="en-US" sz="2200" dirty="0">
                <a:effectLst/>
                <a:latin typeface="Lucida Grande"/>
                <a:ea typeface="Lucida Grande"/>
                <a:cs typeface="Lucida Grande"/>
                <a:sym typeface="Lucida Grande"/>
              </a:rPr>
              <a:t>The actual amount of “spot data” needed is greater than the ~600 spots shown at the top left of p. 50; about 10,000 spots were needed to find the structure of Mb, a part of which is represented as the "electron density map" in the upper right on p. 50.</a:t>
            </a:r>
          </a:p>
          <a:p>
            <a:r>
              <a:rPr lang="en-US" sz="2200" dirty="0">
                <a:effectLst/>
                <a:latin typeface="Lucida Grande"/>
                <a:ea typeface="Lucida Grande"/>
                <a:cs typeface="Lucida Grande"/>
                <a:sym typeface="Lucida Grande"/>
              </a:rPr>
              <a:t> </a:t>
            </a:r>
          </a:p>
          <a:p>
            <a:r>
              <a:rPr lang="en-US" sz="2200" dirty="0">
                <a:effectLst/>
                <a:latin typeface="Lucida Grande"/>
                <a:ea typeface="Lucida Grande"/>
                <a:cs typeface="Lucida Grande"/>
                <a:sym typeface="Lucida Grande"/>
              </a:rPr>
              <a:t>1. In the center of that picture, on a diagonal, is the heme group. </a:t>
            </a:r>
          </a:p>
          <a:p>
            <a:r>
              <a:rPr lang="en-US" sz="2200" dirty="0">
                <a:effectLst/>
                <a:latin typeface="Lucida Grande"/>
                <a:ea typeface="Lucida Grande"/>
                <a:cs typeface="Lucida Grande"/>
                <a:sym typeface="Lucida Grande"/>
              </a:rPr>
              <a:t>2. The surrounding (black) protein electron density consists of different AA parts of Mb, parts that will become familiar to you soon, but not quite yet.</a:t>
            </a:r>
          </a:p>
          <a:p>
            <a:r>
              <a:rPr lang="en-US" sz="2200" dirty="0">
                <a:effectLst/>
                <a:latin typeface="Lucida Grande"/>
                <a:ea typeface="Lucida Grande"/>
                <a:cs typeface="Lucida Grande"/>
                <a:sym typeface="Lucida Grande"/>
              </a:rPr>
              <a:t>3.  Close to either flat side of the heme is a His, each His sidechain extending from a helix.</a:t>
            </a:r>
          </a:p>
          <a:p>
            <a:r>
              <a:rPr lang="en-US" sz="2200" dirty="0">
                <a:effectLst/>
                <a:latin typeface="Lucida Grande"/>
                <a:ea typeface="Lucida Grande"/>
                <a:cs typeface="Lucida Grande"/>
                <a:sym typeface="Lucida Grande"/>
              </a:rPr>
              <a:t> </a:t>
            </a:r>
          </a:p>
          <a:p>
            <a:r>
              <a:rPr lang="en-US" sz="2200" dirty="0">
                <a:effectLst/>
                <a:latin typeface="Lucida Grande"/>
                <a:ea typeface="Lucida Grande"/>
                <a:cs typeface="Lucida Grande"/>
                <a:sym typeface="Lucida Grande"/>
              </a:rPr>
              <a:t>Refer to the middle/bottom of p. 50:</a:t>
            </a:r>
          </a:p>
          <a:p>
            <a:r>
              <a:rPr lang="en-US" sz="2200" dirty="0">
                <a:effectLst/>
                <a:latin typeface="Lucida Grande"/>
                <a:ea typeface="Lucida Grande"/>
                <a:cs typeface="Lucida Grande"/>
                <a:sym typeface="Lucida Grande"/>
              </a:rPr>
              <a:t> </a:t>
            </a:r>
          </a:p>
          <a:p>
            <a:pPr lvl="0"/>
            <a:r>
              <a:rPr lang="en-US" sz="2200" dirty="0">
                <a:effectLst/>
                <a:latin typeface="Lucida Grande"/>
                <a:ea typeface="Lucida Grande"/>
                <a:cs typeface="Lucida Grande"/>
                <a:sym typeface="Lucida Grande"/>
              </a:rPr>
              <a:t>The upper left picture shows what </a:t>
            </a:r>
            <a:r>
              <a:rPr lang="en-US" sz="2200" dirty="0" err="1">
                <a:effectLst/>
                <a:latin typeface="Lucida Grande"/>
                <a:ea typeface="Lucida Grande"/>
                <a:cs typeface="Lucida Grande"/>
                <a:sym typeface="Lucida Grande"/>
              </a:rPr>
              <a:t>PyMol</a:t>
            </a:r>
            <a:r>
              <a:rPr lang="en-US" sz="2200" dirty="0">
                <a:effectLst/>
                <a:latin typeface="Lucida Grande"/>
                <a:ea typeface="Lucida Grande"/>
                <a:cs typeface="Lucida Grande"/>
                <a:sym typeface="Lucida Grande"/>
              </a:rPr>
              <a:t> terms a "sticks" model.  This representation is useful when you can zoom in, since each atom of each AA, as well as the heme, is clearly shown.</a:t>
            </a:r>
          </a:p>
          <a:p>
            <a:pPr lvl="0"/>
            <a:r>
              <a:rPr lang="en-US" sz="2200" dirty="0">
                <a:effectLst/>
                <a:latin typeface="Lucida Grande"/>
                <a:ea typeface="Lucida Grande"/>
                <a:cs typeface="Lucida Grande"/>
                <a:sym typeface="Lucida Grande"/>
              </a:rPr>
              <a:t>Proceeding clockwise, next see the Mb "ribbon", which shows the path of the main chain.  This means simply that no AA side chains are shown.</a:t>
            </a:r>
          </a:p>
          <a:p>
            <a:pPr lvl="0"/>
            <a:r>
              <a:rPr lang="en-US" sz="2200" dirty="0">
                <a:effectLst/>
                <a:latin typeface="Lucida Grande"/>
                <a:ea typeface="Lucida Grande"/>
                <a:cs typeface="Lucida Grande"/>
                <a:sym typeface="Lucida Grande"/>
              </a:rPr>
              <a:t>Next the "cartoon" representation (</a:t>
            </a:r>
            <a:r>
              <a:rPr lang="en-US" sz="2200" dirty="0" err="1">
                <a:effectLst/>
                <a:latin typeface="Lucida Grande"/>
                <a:ea typeface="Lucida Grande"/>
                <a:cs typeface="Lucida Grande"/>
                <a:sym typeface="Lucida Grande"/>
              </a:rPr>
              <a:t>PyMol</a:t>
            </a:r>
            <a:r>
              <a:rPr lang="en-US" sz="2200" dirty="0">
                <a:effectLst/>
                <a:latin typeface="Lucida Grande"/>
                <a:ea typeface="Lucida Grande"/>
                <a:cs typeface="Lucida Grande"/>
                <a:sym typeface="Lucida Grande"/>
              </a:rPr>
              <a:t> terminology) clearly reveals the predominance of alpha-helices, of which there are eight, labeled as helices A-H.</a:t>
            </a:r>
          </a:p>
          <a:p>
            <a:pPr lvl="0"/>
            <a:r>
              <a:rPr lang="en-US" sz="2200" dirty="0">
                <a:effectLst/>
                <a:latin typeface="Lucida Grande"/>
                <a:ea typeface="Lucida Grande"/>
                <a:cs typeface="Lucida Grande"/>
                <a:sym typeface="Lucida Grande"/>
              </a:rPr>
              <a:t>The last picture is "spheres", the space-filling model of Mb.  The slightly darker part on the left is the heme group.  This is a "true" representation of Mb, but it does not show the underlying patterns of the structure.</a:t>
            </a:r>
          </a:p>
          <a:p>
            <a:endParaRPr lang="en-US" dirty="0"/>
          </a:p>
        </p:txBody>
      </p:sp>
    </p:spTree>
    <p:extLst>
      <p:ext uri="{BB962C8B-B14F-4D97-AF65-F5344CB8AC3E}">
        <p14:creationId xmlns:p14="http://schemas.microsoft.com/office/powerpoint/2010/main" val="17718345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200" dirty="0">
                <a:effectLst/>
                <a:latin typeface="Lucida Grande"/>
                <a:ea typeface="Lucida Grande"/>
                <a:cs typeface="Lucida Grande"/>
                <a:sym typeface="Lucida Grande"/>
              </a:rPr>
              <a:t>What should we notice in the 3D structure of Mb? </a:t>
            </a:r>
          </a:p>
          <a:p>
            <a:r>
              <a:rPr lang="en-US" sz="2200" dirty="0">
                <a:effectLst/>
                <a:latin typeface="Lucida Grande"/>
                <a:ea typeface="Lucida Grande"/>
                <a:cs typeface="Lucida Grande"/>
                <a:sym typeface="Lucida Grande"/>
              </a:rPr>
              <a:t> </a:t>
            </a:r>
          </a:p>
          <a:p>
            <a:r>
              <a:rPr lang="en-US" sz="2200" dirty="0">
                <a:effectLst/>
                <a:latin typeface="Lucida Grande"/>
                <a:ea typeface="Lucida Grande"/>
                <a:cs typeface="Lucida Grande"/>
                <a:sym typeface="Lucida Grande"/>
              </a:rPr>
              <a:t>First-- remember that this structure came from crystallized Mb.  In the type of crystal that is more familiar to us, e.g. NaCl, we know that the atoms are tightly bound to each other.  We might wonder whether such strong forces distort the delicate structure of a protein?!  But not!  In the vast majority of cases, crystallizing a protein hardly distorts the structure that exists when the protein is dissolved in water.  The reason is simple: unlike other types of crystals, the protein crystal is approximately 50% water!</a:t>
            </a:r>
          </a:p>
          <a:p>
            <a:r>
              <a:rPr lang="en-US" sz="2200" dirty="0">
                <a:effectLst/>
                <a:latin typeface="Lucida Grande"/>
                <a:ea typeface="Lucida Grande"/>
                <a:cs typeface="Lucida Grande"/>
                <a:sym typeface="Lucida Grande"/>
              </a:rPr>
              <a:t> </a:t>
            </a:r>
          </a:p>
          <a:p>
            <a:r>
              <a:rPr lang="en-US" sz="2200" dirty="0">
                <a:effectLst/>
                <a:latin typeface="Lucida Grande"/>
                <a:ea typeface="Lucida Grande"/>
                <a:cs typeface="Lucida Grande"/>
                <a:sym typeface="Lucida Grande"/>
              </a:rPr>
              <a:t>Next-- the hydrogens do </a:t>
            </a:r>
            <a:r>
              <a:rPr lang="en-US" sz="2200" b="1" dirty="0">
                <a:effectLst/>
                <a:latin typeface="Lucida Grande"/>
                <a:ea typeface="Lucida Grande"/>
                <a:cs typeface="Lucida Grande"/>
                <a:sym typeface="Lucida Grande"/>
              </a:rPr>
              <a:t>not</a:t>
            </a:r>
            <a:r>
              <a:rPr lang="en-US" sz="2200" dirty="0">
                <a:effectLst/>
                <a:latin typeface="Lucida Grande"/>
                <a:ea typeface="Lucida Grande"/>
                <a:cs typeface="Lucida Grande"/>
                <a:sym typeface="Lucida Grande"/>
              </a:rPr>
              <a:t> show up!  That is because the H atom is too weak at scattering x-rays (this scattering is roughly proportional to the 4</a:t>
            </a:r>
            <a:r>
              <a:rPr lang="en-US" sz="2200" baseline="30000" dirty="0">
                <a:effectLst/>
                <a:latin typeface="Lucida Grande"/>
                <a:ea typeface="Lucida Grande"/>
                <a:cs typeface="Lucida Grande"/>
                <a:sym typeface="Lucida Grande"/>
              </a:rPr>
              <a:t>th</a:t>
            </a:r>
            <a:r>
              <a:rPr lang="en-US" sz="2200" dirty="0">
                <a:effectLst/>
                <a:latin typeface="Lucida Grande"/>
                <a:ea typeface="Lucida Grande"/>
                <a:cs typeface="Lucida Grande"/>
                <a:sym typeface="Lucida Grande"/>
              </a:rPr>
              <a:t> power of the atomic number).  We usually need to infer its location-- or else find the structure from NMR spectroscopy, which does show the H-atoms very well)</a:t>
            </a:r>
          </a:p>
          <a:p>
            <a:endParaRPr lang="en-US" sz="2200" dirty="0">
              <a:effectLst/>
              <a:latin typeface="Lucida Grande"/>
              <a:ea typeface="Lucida Grande"/>
              <a:cs typeface="Lucida Grande"/>
              <a:sym typeface="Lucida Grande"/>
            </a:endParaRPr>
          </a:p>
          <a:p>
            <a:r>
              <a:rPr lang="en-US" sz="2200" dirty="0">
                <a:effectLst/>
                <a:latin typeface="Lucida Grande"/>
                <a:ea typeface="Lucida Grande"/>
                <a:cs typeface="Lucida Grande"/>
                <a:sym typeface="Lucida Grande"/>
              </a:rPr>
              <a:t>1.  The Mb crystal is ~50% water!</a:t>
            </a:r>
          </a:p>
          <a:p>
            <a:r>
              <a:rPr lang="en-US" sz="2200" dirty="0">
                <a:effectLst/>
                <a:latin typeface="Lucida Grande"/>
                <a:ea typeface="Lucida Grande"/>
                <a:cs typeface="Lucida Grande"/>
                <a:sym typeface="Lucida Grande"/>
              </a:rPr>
              <a:t> </a:t>
            </a:r>
          </a:p>
          <a:p>
            <a:r>
              <a:rPr lang="en-US" sz="2200" dirty="0">
                <a:effectLst/>
                <a:latin typeface="Lucida Grande"/>
                <a:ea typeface="Lucida Grande"/>
                <a:cs typeface="Lucida Grande"/>
                <a:sym typeface="Lucida Grande"/>
              </a:rPr>
              <a:t>1.  Compact 45 x 35 x 25 Angstrom (not a sphere!):  Essentially no "space" inside, but instead a </a:t>
            </a:r>
            <a:r>
              <a:rPr lang="en-US" sz="2200" b="1" dirty="0">
                <a:effectLst/>
                <a:latin typeface="Lucida Grande"/>
                <a:ea typeface="Lucida Grande"/>
                <a:cs typeface="Lucida Grande"/>
                <a:sym typeface="Lucida Grande"/>
              </a:rPr>
              <a:t>precise fit</a:t>
            </a:r>
            <a:r>
              <a:rPr lang="en-US" sz="2200" dirty="0">
                <a:effectLst/>
                <a:latin typeface="Lucida Grande"/>
                <a:ea typeface="Lucida Grande"/>
                <a:cs typeface="Lucida Grande"/>
                <a:sym typeface="Lucida Grande"/>
              </a:rPr>
              <a:t> of each AA side chain to its neighbors and to the heme.  The protein is actually an interesting state of matter.  We could call it a "soft solid".  Most of the atoms move only a little bit, moving 1 Angstrom or less, or rotating 30 degrees or less, in times as short as 10-11 sec.  But we will see many cases where large movements occur on slower timescales of 10-6 to 10-3 sec.  For Mb, some </a:t>
            </a:r>
            <a:r>
              <a:rPr lang="en-US" sz="2200" b="1" dirty="0">
                <a:effectLst/>
                <a:latin typeface="Lucida Grande"/>
                <a:ea typeface="Lucida Grande"/>
                <a:cs typeface="Lucida Grande"/>
                <a:sym typeface="Lucida Grande"/>
              </a:rPr>
              <a:t>sidechain movement is </a:t>
            </a:r>
            <a:r>
              <a:rPr lang="en-US" sz="2200" b="1" i="1" dirty="0">
                <a:effectLst/>
                <a:latin typeface="Lucida Grande"/>
                <a:ea typeface="Lucida Grande"/>
                <a:cs typeface="Lucida Grande"/>
                <a:sym typeface="Lucida Grande"/>
              </a:rPr>
              <a:t>required</a:t>
            </a:r>
            <a:r>
              <a:rPr lang="en-US" sz="2200" dirty="0">
                <a:effectLst/>
                <a:latin typeface="Lucida Grande"/>
                <a:ea typeface="Lucida Grande"/>
                <a:cs typeface="Lucida Grande"/>
                <a:sym typeface="Lucida Grande"/>
              </a:rPr>
              <a:t> in order for oxygen to reach its binding site at the heme.</a:t>
            </a:r>
          </a:p>
          <a:p>
            <a:r>
              <a:rPr lang="en-US" sz="2200" dirty="0">
                <a:effectLst/>
                <a:latin typeface="Lucida Grande"/>
                <a:ea typeface="Lucida Grande"/>
                <a:cs typeface="Lucida Grande"/>
                <a:sym typeface="Lucida Grande"/>
              </a:rPr>
              <a:t> </a:t>
            </a:r>
          </a:p>
          <a:p>
            <a:r>
              <a:rPr lang="en-US" sz="2200" dirty="0">
                <a:effectLst/>
                <a:latin typeface="Lucida Grande"/>
                <a:ea typeface="Lucida Grande"/>
                <a:cs typeface="Lucida Grande"/>
                <a:sym typeface="Lucida Grande"/>
              </a:rPr>
              <a:t>2.  a-helix:  most AA in Mb are in helices.  No protein has a much higher % helix (and some proteins have no helix).  In Mb, the AA near the N- and C-termini are not in helices, as well as the AA that are in the turns between helices.</a:t>
            </a:r>
          </a:p>
          <a:p>
            <a:r>
              <a:rPr lang="en-US" sz="2200" dirty="0">
                <a:effectLst/>
                <a:latin typeface="Lucida Grande"/>
                <a:ea typeface="Lucida Grande"/>
                <a:cs typeface="Lucida Grande"/>
                <a:sym typeface="Lucida Grande"/>
              </a:rPr>
              <a:t> </a:t>
            </a:r>
          </a:p>
          <a:p>
            <a:r>
              <a:rPr lang="en-US" sz="2200" dirty="0">
                <a:effectLst/>
                <a:latin typeface="Lucida Grande"/>
                <a:ea typeface="Lucida Grande"/>
                <a:cs typeface="Lucida Grande"/>
                <a:sym typeface="Lucida Grande"/>
              </a:rPr>
              <a:t>3.  Heme is in a crevice:  the heme is tightly bound by a </a:t>
            </a:r>
            <a:r>
              <a:rPr lang="en-US" sz="2200" b="1" dirty="0">
                <a:effectLst/>
                <a:latin typeface="Lucida Grande"/>
                <a:ea typeface="Lucida Grande"/>
                <a:cs typeface="Lucida Grande"/>
                <a:sym typeface="Lucida Grande"/>
              </a:rPr>
              <a:t>good fit</a:t>
            </a:r>
            <a:r>
              <a:rPr lang="en-US" sz="2200" dirty="0">
                <a:effectLst/>
                <a:latin typeface="Lucida Grande"/>
                <a:ea typeface="Lucida Grande"/>
                <a:cs typeface="Lucida Grande"/>
                <a:sym typeface="Lucida Grande"/>
              </a:rPr>
              <a:t> of AA side chains and by the covalent bond to the proximal His.  The heme is near the surface and near water, but the Fe2+ is inside, away from the surrounding water.</a:t>
            </a:r>
          </a:p>
          <a:p>
            <a:r>
              <a:rPr lang="en-US" sz="2200" dirty="0">
                <a:effectLst/>
                <a:latin typeface="Lucida Grande"/>
                <a:ea typeface="Lucida Grande"/>
                <a:cs typeface="Lucida Grande"/>
                <a:sym typeface="Lucida Grande"/>
              </a:rPr>
              <a:t> </a:t>
            </a:r>
          </a:p>
          <a:p>
            <a:r>
              <a:rPr lang="en-US" sz="2200" dirty="0">
                <a:effectLst/>
                <a:latin typeface="Lucida Grande"/>
                <a:ea typeface="Lucida Grande"/>
                <a:cs typeface="Lucida Grande"/>
                <a:sym typeface="Lucida Grande"/>
              </a:rPr>
              <a:t>4.  Interior of Mb is non-polar:  a consequence of the hydrophobic interaction driving the non-polar residues out of water.  There are two exceptions to the interior non-polarity: two His near the heme group.  Jargon: the His that is covalently bonded to the Fe2+ of the heme is termed the "proximal His" (i.e. the His closest to the heme).</a:t>
            </a:r>
          </a:p>
          <a:p>
            <a:r>
              <a:rPr lang="en-US" sz="2200" dirty="0">
                <a:effectLst/>
                <a:latin typeface="Lucida Grande"/>
                <a:ea typeface="Lucida Grande"/>
                <a:cs typeface="Lucida Grande"/>
                <a:sym typeface="Lucida Grande"/>
              </a:rPr>
              <a:t> </a:t>
            </a:r>
          </a:p>
          <a:p>
            <a:r>
              <a:rPr lang="en-US" sz="2200" dirty="0">
                <a:effectLst/>
                <a:latin typeface="Lucida Grande"/>
                <a:ea typeface="Lucida Grande"/>
                <a:cs typeface="Lucida Grande"/>
                <a:sym typeface="Lucida Grande"/>
              </a:rPr>
              <a:t>5.  Surface:  except for two His, all other polar and charged AA are on the surface.  There </a:t>
            </a:r>
            <a:r>
              <a:rPr lang="en-US" sz="2200" b="1" i="1" dirty="0">
                <a:effectLst/>
                <a:latin typeface="Lucida Grande"/>
                <a:ea typeface="Lucida Grande"/>
                <a:cs typeface="Lucida Grande"/>
                <a:sym typeface="Lucida Grande"/>
              </a:rPr>
              <a:t>are</a:t>
            </a:r>
            <a:r>
              <a:rPr lang="en-US" sz="2200" dirty="0">
                <a:effectLst/>
                <a:latin typeface="Lucida Grande"/>
                <a:ea typeface="Lucida Grande"/>
                <a:cs typeface="Lucida Grande"/>
                <a:sym typeface="Lucida Grande"/>
              </a:rPr>
              <a:t> also non-polar AA on the surface, since </a:t>
            </a:r>
            <a:r>
              <a:rPr lang="en-US" sz="2200" b="1" dirty="0">
                <a:effectLst/>
                <a:latin typeface="Lucida Grande"/>
                <a:ea typeface="Lucida Grande"/>
                <a:cs typeface="Lucida Grande"/>
                <a:sym typeface="Lucida Grande"/>
              </a:rPr>
              <a:t>NOT ALL</a:t>
            </a:r>
            <a:r>
              <a:rPr lang="en-US" sz="2200" dirty="0">
                <a:effectLst/>
                <a:latin typeface="Lucida Grande"/>
                <a:ea typeface="Lucida Grande"/>
                <a:cs typeface="Lucida Grande"/>
                <a:sym typeface="Lucida Grande"/>
              </a:rPr>
              <a:t> nonpolar AA are driven inside by the hydrophobic interaction (do notice this aspect of the hydrophobic interaction).  Thus, the surface of Mb and other water-soluble proteins has many polar and charged AA, </a:t>
            </a:r>
            <a:r>
              <a:rPr lang="en-US" sz="2200" b="1" dirty="0">
                <a:effectLst/>
                <a:latin typeface="Lucida Grande"/>
                <a:ea typeface="Lucida Grande"/>
                <a:cs typeface="Lucida Grande"/>
                <a:sym typeface="Lucida Grande"/>
              </a:rPr>
              <a:t>and</a:t>
            </a:r>
            <a:r>
              <a:rPr lang="en-US" sz="2200" dirty="0">
                <a:effectLst/>
                <a:latin typeface="Lucida Grande"/>
                <a:ea typeface="Lucida Grande"/>
                <a:cs typeface="Lucida Grande"/>
                <a:sym typeface="Lucida Grande"/>
              </a:rPr>
              <a:t> some nonpolar AA.</a:t>
            </a:r>
          </a:p>
          <a:p>
            <a:r>
              <a:rPr lang="en-US" sz="2200" dirty="0">
                <a:effectLst/>
                <a:latin typeface="Lucida Grande"/>
                <a:ea typeface="Lucida Grande"/>
                <a:cs typeface="Lucida Grande"/>
                <a:sym typeface="Lucida Grande"/>
              </a:rPr>
              <a:t> </a:t>
            </a:r>
          </a:p>
          <a:p>
            <a:r>
              <a:rPr lang="en-US" sz="2200" dirty="0">
                <a:effectLst/>
                <a:latin typeface="Lucida Grande"/>
                <a:ea typeface="Lucida Grande"/>
                <a:cs typeface="Lucida Grande"/>
                <a:sym typeface="Lucida Grande"/>
              </a:rPr>
              <a:t>6. Side chains where O2 binds (except for His) are all nonpolar: Ile, Val, Leu. They form a pocket where oxygen can bind, and where water is kept out.</a:t>
            </a:r>
          </a:p>
          <a:p>
            <a:r>
              <a:rPr lang="en-US" sz="2200" dirty="0">
                <a:effectLst/>
                <a:latin typeface="Lucida Grande"/>
                <a:ea typeface="Lucida Grande"/>
                <a:cs typeface="Lucida Grande"/>
                <a:sym typeface="Lucida Grande"/>
              </a:rPr>
              <a:t> </a:t>
            </a:r>
          </a:p>
          <a:p>
            <a:r>
              <a:rPr lang="en-US" sz="2200" dirty="0">
                <a:effectLst/>
                <a:latin typeface="Lucida Grande"/>
                <a:ea typeface="Lucida Grande"/>
                <a:cs typeface="Lucida Grande"/>
                <a:sym typeface="Lucida Grande"/>
              </a:rPr>
              <a:t>7. Also one His (jargon: “distal His”) is inside Mb, near the O2 binding site.  One other His (the "proximal His") is covalently bound to the heme Fe.</a:t>
            </a:r>
          </a:p>
          <a:p>
            <a:endParaRPr lang="en-US" sz="2200" dirty="0">
              <a:effectLst/>
              <a:latin typeface="Lucida Grande"/>
              <a:ea typeface="Lucida Grande"/>
              <a:cs typeface="Lucida Grande"/>
              <a:sym typeface="Lucida Grande"/>
            </a:endParaRPr>
          </a:p>
          <a:p>
            <a:pPr marL="0" marR="0" lvl="0" indent="0" defTabSz="584200" eaLnBrk="1" fontAlgn="auto" latinLnBrk="0" hangingPunct="1">
              <a:lnSpc>
                <a:spcPct val="100000"/>
              </a:lnSpc>
              <a:spcBef>
                <a:spcPts val="0"/>
              </a:spcBef>
              <a:spcAft>
                <a:spcPts val="0"/>
              </a:spcAft>
              <a:buClrTx/>
              <a:buSzTx/>
              <a:buFontTx/>
              <a:buNone/>
              <a:tabLst/>
              <a:defRPr/>
            </a:pPr>
            <a:r>
              <a:rPr lang="en-US" sz="2200" dirty="0">
                <a:effectLst/>
                <a:latin typeface="Lucida Grande"/>
                <a:ea typeface="Lucida Grande"/>
                <a:cs typeface="Lucida Grande"/>
                <a:sym typeface="Lucida Grande"/>
              </a:rPr>
              <a:t>We have now examined the 3D structure of Mb.  It is a “construction” that is stable.  It is designed to make a good “chemical fit” to heme and to O2.  Now we ask, what are the “construction rules”?  i.e. What are the forces that hold the protein in its structure?</a:t>
            </a:r>
          </a:p>
          <a:p>
            <a:endParaRPr lang="en-US" sz="2200" dirty="0">
              <a:effectLst/>
              <a:latin typeface="Lucida Grande"/>
              <a:ea typeface="Lucida Grande"/>
              <a:cs typeface="Lucida Grande"/>
              <a:sym typeface="Lucida Grande"/>
            </a:endParaRPr>
          </a:p>
          <a:p>
            <a:endParaRPr lang="en-US" dirty="0"/>
          </a:p>
        </p:txBody>
      </p:sp>
    </p:spTree>
    <p:extLst>
      <p:ext uri="{BB962C8B-B14F-4D97-AF65-F5344CB8AC3E}">
        <p14:creationId xmlns:p14="http://schemas.microsoft.com/office/powerpoint/2010/main" val="30157907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200" dirty="0">
                <a:effectLst/>
                <a:latin typeface="Lucida Grande"/>
                <a:ea typeface="Lucida Grande"/>
                <a:cs typeface="Lucida Grande"/>
                <a:sym typeface="Lucida Grande"/>
              </a:rPr>
              <a:t>In general, what are the “construction rules” for proteins?  A large part of this story comes from the key interactions found in proteins:</a:t>
            </a:r>
          </a:p>
          <a:p>
            <a:r>
              <a:rPr lang="en-US" sz="2200" dirty="0">
                <a:effectLst/>
                <a:latin typeface="Lucida Grande"/>
                <a:ea typeface="Lucida Grande"/>
                <a:cs typeface="Lucida Grande"/>
                <a:sym typeface="Lucida Grande"/>
              </a:rPr>
              <a:t> </a:t>
            </a:r>
          </a:p>
          <a:p>
            <a:r>
              <a:rPr lang="en-US" sz="2200" b="1" dirty="0">
                <a:effectLst/>
                <a:latin typeface="Lucida Grande"/>
                <a:ea typeface="Lucida Grande"/>
                <a:cs typeface="Lucida Grande"/>
                <a:sym typeface="Lucida Grande"/>
              </a:rPr>
              <a:t>1.  Hydrogen Bonds</a:t>
            </a:r>
            <a:r>
              <a:rPr lang="en-US" sz="2200" dirty="0">
                <a:effectLst/>
                <a:latin typeface="Lucida Grande"/>
                <a:ea typeface="Lucida Grande"/>
                <a:cs typeface="Lucida Grande"/>
                <a:sym typeface="Lucida Grande"/>
              </a:rPr>
              <a:t>:  p. 52</a:t>
            </a:r>
          </a:p>
          <a:p>
            <a:r>
              <a:rPr lang="en-US" sz="2200" dirty="0">
                <a:effectLst/>
                <a:latin typeface="Lucida Grande"/>
                <a:ea typeface="Lucida Grande"/>
                <a:cs typeface="Lucida Grande"/>
                <a:sym typeface="Lucida Grande"/>
              </a:rPr>
              <a:t> </a:t>
            </a:r>
            <a:r>
              <a:rPr lang="en-US" sz="2200" dirty="0">
                <a:effectLst/>
                <a:latin typeface="Lucida Grande"/>
                <a:ea typeface="Lucida Grande"/>
                <a:cs typeface="Lucida Grande"/>
                <a:sym typeface="Symbol" pitchFamily="2" charset="2"/>
              </a:rPr>
              <a:t></a:t>
            </a:r>
            <a:r>
              <a:rPr lang="en-US" sz="2200" dirty="0">
                <a:effectLst/>
                <a:latin typeface="Lucida Grande"/>
                <a:ea typeface="Lucida Grande"/>
                <a:cs typeface="Lucida Grande"/>
                <a:sym typeface="Lucida Grande"/>
              </a:rPr>
              <a:t>  linear geometry; this holds the three atoms in a relatively precise relationship</a:t>
            </a:r>
          </a:p>
          <a:p>
            <a:r>
              <a:rPr lang="en-US" sz="2200" dirty="0">
                <a:effectLst/>
                <a:latin typeface="Lucida Grande"/>
                <a:ea typeface="Lucida Grande"/>
                <a:cs typeface="Lucida Grande"/>
                <a:sym typeface="Lucida Grande"/>
              </a:rPr>
              <a:t> </a:t>
            </a:r>
            <a:r>
              <a:rPr lang="en-US" sz="2200" dirty="0">
                <a:effectLst/>
                <a:latin typeface="Lucida Grande"/>
                <a:ea typeface="Lucida Grande"/>
                <a:cs typeface="Lucida Grande"/>
                <a:sym typeface="Symbol" pitchFamily="2" charset="2"/>
              </a:rPr>
              <a:t></a:t>
            </a:r>
            <a:r>
              <a:rPr lang="en-US" sz="2200" dirty="0">
                <a:effectLst/>
                <a:latin typeface="Lucida Grande"/>
                <a:ea typeface="Lucida Grande"/>
                <a:cs typeface="Lucida Grande"/>
                <a:sym typeface="Lucida Grande"/>
              </a:rPr>
              <a:t>  2.8 - 3.2 Angstroms between the electronegative atoms </a:t>
            </a:r>
          </a:p>
          <a:p>
            <a:r>
              <a:rPr lang="en-US" sz="2200" dirty="0">
                <a:effectLst/>
                <a:latin typeface="Lucida Grande"/>
                <a:ea typeface="Lucida Grande"/>
                <a:cs typeface="Lucida Grande"/>
                <a:sym typeface="Lucida Grande"/>
              </a:rPr>
              <a:t>  </a:t>
            </a:r>
            <a:r>
              <a:rPr lang="en-US" sz="2200" dirty="0">
                <a:effectLst/>
                <a:latin typeface="Lucida Grande"/>
                <a:ea typeface="Lucida Grande"/>
                <a:cs typeface="Lucida Grande"/>
                <a:sym typeface="Symbol" pitchFamily="2" charset="2"/>
              </a:rPr>
              <a:t></a:t>
            </a:r>
            <a:r>
              <a:rPr lang="en-US" sz="2200" dirty="0">
                <a:effectLst/>
                <a:latin typeface="Lucida Grande"/>
                <a:ea typeface="Lucida Grande"/>
                <a:cs typeface="Lucida Grande"/>
                <a:sym typeface="Lucida Grande"/>
              </a:rPr>
              <a:t>  energy of one hydrogen bond 10-40 kJ/mole</a:t>
            </a:r>
          </a:p>
          <a:p>
            <a:r>
              <a:rPr lang="en-US" sz="2200" dirty="0">
                <a:effectLst/>
                <a:latin typeface="Lucida Grande"/>
                <a:ea typeface="Lucida Grande"/>
                <a:cs typeface="Lucida Grande"/>
                <a:sym typeface="Lucida Grande"/>
              </a:rPr>
              <a:t>  </a:t>
            </a:r>
            <a:r>
              <a:rPr lang="en-US" sz="2200" dirty="0">
                <a:effectLst/>
                <a:latin typeface="Lucida Grande"/>
                <a:ea typeface="Lucida Grande"/>
                <a:cs typeface="Lucida Grande"/>
                <a:sym typeface="Symbol" pitchFamily="2" charset="2"/>
              </a:rPr>
              <a:t></a:t>
            </a:r>
            <a:r>
              <a:rPr lang="en-US" sz="2200" dirty="0">
                <a:effectLst/>
                <a:latin typeface="Lucida Grande"/>
                <a:ea typeface="Lucida Grande"/>
                <a:cs typeface="Lucida Grande"/>
                <a:sym typeface="Lucida Grande"/>
              </a:rPr>
              <a:t> </a:t>
            </a:r>
            <a:r>
              <a:rPr lang="en-US" sz="2200" b="1" dirty="0">
                <a:effectLst/>
                <a:latin typeface="Lucida Grande"/>
                <a:ea typeface="Lucida Grande"/>
                <a:cs typeface="Lucida Grande"/>
                <a:sym typeface="Lucida Grande"/>
              </a:rPr>
              <a:t>every </a:t>
            </a:r>
            <a:r>
              <a:rPr lang="en-US" sz="2200" dirty="0">
                <a:effectLst/>
                <a:latin typeface="Lucida Grande"/>
                <a:ea typeface="Lucida Grande"/>
                <a:cs typeface="Lucida Grande"/>
                <a:sym typeface="Lucida Grande"/>
              </a:rPr>
              <a:t>-OH, -NH, -SH must be in an H-bond, either to another part of the protein or to water.  In whatever way the polypeptide chain actually folds, the </a:t>
            </a:r>
            <a:r>
              <a:rPr lang="en-US" sz="2200" b="1" dirty="0">
                <a:effectLst/>
                <a:latin typeface="Lucida Grande"/>
                <a:ea typeface="Lucida Grande"/>
                <a:cs typeface="Lucida Grande"/>
                <a:sym typeface="Lucida Grande"/>
              </a:rPr>
              <a:t>FINAL STRUCTURE MUST ENABLE (ALMOST) EVERY POSSIBLE H-BOND TO FORM</a:t>
            </a:r>
            <a:r>
              <a:rPr lang="en-US" sz="2200" dirty="0">
                <a:effectLst/>
                <a:latin typeface="Lucida Grande"/>
                <a:ea typeface="Lucida Grande"/>
                <a:cs typeface="Lucida Grande"/>
                <a:sym typeface="Lucida Grande"/>
              </a:rPr>
              <a:t>.</a:t>
            </a:r>
          </a:p>
          <a:p>
            <a:r>
              <a:rPr lang="en-US" sz="2200" dirty="0">
                <a:effectLst/>
                <a:latin typeface="Lucida Grande"/>
                <a:ea typeface="Lucida Grande"/>
                <a:cs typeface="Lucida Grande"/>
                <a:sym typeface="Lucida Grande"/>
              </a:rPr>
              <a:t> </a:t>
            </a:r>
          </a:p>
          <a:p>
            <a:r>
              <a:rPr lang="en-US" sz="2200" b="1" dirty="0">
                <a:effectLst/>
                <a:latin typeface="Lucida Grande"/>
                <a:ea typeface="Lucida Grande"/>
                <a:cs typeface="Lucida Grande"/>
                <a:sym typeface="Lucida Grande"/>
              </a:rPr>
              <a:t>2.  Electrostatics:</a:t>
            </a:r>
            <a:endParaRPr lang="en-US" sz="2200" dirty="0">
              <a:effectLst/>
              <a:latin typeface="Lucida Grande"/>
              <a:ea typeface="Lucida Grande"/>
              <a:cs typeface="Lucida Grande"/>
              <a:sym typeface="Lucida Grande"/>
            </a:endParaRPr>
          </a:p>
          <a:p>
            <a:r>
              <a:rPr lang="en-US" sz="2200" dirty="0">
                <a:effectLst/>
                <a:latin typeface="Lucida Grande"/>
                <a:ea typeface="Lucida Grande"/>
                <a:cs typeface="Lucida Grande"/>
                <a:sym typeface="Lucida Grande"/>
              </a:rPr>
              <a:t>  </a:t>
            </a:r>
            <a:r>
              <a:rPr lang="en-US" sz="2200" dirty="0">
                <a:effectLst/>
                <a:latin typeface="Lucida Grande"/>
                <a:ea typeface="Lucida Grande"/>
                <a:cs typeface="Lucida Grande"/>
                <a:sym typeface="Symbol" pitchFamily="2" charset="2"/>
              </a:rPr>
              <a:t></a:t>
            </a:r>
            <a:r>
              <a:rPr lang="en-US" sz="2200" dirty="0">
                <a:effectLst/>
                <a:latin typeface="Lucida Grande"/>
                <a:ea typeface="Lucida Grande"/>
                <a:cs typeface="Lucida Grande"/>
                <a:sym typeface="Lucida Grande"/>
              </a:rPr>
              <a:t> positive and negative charge attracting, or else two like charges repelling</a:t>
            </a:r>
          </a:p>
          <a:p>
            <a:r>
              <a:rPr lang="en-US" sz="2200" dirty="0">
                <a:effectLst/>
                <a:latin typeface="Lucida Grande"/>
                <a:ea typeface="Lucida Grande"/>
                <a:cs typeface="Lucida Grande"/>
                <a:sym typeface="Lucida Grande"/>
              </a:rPr>
              <a:t>  </a:t>
            </a:r>
            <a:r>
              <a:rPr lang="en-US" sz="2200" dirty="0">
                <a:effectLst/>
                <a:latin typeface="Lucida Grande"/>
                <a:ea typeface="Lucida Grande"/>
                <a:cs typeface="Lucida Grande"/>
                <a:sym typeface="Symbol" pitchFamily="2" charset="2"/>
              </a:rPr>
              <a:t></a:t>
            </a:r>
            <a:r>
              <a:rPr lang="en-US" sz="2200" dirty="0">
                <a:effectLst/>
                <a:latin typeface="Lucida Grande"/>
                <a:ea typeface="Lucida Grande"/>
                <a:cs typeface="Lucida Grande"/>
                <a:sym typeface="Lucida Grande"/>
              </a:rPr>
              <a:t> wherever there is a + charge there must be a - charge within a few Angstroms, and vice versa</a:t>
            </a:r>
          </a:p>
          <a:p>
            <a:r>
              <a:rPr lang="en-US" sz="2200" dirty="0">
                <a:effectLst/>
                <a:latin typeface="Lucida Grande"/>
                <a:ea typeface="Lucida Grande"/>
                <a:cs typeface="Lucida Grande"/>
                <a:sym typeface="Lucida Grande"/>
              </a:rPr>
              <a:t>  </a:t>
            </a:r>
            <a:r>
              <a:rPr lang="en-US" sz="2200" dirty="0">
                <a:effectLst/>
                <a:latin typeface="Lucida Grande"/>
                <a:ea typeface="Lucida Grande"/>
                <a:cs typeface="Lucida Grande"/>
                <a:sym typeface="Symbol" pitchFamily="2" charset="2"/>
              </a:rPr>
              <a:t></a:t>
            </a:r>
            <a:r>
              <a:rPr lang="en-US" sz="2200" dirty="0">
                <a:effectLst/>
                <a:latin typeface="Lucida Grande"/>
                <a:ea typeface="Lucida Grande"/>
                <a:cs typeface="Lucida Grande"/>
                <a:sym typeface="Lucida Grande"/>
              </a:rPr>
              <a:t> energy of the attraction is 10-40 kJ/mole</a:t>
            </a:r>
          </a:p>
          <a:p>
            <a:r>
              <a:rPr lang="en-US" sz="2200" dirty="0">
                <a:effectLst/>
                <a:latin typeface="Lucida Grande"/>
                <a:ea typeface="Lucida Grande"/>
                <a:cs typeface="Lucida Grande"/>
                <a:sym typeface="Lucida Grande"/>
              </a:rPr>
              <a:t>  </a:t>
            </a:r>
            <a:r>
              <a:rPr lang="en-US" sz="2200" dirty="0">
                <a:effectLst/>
                <a:latin typeface="Lucida Grande"/>
                <a:ea typeface="Lucida Grande"/>
                <a:cs typeface="Lucida Grande"/>
                <a:sym typeface="Symbol" pitchFamily="2" charset="2"/>
              </a:rPr>
              <a:t></a:t>
            </a:r>
            <a:r>
              <a:rPr lang="en-US" sz="2200" dirty="0">
                <a:effectLst/>
                <a:latin typeface="Lucida Grande"/>
                <a:ea typeface="Lucida Grande"/>
                <a:cs typeface="Lucida Grande"/>
                <a:sym typeface="Lucida Grande"/>
              </a:rPr>
              <a:t> very different from H-bond in geometry: </a:t>
            </a:r>
            <a:r>
              <a:rPr lang="en-US" sz="2200" b="1" dirty="0">
                <a:effectLst/>
                <a:latin typeface="Lucida Grande"/>
                <a:ea typeface="Lucida Grande"/>
                <a:cs typeface="Lucida Grande"/>
                <a:sym typeface="Lucida Grande"/>
              </a:rPr>
              <a:t>not constrained in any direction!</a:t>
            </a:r>
            <a:endParaRPr lang="en-US" sz="2200" dirty="0">
              <a:effectLst/>
              <a:latin typeface="Lucida Grande"/>
              <a:ea typeface="Lucida Grande"/>
              <a:cs typeface="Lucida Grande"/>
              <a:sym typeface="Lucida Grande"/>
            </a:endParaRPr>
          </a:p>
          <a:p>
            <a:r>
              <a:rPr lang="en-US" sz="2200" dirty="0">
                <a:effectLst/>
                <a:latin typeface="Lucida Grande"/>
                <a:ea typeface="Lucida Grande"/>
                <a:cs typeface="Lucida Grande"/>
                <a:sym typeface="Lucida Grande"/>
              </a:rPr>
              <a:t>  </a:t>
            </a:r>
            <a:r>
              <a:rPr lang="en-US" sz="2200" dirty="0">
                <a:effectLst/>
                <a:latin typeface="Lucida Grande"/>
                <a:ea typeface="Lucida Grande"/>
                <a:cs typeface="Lucida Grande"/>
                <a:sym typeface="Symbol" pitchFamily="2" charset="2"/>
              </a:rPr>
              <a:t></a:t>
            </a:r>
            <a:r>
              <a:rPr lang="en-US" sz="2200" dirty="0">
                <a:effectLst/>
                <a:latin typeface="Lucida Grande"/>
                <a:ea typeface="Lucida Grande"/>
                <a:cs typeface="Lucida Grande"/>
                <a:sym typeface="Lucida Grande"/>
              </a:rPr>
              <a:t> attractive interaction often called a “salt bridge” or "ion pair"</a:t>
            </a:r>
          </a:p>
          <a:p>
            <a:r>
              <a:rPr lang="en-US" sz="2200" b="1" dirty="0">
                <a:effectLst/>
                <a:latin typeface="Lucida Grande"/>
                <a:ea typeface="Lucida Grande"/>
                <a:cs typeface="Lucida Grande"/>
                <a:sym typeface="Lucida Grande"/>
              </a:rPr>
              <a:t> </a:t>
            </a:r>
            <a:endParaRPr lang="en-US" sz="2200" dirty="0">
              <a:effectLst/>
              <a:latin typeface="Lucida Grande"/>
              <a:ea typeface="Lucida Grande"/>
              <a:cs typeface="Lucida Grande"/>
              <a:sym typeface="Lucida Grande"/>
            </a:endParaRPr>
          </a:p>
          <a:p>
            <a:r>
              <a:rPr lang="en-US" sz="2200" b="1" dirty="0">
                <a:effectLst/>
                <a:latin typeface="Lucida Grande"/>
                <a:ea typeface="Lucida Grande"/>
                <a:cs typeface="Lucida Grande"/>
                <a:sym typeface="Lucida Grande"/>
              </a:rPr>
              <a:t>3.  Disulfide Bonds</a:t>
            </a:r>
            <a:r>
              <a:rPr lang="en-US" sz="2200" dirty="0">
                <a:effectLst/>
                <a:latin typeface="Lucida Grande"/>
                <a:ea typeface="Lucida Grande"/>
                <a:cs typeface="Lucida Grande"/>
                <a:sym typeface="Lucida Grande"/>
              </a:rPr>
              <a:t>: </a:t>
            </a:r>
          </a:p>
          <a:p>
            <a:r>
              <a:rPr lang="en-US" sz="2200" dirty="0">
                <a:effectLst/>
                <a:latin typeface="Lucida Grande"/>
                <a:ea typeface="Lucida Grande"/>
                <a:cs typeface="Lucida Grande"/>
                <a:sym typeface="Lucida Grande"/>
              </a:rPr>
              <a:t>  </a:t>
            </a:r>
            <a:r>
              <a:rPr lang="en-US" sz="2200" dirty="0">
                <a:effectLst/>
                <a:latin typeface="Lucida Grande"/>
                <a:ea typeface="Lucida Grande"/>
                <a:cs typeface="Lucida Grande"/>
                <a:sym typeface="Symbol" pitchFamily="2" charset="2"/>
              </a:rPr>
              <a:t></a:t>
            </a:r>
            <a:r>
              <a:rPr lang="en-US" sz="2200" dirty="0">
                <a:effectLst/>
                <a:latin typeface="Lucida Grande"/>
                <a:ea typeface="Lucida Grande"/>
                <a:cs typeface="Lucida Grande"/>
                <a:sym typeface="Lucida Grande"/>
              </a:rPr>
              <a:t> have a </a:t>
            </a:r>
            <a:r>
              <a:rPr lang="en-US" sz="2200" b="1" dirty="0">
                <a:effectLst/>
                <a:latin typeface="Lucida Grande"/>
                <a:ea typeface="Lucida Grande"/>
                <a:cs typeface="Lucida Grande"/>
                <a:sym typeface="Lucida Grande"/>
              </a:rPr>
              <a:t>specific geometry</a:t>
            </a:r>
            <a:r>
              <a:rPr lang="en-US" sz="2200" dirty="0">
                <a:effectLst/>
                <a:latin typeface="Lucida Grande"/>
                <a:ea typeface="Lucida Grande"/>
                <a:cs typeface="Lucida Grande"/>
                <a:sym typeface="Lucida Grande"/>
              </a:rPr>
              <a:t>.  This geometry best visualized in 3D as on bottom far right of p. 52.</a:t>
            </a:r>
          </a:p>
          <a:p>
            <a:r>
              <a:rPr lang="en-US" sz="2200" dirty="0">
                <a:effectLst/>
                <a:latin typeface="Lucida Grande"/>
                <a:ea typeface="Lucida Grande"/>
                <a:cs typeface="Lucida Grande"/>
                <a:sym typeface="Lucida Grande"/>
              </a:rPr>
              <a:t>  </a:t>
            </a:r>
            <a:r>
              <a:rPr lang="en-US" sz="2200" dirty="0">
                <a:effectLst/>
                <a:latin typeface="Lucida Grande"/>
                <a:ea typeface="Lucida Grande"/>
                <a:cs typeface="Lucida Grande"/>
                <a:sym typeface="Symbol" pitchFamily="2" charset="2"/>
              </a:rPr>
              <a:t></a:t>
            </a:r>
            <a:r>
              <a:rPr lang="en-US" sz="2200" dirty="0">
                <a:effectLst/>
                <a:latin typeface="Lucida Grande"/>
                <a:ea typeface="Lucida Grande"/>
                <a:cs typeface="Lucida Grande"/>
                <a:sym typeface="Lucida Grande"/>
              </a:rPr>
              <a:t> it is a covalent bond with an energy about 200 kJ/mole.  This is only about half the strength of a typical carbon-carbon covalent bond, but much stronger than H-bonding or electrostatic interactions.</a:t>
            </a:r>
          </a:p>
          <a:p>
            <a:r>
              <a:rPr lang="en-US" sz="2200" dirty="0">
                <a:effectLst/>
                <a:latin typeface="Lucida Grande"/>
                <a:ea typeface="Lucida Grande"/>
                <a:cs typeface="Lucida Grande"/>
                <a:sym typeface="Lucida Grande"/>
              </a:rPr>
              <a:t> </a:t>
            </a:r>
          </a:p>
          <a:p>
            <a:endParaRPr lang="en-US" dirty="0"/>
          </a:p>
        </p:txBody>
      </p:sp>
    </p:spTree>
    <p:extLst>
      <p:ext uri="{BB962C8B-B14F-4D97-AF65-F5344CB8AC3E}">
        <p14:creationId xmlns:p14="http://schemas.microsoft.com/office/powerpoint/2010/main" val="5998578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200" b="1" dirty="0">
                <a:effectLst/>
                <a:latin typeface="Lucida Grande"/>
                <a:ea typeface="Lucida Grande"/>
                <a:cs typeface="Lucida Grande"/>
                <a:sym typeface="Lucida Grande"/>
              </a:rPr>
              <a:t>4.  Weak and Weakly Directional Interactions</a:t>
            </a:r>
            <a:r>
              <a:rPr lang="en-US" sz="2200" dirty="0">
                <a:effectLst/>
                <a:latin typeface="Lucida Grande"/>
                <a:ea typeface="Lucida Grande"/>
                <a:cs typeface="Lucida Grande"/>
                <a:sym typeface="Lucida Grande"/>
              </a:rPr>
              <a:t>: p. 53</a:t>
            </a:r>
          </a:p>
          <a:p>
            <a:r>
              <a:rPr lang="en-US" sz="2200" dirty="0">
                <a:effectLst/>
                <a:latin typeface="Lucida Grande"/>
                <a:ea typeface="Lucida Grande"/>
                <a:cs typeface="Lucida Grande"/>
                <a:sym typeface="Lucida Grande"/>
              </a:rPr>
              <a:t>Three types, each worth </a:t>
            </a:r>
            <a:r>
              <a:rPr lang="en-US" sz="2200" dirty="0" err="1">
                <a:effectLst/>
                <a:latin typeface="Lucida Grande"/>
                <a:ea typeface="Lucida Grande"/>
                <a:cs typeface="Lucida Grande"/>
                <a:sym typeface="Lucida Grande"/>
              </a:rPr>
              <a:t>approx</a:t>
            </a:r>
            <a:r>
              <a:rPr lang="en-US" sz="2200" dirty="0">
                <a:effectLst/>
                <a:latin typeface="Lucida Grande"/>
                <a:ea typeface="Lucida Grande"/>
                <a:cs typeface="Lucida Grande"/>
                <a:sym typeface="Lucida Grande"/>
              </a:rPr>
              <a:t> 5-10 kJ/mol:</a:t>
            </a:r>
          </a:p>
          <a:p>
            <a:r>
              <a:rPr lang="en-US" sz="2200" dirty="0">
                <a:effectLst/>
                <a:latin typeface="Lucida Grande"/>
                <a:ea typeface="Lucida Grande"/>
                <a:cs typeface="Lucida Grande"/>
                <a:sym typeface="Lucida Grande"/>
              </a:rPr>
              <a:t> </a:t>
            </a:r>
          </a:p>
          <a:p>
            <a:r>
              <a:rPr lang="en-US" sz="2200" dirty="0">
                <a:effectLst/>
                <a:latin typeface="Lucida Grande"/>
                <a:ea typeface="Lucida Grande"/>
                <a:cs typeface="Lucida Grande"/>
                <a:sym typeface="Lucida Grande"/>
              </a:rPr>
              <a:t>a.  DIPOLE-DIPOLE:  such as between two carbonyl groups.  The partially negative oxygen is attracted to the partially positive carbon of another carbonyl group.  It is </a:t>
            </a:r>
            <a:r>
              <a:rPr lang="en-US" sz="2200" b="1" dirty="0">
                <a:effectLst/>
                <a:latin typeface="Lucida Grande"/>
                <a:ea typeface="Lucida Grande"/>
                <a:cs typeface="Lucida Grande"/>
                <a:sym typeface="Lucida Grande"/>
              </a:rPr>
              <a:t>weakly</a:t>
            </a:r>
            <a:r>
              <a:rPr lang="en-US" sz="2200" dirty="0">
                <a:effectLst/>
                <a:latin typeface="Lucida Grande"/>
                <a:ea typeface="Lucida Grande"/>
                <a:cs typeface="Lucida Grande"/>
                <a:sym typeface="Lucida Grande"/>
              </a:rPr>
              <a:t> directional (see lecture demo).</a:t>
            </a:r>
          </a:p>
          <a:p>
            <a:r>
              <a:rPr lang="en-US" sz="2200" dirty="0">
                <a:effectLst/>
                <a:latin typeface="Lucida Grande"/>
                <a:ea typeface="Lucida Grande"/>
                <a:cs typeface="Lucida Grande"/>
                <a:sym typeface="Lucida Grande"/>
              </a:rPr>
              <a:t> </a:t>
            </a:r>
          </a:p>
          <a:p>
            <a:r>
              <a:rPr lang="en-US" sz="2200" dirty="0">
                <a:effectLst/>
                <a:latin typeface="Lucida Grande"/>
                <a:ea typeface="Lucida Grande"/>
                <a:cs typeface="Lucida Grande"/>
                <a:sym typeface="Lucida Grande"/>
              </a:rPr>
              <a:t>b.  ION-DIPOLE:  such as between a carbonyl group and a NH3+ group.  It is also weakly directional.</a:t>
            </a:r>
          </a:p>
          <a:p>
            <a:r>
              <a:rPr lang="en-US" sz="2200" dirty="0">
                <a:effectLst/>
                <a:latin typeface="Lucida Grande"/>
                <a:ea typeface="Lucida Grande"/>
                <a:cs typeface="Lucida Grande"/>
                <a:sym typeface="Lucida Grande"/>
              </a:rPr>
              <a:t> </a:t>
            </a:r>
          </a:p>
          <a:p>
            <a:r>
              <a:rPr lang="en-US" sz="2200" dirty="0">
                <a:effectLst/>
                <a:latin typeface="Lucida Grande"/>
                <a:ea typeface="Lucida Grande"/>
                <a:cs typeface="Lucida Grande"/>
                <a:sym typeface="Lucida Grande"/>
              </a:rPr>
              <a:t>c.  The third such interaction goes by three different names:</a:t>
            </a:r>
          </a:p>
          <a:p>
            <a:r>
              <a:rPr lang="en-US" sz="2200" dirty="0">
                <a:effectLst/>
                <a:latin typeface="Lucida Grande"/>
                <a:ea typeface="Lucida Grande"/>
                <a:cs typeface="Lucida Grande"/>
                <a:sym typeface="Lucida Grande"/>
              </a:rPr>
              <a:t>-- transient dipoles</a:t>
            </a:r>
          </a:p>
          <a:p>
            <a:r>
              <a:rPr lang="en-US" sz="2200" dirty="0">
                <a:effectLst/>
                <a:latin typeface="Lucida Grande"/>
                <a:ea typeface="Lucida Grande"/>
                <a:cs typeface="Lucida Grande"/>
                <a:sym typeface="Lucida Grande"/>
              </a:rPr>
              <a:t>-- van der Waals forces</a:t>
            </a:r>
          </a:p>
          <a:p>
            <a:r>
              <a:rPr lang="en-US" sz="2200" dirty="0">
                <a:effectLst/>
                <a:latin typeface="Lucida Grande"/>
                <a:ea typeface="Lucida Grande"/>
                <a:cs typeface="Lucida Grande"/>
                <a:sym typeface="Lucida Grande"/>
              </a:rPr>
              <a:t>-- London dispersion force</a:t>
            </a:r>
          </a:p>
          <a:p>
            <a:r>
              <a:rPr lang="en-US" sz="2200" dirty="0">
                <a:effectLst/>
                <a:latin typeface="Lucida Grande"/>
                <a:ea typeface="Lucida Grande"/>
                <a:cs typeface="Lucida Grande"/>
                <a:sym typeface="Lucida Grande"/>
              </a:rPr>
              <a:t> </a:t>
            </a:r>
          </a:p>
          <a:p>
            <a:r>
              <a:rPr lang="en-US" sz="2200" dirty="0">
                <a:effectLst/>
                <a:latin typeface="Lucida Grande"/>
                <a:ea typeface="Lucida Grande"/>
                <a:cs typeface="Lucida Grande"/>
                <a:sym typeface="Lucida Grande"/>
              </a:rPr>
              <a:t>This interaction arises from the </a:t>
            </a:r>
            <a:r>
              <a:rPr lang="en-US" sz="2200" b="1" dirty="0">
                <a:effectLst/>
                <a:latin typeface="Lucida Grande"/>
                <a:ea typeface="Lucida Grande"/>
                <a:cs typeface="Lucida Grande"/>
                <a:sym typeface="Lucida Grande"/>
              </a:rPr>
              <a:t>transient fluctuation</a:t>
            </a:r>
            <a:r>
              <a:rPr lang="en-US" sz="2200" dirty="0">
                <a:effectLst/>
                <a:latin typeface="Lucida Grande"/>
                <a:ea typeface="Lucida Grande"/>
                <a:cs typeface="Lucida Grande"/>
                <a:sym typeface="Lucida Grande"/>
              </a:rPr>
              <a:t> of the charge distribution of the electron cloud.  Fluctuation occurs rapidly, and since neighboring electron clouds deform "in concert", there is a </a:t>
            </a:r>
            <a:r>
              <a:rPr lang="en-US" sz="2200" i="1" dirty="0">
                <a:effectLst/>
                <a:latin typeface="Lucida Grande"/>
                <a:ea typeface="Lucida Grande"/>
                <a:cs typeface="Lucida Grande"/>
                <a:sym typeface="Lucida Grande"/>
              </a:rPr>
              <a:t>net attraction</a:t>
            </a:r>
            <a:r>
              <a:rPr lang="en-US" sz="2200" dirty="0">
                <a:effectLst/>
                <a:latin typeface="Lucida Grande"/>
                <a:ea typeface="Lucida Grande"/>
                <a:cs typeface="Lucida Grande"/>
                <a:sym typeface="Lucida Grande"/>
              </a:rPr>
              <a:t>.  For purely aliphatic hydrocarbons, this is the ONLY attractive interaction!  For other parts of the protein including polar atoms, these transient dipoles also occur, but are typically weaker than other interactions.  The transient dipoles strongly favor close packing, with no space between the atoms.</a:t>
            </a:r>
          </a:p>
          <a:p>
            <a:endParaRPr lang="en-US" dirty="0"/>
          </a:p>
          <a:p>
            <a:r>
              <a:rPr lang="en-US" sz="2200" dirty="0">
                <a:effectLst/>
                <a:latin typeface="Lucida Grande"/>
                <a:ea typeface="Lucida Grande"/>
                <a:cs typeface="Lucida Grande"/>
                <a:sym typeface="Lucida Grande"/>
              </a:rPr>
              <a:t>5. Ring-stacking:  worth about 10-40 kJ/mol</a:t>
            </a:r>
          </a:p>
          <a:p>
            <a:r>
              <a:rPr lang="en-US" sz="2200" dirty="0">
                <a:effectLst/>
                <a:latin typeface="Lucida Grande"/>
                <a:ea typeface="Lucida Grande"/>
                <a:cs typeface="Lucida Grande"/>
                <a:sym typeface="Lucida Grande"/>
              </a:rPr>
              <a:t>Aromatic rings have a favorable pi electron cloud interaction that results in two aromatic rings stacked face-to-face but slightly staggered, </a:t>
            </a:r>
            <a:r>
              <a:rPr lang="en-US" sz="2200" b="1" dirty="0">
                <a:effectLst/>
                <a:latin typeface="Lucida Grande"/>
                <a:ea typeface="Lucida Grande"/>
                <a:cs typeface="Lucida Grande"/>
                <a:sym typeface="Lucida Grande"/>
              </a:rPr>
              <a:t>or</a:t>
            </a:r>
            <a:r>
              <a:rPr lang="en-US" sz="2200" dirty="0">
                <a:effectLst/>
                <a:latin typeface="Lucida Grande"/>
                <a:ea typeface="Lucida Grande"/>
                <a:cs typeface="Lucida Grande"/>
                <a:sym typeface="Lucida Grande"/>
              </a:rPr>
              <a:t> one ring "on edge" touching the other, as shown on p. 53. </a:t>
            </a:r>
          </a:p>
          <a:p>
            <a:r>
              <a:rPr lang="en-US" sz="2200" dirty="0">
                <a:effectLst/>
                <a:latin typeface="Lucida Grande"/>
                <a:ea typeface="Lucida Grande"/>
                <a:cs typeface="Lucida Grande"/>
                <a:sym typeface="Lucida Grande"/>
              </a:rPr>
              <a:t> </a:t>
            </a:r>
          </a:p>
          <a:p>
            <a:r>
              <a:rPr lang="en-US" sz="2200" dirty="0">
                <a:effectLst/>
                <a:latin typeface="Lucida Grande"/>
                <a:ea typeface="Lucida Grande"/>
                <a:cs typeface="Lucida Grande"/>
                <a:sym typeface="Lucida Grande"/>
              </a:rPr>
              <a:t>6. </a:t>
            </a:r>
            <a:r>
              <a:rPr lang="en-US" sz="2200" b="1" dirty="0">
                <a:effectLst/>
                <a:latin typeface="Lucida Grande"/>
                <a:ea typeface="Lucida Grande"/>
                <a:cs typeface="Lucida Grande"/>
                <a:sym typeface="Lucida Grande"/>
              </a:rPr>
              <a:t>Hydrophobic interactions</a:t>
            </a:r>
            <a:r>
              <a:rPr lang="en-US" sz="2200" dirty="0">
                <a:effectLst/>
                <a:latin typeface="Lucida Grande"/>
                <a:ea typeface="Lucida Grande"/>
                <a:cs typeface="Lucida Grande"/>
                <a:sym typeface="Lucida Grande"/>
              </a:rPr>
              <a:t> in total are the strongest of the interactions that drive 3D folding of the protein, with “individual” hydrophobic interactions being weak, but there are many of these interactions.  All other interactions must be satisfied after the hydrophobic interaction has driven nonpolar AA residues out of water.  It is difficult to give a quantitative measure of the magnitude, since there are a large number of hydrophobic interactions, each of which is weakly favorable.  Even though weak, there are so many nonpolar groups that the </a:t>
            </a:r>
            <a:r>
              <a:rPr lang="en-US" sz="2200" i="1" u="sng" dirty="0">
                <a:effectLst/>
                <a:latin typeface="Lucida Grande"/>
                <a:ea typeface="Lucida Grande"/>
                <a:cs typeface="Lucida Grande"/>
                <a:sym typeface="Lucida Grande"/>
              </a:rPr>
              <a:t>total</a:t>
            </a:r>
            <a:r>
              <a:rPr lang="en-US" sz="2200" dirty="0">
                <a:effectLst/>
                <a:latin typeface="Lucida Grande"/>
                <a:ea typeface="Lucida Grande"/>
                <a:cs typeface="Lucida Grande"/>
                <a:sym typeface="Lucida Grande"/>
              </a:rPr>
              <a:t> interaction is large.</a:t>
            </a:r>
          </a:p>
          <a:p>
            <a:r>
              <a:rPr lang="en-US" sz="2200" dirty="0">
                <a:effectLst/>
                <a:latin typeface="Lucida Grande"/>
                <a:ea typeface="Lucida Grande"/>
                <a:cs typeface="Lucida Grande"/>
                <a:sym typeface="Lucida Grande"/>
              </a:rPr>
              <a:t>  Note that the hydrophobic interaction causes all water-soluble proteins to have the general structure: almost purely nonpolar inside, largely but not completely polar outside.</a:t>
            </a:r>
          </a:p>
          <a:p>
            <a:r>
              <a:rPr lang="en-US" sz="2200" dirty="0">
                <a:effectLst/>
                <a:latin typeface="Lucida Grande"/>
                <a:ea typeface="Lucida Grande"/>
                <a:cs typeface="Lucida Grande"/>
                <a:sym typeface="Lucida Grande"/>
              </a:rPr>
              <a:t>  </a:t>
            </a:r>
            <a:r>
              <a:rPr lang="en-US" sz="2200" b="1" dirty="0">
                <a:effectLst/>
                <a:latin typeface="Lucida Grande"/>
                <a:ea typeface="Lucida Grande"/>
                <a:cs typeface="Lucida Grande"/>
                <a:sym typeface="Lucida Grande"/>
              </a:rPr>
              <a:t>**</a:t>
            </a:r>
            <a:r>
              <a:rPr lang="en-US" sz="2200" dirty="0">
                <a:effectLst/>
                <a:latin typeface="Lucida Grande"/>
                <a:ea typeface="Lucida Grande"/>
                <a:cs typeface="Lucida Grande"/>
                <a:sym typeface="Lucida Grande"/>
              </a:rPr>
              <a:t> But in contrast, the </a:t>
            </a:r>
            <a:r>
              <a:rPr lang="en-US" sz="2200" i="1" dirty="0">
                <a:effectLst/>
                <a:latin typeface="Lucida Grande"/>
                <a:ea typeface="Lucida Grande"/>
                <a:cs typeface="Lucida Grande"/>
                <a:sym typeface="Lucida Grande"/>
              </a:rPr>
              <a:t>membrane proteins</a:t>
            </a:r>
            <a:r>
              <a:rPr lang="en-US" sz="2200" dirty="0">
                <a:effectLst/>
                <a:latin typeface="Lucida Grande"/>
                <a:ea typeface="Lucida Grande"/>
                <a:cs typeface="Lucida Grande"/>
                <a:sym typeface="Lucida Grande"/>
              </a:rPr>
              <a:t> have nonpolar residues on the outside, in contact with the nonpolar interior of the lipid bilayer.</a:t>
            </a:r>
          </a:p>
          <a:p>
            <a:r>
              <a:rPr lang="en-US" sz="2200" dirty="0">
                <a:effectLst/>
                <a:latin typeface="Lucida Grande"/>
                <a:ea typeface="Lucida Grande"/>
                <a:cs typeface="Lucida Grande"/>
                <a:sym typeface="Lucida Grande"/>
              </a:rPr>
              <a:t>  Membrane proteins have other different “rules”.  For example, often </a:t>
            </a:r>
            <a:r>
              <a:rPr lang="en-US" sz="2200" dirty="0" err="1">
                <a:effectLst/>
                <a:latin typeface="Lucida Grande"/>
                <a:ea typeface="Lucida Grande"/>
                <a:cs typeface="Lucida Grande"/>
                <a:sym typeface="Lucida Grande"/>
              </a:rPr>
              <a:t>Trp</a:t>
            </a:r>
            <a:r>
              <a:rPr lang="en-US" sz="2200" dirty="0">
                <a:effectLst/>
                <a:latin typeface="Lucida Grande"/>
                <a:ea typeface="Lucida Grande"/>
                <a:cs typeface="Lucida Grande"/>
                <a:sym typeface="Lucida Grande"/>
              </a:rPr>
              <a:t> residues are found at the water/membrane interface.  </a:t>
            </a:r>
            <a:r>
              <a:rPr lang="en-US" sz="2200" dirty="0" err="1">
                <a:effectLst/>
                <a:latin typeface="Lucida Grande"/>
                <a:ea typeface="Lucida Grande"/>
                <a:cs typeface="Lucida Grande"/>
                <a:sym typeface="Lucida Grande"/>
              </a:rPr>
              <a:t>Trp</a:t>
            </a:r>
            <a:r>
              <a:rPr lang="en-US" sz="2200" dirty="0">
                <a:effectLst/>
                <a:latin typeface="Lucida Grande"/>
                <a:ea typeface="Lucida Grande"/>
                <a:cs typeface="Lucida Grande"/>
                <a:sym typeface="Lucida Grande"/>
              </a:rPr>
              <a:t> has some polar and H-bonding character, along with some nonpolar character, and therefore it interacts well at the interface where membrane meets water.</a:t>
            </a:r>
          </a:p>
          <a:p>
            <a:endParaRPr lang="en-US" dirty="0"/>
          </a:p>
        </p:txBody>
      </p:sp>
    </p:spTree>
    <p:extLst>
      <p:ext uri="{BB962C8B-B14F-4D97-AF65-F5344CB8AC3E}">
        <p14:creationId xmlns:p14="http://schemas.microsoft.com/office/powerpoint/2010/main" val="1669881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584200" eaLnBrk="1" fontAlgn="auto" latinLnBrk="0" hangingPunct="1">
              <a:lnSpc>
                <a:spcPct val="100000"/>
              </a:lnSpc>
              <a:spcBef>
                <a:spcPts val="0"/>
              </a:spcBef>
              <a:spcAft>
                <a:spcPts val="0"/>
              </a:spcAft>
              <a:buClrTx/>
              <a:buSzTx/>
              <a:buFontTx/>
              <a:buNone/>
              <a:tabLst/>
              <a:defRPr/>
            </a:pPr>
            <a:r>
              <a:rPr lang="en-US" sz="2200" dirty="0">
                <a:effectLst/>
                <a:latin typeface="Lucida Grande"/>
                <a:ea typeface="Lucida Grande"/>
                <a:cs typeface="Lucida Grande"/>
                <a:sym typeface="Lucida Grande"/>
              </a:rPr>
              <a:t>We have now discussed one of the keys to understanding protein folding, or the protein "construction rules": the six types of interactions (pp 52-53).</a:t>
            </a:r>
          </a:p>
          <a:p>
            <a:pPr marL="0" marR="0" lvl="0" indent="0" defTabSz="584200" eaLnBrk="1" fontAlgn="auto" latinLnBrk="0" hangingPunct="1">
              <a:lnSpc>
                <a:spcPct val="100000"/>
              </a:lnSpc>
              <a:spcBef>
                <a:spcPts val="0"/>
              </a:spcBef>
              <a:spcAft>
                <a:spcPts val="0"/>
              </a:spcAft>
              <a:buClrTx/>
              <a:buSzTx/>
              <a:buFontTx/>
              <a:buNone/>
              <a:tabLst/>
              <a:defRPr/>
            </a:pPr>
            <a:endParaRPr lang="en-US" sz="2200" dirty="0">
              <a:effectLst/>
              <a:latin typeface="Lucida Grande"/>
              <a:ea typeface="Lucida Grande"/>
              <a:cs typeface="Lucida Grande"/>
              <a:sym typeface="Lucida Grande"/>
            </a:endParaRPr>
          </a:p>
          <a:p>
            <a:pPr marL="0" marR="0" lvl="0" indent="0" defTabSz="584200" eaLnBrk="1" fontAlgn="auto" latinLnBrk="0" hangingPunct="1">
              <a:lnSpc>
                <a:spcPct val="100000"/>
              </a:lnSpc>
              <a:spcBef>
                <a:spcPts val="0"/>
              </a:spcBef>
              <a:spcAft>
                <a:spcPts val="0"/>
              </a:spcAft>
              <a:buClrTx/>
              <a:buSzTx/>
              <a:buFontTx/>
              <a:buNone/>
              <a:tabLst/>
              <a:defRPr/>
            </a:pPr>
            <a:r>
              <a:rPr lang="en-US" sz="2200" dirty="0">
                <a:effectLst/>
                <a:latin typeface="Lucida Grande"/>
                <a:ea typeface="Lucida Grande"/>
                <a:cs typeface="Lucida Grande"/>
                <a:sym typeface="Lucida Grande"/>
              </a:rPr>
              <a:t>These interactions, combined with the geometric constraints created by the peptide bond and the actual size of atoms (as defined by their electron cloud distribution), result in specific types of structures that we find in proteins: the alpha helix, beta sheet, different types of turns (including one that forms the collagen helix!).  </a:t>
            </a:r>
          </a:p>
          <a:p>
            <a:endParaRPr lang="en-US" dirty="0"/>
          </a:p>
        </p:txBody>
      </p:sp>
    </p:spTree>
    <p:extLst>
      <p:ext uri="{BB962C8B-B14F-4D97-AF65-F5344CB8AC3E}">
        <p14:creationId xmlns:p14="http://schemas.microsoft.com/office/powerpoint/2010/main" val="34167774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10" name="Shape 10"/>
          <p:cNvSpPr>
            <a:spLocks noGrp="1"/>
          </p:cNvSpPr>
          <p:nvPr>
            <p:ph type="title"/>
          </p:nvPr>
        </p:nvSpPr>
        <p:spPr>
          <a:prstGeom prst="rect">
            <a:avLst/>
          </a:prstGeom>
        </p:spPr>
        <p:txBody>
          <a:bodyPr lIns="0" tIns="0" rIns="0" bIns="0"/>
          <a:lstStyle>
            <a:lvl1pPr>
              <a:defRPr b="0" i="0">
                <a:latin typeface="Gill Sans Regular" charset="0"/>
                <a:ea typeface="Gill Sans Regular" charset="0"/>
                <a:cs typeface="Gill Sans Regular" charset="0"/>
                <a:sym typeface="Helvetica"/>
              </a:defRPr>
            </a:lvl1pPr>
          </a:lstStyle>
          <a:p>
            <a:pPr lvl="0">
              <a:defRPr sz="1800">
                <a:uFillTx/>
              </a:defRPr>
            </a:pPr>
            <a:r>
              <a:rPr sz="4400" dirty="0">
                <a:uFill>
                  <a:solidFill/>
                </a:uFill>
              </a:rPr>
              <a:t>Title Text</a:t>
            </a:r>
          </a:p>
        </p:txBody>
      </p:sp>
      <p:sp>
        <p:nvSpPr>
          <p:cNvPr id="11" name="Shape 11"/>
          <p:cNvSpPr>
            <a:spLocks noGrp="1"/>
          </p:cNvSpPr>
          <p:nvPr>
            <p:ph type="body" idx="1"/>
          </p:nvPr>
        </p:nvSpPr>
        <p:spPr>
          <a:prstGeom prst="rect">
            <a:avLst/>
          </a:prstGeom>
        </p:spPr>
        <p:txBody>
          <a:bodyPr/>
          <a:lstStyle>
            <a:lvl1pPr>
              <a:defRPr b="0" i="0">
                <a:latin typeface="Gill Sans Regular" charset="0"/>
                <a:ea typeface="Gill Sans Regular" charset="0"/>
                <a:cs typeface="Gill Sans Regular" charset="0"/>
                <a:sym typeface="Helvetica"/>
              </a:defRPr>
            </a:lvl1pPr>
            <a:lvl2pPr marL="783590" indent="-285750">
              <a:spcBef>
                <a:spcPts val="600"/>
              </a:spcBef>
              <a:buChar char="–"/>
              <a:defRPr sz="2800" b="0" i="0">
                <a:latin typeface="Gill Sans Regular" charset="0"/>
                <a:ea typeface="Gill Sans Regular" charset="0"/>
                <a:cs typeface="Gill Sans Regular" charset="0"/>
                <a:sym typeface="Helvetica"/>
              </a:defRPr>
            </a:lvl2pPr>
            <a:lvl3pPr marL="1183639" indent="-228600">
              <a:spcBef>
                <a:spcPts val="500"/>
              </a:spcBef>
              <a:defRPr sz="2400" b="0" i="0">
                <a:latin typeface="Gill Sans Regular" charset="0"/>
                <a:ea typeface="Gill Sans Regular" charset="0"/>
                <a:cs typeface="Gill Sans Regular" charset="0"/>
                <a:sym typeface="Helvetica"/>
              </a:defRPr>
            </a:lvl3pPr>
            <a:lvl4pPr marL="1640839" indent="-228600">
              <a:spcBef>
                <a:spcPts val="400"/>
              </a:spcBef>
              <a:buChar char="–"/>
              <a:defRPr sz="2000" b="0" i="0">
                <a:latin typeface="Gill Sans Regular" charset="0"/>
                <a:ea typeface="Gill Sans Regular" charset="0"/>
                <a:cs typeface="Gill Sans Regular" charset="0"/>
                <a:sym typeface="Helvetica"/>
              </a:defRPr>
            </a:lvl4pPr>
            <a:lvl5pPr marL="2098039" indent="-228600">
              <a:spcBef>
                <a:spcPts val="400"/>
              </a:spcBef>
              <a:buChar char="»"/>
              <a:defRPr sz="2000" b="0" i="0">
                <a:latin typeface="Gill Sans Regular" charset="0"/>
                <a:ea typeface="Gill Sans Regular" charset="0"/>
                <a:cs typeface="Gill Sans Regular" charset="0"/>
                <a:sym typeface="Helvetica"/>
              </a:defRPr>
            </a:lvl5pPr>
          </a:lstStyle>
          <a:p>
            <a:pPr lvl="0">
              <a:defRPr sz="1800">
                <a:uFillTx/>
              </a:defRPr>
            </a:pPr>
            <a:r>
              <a:rPr sz="3200" dirty="0">
                <a:uFill>
                  <a:solidFill/>
                </a:uFill>
              </a:rPr>
              <a:t>Body Level One</a:t>
            </a:r>
          </a:p>
          <a:p>
            <a:pPr lvl="1">
              <a:defRPr sz="1800">
                <a:uFillTx/>
              </a:defRPr>
            </a:pPr>
            <a:r>
              <a:rPr sz="2800" dirty="0">
                <a:uFill>
                  <a:solidFill/>
                </a:uFill>
              </a:rPr>
              <a:t>Body Level Two</a:t>
            </a:r>
          </a:p>
          <a:p>
            <a:pPr lvl="2">
              <a:defRPr sz="1800">
                <a:uFillTx/>
              </a:defRPr>
            </a:pPr>
            <a:r>
              <a:rPr sz="2400" dirty="0">
                <a:uFill>
                  <a:solidFill/>
                </a:uFill>
              </a:rPr>
              <a:t>Body Level Three</a:t>
            </a:r>
          </a:p>
          <a:p>
            <a:pPr lvl="3">
              <a:defRPr sz="1800">
                <a:uFillTx/>
              </a:defRPr>
            </a:pPr>
            <a:r>
              <a:rPr sz="2000" dirty="0">
                <a:uFill>
                  <a:solidFill/>
                </a:uFill>
              </a:rPr>
              <a:t>Body Level Four</a:t>
            </a:r>
          </a:p>
          <a:p>
            <a:pPr lvl="4">
              <a:defRPr sz="1800">
                <a:uFillTx/>
              </a:defRPr>
            </a:pPr>
            <a:r>
              <a:rPr sz="2000" dirty="0">
                <a:uFill>
                  <a:solidFill/>
                </a:uFill>
              </a:rPr>
              <a:t>Body Level Five</a:t>
            </a:r>
          </a:p>
        </p:txBody>
      </p:sp>
      <p:sp>
        <p:nvSpPr>
          <p:cNvPr id="12" name="Shape 12"/>
          <p:cNvSpPr>
            <a:spLocks noGrp="1"/>
          </p:cNvSpPr>
          <p:nvPr>
            <p:ph type="sldNum" sz="quarter" idx="2"/>
          </p:nvPr>
        </p:nvSpPr>
        <p:spPr>
          <a:xfrm>
            <a:off x="7397497" y="6248400"/>
            <a:ext cx="216406" cy="215444"/>
          </a:xfrm>
          <a:prstGeom prst="rect">
            <a:avLst/>
          </a:prstGeom>
        </p:spPr>
        <p:txBody>
          <a:bodyPr/>
          <a:lstStyle>
            <a:lvl1pPr>
              <a:defRPr b="0" i="0">
                <a:latin typeface="Gill Sans Regular" charset="0"/>
                <a:ea typeface="Gill Sans Regular" charset="0"/>
                <a:cs typeface="Gill Sans Regular" charset="0"/>
                <a:sym typeface="Helvetica"/>
              </a:defRPr>
            </a:lvl1pPr>
          </a:lstStyle>
          <a:p>
            <a:fld id="{86CB4B4D-7CA3-9044-876B-883B54F8677D}" type="slidenum">
              <a:rPr lang="uk-UA" smtClean="0"/>
              <a:pPr/>
              <a:t>‹#›</a:t>
            </a:fld>
            <a:endParaRPr lang="uk-UA" dirty="0"/>
          </a:p>
        </p:txBody>
      </p:sp>
    </p:spTree>
  </p:cSld>
  <p:clrMapOvr>
    <a:masterClrMapping/>
  </p:clrMapOvr>
  <p:transition spd="med" advClick="0" advTm="0"/>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hape 2"/>
          <p:cNvSpPr>
            <a:spLocks noGrp="1"/>
          </p:cNvSpPr>
          <p:nvPr>
            <p:ph type="title"/>
          </p:nvPr>
        </p:nvSpPr>
        <p:spPr>
          <a:xfrm>
            <a:off x="685800" y="381000"/>
            <a:ext cx="7772400" cy="16002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lstStyle/>
          <a:p>
            <a:pPr lvl="0">
              <a:defRPr sz="1800">
                <a:uFillTx/>
              </a:defRPr>
            </a:pPr>
            <a:r>
              <a:rPr sz="4400">
                <a:uFill>
                  <a:solidFill/>
                </a:uFill>
              </a:rPr>
              <a:t>Title Text</a:t>
            </a:r>
          </a:p>
        </p:txBody>
      </p:sp>
      <p:sp>
        <p:nvSpPr>
          <p:cNvPr id="3" name="Shape 3"/>
          <p:cNvSpPr>
            <a:spLocks noGrp="1"/>
          </p:cNvSpPr>
          <p:nvPr>
            <p:ph type="body" idx="1"/>
          </p:nvPr>
        </p:nvSpPr>
        <p:spPr>
          <a:xfrm>
            <a:off x="685800" y="1981200"/>
            <a:ext cx="7772400" cy="48768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lvl2pPr marL="783590" indent="-285750">
              <a:spcBef>
                <a:spcPts val="600"/>
              </a:spcBef>
              <a:buChar char="–"/>
              <a:defRPr sz="2800"/>
            </a:lvl2pPr>
            <a:lvl3pPr marL="1183639" indent="-228600">
              <a:spcBef>
                <a:spcPts val="500"/>
              </a:spcBef>
              <a:defRPr sz="2400"/>
            </a:lvl3pPr>
            <a:lvl4pPr marL="1640839" indent="-228600">
              <a:spcBef>
                <a:spcPts val="400"/>
              </a:spcBef>
              <a:buChar char="–"/>
              <a:defRPr sz="2000"/>
            </a:lvl4pPr>
            <a:lvl5pPr marL="2098039" indent="-228600">
              <a:spcBef>
                <a:spcPts val="400"/>
              </a:spcBef>
              <a:buChar char="»"/>
              <a:defRPr sz="2000"/>
            </a:lvl5pPr>
          </a:lstStyle>
          <a:p>
            <a:pPr lvl="0">
              <a:defRPr sz="1800">
                <a:uFillTx/>
              </a:defRPr>
            </a:pPr>
            <a:r>
              <a:rPr sz="3200">
                <a:uFill>
                  <a:solidFill/>
                </a:uFill>
              </a:rPr>
              <a:t>Body Level One</a:t>
            </a:r>
          </a:p>
          <a:p>
            <a:pPr lvl="1">
              <a:defRPr sz="1800">
                <a:uFillTx/>
              </a:defRPr>
            </a:pPr>
            <a:r>
              <a:rPr sz="2800">
                <a:uFill>
                  <a:solidFill/>
                </a:uFill>
              </a:rPr>
              <a:t>Body Level Two</a:t>
            </a:r>
          </a:p>
          <a:p>
            <a:pPr lvl="2">
              <a:defRPr sz="1800">
                <a:uFillTx/>
              </a:defRPr>
            </a:pPr>
            <a:r>
              <a:rPr sz="2400">
                <a:uFill>
                  <a:solidFill/>
                </a:uFill>
              </a:rPr>
              <a:t>Body Level Three</a:t>
            </a:r>
          </a:p>
          <a:p>
            <a:pPr lvl="3">
              <a:defRPr sz="1800">
                <a:uFillTx/>
              </a:defRPr>
            </a:pPr>
            <a:r>
              <a:rPr sz="2000">
                <a:uFill>
                  <a:solidFill/>
                </a:uFill>
              </a:rPr>
              <a:t>Body Level Four</a:t>
            </a:r>
          </a:p>
          <a:p>
            <a:pPr lvl="4">
              <a:defRPr sz="1800">
                <a:uFillTx/>
              </a:defRPr>
            </a:pPr>
            <a:r>
              <a:rPr sz="2000">
                <a:uFill>
                  <a:solidFill/>
                </a:uFill>
              </a:rPr>
              <a:t>Body Level Five</a:t>
            </a:r>
          </a:p>
        </p:txBody>
      </p:sp>
      <p:sp>
        <p:nvSpPr>
          <p:cNvPr id="4" name="Shape 4"/>
          <p:cNvSpPr>
            <a:spLocks noGrp="1"/>
          </p:cNvSpPr>
          <p:nvPr>
            <p:ph type="sldNum" sz="quarter" idx="2"/>
          </p:nvPr>
        </p:nvSpPr>
        <p:spPr>
          <a:xfrm>
            <a:off x="7359650" y="6248400"/>
            <a:ext cx="292100" cy="330200"/>
          </a:xfrm>
          <a:prstGeom prst="rect">
            <a:avLst/>
          </a:prstGeom>
          <a:ln w="12700">
            <a:miter lim="400000"/>
          </a:ln>
        </p:spPr>
        <p:txBody>
          <a:bodyPr wrap="none" lIns="0" tIns="0" rIns="0" bIns="0">
            <a:spAutoFit/>
          </a:bodyPr>
          <a:lstStyle>
            <a:lvl1pPr marL="0" marR="0" algn="ctr" defTabSz="584200">
              <a:defRPr sz="1400" b="0">
                <a:latin typeface="+mn-lt"/>
                <a:ea typeface="+mn-ea"/>
                <a:cs typeface="+mn-cs"/>
                <a:sym typeface="Times Roman"/>
              </a:defRPr>
            </a:lvl1pPr>
          </a:lstStyle>
          <a:p>
            <a:pPr lvl="0"/>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50" r:id="rId1"/>
  </p:sldLayoutIdLst>
  <p:transition spd="med"/>
  <p:txStyles>
    <p:titleStyle>
      <a:lvl1pPr marL="40639" marR="40639" algn="ctr">
        <a:defRPr sz="4400">
          <a:uFill>
            <a:solidFill/>
          </a:uFill>
          <a:latin typeface="+mn-lt"/>
          <a:ea typeface="+mn-ea"/>
          <a:cs typeface="+mn-cs"/>
          <a:sym typeface="Times Roman"/>
        </a:defRPr>
      </a:lvl1pPr>
      <a:lvl2pPr marL="40639" marR="40639" indent="228600" algn="ctr">
        <a:defRPr sz="4400">
          <a:uFill>
            <a:solidFill/>
          </a:uFill>
          <a:latin typeface="+mn-lt"/>
          <a:ea typeface="+mn-ea"/>
          <a:cs typeface="+mn-cs"/>
          <a:sym typeface="Times Roman"/>
        </a:defRPr>
      </a:lvl2pPr>
      <a:lvl3pPr marL="40639" marR="40639" indent="457200" algn="ctr">
        <a:defRPr sz="4400">
          <a:uFill>
            <a:solidFill/>
          </a:uFill>
          <a:latin typeface="+mn-lt"/>
          <a:ea typeface="+mn-ea"/>
          <a:cs typeface="+mn-cs"/>
          <a:sym typeface="Times Roman"/>
        </a:defRPr>
      </a:lvl3pPr>
      <a:lvl4pPr marL="40639" marR="40639" indent="685800" algn="ctr">
        <a:defRPr sz="4400">
          <a:uFill>
            <a:solidFill/>
          </a:uFill>
          <a:latin typeface="+mn-lt"/>
          <a:ea typeface="+mn-ea"/>
          <a:cs typeface="+mn-cs"/>
          <a:sym typeface="Times Roman"/>
        </a:defRPr>
      </a:lvl4pPr>
      <a:lvl5pPr marL="40639" marR="40639" indent="914400" algn="ctr">
        <a:defRPr sz="4400">
          <a:uFill>
            <a:solidFill/>
          </a:uFill>
          <a:latin typeface="+mn-lt"/>
          <a:ea typeface="+mn-ea"/>
          <a:cs typeface="+mn-cs"/>
          <a:sym typeface="Times Roman"/>
        </a:defRPr>
      </a:lvl5pPr>
      <a:lvl6pPr marL="40639" marR="40639" indent="1143000" algn="ctr">
        <a:defRPr sz="4400">
          <a:uFill>
            <a:solidFill/>
          </a:uFill>
          <a:latin typeface="+mn-lt"/>
          <a:ea typeface="+mn-ea"/>
          <a:cs typeface="+mn-cs"/>
          <a:sym typeface="Times Roman"/>
        </a:defRPr>
      </a:lvl6pPr>
      <a:lvl7pPr marL="40639" marR="40639" indent="1371600" algn="ctr">
        <a:defRPr sz="4400">
          <a:uFill>
            <a:solidFill/>
          </a:uFill>
          <a:latin typeface="+mn-lt"/>
          <a:ea typeface="+mn-ea"/>
          <a:cs typeface="+mn-cs"/>
          <a:sym typeface="Times Roman"/>
        </a:defRPr>
      </a:lvl7pPr>
      <a:lvl8pPr marL="40639" marR="40639" indent="1600200" algn="ctr">
        <a:defRPr sz="4400">
          <a:uFill>
            <a:solidFill/>
          </a:uFill>
          <a:latin typeface="+mn-lt"/>
          <a:ea typeface="+mn-ea"/>
          <a:cs typeface="+mn-cs"/>
          <a:sym typeface="Times Roman"/>
        </a:defRPr>
      </a:lvl8pPr>
      <a:lvl9pPr marL="40639" marR="40639" indent="1828800" algn="ctr">
        <a:defRPr sz="4400">
          <a:uFill>
            <a:solidFill/>
          </a:uFill>
          <a:latin typeface="+mn-lt"/>
          <a:ea typeface="+mn-ea"/>
          <a:cs typeface="+mn-cs"/>
          <a:sym typeface="Times Roman"/>
        </a:defRPr>
      </a:lvl9pPr>
    </p:titleStyle>
    <p:bodyStyle>
      <a:lvl1pPr marL="383540" marR="40639" indent="-342900">
        <a:spcBef>
          <a:spcPts val="700"/>
        </a:spcBef>
        <a:buSzPct val="100000"/>
        <a:buChar char="•"/>
        <a:defRPr sz="3200">
          <a:uFill>
            <a:solidFill/>
          </a:uFill>
          <a:latin typeface="+mn-lt"/>
          <a:ea typeface="+mn-ea"/>
          <a:cs typeface="+mn-cs"/>
          <a:sym typeface="Times Roman"/>
        </a:defRPr>
      </a:lvl1pPr>
      <a:lvl2pPr marL="824411" marR="40639" indent="-326571">
        <a:spcBef>
          <a:spcPts val="700"/>
        </a:spcBef>
        <a:buSzPct val="100000"/>
        <a:buChar char="•"/>
        <a:defRPr sz="3200">
          <a:uFill>
            <a:solidFill/>
          </a:uFill>
          <a:latin typeface="+mn-lt"/>
          <a:ea typeface="+mn-ea"/>
          <a:cs typeface="+mn-cs"/>
          <a:sym typeface="Times Roman"/>
        </a:defRPr>
      </a:lvl2pPr>
      <a:lvl3pPr marL="1259839" marR="40639" indent="-304800">
        <a:spcBef>
          <a:spcPts val="700"/>
        </a:spcBef>
        <a:buSzPct val="100000"/>
        <a:buChar char="•"/>
        <a:defRPr sz="3200">
          <a:uFill>
            <a:solidFill/>
          </a:uFill>
          <a:latin typeface="+mn-lt"/>
          <a:ea typeface="+mn-ea"/>
          <a:cs typeface="+mn-cs"/>
          <a:sym typeface="Times Roman"/>
        </a:defRPr>
      </a:lvl3pPr>
      <a:lvl4pPr marL="1778000" marR="40639" indent="-365760">
        <a:spcBef>
          <a:spcPts val="700"/>
        </a:spcBef>
        <a:buSzPct val="100000"/>
        <a:buChar char="•"/>
        <a:defRPr sz="3200">
          <a:uFill>
            <a:solidFill/>
          </a:uFill>
          <a:latin typeface="+mn-lt"/>
          <a:ea typeface="+mn-ea"/>
          <a:cs typeface="+mn-cs"/>
          <a:sym typeface="Times Roman"/>
        </a:defRPr>
      </a:lvl4pPr>
      <a:lvl5pPr marL="2235200" marR="40639" indent="-365760">
        <a:spcBef>
          <a:spcPts val="700"/>
        </a:spcBef>
        <a:buSzPct val="100000"/>
        <a:buChar char="•"/>
        <a:defRPr sz="3200">
          <a:uFill>
            <a:solidFill/>
          </a:uFill>
          <a:latin typeface="+mn-lt"/>
          <a:ea typeface="+mn-ea"/>
          <a:cs typeface="+mn-cs"/>
          <a:sym typeface="Times Roman"/>
        </a:defRPr>
      </a:lvl5pPr>
      <a:lvl6pPr marL="2235200" marR="40639" indent="-365760">
        <a:spcBef>
          <a:spcPts val="700"/>
        </a:spcBef>
        <a:buSzPct val="100000"/>
        <a:buChar char="•"/>
        <a:defRPr sz="3200">
          <a:uFill>
            <a:solidFill/>
          </a:uFill>
          <a:latin typeface="+mn-lt"/>
          <a:ea typeface="+mn-ea"/>
          <a:cs typeface="+mn-cs"/>
          <a:sym typeface="Times Roman"/>
        </a:defRPr>
      </a:lvl6pPr>
      <a:lvl7pPr marL="2235200" marR="40639" indent="-365760">
        <a:spcBef>
          <a:spcPts val="700"/>
        </a:spcBef>
        <a:buSzPct val="100000"/>
        <a:buChar char="•"/>
        <a:defRPr sz="3200">
          <a:uFill>
            <a:solidFill/>
          </a:uFill>
          <a:latin typeface="+mn-lt"/>
          <a:ea typeface="+mn-ea"/>
          <a:cs typeface="+mn-cs"/>
          <a:sym typeface="Times Roman"/>
        </a:defRPr>
      </a:lvl7pPr>
      <a:lvl8pPr marL="2235200" marR="40639" indent="-365760">
        <a:spcBef>
          <a:spcPts val="700"/>
        </a:spcBef>
        <a:buSzPct val="100000"/>
        <a:buChar char="•"/>
        <a:defRPr sz="3200">
          <a:uFill>
            <a:solidFill/>
          </a:uFill>
          <a:latin typeface="+mn-lt"/>
          <a:ea typeface="+mn-ea"/>
          <a:cs typeface="+mn-cs"/>
          <a:sym typeface="Times Roman"/>
        </a:defRPr>
      </a:lvl8pPr>
      <a:lvl9pPr marL="2235200" marR="40639" indent="-365760">
        <a:spcBef>
          <a:spcPts val="700"/>
        </a:spcBef>
        <a:buSzPct val="100000"/>
        <a:buChar char="•"/>
        <a:defRPr sz="3200">
          <a:uFill>
            <a:solidFill/>
          </a:uFill>
          <a:latin typeface="+mn-lt"/>
          <a:ea typeface="+mn-ea"/>
          <a:cs typeface="+mn-cs"/>
          <a:sym typeface="Times Roman"/>
        </a:defRPr>
      </a:lvl9pPr>
    </p:bodyStyle>
    <p:otherStyle>
      <a:lvl1pPr algn="ctr" defTabSz="584200">
        <a:defRPr sz="1400">
          <a:solidFill>
            <a:schemeClr val="tx1"/>
          </a:solidFill>
          <a:uFill>
            <a:solidFill/>
          </a:uFill>
          <a:latin typeface="+mn-lt"/>
          <a:ea typeface="+mn-ea"/>
          <a:cs typeface="+mn-cs"/>
          <a:sym typeface="Times Roman"/>
        </a:defRPr>
      </a:lvl1pPr>
      <a:lvl2pPr indent="228600" algn="ctr" defTabSz="584200">
        <a:defRPr sz="1400">
          <a:solidFill>
            <a:schemeClr val="tx1"/>
          </a:solidFill>
          <a:uFill>
            <a:solidFill/>
          </a:uFill>
          <a:latin typeface="+mn-lt"/>
          <a:ea typeface="+mn-ea"/>
          <a:cs typeface="+mn-cs"/>
          <a:sym typeface="Times Roman"/>
        </a:defRPr>
      </a:lvl2pPr>
      <a:lvl3pPr indent="457200" algn="ctr" defTabSz="584200">
        <a:defRPr sz="1400">
          <a:solidFill>
            <a:schemeClr val="tx1"/>
          </a:solidFill>
          <a:uFill>
            <a:solidFill/>
          </a:uFill>
          <a:latin typeface="+mn-lt"/>
          <a:ea typeface="+mn-ea"/>
          <a:cs typeface="+mn-cs"/>
          <a:sym typeface="Times Roman"/>
        </a:defRPr>
      </a:lvl3pPr>
      <a:lvl4pPr indent="685800" algn="ctr" defTabSz="584200">
        <a:defRPr sz="1400">
          <a:solidFill>
            <a:schemeClr val="tx1"/>
          </a:solidFill>
          <a:uFill>
            <a:solidFill/>
          </a:uFill>
          <a:latin typeface="+mn-lt"/>
          <a:ea typeface="+mn-ea"/>
          <a:cs typeface="+mn-cs"/>
          <a:sym typeface="Times Roman"/>
        </a:defRPr>
      </a:lvl4pPr>
      <a:lvl5pPr indent="914400" algn="ctr" defTabSz="584200">
        <a:defRPr sz="1400">
          <a:solidFill>
            <a:schemeClr val="tx1"/>
          </a:solidFill>
          <a:uFill>
            <a:solidFill/>
          </a:uFill>
          <a:latin typeface="+mn-lt"/>
          <a:ea typeface="+mn-ea"/>
          <a:cs typeface="+mn-cs"/>
          <a:sym typeface="Times Roman"/>
        </a:defRPr>
      </a:lvl5pPr>
      <a:lvl6pPr indent="1143000" algn="ctr" defTabSz="584200">
        <a:defRPr sz="1400">
          <a:solidFill>
            <a:schemeClr val="tx1"/>
          </a:solidFill>
          <a:uFill>
            <a:solidFill/>
          </a:uFill>
          <a:latin typeface="+mn-lt"/>
          <a:ea typeface="+mn-ea"/>
          <a:cs typeface="+mn-cs"/>
          <a:sym typeface="Times Roman"/>
        </a:defRPr>
      </a:lvl6pPr>
      <a:lvl7pPr indent="1371600" algn="ctr" defTabSz="584200">
        <a:defRPr sz="1400">
          <a:solidFill>
            <a:schemeClr val="tx1"/>
          </a:solidFill>
          <a:uFill>
            <a:solidFill/>
          </a:uFill>
          <a:latin typeface="+mn-lt"/>
          <a:ea typeface="+mn-ea"/>
          <a:cs typeface="+mn-cs"/>
          <a:sym typeface="Times Roman"/>
        </a:defRPr>
      </a:lvl7pPr>
      <a:lvl8pPr indent="1600200" algn="ctr" defTabSz="584200">
        <a:defRPr sz="1400">
          <a:solidFill>
            <a:schemeClr val="tx1"/>
          </a:solidFill>
          <a:uFill>
            <a:solidFill/>
          </a:uFill>
          <a:latin typeface="+mn-lt"/>
          <a:ea typeface="+mn-ea"/>
          <a:cs typeface="+mn-cs"/>
          <a:sym typeface="Times Roman"/>
        </a:defRPr>
      </a:lvl8pPr>
      <a:lvl9pPr indent="1828800" algn="ctr" defTabSz="584200">
        <a:defRPr sz="1400">
          <a:solidFill>
            <a:schemeClr val="tx1"/>
          </a:solidFill>
          <a:uFill>
            <a:solidFill/>
          </a:uFill>
          <a:latin typeface="+mn-lt"/>
          <a:ea typeface="+mn-ea"/>
          <a:cs typeface="+mn-cs"/>
          <a:sym typeface="Times Roman"/>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tiff"/><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20061"/>
            <a:ext cx="9144000" cy="47192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ctr" defTabSz="914400" rtl="0" fontAlgn="auto" latinLnBrk="1" hangingPunct="0">
              <a:lnSpc>
                <a:spcPct val="100000"/>
              </a:lnSpc>
              <a:spcBef>
                <a:spcPts val="0"/>
              </a:spcBef>
              <a:spcAft>
                <a:spcPts val="0"/>
              </a:spcAft>
              <a:buClrTx/>
              <a:buSzTx/>
              <a:buFontTx/>
              <a:buNone/>
              <a:tabLst/>
            </a:pPr>
            <a:r>
              <a:rPr kumimoji="0" lang="en-US" sz="2400" b="0" u="none" strike="noStrike" cap="none" spc="0" normalizeH="0" baseline="0" dirty="0">
                <a:ln>
                  <a:noFill/>
                </a:ln>
                <a:solidFill>
                  <a:srgbClr val="000000"/>
                </a:solidFill>
                <a:effectLst/>
                <a:uFill>
                  <a:solidFill>
                    <a:srgbClr val="000000"/>
                  </a:solidFill>
                </a:uFill>
                <a:latin typeface="Gill Sans" charset="0"/>
                <a:ea typeface="Gill Sans" charset="0"/>
                <a:cs typeface="Gill Sans" charset="0"/>
                <a:sym typeface="Helvetica"/>
              </a:rPr>
              <a:t>Lecture 5</a:t>
            </a:r>
          </a:p>
        </p:txBody>
      </p:sp>
      <p:sp>
        <p:nvSpPr>
          <p:cNvPr id="2" name="TextBox 1">
            <a:extLst>
              <a:ext uri="{FF2B5EF4-FFF2-40B4-BE49-F238E27FC236}">
                <a16:creationId xmlns:a16="http://schemas.microsoft.com/office/drawing/2014/main" id="{8AED06A9-DD36-7840-A94C-36014266C524}"/>
              </a:ext>
            </a:extLst>
          </p:cNvPr>
          <p:cNvSpPr txBox="1"/>
          <p:nvPr/>
        </p:nvSpPr>
        <p:spPr>
          <a:xfrm>
            <a:off x="2443051" y="1118289"/>
            <a:ext cx="4257897" cy="41036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2000"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rPr>
              <a:t>The X-Ray Diffraction Experiment</a:t>
            </a:r>
          </a:p>
        </p:txBody>
      </p:sp>
      <p:sp>
        <p:nvSpPr>
          <p:cNvPr id="5" name="TextBox 4">
            <a:extLst>
              <a:ext uri="{FF2B5EF4-FFF2-40B4-BE49-F238E27FC236}">
                <a16:creationId xmlns:a16="http://schemas.microsoft.com/office/drawing/2014/main" id="{F18FE1C1-8ED9-6D4F-B2E9-A7B91E63D5A4}"/>
              </a:ext>
            </a:extLst>
          </p:cNvPr>
          <p:cNvSpPr txBox="1"/>
          <p:nvPr/>
        </p:nvSpPr>
        <p:spPr>
          <a:xfrm>
            <a:off x="1041223" y="1621333"/>
            <a:ext cx="7061549" cy="41036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2000"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rPr>
              <a:t>The 3d Structure of Myoglobin – what should we notice?</a:t>
            </a:r>
          </a:p>
        </p:txBody>
      </p:sp>
      <p:sp>
        <p:nvSpPr>
          <p:cNvPr id="6" name="TextBox 5">
            <a:extLst>
              <a:ext uri="{FF2B5EF4-FFF2-40B4-BE49-F238E27FC236}">
                <a16:creationId xmlns:a16="http://schemas.microsoft.com/office/drawing/2014/main" id="{97C4F75D-351A-F14D-9A7B-480369903F49}"/>
              </a:ext>
            </a:extLst>
          </p:cNvPr>
          <p:cNvSpPr txBox="1"/>
          <p:nvPr/>
        </p:nvSpPr>
        <p:spPr>
          <a:xfrm>
            <a:off x="1607884" y="2195084"/>
            <a:ext cx="5928226" cy="41036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2000"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rPr>
              <a:t>What are the “construction rules” for proteins?</a:t>
            </a:r>
          </a:p>
        </p:txBody>
      </p:sp>
      <p:sp>
        <p:nvSpPr>
          <p:cNvPr id="3" name="TextBox 2">
            <a:extLst>
              <a:ext uri="{FF2B5EF4-FFF2-40B4-BE49-F238E27FC236}">
                <a16:creationId xmlns:a16="http://schemas.microsoft.com/office/drawing/2014/main" id="{1320C370-DCC3-4517-652F-E8733A0393BA}"/>
              </a:ext>
            </a:extLst>
          </p:cNvPr>
          <p:cNvSpPr txBox="1"/>
          <p:nvPr/>
        </p:nvSpPr>
        <p:spPr>
          <a:xfrm>
            <a:off x="173675" y="3983000"/>
            <a:ext cx="8415689" cy="124136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2000" b="1" i="0" u="sng" strike="noStrike" cap="none" spc="0" normalizeH="0" baseline="0" dirty="0">
                <a:ln>
                  <a:noFill/>
                </a:ln>
                <a:solidFill>
                  <a:srgbClr val="000000"/>
                </a:solidFill>
                <a:effectLst/>
                <a:uFill>
                  <a:solidFill>
                    <a:srgbClr val="000000"/>
                  </a:solidFill>
                </a:uFill>
                <a:latin typeface="Helvetica"/>
                <a:ea typeface="Helvetica"/>
                <a:cs typeface="Helvetica"/>
                <a:sym typeface="Helvetica"/>
              </a:rPr>
              <a:t>Lecture </a:t>
            </a:r>
            <a:r>
              <a:rPr lang="en-US" u="sng" dirty="0">
                <a:solidFill>
                  <a:srgbClr val="000000"/>
                </a:solidFill>
                <a:uFill>
                  <a:solidFill>
                    <a:srgbClr val="000000"/>
                  </a:solidFill>
                </a:uFill>
              </a:rPr>
              <a:t>5</a:t>
            </a:r>
            <a:r>
              <a:rPr kumimoji="0" lang="en-US" sz="2000" b="1" i="0" u="sng" strike="noStrike" cap="none" spc="0" normalizeH="0" baseline="0" dirty="0">
                <a:ln>
                  <a:noFill/>
                </a:ln>
                <a:solidFill>
                  <a:srgbClr val="000000"/>
                </a:solidFill>
                <a:effectLst/>
                <a:uFill>
                  <a:solidFill>
                    <a:srgbClr val="000000"/>
                  </a:solidFill>
                </a:uFill>
                <a:latin typeface="Helvetica"/>
                <a:ea typeface="Helvetica"/>
                <a:cs typeface="Helvetica"/>
                <a:sym typeface="Helvetica"/>
              </a:rPr>
              <a:t> Learning Outcomes:</a:t>
            </a:r>
          </a:p>
          <a:p>
            <a:pPr marL="326389" indent="-285750" latinLnBrk="1" hangingPunct="0">
              <a:buFont typeface="Arial" panose="020B0604020202020204" pitchFamily="34" charset="0"/>
              <a:buChar char="•"/>
              <a:tabLst>
                <a:tab pos="5475288" algn="l"/>
              </a:tabLst>
            </a:pPr>
            <a:r>
              <a:rPr lang="en-US" sz="1800" b="0" dirty="0">
                <a:solidFill>
                  <a:srgbClr val="000000"/>
                </a:solidFill>
                <a:uFill>
                  <a:solidFill>
                    <a:srgbClr val="000000"/>
                  </a:solidFill>
                </a:uFill>
                <a:latin typeface="Gill Sans" charset="0"/>
                <a:ea typeface="Gill Sans" charset="0"/>
                <a:cs typeface="Gill Sans" charset="0"/>
                <a:sym typeface="Helvetica"/>
              </a:rPr>
              <a:t>What is light?</a:t>
            </a:r>
          </a:p>
          <a:p>
            <a:pPr marL="326389" indent="-285750" latinLnBrk="1" hangingPunct="0">
              <a:buFont typeface="Arial" panose="020B0604020202020204" pitchFamily="34" charset="0"/>
              <a:buChar char="•"/>
              <a:tabLst>
                <a:tab pos="5475288" algn="l"/>
              </a:tabLst>
            </a:pPr>
            <a:r>
              <a:rPr lang="en-US" sz="1800" b="0" dirty="0">
                <a:solidFill>
                  <a:srgbClr val="000000"/>
                </a:solidFill>
                <a:uFill>
                  <a:solidFill>
                    <a:srgbClr val="000000"/>
                  </a:solidFill>
                </a:uFill>
                <a:latin typeface="Gill Sans" charset="0"/>
                <a:ea typeface="Gill Sans" charset="0"/>
                <a:cs typeface="Gill Sans" charset="0"/>
              </a:rPr>
              <a:t>What was “the phase problem”?</a:t>
            </a:r>
          </a:p>
          <a:p>
            <a:pPr marL="326389" indent="-285750" latinLnBrk="1" hangingPunct="0">
              <a:buFont typeface="Arial" panose="020B0604020202020204" pitchFamily="34" charset="0"/>
              <a:buChar char="•"/>
              <a:tabLst>
                <a:tab pos="5475288" algn="l"/>
              </a:tabLst>
            </a:pPr>
            <a:r>
              <a:rPr lang="en-US" sz="1800" b="0" dirty="0">
                <a:solidFill>
                  <a:srgbClr val="000000"/>
                </a:solidFill>
                <a:uFill>
                  <a:solidFill>
                    <a:srgbClr val="000000"/>
                  </a:solidFill>
                </a:uFill>
                <a:latin typeface="Gill Sans" charset="0"/>
                <a:ea typeface="Gill Sans" charset="0"/>
                <a:cs typeface="Gill Sans" charset="0"/>
                <a:sym typeface="Helvetica"/>
              </a:rPr>
              <a:t>What are the six categories </a:t>
            </a:r>
            <a:r>
              <a:rPr lang="en-US" sz="1800" b="0">
                <a:solidFill>
                  <a:srgbClr val="000000"/>
                </a:solidFill>
                <a:uFill>
                  <a:solidFill>
                    <a:srgbClr val="000000"/>
                  </a:solidFill>
                </a:uFill>
                <a:latin typeface="Gill Sans" charset="0"/>
                <a:ea typeface="Gill Sans" charset="0"/>
                <a:cs typeface="Gill Sans" charset="0"/>
                <a:sym typeface="Helvetica"/>
              </a:rPr>
              <a:t>of non-covalent interactions</a:t>
            </a:r>
            <a:r>
              <a:rPr lang="en-US" sz="1800" b="0" dirty="0">
                <a:solidFill>
                  <a:srgbClr val="000000"/>
                </a:solidFill>
                <a:uFill>
                  <a:solidFill>
                    <a:srgbClr val="000000"/>
                  </a:solidFill>
                </a:uFill>
                <a:latin typeface="Gill Sans" charset="0"/>
                <a:ea typeface="Gill Sans" charset="0"/>
                <a:cs typeface="Gill Sans" charset="0"/>
                <a:sym typeface="Helvetica"/>
              </a:rPr>
              <a:t>?  Why do we care?</a:t>
            </a:r>
          </a:p>
        </p:txBody>
      </p:sp>
    </p:spTree>
    <p:extLst>
      <p:ext uri="{BB962C8B-B14F-4D97-AF65-F5344CB8AC3E}">
        <p14:creationId xmlns:p14="http://schemas.microsoft.com/office/powerpoint/2010/main" val="2113640462"/>
      </p:ext>
    </p:extLst>
  </p:cSld>
  <p:clrMapOvr>
    <a:masterClrMapping/>
  </p:clrMapOvr>
  <p:transition spd="med" advClick="0" advTm="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image.pdf"/>
          <p:cNvPicPr/>
          <p:nvPr/>
        </p:nvPicPr>
        <p:blipFill>
          <a:blip r:embed="rId3">
            <a:alphaModFix amt="39128"/>
          </a:blip>
          <a:stretch>
            <a:fillRect/>
          </a:stretch>
        </p:blipFill>
        <p:spPr>
          <a:xfrm>
            <a:off x="5563547" y="1826"/>
            <a:ext cx="3581400" cy="2692400"/>
          </a:xfrm>
          <a:prstGeom prst="rect">
            <a:avLst/>
          </a:prstGeom>
          <a:ln>
            <a:round/>
          </a:ln>
        </p:spPr>
      </p:pic>
      <p:sp>
        <p:nvSpPr>
          <p:cNvPr id="33" name="Shape 33"/>
          <p:cNvSpPr/>
          <p:nvPr/>
        </p:nvSpPr>
        <p:spPr>
          <a:xfrm>
            <a:off x="0" y="0"/>
            <a:ext cx="5880100" cy="36933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1200"/>
              </a:spcBef>
              <a:buClr>
                <a:srgbClr val="000000"/>
              </a:buClr>
              <a:buFont typeface="Helvetica"/>
              <a:defRPr sz="2000" b="1">
                <a:latin typeface="Helvetica"/>
                <a:ea typeface="Helvetica"/>
                <a:cs typeface="Helvetica"/>
                <a:sym typeface="Helvetica"/>
              </a:defRPr>
            </a:lvl1pPr>
          </a:lstStyle>
          <a:p>
            <a:pPr lvl="0" algn="ctr">
              <a:defRPr sz="1800" b="0">
                <a:uFillTx/>
              </a:defRPr>
            </a:pPr>
            <a:r>
              <a:rPr sz="2400" b="0" dirty="0">
                <a:uFill>
                  <a:solidFill/>
                </a:uFill>
                <a:latin typeface="Gill Sans" charset="0"/>
                <a:ea typeface="Gill Sans" charset="0"/>
                <a:cs typeface="Gill Sans" charset="0"/>
              </a:rPr>
              <a:t>T</a:t>
            </a:r>
            <a:r>
              <a:rPr lang="en-US" sz="2400" b="0" dirty="0">
                <a:uFill>
                  <a:solidFill/>
                </a:uFill>
                <a:latin typeface="Gill Sans" charset="0"/>
                <a:ea typeface="Gill Sans" charset="0"/>
                <a:cs typeface="Gill Sans" charset="0"/>
              </a:rPr>
              <a:t>he x-ray diffraction experiment</a:t>
            </a:r>
          </a:p>
        </p:txBody>
      </p:sp>
      <p:sp>
        <p:nvSpPr>
          <p:cNvPr id="35" name="Shape 35"/>
          <p:cNvSpPr/>
          <p:nvPr/>
        </p:nvSpPr>
        <p:spPr>
          <a:xfrm>
            <a:off x="7067550" y="1314450"/>
            <a:ext cx="850900" cy="247650"/>
          </a:xfrm>
          <a:prstGeom prst="rect">
            <a:avLst/>
          </a:prstGeom>
          <a:solidFill>
            <a:srgbClr val="FFFFFF"/>
          </a:solidFill>
          <a:ln w="19050">
            <a:miter lim="400000"/>
          </a:ln>
        </p:spPr>
        <p:txBody>
          <a:bodyPr lIns="0" tIns="0" rIns="0" bIns="0" anchor="ctr"/>
          <a:lstStyle/>
          <a:p>
            <a:pPr lvl="0"/>
            <a:endParaRPr>
              <a:latin typeface="Gill Sans" charset="0"/>
              <a:ea typeface="Gill Sans" charset="0"/>
              <a:cs typeface="Gill Sans" charset="0"/>
            </a:endParaRPr>
          </a:p>
        </p:txBody>
      </p:sp>
      <p:sp>
        <p:nvSpPr>
          <p:cNvPr id="36" name="Shape 36"/>
          <p:cNvSpPr/>
          <p:nvPr/>
        </p:nvSpPr>
        <p:spPr>
          <a:xfrm>
            <a:off x="7677150" y="1200150"/>
            <a:ext cx="101600" cy="133350"/>
          </a:xfrm>
          <a:prstGeom prst="rect">
            <a:avLst/>
          </a:prstGeom>
          <a:solidFill>
            <a:srgbClr val="FFFFFF"/>
          </a:solidFill>
          <a:ln w="19050">
            <a:miter lim="400000"/>
          </a:ln>
        </p:spPr>
        <p:txBody>
          <a:bodyPr lIns="0" tIns="0" rIns="0" bIns="0" anchor="ctr"/>
          <a:lstStyle/>
          <a:p>
            <a:pPr lvl="0"/>
            <a:endParaRPr>
              <a:latin typeface="Gill Sans" charset="0"/>
              <a:ea typeface="Gill Sans" charset="0"/>
              <a:cs typeface="Gill Sans" charset="0"/>
            </a:endParaRPr>
          </a:p>
        </p:txBody>
      </p:sp>
      <p:sp>
        <p:nvSpPr>
          <p:cNvPr id="37" name="Shape 37"/>
          <p:cNvSpPr/>
          <p:nvPr/>
        </p:nvSpPr>
        <p:spPr>
          <a:xfrm>
            <a:off x="7365391" y="1500555"/>
            <a:ext cx="850900" cy="338554"/>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600"/>
              </a:spcBef>
              <a:buClr>
                <a:srgbClr val="000000"/>
              </a:buClr>
              <a:buFont typeface="Helvetica"/>
              <a:defRPr sz="1000" b="1">
                <a:latin typeface="Helvetica"/>
                <a:ea typeface="Helvetica"/>
                <a:cs typeface="Helvetica"/>
                <a:sym typeface="Helvetica"/>
              </a:defRPr>
            </a:lvl1pPr>
          </a:lstStyle>
          <a:p>
            <a:pPr lvl="0">
              <a:defRPr sz="1800" b="0">
                <a:uFillTx/>
              </a:defRPr>
            </a:pPr>
            <a:r>
              <a:rPr sz="1000" b="0" dirty="0">
                <a:uFill>
                  <a:solidFill/>
                </a:uFill>
                <a:latin typeface="Gill Sans" charset="0"/>
                <a:ea typeface="Gill Sans" charset="0"/>
                <a:cs typeface="Gill Sans" charset="0"/>
              </a:rPr>
              <a:t>P</a:t>
            </a:r>
            <a:r>
              <a:rPr lang="en-US" sz="1100" b="0" dirty="0">
                <a:uFill>
                  <a:solidFill/>
                </a:uFill>
                <a:latin typeface="Gill Sans" charset="0"/>
                <a:ea typeface="Gill Sans" charset="0"/>
                <a:cs typeface="Gill Sans" charset="0"/>
              </a:rPr>
              <a:t>rotein crystal</a:t>
            </a:r>
          </a:p>
        </p:txBody>
      </p:sp>
      <p:grpSp>
        <p:nvGrpSpPr>
          <p:cNvPr id="41" name="Group 41"/>
          <p:cNvGrpSpPr/>
          <p:nvPr/>
        </p:nvGrpSpPr>
        <p:grpSpPr>
          <a:xfrm>
            <a:off x="7658100" y="1153358"/>
            <a:ext cx="119063" cy="342900"/>
            <a:chOff x="0" y="0"/>
            <a:chExt cx="119062" cy="342900"/>
          </a:xfrm>
        </p:grpSpPr>
        <p:sp>
          <p:nvSpPr>
            <p:cNvPr id="38" name="Shape 38"/>
            <p:cNvSpPr/>
            <p:nvPr/>
          </p:nvSpPr>
          <p:spPr>
            <a:xfrm flipV="1">
              <a:off x="0" y="0"/>
              <a:ext cx="107950" cy="342900"/>
            </a:xfrm>
            <a:prstGeom prst="line">
              <a:avLst/>
            </a:prstGeom>
            <a:noFill/>
            <a:ln w="19050" cap="flat">
              <a:solidFill>
                <a:srgbClr val="000000"/>
              </a:solidFill>
              <a:prstDash val="solid"/>
              <a:round/>
            </a:ln>
            <a:effectLst/>
          </p:spPr>
          <p:txBody>
            <a:bodyPr wrap="square" lIns="0" tIns="0" rIns="0" bIns="0" numCol="1" anchor="t">
              <a:noAutofit/>
            </a:bodyPr>
            <a:lstStyle/>
            <a:p>
              <a:pPr marL="0" marR="0" lvl="0" defTabSz="457200">
                <a:defRPr sz="1200">
                  <a:uFillTx/>
                  <a:latin typeface="Helvetica"/>
                  <a:ea typeface="Helvetica"/>
                  <a:cs typeface="Helvetica"/>
                  <a:sym typeface="Helvetica"/>
                </a:defRPr>
              </a:pPr>
              <a:endParaRPr>
                <a:latin typeface="Gill Sans" charset="0"/>
                <a:ea typeface="Gill Sans" charset="0"/>
                <a:cs typeface="Gill Sans" charset="0"/>
              </a:endParaRPr>
            </a:p>
          </p:txBody>
        </p:sp>
        <p:sp>
          <p:nvSpPr>
            <p:cNvPr id="39" name="Shape 39"/>
            <p:cNvSpPr/>
            <p:nvPr/>
          </p:nvSpPr>
          <p:spPr>
            <a:xfrm>
              <a:off x="101600" y="6350"/>
              <a:ext cx="17463" cy="58738"/>
            </a:xfrm>
            <a:prstGeom prst="line">
              <a:avLst/>
            </a:prstGeom>
            <a:noFill/>
            <a:ln w="19050" cap="flat">
              <a:solidFill>
                <a:srgbClr val="000000"/>
              </a:solidFill>
              <a:prstDash val="solid"/>
              <a:round/>
            </a:ln>
            <a:effectLst/>
          </p:spPr>
          <p:txBody>
            <a:bodyPr wrap="square" lIns="0" tIns="0" rIns="0" bIns="0" numCol="1" anchor="t">
              <a:noAutofit/>
            </a:bodyPr>
            <a:lstStyle/>
            <a:p>
              <a:pPr marL="0" marR="0" lvl="0" defTabSz="457200">
                <a:defRPr sz="1200">
                  <a:uFillTx/>
                  <a:latin typeface="Helvetica"/>
                  <a:ea typeface="Helvetica"/>
                  <a:cs typeface="Helvetica"/>
                  <a:sym typeface="Helvetica"/>
                </a:defRPr>
              </a:pPr>
              <a:endParaRPr>
                <a:latin typeface="Gill Sans" charset="0"/>
                <a:ea typeface="Gill Sans" charset="0"/>
                <a:cs typeface="Gill Sans" charset="0"/>
              </a:endParaRPr>
            </a:p>
          </p:txBody>
        </p:sp>
        <p:sp>
          <p:nvSpPr>
            <p:cNvPr id="40" name="Shape 40"/>
            <p:cNvSpPr/>
            <p:nvPr/>
          </p:nvSpPr>
          <p:spPr>
            <a:xfrm flipH="1">
              <a:off x="58737" y="6350"/>
              <a:ext cx="38101" cy="38100"/>
            </a:xfrm>
            <a:prstGeom prst="line">
              <a:avLst/>
            </a:prstGeom>
            <a:noFill/>
            <a:ln w="19050" cap="flat">
              <a:solidFill>
                <a:srgbClr val="000000"/>
              </a:solidFill>
              <a:prstDash val="solid"/>
              <a:round/>
            </a:ln>
            <a:effectLst/>
          </p:spPr>
          <p:txBody>
            <a:bodyPr wrap="square" lIns="0" tIns="0" rIns="0" bIns="0" numCol="1" anchor="t">
              <a:noAutofit/>
            </a:bodyPr>
            <a:lstStyle/>
            <a:p>
              <a:pPr marL="0" marR="0" lvl="0" defTabSz="457200">
                <a:defRPr sz="1200">
                  <a:uFillTx/>
                  <a:latin typeface="Helvetica"/>
                  <a:ea typeface="Helvetica"/>
                  <a:cs typeface="Helvetica"/>
                  <a:sym typeface="Helvetica"/>
                </a:defRPr>
              </a:pPr>
              <a:endParaRPr>
                <a:latin typeface="Gill Sans" charset="0"/>
                <a:ea typeface="Gill Sans" charset="0"/>
                <a:cs typeface="Gill Sans" charset="0"/>
              </a:endParaRPr>
            </a:p>
          </p:txBody>
        </p:sp>
      </p:grpSp>
      <p:sp>
        <p:nvSpPr>
          <p:cNvPr id="42" name="Shape 42"/>
          <p:cNvSpPr/>
          <p:nvPr/>
        </p:nvSpPr>
        <p:spPr>
          <a:xfrm>
            <a:off x="5859462" y="1189037"/>
            <a:ext cx="876301" cy="203201"/>
          </a:xfrm>
          <a:prstGeom prst="rect">
            <a:avLst/>
          </a:prstGeom>
          <a:solidFill>
            <a:srgbClr val="FFFFFF"/>
          </a:solidFill>
          <a:ln w="19050">
            <a:miter lim="400000"/>
          </a:ln>
        </p:spPr>
        <p:txBody>
          <a:bodyPr lIns="0" tIns="0" rIns="0" bIns="0" anchor="ctr"/>
          <a:lstStyle/>
          <a:p>
            <a:pPr lvl="0"/>
            <a:endParaRPr>
              <a:latin typeface="Gill Sans" charset="0"/>
              <a:ea typeface="Gill Sans" charset="0"/>
              <a:cs typeface="Gill Sans" charset="0"/>
            </a:endParaRPr>
          </a:p>
        </p:txBody>
      </p:sp>
      <p:sp>
        <p:nvSpPr>
          <p:cNvPr id="43" name="Shape 43"/>
          <p:cNvSpPr/>
          <p:nvPr/>
        </p:nvSpPr>
        <p:spPr>
          <a:xfrm>
            <a:off x="5842000" y="871537"/>
            <a:ext cx="769938" cy="347663"/>
          </a:xfrm>
          <a:prstGeom prst="rect">
            <a:avLst/>
          </a:prstGeom>
          <a:solidFill>
            <a:srgbClr val="FFFFFF"/>
          </a:solidFill>
          <a:ln w="19050">
            <a:miter lim="400000"/>
          </a:ln>
        </p:spPr>
        <p:txBody>
          <a:bodyPr lIns="0" tIns="0" rIns="0" bIns="0" anchor="ctr"/>
          <a:lstStyle/>
          <a:p>
            <a:pPr lvl="0"/>
            <a:endParaRPr>
              <a:latin typeface="Gill Sans" charset="0"/>
              <a:ea typeface="Gill Sans" charset="0"/>
              <a:cs typeface="Gill Sans" charset="0"/>
            </a:endParaRPr>
          </a:p>
        </p:txBody>
      </p:sp>
      <p:sp>
        <p:nvSpPr>
          <p:cNvPr id="44" name="Shape 44"/>
          <p:cNvSpPr/>
          <p:nvPr/>
        </p:nvSpPr>
        <p:spPr>
          <a:xfrm>
            <a:off x="6413500" y="796925"/>
            <a:ext cx="1316038" cy="431800"/>
          </a:xfrm>
          <a:prstGeom prst="rect">
            <a:avLst/>
          </a:prstGeom>
          <a:solidFill>
            <a:srgbClr val="FFFFFF"/>
          </a:solidFill>
          <a:ln w="19050">
            <a:miter lim="400000"/>
          </a:ln>
        </p:spPr>
        <p:txBody>
          <a:bodyPr lIns="0" tIns="0" rIns="0" bIns="0" anchor="ctr"/>
          <a:lstStyle/>
          <a:p>
            <a:pPr lvl="0"/>
            <a:endParaRPr>
              <a:latin typeface="Gill Sans" charset="0"/>
              <a:ea typeface="Gill Sans" charset="0"/>
              <a:cs typeface="Gill Sans" charset="0"/>
            </a:endParaRPr>
          </a:p>
        </p:txBody>
      </p:sp>
      <p:sp>
        <p:nvSpPr>
          <p:cNvPr id="45" name="Shape 45"/>
          <p:cNvSpPr/>
          <p:nvPr/>
        </p:nvSpPr>
        <p:spPr>
          <a:xfrm>
            <a:off x="6481762" y="1119187"/>
            <a:ext cx="1222376" cy="1588"/>
          </a:xfrm>
          <a:prstGeom prst="line">
            <a:avLst/>
          </a:prstGeom>
          <a:ln w="57150">
            <a:solidFill/>
            <a:round/>
            <a:tailEnd type="triangle"/>
          </a:ln>
        </p:spPr>
        <p:txBody>
          <a:bodyPr lIns="0" tIns="0" rIns="0" bIns="0"/>
          <a:lstStyle/>
          <a:p>
            <a:pPr marL="0" marR="0" lvl="0" defTabSz="457200">
              <a:defRPr sz="1200">
                <a:uFillTx/>
                <a:latin typeface="Helvetica"/>
                <a:ea typeface="Helvetica"/>
                <a:cs typeface="Helvetica"/>
                <a:sym typeface="Helvetica"/>
              </a:defRPr>
            </a:pPr>
            <a:endParaRPr>
              <a:latin typeface="Gill Sans" charset="0"/>
              <a:ea typeface="Gill Sans" charset="0"/>
              <a:cs typeface="Gill Sans" charset="0"/>
            </a:endParaRPr>
          </a:p>
        </p:txBody>
      </p:sp>
      <p:sp>
        <p:nvSpPr>
          <p:cNvPr id="46" name="Shape 46"/>
          <p:cNvSpPr/>
          <p:nvPr/>
        </p:nvSpPr>
        <p:spPr>
          <a:xfrm>
            <a:off x="6635031" y="922238"/>
            <a:ext cx="1155701" cy="153888"/>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600"/>
              </a:spcBef>
              <a:buClr>
                <a:srgbClr val="000000"/>
              </a:buClr>
              <a:buFont typeface="Helvetica"/>
              <a:defRPr sz="1000" b="1">
                <a:latin typeface="Helvetica"/>
                <a:ea typeface="Helvetica"/>
                <a:cs typeface="Helvetica"/>
                <a:sym typeface="Helvetica"/>
              </a:defRPr>
            </a:lvl1pPr>
          </a:lstStyle>
          <a:p>
            <a:pPr lvl="0">
              <a:defRPr sz="1800" b="0">
                <a:uFillTx/>
              </a:defRPr>
            </a:pPr>
            <a:r>
              <a:rPr sz="1000" b="0" dirty="0">
                <a:uFill>
                  <a:solidFill/>
                </a:uFill>
                <a:latin typeface="Gill Sans" charset="0"/>
                <a:ea typeface="Gill Sans" charset="0"/>
                <a:cs typeface="Gill Sans" charset="0"/>
              </a:rPr>
              <a:t>X-</a:t>
            </a:r>
            <a:r>
              <a:rPr lang="en-US" sz="1000" b="0" dirty="0">
                <a:uFill>
                  <a:solidFill/>
                </a:uFill>
                <a:latin typeface="Gill Sans" charset="0"/>
                <a:ea typeface="Gill Sans" charset="0"/>
                <a:cs typeface="Gill Sans" charset="0"/>
              </a:rPr>
              <a:t>ray beam</a:t>
            </a:r>
          </a:p>
        </p:txBody>
      </p:sp>
      <p:sp>
        <p:nvSpPr>
          <p:cNvPr id="47" name="Shape 47"/>
          <p:cNvSpPr/>
          <p:nvPr/>
        </p:nvSpPr>
        <p:spPr>
          <a:xfrm>
            <a:off x="6573837" y="152400"/>
            <a:ext cx="1952626" cy="292100"/>
          </a:xfrm>
          <a:prstGeom prst="rect">
            <a:avLst/>
          </a:prstGeom>
          <a:solidFill>
            <a:srgbClr val="FFFFFF"/>
          </a:solidFill>
          <a:ln w="19050">
            <a:miter lim="400000"/>
          </a:ln>
        </p:spPr>
        <p:txBody>
          <a:bodyPr lIns="0" tIns="0" rIns="0" bIns="0" anchor="ctr"/>
          <a:lstStyle/>
          <a:p>
            <a:pPr lvl="0"/>
            <a:endParaRPr>
              <a:latin typeface="Gill Sans" charset="0"/>
              <a:ea typeface="Gill Sans" charset="0"/>
              <a:cs typeface="Gill Sans" charset="0"/>
            </a:endParaRPr>
          </a:p>
        </p:txBody>
      </p:sp>
      <p:sp>
        <p:nvSpPr>
          <p:cNvPr id="48" name="Shape 48"/>
          <p:cNvSpPr/>
          <p:nvPr/>
        </p:nvSpPr>
        <p:spPr>
          <a:xfrm>
            <a:off x="5745119" y="136980"/>
            <a:ext cx="2486961" cy="41549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spcBef>
                <a:spcPts val="600"/>
              </a:spcBef>
              <a:buClr>
                <a:srgbClr val="000000"/>
              </a:buClr>
              <a:buFont typeface="Helvetica"/>
              <a:defRPr sz="1000" b="1">
                <a:latin typeface="Helvetica"/>
                <a:ea typeface="Helvetica"/>
                <a:cs typeface="Helvetica"/>
                <a:sym typeface="Helvetica"/>
              </a:defRPr>
            </a:lvl1pPr>
          </a:lstStyle>
          <a:p>
            <a:pPr lvl="0">
              <a:defRPr sz="1800" b="0">
                <a:uFillTx/>
              </a:defRPr>
            </a:pPr>
            <a:r>
              <a:rPr sz="1100" b="0" dirty="0">
                <a:uFill>
                  <a:solidFill/>
                </a:uFill>
                <a:latin typeface="Gill Sans" charset="0"/>
                <a:ea typeface="Gill Sans" charset="0"/>
                <a:cs typeface="Gill Sans" charset="0"/>
              </a:rPr>
              <a:t>X-</a:t>
            </a:r>
            <a:r>
              <a:rPr lang="en-US" sz="1100" b="0" dirty="0">
                <a:uFill>
                  <a:solidFill/>
                </a:uFill>
                <a:latin typeface="Gill Sans" charset="0"/>
                <a:ea typeface="Gill Sans" charset="0"/>
                <a:cs typeface="Gill Sans" charset="0"/>
              </a:rPr>
              <a:t>ray waves diffracted by protein crystal</a:t>
            </a:r>
          </a:p>
          <a:p>
            <a:pPr lvl="0">
              <a:defRPr sz="1800" b="0">
                <a:uFillTx/>
              </a:defRPr>
            </a:pPr>
            <a:r>
              <a:rPr lang="en-US" sz="1100" b="0" dirty="0">
                <a:latin typeface="Gill Sans" charset="0"/>
                <a:ea typeface="Gill Sans" charset="0"/>
                <a:cs typeface="Gill Sans" charset="0"/>
              </a:rPr>
              <a:t>Scattered in all directions by every atom!</a:t>
            </a:r>
            <a:endParaRPr lang="en-US" sz="1100" b="0" dirty="0">
              <a:uFill>
                <a:solidFill/>
              </a:uFill>
              <a:latin typeface="Gill Sans" charset="0"/>
              <a:ea typeface="Gill Sans" charset="0"/>
              <a:cs typeface="Gill Sans" charset="0"/>
            </a:endParaRPr>
          </a:p>
        </p:txBody>
      </p:sp>
      <p:grpSp>
        <p:nvGrpSpPr>
          <p:cNvPr id="52" name="Group 52"/>
          <p:cNvGrpSpPr/>
          <p:nvPr/>
        </p:nvGrpSpPr>
        <p:grpSpPr>
          <a:xfrm>
            <a:off x="8148637" y="342900"/>
            <a:ext cx="182563" cy="114300"/>
            <a:chOff x="0" y="0"/>
            <a:chExt cx="182562" cy="114300"/>
          </a:xfrm>
        </p:grpSpPr>
        <p:sp>
          <p:nvSpPr>
            <p:cNvPr id="49" name="Shape 49"/>
            <p:cNvSpPr/>
            <p:nvPr/>
          </p:nvSpPr>
          <p:spPr>
            <a:xfrm>
              <a:off x="0" y="0"/>
              <a:ext cx="182563" cy="109538"/>
            </a:xfrm>
            <a:prstGeom prst="line">
              <a:avLst/>
            </a:prstGeom>
            <a:noFill/>
            <a:ln w="19050" cap="flat">
              <a:solidFill>
                <a:srgbClr val="000000"/>
              </a:solidFill>
              <a:prstDash val="solid"/>
              <a:round/>
            </a:ln>
            <a:effectLst/>
          </p:spPr>
          <p:txBody>
            <a:bodyPr wrap="square" lIns="0" tIns="0" rIns="0" bIns="0" numCol="1" anchor="t">
              <a:noAutofit/>
            </a:bodyPr>
            <a:lstStyle/>
            <a:p>
              <a:pPr marL="0" marR="0" lvl="0" defTabSz="457200">
                <a:defRPr sz="1200">
                  <a:uFillTx/>
                  <a:latin typeface="Helvetica"/>
                  <a:ea typeface="Helvetica"/>
                  <a:cs typeface="Helvetica"/>
                  <a:sym typeface="Helvetica"/>
                </a:defRPr>
              </a:pPr>
              <a:endParaRPr>
                <a:latin typeface="Gill Sans" charset="0"/>
                <a:ea typeface="Gill Sans" charset="0"/>
                <a:cs typeface="Gill Sans" charset="0"/>
              </a:endParaRPr>
            </a:p>
          </p:txBody>
        </p:sp>
        <p:sp>
          <p:nvSpPr>
            <p:cNvPr id="50" name="Shape 50"/>
            <p:cNvSpPr/>
            <p:nvPr/>
          </p:nvSpPr>
          <p:spPr>
            <a:xfrm flipH="1" flipV="1">
              <a:off x="161925" y="50800"/>
              <a:ext cx="20638" cy="58738"/>
            </a:xfrm>
            <a:prstGeom prst="line">
              <a:avLst/>
            </a:prstGeom>
            <a:noFill/>
            <a:ln w="19050" cap="flat">
              <a:solidFill>
                <a:srgbClr val="000000"/>
              </a:solidFill>
              <a:prstDash val="solid"/>
              <a:round/>
            </a:ln>
            <a:effectLst/>
          </p:spPr>
          <p:txBody>
            <a:bodyPr wrap="square" lIns="0" tIns="0" rIns="0" bIns="0" numCol="1" anchor="t">
              <a:noAutofit/>
            </a:bodyPr>
            <a:lstStyle/>
            <a:p>
              <a:pPr marL="0" marR="0" lvl="0" defTabSz="457200">
                <a:defRPr sz="1200">
                  <a:uFillTx/>
                  <a:latin typeface="Helvetica"/>
                  <a:ea typeface="Helvetica"/>
                  <a:cs typeface="Helvetica"/>
                  <a:sym typeface="Helvetica"/>
                </a:defRPr>
              </a:pPr>
              <a:endParaRPr>
                <a:latin typeface="Gill Sans" charset="0"/>
                <a:ea typeface="Gill Sans" charset="0"/>
                <a:cs typeface="Gill Sans" charset="0"/>
              </a:endParaRPr>
            </a:p>
          </p:txBody>
        </p:sp>
        <p:sp>
          <p:nvSpPr>
            <p:cNvPr id="51" name="Shape 51"/>
            <p:cNvSpPr/>
            <p:nvPr/>
          </p:nvSpPr>
          <p:spPr>
            <a:xfrm flipH="1">
              <a:off x="131762" y="109537"/>
              <a:ext cx="50801" cy="4763"/>
            </a:xfrm>
            <a:prstGeom prst="line">
              <a:avLst/>
            </a:prstGeom>
            <a:noFill/>
            <a:ln w="19050" cap="flat">
              <a:solidFill>
                <a:srgbClr val="000000"/>
              </a:solidFill>
              <a:prstDash val="solid"/>
              <a:round/>
            </a:ln>
            <a:effectLst/>
          </p:spPr>
          <p:txBody>
            <a:bodyPr wrap="square" lIns="0" tIns="0" rIns="0" bIns="0" numCol="1" anchor="t">
              <a:noAutofit/>
            </a:bodyPr>
            <a:lstStyle/>
            <a:p>
              <a:pPr marL="0" marR="0" lvl="0" defTabSz="457200">
                <a:defRPr sz="1200">
                  <a:uFillTx/>
                  <a:latin typeface="Helvetica"/>
                  <a:ea typeface="Helvetica"/>
                  <a:cs typeface="Helvetica"/>
                  <a:sym typeface="Helvetica"/>
                </a:defRPr>
              </a:pPr>
              <a:endParaRPr>
                <a:latin typeface="Gill Sans" charset="0"/>
                <a:ea typeface="Gill Sans" charset="0"/>
                <a:cs typeface="Gill Sans" charset="0"/>
              </a:endParaRPr>
            </a:p>
          </p:txBody>
        </p:sp>
      </p:grpSp>
      <p:sp>
        <p:nvSpPr>
          <p:cNvPr id="53" name="Shape 53"/>
          <p:cNvSpPr/>
          <p:nvPr/>
        </p:nvSpPr>
        <p:spPr>
          <a:xfrm>
            <a:off x="7945437" y="2132012"/>
            <a:ext cx="1066801" cy="360363"/>
          </a:xfrm>
          <a:prstGeom prst="rect">
            <a:avLst/>
          </a:prstGeom>
          <a:solidFill>
            <a:srgbClr val="FFFFFF"/>
          </a:solidFill>
          <a:ln w="19050">
            <a:miter lim="400000"/>
          </a:ln>
        </p:spPr>
        <p:txBody>
          <a:bodyPr lIns="0" tIns="0" rIns="0" bIns="0" anchor="ctr"/>
          <a:lstStyle/>
          <a:p>
            <a:pPr lvl="0"/>
            <a:endParaRPr>
              <a:latin typeface="Gill Sans" charset="0"/>
              <a:ea typeface="Gill Sans" charset="0"/>
              <a:cs typeface="Gill Sans" charset="0"/>
            </a:endParaRPr>
          </a:p>
        </p:txBody>
      </p:sp>
      <p:sp>
        <p:nvSpPr>
          <p:cNvPr id="54" name="Shape 54"/>
          <p:cNvSpPr/>
          <p:nvPr/>
        </p:nvSpPr>
        <p:spPr>
          <a:xfrm flipV="1">
            <a:off x="8478837" y="2024062"/>
            <a:ext cx="309563" cy="180976"/>
          </a:xfrm>
          <a:prstGeom prst="line">
            <a:avLst/>
          </a:prstGeom>
          <a:ln w="76200">
            <a:solidFill>
              <a:srgbClr val="FFFFFF"/>
            </a:solidFill>
            <a:round/>
          </a:ln>
        </p:spPr>
        <p:txBody>
          <a:bodyPr lIns="0" tIns="0" rIns="0" bIns="0"/>
          <a:lstStyle/>
          <a:p>
            <a:pPr marL="0" marR="0" lvl="0" defTabSz="457200">
              <a:defRPr sz="1200">
                <a:uFillTx/>
                <a:latin typeface="Helvetica"/>
                <a:ea typeface="Helvetica"/>
                <a:cs typeface="Helvetica"/>
                <a:sym typeface="Helvetica"/>
              </a:defRPr>
            </a:pPr>
            <a:endParaRPr>
              <a:latin typeface="Gill Sans" charset="0"/>
              <a:ea typeface="Gill Sans" charset="0"/>
              <a:cs typeface="Gill Sans" charset="0"/>
            </a:endParaRPr>
          </a:p>
        </p:txBody>
      </p:sp>
      <p:sp>
        <p:nvSpPr>
          <p:cNvPr id="55" name="Shape 55"/>
          <p:cNvSpPr/>
          <p:nvPr/>
        </p:nvSpPr>
        <p:spPr>
          <a:xfrm>
            <a:off x="8313570" y="2213075"/>
            <a:ext cx="1155700" cy="338554"/>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600"/>
              </a:spcBef>
              <a:buClr>
                <a:srgbClr val="000000"/>
              </a:buClr>
              <a:buFont typeface="Helvetica"/>
              <a:defRPr sz="1000" b="1">
                <a:latin typeface="Helvetica"/>
                <a:ea typeface="Helvetica"/>
                <a:cs typeface="Helvetica"/>
                <a:sym typeface="Helvetica"/>
              </a:defRPr>
            </a:lvl1pPr>
          </a:lstStyle>
          <a:p>
            <a:pPr lvl="0">
              <a:defRPr sz="1800" b="0">
                <a:uFillTx/>
              </a:defRPr>
            </a:pPr>
            <a:r>
              <a:rPr sz="1100" b="0" dirty="0">
                <a:uFill>
                  <a:solidFill/>
                </a:uFill>
                <a:latin typeface="Gill Sans" charset="0"/>
                <a:ea typeface="Gill Sans" charset="0"/>
                <a:cs typeface="Gill Sans" charset="0"/>
              </a:rPr>
              <a:t>D</a:t>
            </a:r>
            <a:r>
              <a:rPr lang="en-US" sz="1100" b="0" dirty="0">
                <a:uFill>
                  <a:solidFill/>
                </a:uFill>
                <a:latin typeface="Gill Sans" charset="0"/>
                <a:ea typeface="Gill Sans" charset="0"/>
                <a:cs typeface="Gill Sans" charset="0"/>
              </a:rPr>
              <a:t>etector</a:t>
            </a:r>
            <a:r>
              <a:rPr sz="1100" b="0" dirty="0">
                <a:uFill>
                  <a:solidFill/>
                </a:uFill>
                <a:latin typeface="Gill Sans" charset="0"/>
                <a:ea typeface="Gill Sans" charset="0"/>
                <a:cs typeface="Gill Sans" charset="0"/>
              </a:rPr>
              <a:t>, e.g. </a:t>
            </a:r>
            <a:r>
              <a:rPr lang="en-US" sz="1100" b="0" dirty="0">
                <a:uFill>
                  <a:solidFill/>
                </a:uFill>
                <a:latin typeface="Gill Sans" charset="0"/>
                <a:ea typeface="Gill Sans" charset="0"/>
                <a:cs typeface="Gill Sans" charset="0"/>
              </a:rPr>
              <a:t>  </a:t>
            </a:r>
            <a:r>
              <a:rPr sz="1100" b="0" dirty="0">
                <a:uFill>
                  <a:solidFill/>
                </a:uFill>
                <a:latin typeface="Gill Sans" charset="0"/>
                <a:ea typeface="Gill Sans" charset="0"/>
                <a:cs typeface="Gill Sans" charset="0"/>
              </a:rPr>
              <a:t>CCD </a:t>
            </a:r>
            <a:r>
              <a:rPr lang="en-US" sz="1100" b="0" dirty="0">
                <a:uFill>
                  <a:solidFill/>
                </a:uFill>
                <a:latin typeface="Gill Sans" charset="0"/>
                <a:ea typeface="Gill Sans" charset="0"/>
                <a:cs typeface="Gill Sans" charset="0"/>
              </a:rPr>
              <a:t>camera   </a:t>
            </a:r>
          </a:p>
        </p:txBody>
      </p:sp>
      <p:grpSp>
        <p:nvGrpSpPr>
          <p:cNvPr id="59" name="Group 59"/>
          <p:cNvGrpSpPr/>
          <p:nvPr/>
        </p:nvGrpSpPr>
        <p:grpSpPr>
          <a:xfrm>
            <a:off x="8705057" y="2114794"/>
            <a:ext cx="107950" cy="144463"/>
            <a:chOff x="0" y="0"/>
            <a:chExt cx="107950" cy="144462"/>
          </a:xfrm>
        </p:grpSpPr>
        <p:sp>
          <p:nvSpPr>
            <p:cNvPr id="56" name="Shape 56"/>
            <p:cNvSpPr/>
            <p:nvPr/>
          </p:nvSpPr>
          <p:spPr>
            <a:xfrm flipV="1">
              <a:off x="0" y="4762"/>
              <a:ext cx="106363" cy="139701"/>
            </a:xfrm>
            <a:prstGeom prst="line">
              <a:avLst/>
            </a:prstGeom>
            <a:noFill/>
            <a:ln w="19050" cap="flat">
              <a:solidFill>
                <a:srgbClr val="000000"/>
              </a:solidFill>
              <a:prstDash val="solid"/>
              <a:round/>
            </a:ln>
            <a:effectLst/>
          </p:spPr>
          <p:txBody>
            <a:bodyPr wrap="square" lIns="0" tIns="0" rIns="0" bIns="0" numCol="1" anchor="t">
              <a:noAutofit/>
            </a:bodyPr>
            <a:lstStyle/>
            <a:p>
              <a:pPr marL="0" marR="0" lvl="0" defTabSz="457200">
                <a:defRPr sz="1200">
                  <a:uFillTx/>
                  <a:latin typeface="Helvetica"/>
                  <a:ea typeface="Helvetica"/>
                  <a:cs typeface="Helvetica"/>
                  <a:sym typeface="Helvetica"/>
                </a:defRPr>
              </a:pPr>
              <a:endParaRPr>
                <a:latin typeface="Gill Sans" charset="0"/>
                <a:ea typeface="Gill Sans" charset="0"/>
                <a:cs typeface="Gill Sans" charset="0"/>
              </a:endParaRPr>
            </a:p>
          </p:txBody>
        </p:sp>
        <p:sp>
          <p:nvSpPr>
            <p:cNvPr id="57" name="Shape 57"/>
            <p:cNvSpPr/>
            <p:nvPr/>
          </p:nvSpPr>
          <p:spPr>
            <a:xfrm>
              <a:off x="106362" y="4762"/>
              <a:ext cx="1588" cy="58738"/>
            </a:xfrm>
            <a:prstGeom prst="line">
              <a:avLst/>
            </a:prstGeom>
            <a:noFill/>
            <a:ln w="19050" cap="flat">
              <a:solidFill>
                <a:srgbClr val="000000"/>
              </a:solidFill>
              <a:prstDash val="solid"/>
              <a:round/>
            </a:ln>
            <a:effectLst/>
          </p:spPr>
          <p:txBody>
            <a:bodyPr wrap="square" lIns="0" tIns="0" rIns="0" bIns="0" numCol="1" anchor="t">
              <a:noAutofit/>
            </a:bodyPr>
            <a:lstStyle/>
            <a:p>
              <a:pPr marL="0" marR="0" lvl="0" defTabSz="457200">
                <a:defRPr sz="1200">
                  <a:uFillTx/>
                  <a:latin typeface="Helvetica"/>
                  <a:ea typeface="Helvetica"/>
                  <a:cs typeface="Helvetica"/>
                  <a:sym typeface="Helvetica"/>
                </a:defRPr>
              </a:pPr>
              <a:endParaRPr>
                <a:latin typeface="Gill Sans" charset="0"/>
                <a:ea typeface="Gill Sans" charset="0"/>
                <a:cs typeface="Gill Sans" charset="0"/>
              </a:endParaRPr>
            </a:p>
          </p:txBody>
        </p:sp>
        <p:sp>
          <p:nvSpPr>
            <p:cNvPr id="58" name="Shape 58"/>
            <p:cNvSpPr/>
            <p:nvPr/>
          </p:nvSpPr>
          <p:spPr>
            <a:xfrm flipH="1">
              <a:off x="55562" y="0"/>
              <a:ext cx="50801" cy="17463"/>
            </a:xfrm>
            <a:prstGeom prst="line">
              <a:avLst/>
            </a:prstGeom>
            <a:noFill/>
            <a:ln w="19050" cap="flat">
              <a:solidFill>
                <a:srgbClr val="000000"/>
              </a:solidFill>
              <a:prstDash val="solid"/>
              <a:round/>
            </a:ln>
            <a:effectLst/>
          </p:spPr>
          <p:txBody>
            <a:bodyPr wrap="square" lIns="0" tIns="0" rIns="0" bIns="0" numCol="1" anchor="t">
              <a:noAutofit/>
            </a:bodyPr>
            <a:lstStyle/>
            <a:p>
              <a:pPr marL="0" marR="0" lvl="0" defTabSz="457200">
                <a:defRPr sz="1200">
                  <a:uFillTx/>
                  <a:latin typeface="Helvetica"/>
                  <a:ea typeface="Helvetica"/>
                  <a:cs typeface="Helvetica"/>
                  <a:sym typeface="Helvetica"/>
                </a:defRPr>
              </a:pPr>
              <a:endParaRPr>
                <a:latin typeface="Gill Sans" charset="0"/>
                <a:ea typeface="Gill Sans" charset="0"/>
                <a:cs typeface="Gill Sans" charset="0"/>
              </a:endParaRPr>
            </a:p>
          </p:txBody>
        </p:sp>
      </p:grpSp>
      <p:grpSp>
        <p:nvGrpSpPr>
          <p:cNvPr id="20" name="Group 19">
            <a:extLst>
              <a:ext uri="{FF2B5EF4-FFF2-40B4-BE49-F238E27FC236}">
                <a16:creationId xmlns:a16="http://schemas.microsoft.com/office/drawing/2014/main" id="{17C2EE67-0052-F141-9E99-A81987880714}"/>
              </a:ext>
            </a:extLst>
          </p:cNvPr>
          <p:cNvGrpSpPr/>
          <p:nvPr/>
        </p:nvGrpSpPr>
        <p:grpSpPr>
          <a:xfrm>
            <a:off x="6319775" y="2844800"/>
            <a:ext cx="2806700" cy="958148"/>
            <a:chOff x="6319775" y="2844800"/>
            <a:chExt cx="2806700" cy="958148"/>
          </a:xfrm>
        </p:grpSpPr>
        <p:sp>
          <p:nvSpPr>
            <p:cNvPr id="60" name="Shape 60"/>
            <p:cNvSpPr/>
            <p:nvPr/>
          </p:nvSpPr>
          <p:spPr>
            <a:xfrm>
              <a:off x="7035800" y="2844800"/>
              <a:ext cx="1384300" cy="307777"/>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1200"/>
                </a:spcBef>
                <a:buClr>
                  <a:srgbClr val="0632F7"/>
                </a:buClr>
                <a:buFont typeface="Helvetica"/>
                <a:defRPr sz="2000" b="1">
                  <a:solidFill>
                    <a:srgbClr val="0632F7"/>
                  </a:solidFill>
                  <a:uFill>
                    <a:solidFill>
                      <a:srgbClr val="0632F7"/>
                    </a:solidFill>
                  </a:uFill>
                  <a:latin typeface="Helvetica"/>
                  <a:ea typeface="Helvetica"/>
                  <a:cs typeface="Helvetica"/>
                  <a:sym typeface="Helvetica"/>
                </a:defRPr>
              </a:lvl1pPr>
            </a:lstStyle>
            <a:p>
              <a:pPr lvl="0">
                <a:defRPr sz="1800" b="0">
                  <a:solidFill>
                    <a:srgbClr val="000000"/>
                  </a:solidFill>
                  <a:uFillTx/>
                </a:defRPr>
              </a:pPr>
              <a:r>
                <a:rPr sz="2000" b="0" dirty="0">
                  <a:solidFill>
                    <a:schemeClr val="tx1"/>
                  </a:solidFill>
                  <a:uFill>
                    <a:solidFill>
                      <a:srgbClr val="0632F7"/>
                    </a:solidFill>
                  </a:uFill>
                  <a:latin typeface="Gill Sans" charset="0"/>
                  <a:ea typeface="Gill Sans" charset="0"/>
                  <a:cs typeface="Gill Sans" charset="0"/>
                </a:rPr>
                <a:t>O</a:t>
              </a:r>
              <a:r>
                <a:rPr lang="en-US" sz="2000" b="0" dirty="0">
                  <a:solidFill>
                    <a:schemeClr val="tx1"/>
                  </a:solidFill>
                  <a:uFill>
                    <a:solidFill>
                      <a:srgbClr val="0632F7"/>
                    </a:solidFill>
                  </a:uFill>
                  <a:latin typeface="Gill Sans" charset="0"/>
                  <a:ea typeface="Gill Sans" charset="0"/>
                  <a:cs typeface="Gill Sans" charset="0"/>
                </a:rPr>
                <a:t>h no</a:t>
              </a:r>
              <a:r>
                <a:rPr sz="2000" b="0" dirty="0">
                  <a:solidFill>
                    <a:schemeClr val="tx1"/>
                  </a:solidFill>
                  <a:uFill>
                    <a:solidFill>
                      <a:srgbClr val="0632F7"/>
                    </a:solidFill>
                  </a:uFill>
                  <a:latin typeface="Gill Sans" charset="0"/>
                  <a:ea typeface="Gill Sans" charset="0"/>
                  <a:cs typeface="Gill Sans" charset="0"/>
                </a:rPr>
                <a:t>!</a:t>
              </a:r>
            </a:p>
          </p:txBody>
        </p:sp>
        <p:sp>
          <p:nvSpPr>
            <p:cNvPr id="61" name="Shape 61"/>
            <p:cNvSpPr/>
            <p:nvPr/>
          </p:nvSpPr>
          <p:spPr>
            <a:xfrm>
              <a:off x="6319775" y="3248950"/>
              <a:ext cx="2806700" cy="553998"/>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lvl="0">
                <a:spcBef>
                  <a:spcPts val="1100"/>
                </a:spcBef>
                <a:buClr>
                  <a:srgbClr val="0632F7"/>
                </a:buClr>
                <a:buFont typeface="Helvetica"/>
                <a:defRPr sz="1800">
                  <a:uFillTx/>
                </a:defRPr>
              </a:pPr>
              <a:r>
                <a:rPr lang="en-US" b="0" dirty="0">
                  <a:solidFill>
                    <a:schemeClr val="tx1"/>
                  </a:solidFill>
                  <a:uFill>
                    <a:solidFill>
                      <a:schemeClr val="tx1"/>
                    </a:solidFill>
                  </a:uFill>
                  <a:latin typeface="Gill Sans" charset="0"/>
                  <a:ea typeface="Gill Sans" charset="0"/>
                  <a:cs typeface="Gill Sans" charset="0"/>
                  <a:sym typeface="Helvetica"/>
                </a:rPr>
                <a:t>Only the spot intensity is detected: </a:t>
              </a:r>
              <a:r>
                <a:rPr lang="en-US" b="0" u="sng" dirty="0">
                  <a:solidFill>
                    <a:schemeClr val="tx1"/>
                  </a:solidFill>
                  <a:uFill>
                    <a:solidFill>
                      <a:schemeClr val="tx1"/>
                    </a:solidFill>
                  </a:uFill>
                  <a:latin typeface="Gill Sans" charset="0"/>
                  <a:ea typeface="Gill Sans" charset="0"/>
                  <a:cs typeface="Gill Sans" charset="0"/>
                  <a:sym typeface="Helvetica"/>
                </a:rPr>
                <a:t>Lose all phase info</a:t>
              </a:r>
              <a:r>
                <a:rPr lang="en-US" b="0" dirty="0">
                  <a:solidFill>
                    <a:schemeClr val="tx1"/>
                  </a:solidFill>
                  <a:uFill>
                    <a:solidFill>
                      <a:schemeClr val="tx1"/>
                    </a:solidFill>
                  </a:uFill>
                  <a:latin typeface="Gill Sans" charset="0"/>
                  <a:ea typeface="Gill Sans" charset="0"/>
                  <a:cs typeface="Gill Sans" charset="0"/>
                  <a:sym typeface="Helvetica"/>
                </a:rPr>
                <a:t>!</a:t>
              </a:r>
            </a:p>
          </p:txBody>
        </p:sp>
      </p:grpSp>
      <p:sp>
        <p:nvSpPr>
          <p:cNvPr id="63" name="Shape 63"/>
          <p:cNvSpPr/>
          <p:nvPr/>
        </p:nvSpPr>
        <p:spPr>
          <a:xfrm>
            <a:off x="8666162" y="93662"/>
            <a:ext cx="393701" cy="184666"/>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700"/>
              </a:spcBef>
              <a:buClr>
                <a:srgbClr val="4349AA"/>
              </a:buClr>
              <a:buFont typeface="Helvetica"/>
              <a:defRPr sz="1200">
                <a:solidFill>
                  <a:srgbClr val="4349AA"/>
                </a:solidFill>
                <a:uFill>
                  <a:solidFill>
                    <a:srgbClr val="4349AA"/>
                  </a:solidFill>
                </a:uFill>
                <a:latin typeface="Webdings"/>
                <a:ea typeface="Webdings"/>
                <a:cs typeface="Webdings"/>
                <a:sym typeface="Webdings"/>
              </a:defRPr>
            </a:lvl1pPr>
          </a:lstStyle>
          <a:p>
            <a:pPr lvl="0">
              <a:defRPr sz="1800">
                <a:solidFill>
                  <a:srgbClr val="000000"/>
                </a:solidFill>
                <a:uFillTx/>
              </a:defRPr>
            </a:pPr>
            <a:r>
              <a:rPr sz="1200">
                <a:solidFill>
                  <a:srgbClr val="4349AA"/>
                </a:solidFill>
                <a:uFill>
                  <a:solidFill>
                    <a:srgbClr val="4349AA"/>
                  </a:solidFill>
                </a:uFill>
                <a:latin typeface="Gill Sans" charset="0"/>
                <a:ea typeface="Gill Sans" charset="0"/>
                <a:cs typeface="Gill Sans" charset="0"/>
              </a:rPr>
              <a:t></a:t>
            </a:r>
          </a:p>
        </p:txBody>
      </p:sp>
      <p:sp>
        <p:nvSpPr>
          <p:cNvPr id="64" name="Shape 64"/>
          <p:cNvSpPr/>
          <p:nvPr/>
        </p:nvSpPr>
        <p:spPr>
          <a:xfrm>
            <a:off x="8796337" y="392112"/>
            <a:ext cx="235962" cy="184666"/>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spcBef>
                <a:spcPts val="700"/>
              </a:spcBef>
              <a:buClr>
                <a:srgbClr val="4349AA"/>
              </a:buClr>
              <a:buFont typeface="Helvetica"/>
              <a:defRPr sz="1200">
                <a:solidFill>
                  <a:srgbClr val="4349AA"/>
                </a:solidFill>
                <a:uFill>
                  <a:solidFill>
                    <a:srgbClr val="4349AA"/>
                  </a:solidFill>
                </a:uFill>
                <a:latin typeface="Webdings"/>
                <a:ea typeface="Webdings"/>
                <a:cs typeface="Webdings"/>
                <a:sym typeface="Webdings"/>
              </a:defRPr>
            </a:lvl1pPr>
          </a:lstStyle>
          <a:p>
            <a:pPr lvl="0">
              <a:defRPr sz="1800">
                <a:solidFill>
                  <a:srgbClr val="000000"/>
                </a:solidFill>
                <a:uFillTx/>
              </a:defRPr>
            </a:pPr>
            <a:r>
              <a:rPr sz="1200">
                <a:solidFill>
                  <a:srgbClr val="4349AA"/>
                </a:solidFill>
                <a:uFill>
                  <a:solidFill>
                    <a:srgbClr val="4349AA"/>
                  </a:solidFill>
                </a:uFill>
                <a:latin typeface="Gill Sans" charset="0"/>
                <a:ea typeface="Gill Sans" charset="0"/>
                <a:cs typeface="Gill Sans" charset="0"/>
              </a:rPr>
              <a:t></a:t>
            </a:r>
          </a:p>
        </p:txBody>
      </p:sp>
      <p:sp>
        <p:nvSpPr>
          <p:cNvPr id="65" name="Shape 65"/>
          <p:cNvSpPr/>
          <p:nvPr/>
        </p:nvSpPr>
        <p:spPr>
          <a:xfrm>
            <a:off x="8848725" y="628650"/>
            <a:ext cx="235962" cy="184666"/>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spcBef>
                <a:spcPts val="700"/>
              </a:spcBef>
              <a:buClr>
                <a:srgbClr val="4349AA"/>
              </a:buClr>
              <a:buFont typeface="Helvetica"/>
              <a:defRPr sz="1200">
                <a:solidFill>
                  <a:srgbClr val="4349AA"/>
                </a:solidFill>
                <a:uFill>
                  <a:solidFill>
                    <a:srgbClr val="4349AA"/>
                  </a:solidFill>
                </a:uFill>
                <a:latin typeface="Webdings"/>
                <a:ea typeface="Webdings"/>
                <a:cs typeface="Webdings"/>
                <a:sym typeface="Webdings"/>
              </a:defRPr>
            </a:lvl1pPr>
          </a:lstStyle>
          <a:p>
            <a:pPr lvl="0">
              <a:defRPr sz="1800">
                <a:solidFill>
                  <a:srgbClr val="000000"/>
                </a:solidFill>
                <a:uFillTx/>
              </a:defRPr>
            </a:pPr>
            <a:r>
              <a:rPr sz="1200">
                <a:solidFill>
                  <a:srgbClr val="4349AA"/>
                </a:solidFill>
                <a:uFill>
                  <a:solidFill>
                    <a:srgbClr val="4349AA"/>
                  </a:solidFill>
                </a:uFill>
                <a:latin typeface="Gill Sans" charset="0"/>
                <a:ea typeface="Gill Sans" charset="0"/>
                <a:cs typeface="Gill Sans" charset="0"/>
              </a:rPr>
              <a:t></a:t>
            </a:r>
          </a:p>
        </p:txBody>
      </p:sp>
      <p:sp>
        <p:nvSpPr>
          <p:cNvPr id="66" name="Shape 66"/>
          <p:cNvSpPr/>
          <p:nvPr/>
        </p:nvSpPr>
        <p:spPr>
          <a:xfrm>
            <a:off x="8874125" y="887412"/>
            <a:ext cx="235962" cy="184666"/>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spcBef>
                <a:spcPts val="700"/>
              </a:spcBef>
              <a:buClr>
                <a:srgbClr val="4349AA"/>
              </a:buClr>
              <a:buFont typeface="Helvetica"/>
              <a:defRPr sz="1200">
                <a:solidFill>
                  <a:srgbClr val="4349AA"/>
                </a:solidFill>
                <a:uFill>
                  <a:solidFill>
                    <a:srgbClr val="4349AA"/>
                  </a:solidFill>
                </a:uFill>
                <a:latin typeface="Webdings"/>
                <a:ea typeface="Webdings"/>
                <a:cs typeface="Webdings"/>
                <a:sym typeface="Webdings"/>
              </a:defRPr>
            </a:lvl1pPr>
          </a:lstStyle>
          <a:p>
            <a:pPr lvl="0">
              <a:defRPr sz="1800">
                <a:solidFill>
                  <a:srgbClr val="000000"/>
                </a:solidFill>
                <a:uFillTx/>
              </a:defRPr>
            </a:pPr>
            <a:r>
              <a:rPr sz="1200">
                <a:solidFill>
                  <a:srgbClr val="4349AA"/>
                </a:solidFill>
                <a:uFill>
                  <a:solidFill>
                    <a:srgbClr val="4349AA"/>
                  </a:solidFill>
                </a:uFill>
                <a:latin typeface="Gill Sans" charset="0"/>
                <a:ea typeface="Gill Sans" charset="0"/>
                <a:cs typeface="Gill Sans" charset="0"/>
              </a:rPr>
              <a:t></a:t>
            </a:r>
          </a:p>
        </p:txBody>
      </p:sp>
      <p:sp>
        <p:nvSpPr>
          <p:cNvPr id="67" name="Shape 67"/>
          <p:cNvSpPr/>
          <p:nvPr/>
        </p:nvSpPr>
        <p:spPr>
          <a:xfrm>
            <a:off x="8806393" y="1293284"/>
            <a:ext cx="338554" cy="307777"/>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spcBef>
                <a:spcPts val="1200"/>
              </a:spcBef>
              <a:buClr>
                <a:srgbClr val="4349AA"/>
              </a:buClr>
              <a:buFont typeface="Helvetica"/>
              <a:defRPr sz="2000">
                <a:solidFill>
                  <a:srgbClr val="4349AA"/>
                </a:solidFill>
                <a:uFill>
                  <a:solidFill>
                    <a:srgbClr val="4349AA"/>
                  </a:solidFill>
                </a:uFill>
                <a:latin typeface="Webdings"/>
                <a:ea typeface="Webdings"/>
                <a:cs typeface="Webdings"/>
                <a:sym typeface="Webdings"/>
              </a:defRPr>
            </a:lvl1pPr>
          </a:lstStyle>
          <a:p>
            <a:pPr lvl="0">
              <a:defRPr sz="1800">
                <a:solidFill>
                  <a:srgbClr val="000000"/>
                </a:solidFill>
                <a:uFillTx/>
              </a:defRPr>
            </a:pPr>
            <a:r>
              <a:rPr sz="2000">
                <a:solidFill>
                  <a:srgbClr val="4349AA"/>
                </a:solidFill>
                <a:uFill>
                  <a:solidFill>
                    <a:srgbClr val="4349AA"/>
                  </a:solidFill>
                </a:uFill>
                <a:latin typeface="Gill Sans" charset="0"/>
                <a:ea typeface="Gill Sans" charset="0"/>
                <a:cs typeface="Gill Sans" charset="0"/>
              </a:rPr>
              <a:t></a:t>
            </a:r>
          </a:p>
        </p:txBody>
      </p:sp>
      <p:sp>
        <p:nvSpPr>
          <p:cNvPr id="68" name="Shape 68"/>
          <p:cNvSpPr/>
          <p:nvPr/>
        </p:nvSpPr>
        <p:spPr>
          <a:xfrm>
            <a:off x="8800572" y="1648884"/>
            <a:ext cx="235962" cy="184666"/>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spcBef>
                <a:spcPts val="700"/>
              </a:spcBef>
              <a:buClr>
                <a:srgbClr val="4349AA"/>
              </a:buClr>
              <a:buFont typeface="Helvetica"/>
              <a:defRPr sz="1200">
                <a:solidFill>
                  <a:srgbClr val="4349AA"/>
                </a:solidFill>
                <a:uFill>
                  <a:solidFill>
                    <a:srgbClr val="4349AA"/>
                  </a:solidFill>
                </a:uFill>
                <a:latin typeface="Webdings"/>
                <a:ea typeface="Webdings"/>
                <a:cs typeface="Webdings"/>
                <a:sym typeface="Webdings"/>
              </a:defRPr>
            </a:lvl1pPr>
          </a:lstStyle>
          <a:p>
            <a:pPr lvl="0">
              <a:defRPr sz="1800">
                <a:solidFill>
                  <a:srgbClr val="000000"/>
                </a:solidFill>
                <a:uFillTx/>
              </a:defRPr>
            </a:pPr>
            <a:r>
              <a:rPr sz="1200">
                <a:solidFill>
                  <a:srgbClr val="4349AA"/>
                </a:solidFill>
                <a:uFill>
                  <a:solidFill>
                    <a:srgbClr val="4349AA"/>
                  </a:solidFill>
                </a:uFill>
                <a:latin typeface="Gill Sans" charset="0"/>
                <a:ea typeface="Gill Sans" charset="0"/>
                <a:cs typeface="Gill Sans" charset="0"/>
              </a:rPr>
              <a:t></a:t>
            </a:r>
          </a:p>
        </p:txBody>
      </p:sp>
      <p:sp>
        <p:nvSpPr>
          <p:cNvPr id="69" name="Shape 69"/>
          <p:cNvSpPr/>
          <p:nvPr/>
        </p:nvSpPr>
        <p:spPr>
          <a:xfrm>
            <a:off x="8693680" y="1811338"/>
            <a:ext cx="312906" cy="27699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spcBef>
                <a:spcPts val="1100"/>
              </a:spcBef>
              <a:buClr>
                <a:srgbClr val="4349AA"/>
              </a:buClr>
              <a:buFont typeface="Helvetica"/>
              <a:defRPr sz="1800">
                <a:solidFill>
                  <a:srgbClr val="4349AA"/>
                </a:solidFill>
                <a:uFill>
                  <a:solidFill>
                    <a:srgbClr val="4349AA"/>
                  </a:solidFill>
                </a:uFill>
                <a:latin typeface="Webdings"/>
                <a:ea typeface="Webdings"/>
                <a:cs typeface="Webdings"/>
                <a:sym typeface="Webdings"/>
              </a:defRPr>
            </a:lvl1pPr>
          </a:lstStyle>
          <a:p>
            <a:pPr lvl="0">
              <a:defRPr>
                <a:solidFill>
                  <a:srgbClr val="000000"/>
                </a:solidFill>
                <a:uFillTx/>
              </a:defRPr>
            </a:pPr>
            <a:r>
              <a:rPr dirty="0">
                <a:solidFill>
                  <a:srgbClr val="4349AA"/>
                </a:solidFill>
                <a:uFill>
                  <a:solidFill>
                    <a:srgbClr val="4349AA"/>
                  </a:solidFill>
                </a:uFill>
                <a:latin typeface="Gill Sans" charset="0"/>
                <a:ea typeface="Gill Sans" charset="0"/>
                <a:cs typeface="Gill Sans" charset="0"/>
              </a:rPr>
              <a:t></a:t>
            </a:r>
          </a:p>
        </p:txBody>
      </p:sp>
      <p:sp>
        <p:nvSpPr>
          <p:cNvPr id="71" name="Shape 71"/>
          <p:cNvSpPr/>
          <p:nvPr/>
        </p:nvSpPr>
        <p:spPr>
          <a:xfrm>
            <a:off x="34265" y="872966"/>
            <a:ext cx="5088625" cy="246221"/>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spcBef>
                <a:spcPts val="900"/>
              </a:spcBef>
              <a:buClr>
                <a:srgbClr val="000000"/>
              </a:buClr>
              <a:buFont typeface="Helvetica"/>
              <a:defRPr sz="1600" b="1">
                <a:latin typeface="Helvetica"/>
                <a:ea typeface="Helvetica"/>
                <a:cs typeface="Helvetica"/>
                <a:sym typeface="Helvetica"/>
              </a:defRPr>
            </a:lvl1pPr>
          </a:lstStyle>
          <a:p>
            <a:pPr lvl="0">
              <a:defRPr sz="1800" b="0">
                <a:uFillTx/>
              </a:defRPr>
            </a:pPr>
            <a:r>
              <a:rPr sz="1600" b="0" dirty="0">
                <a:uFill>
                  <a:solidFill/>
                </a:uFill>
                <a:latin typeface="Gill Sans" charset="0"/>
                <a:ea typeface="Gill Sans" charset="0"/>
                <a:cs typeface="Gill Sans" charset="0"/>
              </a:rPr>
              <a:t>A</a:t>
            </a:r>
            <a:r>
              <a:rPr lang="en-US" sz="1600" b="0" dirty="0">
                <a:uFill>
                  <a:solidFill/>
                </a:uFill>
                <a:latin typeface="Gill Sans" charset="0"/>
                <a:ea typeface="Gill Sans" charset="0"/>
                <a:cs typeface="Gill Sans" charset="0"/>
              </a:rPr>
              <a:t>s used to study protein crystals</a:t>
            </a:r>
            <a:r>
              <a:rPr sz="1600" b="0" dirty="0">
                <a:uFill>
                  <a:solidFill/>
                </a:uFill>
                <a:latin typeface="Gill Sans" charset="0"/>
                <a:ea typeface="Gill Sans" charset="0"/>
                <a:cs typeface="Gill Sans" charset="0"/>
              </a:rPr>
              <a:t>: “P</a:t>
            </a:r>
            <a:r>
              <a:rPr lang="en-US" sz="1600" b="0" dirty="0">
                <a:uFill>
                  <a:solidFill/>
                </a:uFill>
                <a:latin typeface="Gill Sans" charset="0"/>
                <a:ea typeface="Gill Sans" charset="0"/>
                <a:cs typeface="Gill Sans" charset="0"/>
              </a:rPr>
              <a:t>rotein crystallography</a:t>
            </a:r>
            <a:r>
              <a:rPr sz="1600" b="0" dirty="0">
                <a:uFill>
                  <a:solidFill/>
                </a:uFill>
                <a:latin typeface="Gill Sans" charset="0"/>
                <a:ea typeface="Gill Sans" charset="0"/>
                <a:cs typeface="Gill Sans" charset="0"/>
              </a:rPr>
              <a:t>”</a:t>
            </a:r>
          </a:p>
        </p:txBody>
      </p:sp>
      <p:pic>
        <p:nvPicPr>
          <p:cNvPr id="72" name="image.png"/>
          <p:cNvPicPr/>
          <p:nvPr/>
        </p:nvPicPr>
        <p:blipFill>
          <a:blip r:embed="rId4"/>
          <a:stretch>
            <a:fillRect/>
          </a:stretch>
        </p:blipFill>
        <p:spPr>
          <a:xfrm>
            <a:off x="0" y="4419600"/>
            <a:ext cx="6477000" cy="2039938"/>
          </a:xfrm>
          <a:prstGeom prst="rect">
            <a:avLst/>
          </a:prstGeom>
          <a:ln w="12700">
            <a:miter lim="400000"/>
          </a:ln>
        </p:spPr>
      </p:pic>
      <p:sp>
        <p:nvSpPr>
          <p:cNvPr id="79" name="Shape 79"/>
          <p:cNvSpPr/>
          <p:nvPr/>
        </p:nvSpPr>
        <p:spPr>
          <a:xfrm flipH="1" flipV="1">
            <a:off x="596900" y="4038600"/>
            <a:ext cx="817404" cy="749300"/>
          </a:xfrm>
          <a:prstGeom prst="line">
            <a:avLst/>
          </a:prstGeom>
          <a:ln w="19050">
            <a:solidFill>
              <a:srgbClr val="7AA2FE"/>
            </a:solidFill>
            <a:round/>
            <a:headEnd type="stealth"/>
          </a:ln>
        </p:spPr>
        <p:txBody>
          <a:bodyPr lIns="0" tIns="0" rIns="0" bIns="0"/>
          <a:lstStyle/>
          <a:p>
            <a:pPr marL="0" marR="0" lvl="0" defTabSz="457200">
              <a:defRPr sz="1200">
                <a:uFillTx/>
                <a:latin typeface="Helvetica"/>
                <a:ea typeface="Helvetica"/>
                <a:cs typeface="Helvetica"/>
                <a:sym typeface="Helvetica"/>
              </a:defRPr>
            </a:pPr>
            <a:endParaRPr>
              <a:latin typeface="Gill Sans" charset="0"/>
              <a:ea typeface="Gill Sans" charset="0"/>
              <a:cs typeface="Gill Sans" charset="0"/>
            </a:endParaRPr>
          </a:p>
        </p:txBody>
      </p:sp>
      <p:sp>
        <p:nvSpPr>
          <p:cNvPr id="80" name="Shape 80"/>
          <p:cNvSpPr/>
          <p:nvPr/>
        </p:nvSpPr>
        <p:spPr>
          <a:xfrm flipH="1" flipV="1">
            <a:off x="451198" y="4071129"/>
            <a:ext cx="614976" cy="700001"/>
          </a:xfrm>
          <a:prstGeom prst="line">
            <a:avLst/>
          </a:prstGeom>
          <a:ln w="19050">
            <a:solidFill>
              <a:srgbClr val="FF2926"/>
            </a:solidFill>
            <a:round/>
            <a:headEnd type="stealth"/>
          </a:ln>
        </p:spPr>
        <p:txBody>
          <a:bodyPr lIns="0" tIns="0" rIns="0" bIns="0"/>
          <a:lstStyle/>
          <a:p>
            <a:pPr marL="0" marR="0" lvl="0" defTabSz="457200">
              <a:defRPr sz="1200">
                <a:uFillTx/>
                <a:latin typeface="Helvetica"/>
                <a:ea typeface="Helvetica"/>
                <a:cs typeface="Helvetica"/>
                <a:sym typeface="Helvetica"/>
              </a:defRPr>
            </a:pPr>
            <a:endParaRPr>
              <a:latin typeface="Gill Sans" charset="0"/>
              <a:ea typeface="Gill Sans" charset="0"/>
              <a:cs typeface="Gill Sans" charset="0"/>
            </a:endParaRPr>
          </a:p>
        </p:txBody>
      </p:sp>
      <p:sp>
        <p:nvSpPr>
          <p:cNvPr id="81" name="Shape 81"/>
          <p:cNvSpPr/>
          <p:nvPr/>
        </p:nvSpPr>
        <p:spPr>
          <a:xfrm flipV="1">
            <a:off x="3276600" y="2024062"/>
            <a:ext cx="5453063" cy="2700338"/>
          </a:xfrm>
          <a:prstGeom prst="line">
            <a:avLst/>
          </a:prstGeom>
          <a:ln w="28575">
            <a:solidFill>
              <a:srgbClr val="EB79EC"/>
            </a:solidFill>
            <a:round/>
            <a:tailEnd type="triangle"/>
          </a:ln>
        </p:spPr>
        <p:txBody>
          <a:bodyPr lIns="0" tIns="0" rIns="0" bIns="0"/>
          <a:lstStyle/>
          <a:p>
            <a:pPr marL="0" marR="0" lvl="0" defTabSz="457200">
              <a:defRPr sz="1200">
                <a:uFillTx/>
                <a:latin typeface="Helvetica"/>
                <a:ea typeface="Helvetica"/>
                <a:cs typeface="Helvetica"/>
                <a:sym typeface="Helvetica"/>
              </a:defRPr>
            </a:pPr>
            <a:endParaRPr>
              <a:latin typeface="Gill Sans" charset="0"/>
              <a:ea typeface="Gill Sans" charset="0"/>
              <a:cs typeface="Gill Sans" charset="0"/>
            </a:endParaRPr>
          </a:p>
        </p:txBody>
      </p:sp>
      <p:sp>
        <p:nvSpPr>
          <p:cNvPr id="82" name="Shape 82"/>
          <p:cNvSpPr/>
          <p:nvPr/>
        </p:nvSpPr>
        <p:spPr>
          <a:xfrm>
            <a:off x="6383199" y="4437367"/>
            <a:ext cx="2924176" cy="492443"/>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900"/>
              </a:spcBef>
              <a:buClr>
                <a:srgbClr val="0632F7"/>
              </a:buClr>
              <a:buFont typeface="Helvetica"/>
              <a:defRPr sz="1600" b="1">
                <a:solidFill>
                  <a:srgbClr val="0632F7"/>
                </a:solidFill>
                <a:uFill>
                  <a:solidFill>
                    <a:srgbClr val="0632F7"/>
                  </a:solidFill>
                </a:uFill>
                <a:latin typeface="Helvetica"/>
                <a:ea typeface="Helvetica"/>
                <a:cs typeface="Helvetica"/>
                <a:sym typeface="Helvetica"/>
              </a:defRPr>
            </a:lvl1pPr>
          </a:lstStyle>
          <a:p>
            <a:pPr lvl="0">
              <a:defRPr sz="1800" b="0">
                <a:solidFill>
                  <a:srgbClr val="000000"/>
                </a:solidFill>
                <a:uFillTx/>
              </a:defRPr>
            </a:pPr>
            <a:r>
              <a:rPr sz="1600" b="0" dirty="0">
                <a:solidFill>
                  <a:schemeClr val="tx1"/>
                </a:solidFill>
                <a:uFill>
                  <a:solidFill>
                    <a:srgbClr val="0632F7"/>
                  </a:solidFill>
                </a:uFill>
                <a:latin typeface="Gill Sans" charset="0"/>
                <a:ea typeface="Gill Sans" charset="0"/>
                <a:cs typeface="Gill Sans" charset="0"/>
              </a:rPr>
              <a:t>T</a:t>
            </a:r>
            <a:r>
              <a:rPr lang="en-US" sz="1600" b="0" dirty="0">
                <a:solidFill>
                  <a:schemeClr val="tx1"/>
                </a:solidFill>
                <a:uFill>
                  <a:solidFill>
                    <a:srgbClr val="0632F7"/>
                  </a:solidFill>
                </a:uFill>
                <a:latin typeface="Gill Sans" charset="0"/>
                <a:ea typeface="Gill Sans" charset="0"/>
                <a:cs typeface="Gill Sans" charset="0"/>
              </a:rPr>
              <a:t>ook 30 years to solve "phase problem"</a:t>
            </a:r>
          </a:p>
        </p:txBody>
      </p:sp>
      <p:pic>
        <p:nvPicPr>
          <p:cNvPr id="83" name="droppedImage.tiff"/>
          <p:cNvPicPr/>
          <p:nvPr/>
        </p:nvPicPr>
        <p:blipFill>
          <a:blip r:embed="rId5">
            <a:alphaModFix amt="39128"/>
          </a:blip>
          <a:stretch>
            <a:fillRect/>
          </a:stretch>
        </p:blipFill>
        <p:spPr>
          <a:xfrm>
            <a:off x="6284367" y="783459"/>
            <a:ext cx="1395017" cy="609844"/>
          </a:xfrm>
          <a:prstGeom prst="rect">
            <a:avLst/>
          </a:prstGeom>
          <a:ln>
            <a:round/>
          </a:ln>
        </p:spPr>
      </p:pic>
      <p:sp>
        <p:nvSpPr>
          <p:cNvPr id="97" name="Shape 97"/>
          <p:cNvSpPr/>
          <p:nvPr/>
        </p:nvSpPr>
        <p:spPr>
          <a:xfrm>
            <a:off x="8870951" y="1171046"/>
            <a:ext cx="235962" cy="184666"/>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spcBef>
                <a:spcPts val="700"/>
              </a:spcBef>
              <a:buClr>
                <a:srgbClr val="4349AA"/>
              </a:buClr>
              <a:buFont typeface="Helvetica"/>
              <a:defRPr sz="1200">
                <a:solidFill>
                  <a:srgbClr val="4349AA"/>
                </a:solidFill>
                <a:uFill>
                  <a:solidFill>
                    <a:srgbClr val="4349AA"/>
                  </a:solidFill>
                </a:uFill>
                <a:latin typeface="Webdings"/>
                <a:ea typeface="Webdings"/>
                <a:cs typeface="Webdings"/>
                <a:sym typeface="Webdings"/>
              </a:defRPr>
            </a:lvl1pPr>
          </a:lstStyle>
          <a:p>
            <a:pPr lvl="0">
              <a:defRPr sz="1800">
                <a:solidFill>
                  <a:srgbClr val="000000"/>
                </a:solidFill>
                <a:uFillTx/>
              </a:defRPr>
            </a:pPr>
            <a:r>
              <a:rPr sz="1200">
                <a:solidFill>
                  <a:srgbClr val="4349AA"/>
                </a:solidFill>
                <a:uFill>
                  <a:solidFill>
                    <a:srgbClr val="4349AA"/>
                  </a:solidFill>
                </a:uFill>
                <a:latin typeface="Gill Sans" charset="0"/>
                <a:ea typeface="Gill Sans" charset="0"/>
                <a:cs typeface="Gill Sans" charset="0"/>
              </a:rPr>
              <a:t></a:t>
            </a:r>
          </a:p>
        </p:txBody>
      </p:sp>
      <p:sp>
        <p:nvSpPr>
          <p:cNvPr id="70" name="Shape 70"/>
          <p:cNvSpPr/>
          <p:nvPr/>
        </p:nvSpPr>
        <p:spPr>
          <a:xfrm>
            <a:off x="6374313" y="5096494"/>
            <a:ext cx="2679700" cy="738664"/>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lvl="0">
              <a:spcBef>
                <a:spcPts val="900"/>
              </a:spcBef>
              <a:buClr>
                <a:srgbClr val="0632F7"/>
              </a:buClr>
              <a:buFont typeface="Helvetica"/>
              <a:defRPr sz="1800">
                <a:uFillTx/>
              </a:defRPr>
            </a:pPr>
            <a:r>
              <a:rPr sz="1600" b="0" dirty="0">
                <a:solidFill>
                  <a:schemeClr val="tx1"/>
                </a:solidFill>
                <a:uFill>
                  <a:solidFill>
                    <a:srgbClr val="0632F7"/>
                  </a:solidFill>
                </a:uFill>
                <a:latin typeface="Gill Sans" charset="0"/>
                <a:ea typeface="Gill Sans" charset="0"/>
                <a:cs typeface="Gill Sans" charset="0"/>
                <a:sym typeface="Helvetica"/>
              </a:rPr>
              <a:t>C</a:t>
            </a:r>
            <a:r>
              <a:rPr lang="en-US" sz="1600" b="0" dirty="0">
                <a:solidFill>
                  <a:schemeClr val="tx1"/>
                </a:solidFill>
                <a:uFill>
                  <a:solidFill>
                    <a:srgbClr val="0632F7"/>
                  </a:solidFill>
                </a:uFill>
                <a:latin typeface="Gill Sans" charset="0"/>
                <a:ea typeface="Gill Sans" charset="0"/>
                <a:cs typeface="Gill Sans" charset="0"/>
                <a:sym typeface="Helvetica"/>
              </a:rPr>
              <a:t>urrently, limiting factor for solving protein 3D by x-ray is </a:t>
            </a:r>
            <a:r>
              <a:rPr lang="en-US" sz="1600" b="0" dirty="0">
                <a:solidFill>
                  <a:schemeClr val="tx1"/>
                </a:solidFill>
                <a:uFill>
                  <a:solidFill>
                    <a:srgbClr val="0632F7"/>
                  </a:solidFill>
                </a:uFill>
                <a:latin typeface="Gill Sans" charset="0"/>
                <a:ea typeface="Gill Sans" charset="0"/>
                <a:cs typeface="Gill Sans" charset="0"/>
                <a:sym typeface="Chalkboard"/>
              </a:rPr>
              <a:t>good</a:t>
            </a:r>
            <a:r>
              <a:rPr lang="en-US" sz="1600" b="0" dirty="0">
                <a:solidFill>
                  <a:schemeClr val="tx1"/>
                </a:solidFill>
                <a:uFill>
                  <a:solidFill>
                    <a:srgbClr val="0632F7"/>
                  </a:solidFill>
                </a:uFill>
                <a:latin typeface="Gill Sans" charset="0"/>
                <a:ea typeface="Gill Sans" charset="0"/>
                <a:cs typeface="Gill Sans" charset="0"/>
                <a:sym typeface="Helvetica"/>
              </a:rPr>
              <a:t> crystals</a:t>
            </a:r>
          </a:p>
        </p:txBody>
      </p:sp>
      <p:grpSp>
        <p:nvGrpSpPr>
          <p:cNvPr id="6" name="Group 5"/>
          <p:cNvGrpSpPr/>
          <p:nvPr/>
        </p:nvGrpSpPr>
        <p:grpSpPr>
          <a:xfrm>
            <a:off x="34265" y="1106146"/>
            <a:ext cx="3445535" cy="841256"/>
            <a:chOff x="34265" y="1106146"/>
            <a:chExt cx="3445535" cy="841256"/>
          </a:xfrm>
        </p:grpSpPr>
        <p:sp>
          <p:nvSpPr>
            <p:cNvPr id="4" name="TextBox 3"/>
            <p:cNvSpPr txBox="1"/>
            <p:nvPr/>
          </p:nvSpPr>
          <p:spPr>
            <a:xfrm>
              <a:off x="711850" y="1294180"/>
              <a:ext cx="651934" cy="41036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2000" b="0" u="none" strike="noStrike" cap="none" spc="0" normalizeH="0" baseline="0">
                  <a:ln>
                    <a:noFill/>
                  </a:ln>
                  <a:solidFill>
                    <a:srgbClr val="000000"/>
                  </a:solidFill>
                  <a:effectLst/>
                  <a:uFill>
                    <a:solidFill>
                      <a:srgbClr val="000000"/>
                    </a:solidFill>
                  </a:uFill>
                  <a:latin typeface="Gill Sans" charset="0"/>
                  <a:ea typeface="Gill Sans" charset="0"/>
                  <a:cs typeface="Gill Sans" charset="0"/>
                  <a:sym typeface="Helvetica"/>
                </a:rPr>
                <a:t>=</a:t>
              </a:r>
            </a:p>
          </p:txBody>
        </p:sp>
        <p:grpSp>
          <p:nvGrpSpPr>
            <p:cNvPr id="5" name="Group 4"/>
            <p:cNvGrpSpPr/>
            <p:nvPr/>
          </p:nvGrpSpPr>
          <p:grpSpPr>
            <a:xfrm>
              <a:off x="34265" y="1106146"/>
              <a:ext cx="3445535" cy="841256"/>
              <a:chOff x="34265" y="1106146"/>
              <a:chExt cx="3445535" cy="841256"/>
            </a:xfrm>
          </p:grpSpPr>
          <p:sp>
            <p:nvSpPr>
              <p:cNvPr id="2" name="TextBox 1"/>
              <p:cNvSpPr txBox="1"/>
              <p:nvPr/>
            </p:nvSpPr>
            <p:spPr>
              <a:xfrm>
                <a:off x="34265" y="1106146"/>
                <a:ext cx="3445535" cy="84125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1600" b="0" u="none" strike="noStrike" cap="none" spc="0" normalizeH="0" baseline="0" dirty="0">
                    <a:ln>
                      <a:noFill/>
                    </a:ln>
                    <a:solidFill>
                      <a:srgbClr val="000000"/>
                    </a:solidFill>
                    <a:effectLst/>
                    <a:uFill>
                      <a:solidFill>
                        <a:srgbClr val="000000"/>
                      </a:solidFill>
                    </a:uFill>
                    <a:latin typeface="Gill Sans" charset="0"/>
                    <a:ea typeface="Gill Sans" charset="0"/>
                    <a:cs typeface="Gill Sans" charset="0"/>
                    <a:sym typeface="Helvetica"/>
                  </a:rPr>
                  <a:t>Cornell</a:t>
                </a:r>
                <a:r>
                  <a:rPr kumimoji="0" lang="en-US" sz="1600" b="0" u="none" strike="noStrike" cap="none" spc="0" normalizeH="0" dirty="0">
                    <a:ln>
                      <a:noFill/>
                    </a:ln>
                    <a:solidFill>
                      <a:srgbClr val="000000"/>
                    </a:solidFill>
                    <a:effectLst/>
                    <a:uFill>
                      <a:solidFill>
                        <a:srgbClr val="000000"/>
                      </a:solidFill>
                    </a:uFill>
                    <a:latin typeface="Gill Sans" charset="0"/>
                    <a:ea typeface="Gill Sans" charset="0"/>
                    <a:cs typeface="Gill Sans" charset="0"/>
                    <a:sym typeface="Helvetica"/>
                  </a:rPr>
                  <a:t> has a great x-ray source:        CHESS      </a:t>
                </a:r>
                <a:r>
                  <a:rPr kumimoji="0" lang="en-US" sz="1600" b="0" u="sng" strike="noStrike" cap="none" spc="0" normalizeH="0" dirty="0">
                    <a:ln>
                      <a:noFill/>
                    </a:ln>
                    <a:solidFill>
                      <a:srgbClr val="000000"/>
                    </a:solidFill>
                    <a:effectLst/>
                    <a:uFill>
                      <a:solidFill>
                        <a:srgbClr val="000000"/>
                      </a:solidFill>
                    </a:uFill>
                    <a:latin typeface="Gill Sans" charset="0"/>
                    <a:ea typeface="Gill Sans" charset="0"/>
                    <a:cs typeface="Gill Sans" charset="0"/>
                    <a:sym typeface="Helvetica"/>
                  </a:rPr>
                  <a:t>C</a:t>
                </a:r>
                <a:r>
                  <a:rPr kumimoji="0" lang="en-US" sz="1600" b="0" u="none" strike="noStrike" cap="none" spc="0" normalizeH="0" dirty="0">
                    <a:ln>
                      <a:noFill/>
                    </a:ln>
                    <a:solidFill>
                      <a:srgbClr val="000000"/>
                    </a:solidFill>
                    <a:effectLst/>
                    <a:uFill>
                      <a:solidFill>
                        <a:srgbClr val="000000"/>
                      </a:solidFill>
                    </a:uFill>
                    <a:latin typeface="Gill Sans" charset="0"/>
                    <a:ea typeface="Gill Sans" charset="0"/>
                    <a:cs typeface="Gill Sans" charset="0"/>
                    <a:sym typeface="Helvetica"/>
                  </a:rPr>
                  <a:t>ornell </a:t>
                </a:r>
                <a:r>
                  <a:rPr kumimoji="0" lang="en-US" sz="1600" b="0" u="sng" strike="noStrike" cap="none" spc="0" normalizeH="0" dirty="0">
                    <a:ln>
                      <a:noFill/>
                    </a:ln>
                    <a:solidFill>
                      <a:srgbClr val="000000"/>
                    </a:solidFill>
                    <a:effectLst/>
                    <a:uFill>
                      <a:solidFill>
                        <a:srgbClr val="000000"/>
                      </a:solidFill>
                    </a:uFill>
                    <a:latin typeface="Gill Sans" charset="0"/>
                    <a:ea typeface="Gill Sans" charset="0"/>
                    <a:cs typeface="Gill Sans" charset="0"/>
                    <a:sym typeface="Helvetica"/>
                  </a:rPr>
                  <a:t>H</a:t>
                </a:r>
                <a:r>
                  <a:rPr kumimoji="0" lang="en-US" sz="1600" b="0" u="none" strike="noStrike" cap="none" spc="0" normalizeH="0" dirty="0">
                    <a:ln>
                      <a:noFill/>
                    </a:ln>
                    <a:solidFill>
                      <a:srgbClr val="000000"/>
                    </a:solidFill>
                    <a:effectLst/>
                    <a:uFill>
                      <a:solidFill>
                        <a:srgbClr val="000000"/>
                      </a:solidFill>
                    </a:uFill>
                    <a:latin typeface="Gill Sans" charset="0"/>
                    <a:ea typeface="Gill Sans" charset="0"/>
                    <a:cs typeface="Gill Sans" charset="0"/>
                    <a:sym typeface="Helvetica"/>
                  </a:rPr>
                  <a:t>igh </a:t>
                </a:r>
                <a:r>
                  <a:rPr kumimoji="0" lang="en-US" sz="1600" b="0" u="sng" strike="noStrike" cap="none" spc="0" normalizeH="0" dirty="0">
                    <a:ln>
                      <a:noFill/>
                    </a:ln>
                    <a:solidFill>
                      <a:srgbClr val="000000"/>
                    </a:solidFill>
                    <a:effectLst/>
                    <a:uFill>
                      <a:solidFill>
                        <a:srgbClr val="000000"/>
                      </a:solidFill>
                    </a:uFill>
                    <a:latin typeface="Gill Sans" charset="0"/>
                    <a:ea typeface="Gill Sans" charset="0"/>
                    <a:cs typeface="Gill Sans" charset="0"/>
                    <a:sym typeface="Helvetica"/>
                  </a:rPr>
                  <a:t>E</a:t>
                </a:r>
                <a:r>
                  <a:rPr kumimoji="0" lang="en-US" sz="1600" b="0" u="none" strike="noStrike" cap="none" spc="0" normalizeH="0" dirty="0">
                    <a:ln>
                      <a:noFill/>
                    </a:ln>
                    <a:solidFill>
                      <a:srgbClr val="000000"/>
                    </a:solidFill>
                    <a:effectLst/>
                    <a:uFill>
                      <a:solidFill>
                        <a:srgbClr val="000000"/>
                      </a:solidFill>
                    </a:uFill>
                    <a:latin typeface="Gill Sans" charset="0"/>
                    <a:ea typeface="Gill Sans" charset="0"/>
                    <a:cs typeface="Gill Sans" charset="0"/>
                    <a:sym typeface="Helvetica"/>
                  </a:rPr>
                  <a:t>nergy          </a:t>
                </a:r>
                <a:r>
                  <a:rPr kumimoji="0" lang="en-US" sz="1600" b="0" u="sng" strike="noStrike" cap="none" spc="0" normalizeH="0" dirty="0">
                    <a:ln>
                      <a:noFill/>
                    </a:ln>
                    <a:solidFill>
                      <a:srgbClr val="000000"/>
                    </a:solidFill>
                    <a:effectLst/>
                    <a:uFill>
                      <a:solidFill>
                        <a:srgbClr val="000000"/>
                      </a:solidFill>
                    </a:uFill>
                    <a:latin typeface="Gill Sans" charset="0"/>
                    <a:ea typeface="Gill Sans" charset="0"/>
                    <a:cs typeface="Gill Sans" charset="0"/>
                    <a:sym typeface="Helvetica"/>
                  </a:rPr>
                  <a:t>S</a:t>
                </a:r>
                <a:r>
                  <a:rPr kumimoji="0" lang="en-US" sz="1600" b="0" u="none" strike="noStrike" cap="none" spc="0" normalizeH="0" dirty="0">
                    <a:ln>
                      <a:noFill/>
                    </a:ln>
                    <a:solidFill>
                      <a:srgbClr val="000000"/>
                    </a:solidFill>
                    <a:effectLst/>
                    <a:uFill>
                      <a:solidFill>
                        <a:srgbClr val="000000"/>
                      </a:solidFill>
                    </a:uFill>
                    <a:latin typeface="Gill Sans" charset="0"/>
                    <a:ea typeface="Gill Sans" charset="0"/>
                    <a:cs typeface="Gill Sans" charset="0"/>
                    <a:sym typeface="Helvetica"/>
                  </a:rPr>
                  <a:t>ynchrotron </a:t>
                </a:r>
                <a:r>
                  <a:rPr kumimoji="0" lang="en-US" sz="1600" b="0" u="sng" strike="noStrike" cap="none" spc="0" normalizeH="0" dirty="0">
                    <a:ln>
                      <a:noFill/>
                    </a:ln>
                    <a:solidFill>
                      <a:srgbClr val="000000"/>
                    </a:solidFill>
                    <a:effectLst/>
                    <a:uFill>
                      <a:solidFill>
                        <a:srgbClr val="000000"/>
                      </a:solidFill>
                    </a:uFill>
                    <a:latin typeface="Gill Sans" charset="0"/>
                    <a:ea typeface="Gill Sans" charset="0"/>
                    <a:cs typeface="Gill Sans" charset="0"/>
                    <a:sym typeface="Helvetica"/>
                  </a:rPr>
                  <a:t>S</a:t>
                </a:r>
                <a:r>
                  <a:rPr kumimoji="0" lang="en-US" sz="1600" b="0" u="none" strike="noStrike" cap="none" spc="0" normalizeH="0" dirty="0">
                    <a:ln>
                      <a:noFill/>
                    </a:ln>
                    <a:solidFill>
                      <a:srgbClr val="000000"/>
                    </a:solidFill>
                    <a:effectLst/>
                    <a:uFill>
                      <a:solidFill>
                        <a:srgbClr val="000000"/>
                      </a:solidFill>
                    </a:uFill>
                    <a:latin typeface="Gill Sans" charset="0"/>
                    <a:ea typeface="Gill Sans" charset="0"/>
                    <a:cs typeface="Gill Sans" charset="0"/>
                    <a:sym typeface="Helvetica"/>
                  </a:rPr>
                  <a:t>ource</a:t>
                </a:r>
                <a:endParaRPr kumimoji="0" lang="en-US" sz="1600" b="0" u="none" strike="noStrike" cap="none" spc="0" normalizeH="0" baseline="0" dirty="0">
                  <a:ln>
                    <a:noFill/>
                  </a:ln>
                  <a:solidFill>
                    <a:srgbClr val="000000"/>
                  </a:solidFill>
                  <a:effectLst/>
                  <a:uFill>
                    <a:solidFill>
                      <a:srgbClr val="000000"/>
                    </a:solidFill>
                  </a:uFill>
                  <a:latin typeface="Gill Sans" charset="0"/>
                  <a:ea typeface="Gill Sans" charset="0"/>
                  <a:cs typeface="Gill Sans" charset="0"/>
                  <a:sym typeface="Helvetica"/>
                </a:endParaRPr>
              </a:p>
            </p:txBody>
          </p:sp>
          <p:sp>
            <p:nvSpPr>
              <p:cNvPr id="73" name="TextBox 72"/>
              <p:cNvSpPr txBox="1"/>
              <p:nvPr/>
            </p:nvSpPr>
            <p:spPr>
              <a:xfrm>
                <a:off x="713092" y="1350750"/>
                <a:ext cx="651934" cy="41036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2000" b="0" u="none" strike="noStrike" cap="none" spc="0" normalizeH="0" baseline="0">
                    <a:ln>
                      <a:noFill/>
                    </a:ln>
                    <a:solidFill>
                      <a:srgbClr val="000000"/>
                    </a:solidFill>
                    <a:effectLst/>
                    <a:uFill>
                      <a:solidFill>
                        <a:srgbClr val="000000"/>
                      </a:solidFill>
                    </a:uFill>
                    <a:latin typeface="Gill Sans" charset="0"/>
                    <a:ea typeface="Gill Sans" charset="0"/>
                    <a:cs typeface="Gill Sans" charset="0"/>
                    <a:sym typeface="Helvetica"/>
                  </a:rPr>
                  <a:t>=</a:t>
                </a:r>
              </a:p>
            </p:txBody>
          </p:sp>
        </p:grpSp>
      </p:grpSp>
      <p:sp>
        <p:nvSpPr>
          <p:cNvPr id="3" name="TextBox 2"/>
          <p:cNvSpPr txBox="1"/>
          <p:nvPr/>
        </p:nvSpPr>
        <p:spPr>
          <a:xfrm>
            <a:off x="7221978" y="1775935"/>
            <a:ext cx="1014396" cy="65659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1200" b="0" u="none" strike="noStrike" cap="none" spc="0" normalizeH="0" baseline="0" dirty="0">
                <a:ln>
                  <a:noFill/>
                </a:ln>
                <a:solidFill>
                  <a:srgbClr val="000000"/>
                </a:solidFill>
                <a:effectLst/>
                <a:uFill>
                  <a:solidFill>
                    <a:srgbClr val="000000"/>
                  </a:solidFill>
                </a:uFill>
                <a:latin typeface="Gill Sans" charset="0"/>
                <a:ea typeface="Gill Sans" charset="0"/>
                <a:cs typeface="Gill Sans" charset="0"/>
                <a:sym typeface="Helvetica"/>
              </a:rPr>
              <a:t>A </a:t>
            </a:r>
            <a:r>
              <a:rPr kumimoji="0" lang="en-US" sz="1200" b="0" u="none" strike="noStrike" cap="none" spc="0" normalizeH="0" baseline="0">
                <a:ln>
                  <a:noFill/>
                </a:ln>
                <a:solidFill>
                  <a:srgbClr val="000000"/>
                </a:solidFill>
                <a:effectLst/>
                <a:uFill>
                  <a:solidFill>
                    <a:srgbClr val="000000"/>
                  </a:solidFill>
                </a:uFill>
                <a:latin typeface="Gill Sans" charset="0"/>
                <a:ea typeface="Gill Sans" charset="0"/>
                <a:cs typeface="Gill Sans" charset="0"/>
                <a:sym typeface="Helvetica"/>
              </a:rPr>
              <a:t>precise</a:t>
            </a:r>
            <a:r>
              <a:rPr kumimoji="0" lang="en-US" sz="1200" b="0" u="none" strike="noStrike" cap="none" spc="0" normalizeH="0">
                <a:ln>
                  <a:noFill/>
                </a:ln>
                <a:solidFill>
                  <a:srgbClr val="000000"/>
                </a:solidFill>
                <a:effectLst/>
                <a:uFill>
                  <a:solidFill>
                    <a:srgbClr val="000000"/>
                  </a:solidFill>
                </a:uFill>
                <a:latin typeface="Gill Sans" charset="0"/>
                <a:ea typeface="Gill Sans" charset="0"/>
                <a:cs typeface="Gill Sans" charset="0"/>
                <a:sym typeface="Helvetica"/>
              </a:rPr>
              <a:t>     arrangement of atoms</a:t>
            </a:r>
            <a:endParaRPr kumimoji="0" lang="en-US" sz="1200" b="0" u="none" strike="noStrike" cap="none" spc="0" normalizeH="0" baseline="0">
              <a:ln>
                <a:noFill/>
              </a:ln>
              <a:solidFill>
                <a:srgbClr val="000000"/>
              </a:solidFill>
              <a:effectLst/>
              <a:uFill>
                <a:solidFill>
                  <a:srgbClr val="000000"/>
                </a:solidFill>
              </a:uFill>
              <a:latin typeface="Gill Sans" charset="0"/>
              <a:ea typeface="Gill Sans" charset="0"/>
              <a:cs typeface="Gill Sans" charset="0"/>
              <a:sym typeface="Helvetica"/>
            </a:endParaRPr>
          </a:p>
        </p:txBody>
      </p:sp>
      <p:sp>
        <p:nvSpPr>
          <p:cNvPr id="7" name="Rectangle 6"/>
          <p:cNvSpPr/>
          <p:nvPr/>
        </p:nvSpPr>
        <p:spPr>
          <a:xfrm>
            <a:off x="5562600" y="1785937"/>
            <a:ext cx="721767" cy="325600"/>
          </a:xfrm>
          <a:prstGeom prst="rect">
            <a:avLst/>
          </a:prstGeom>
          <a:solidFill>
            <a:schemeClr val="bg1"/>
          </a:solidFill>
          <a:ln w="9525" cap="flat">
            <a:no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endParaRPr>
          </a:p>
        </p:txBody>
      </p:sp>
      <p:pic>
        <p:nvPicPr>
          <p:cNvPr id="15" name="Picture 14">
            <a:extLst>
              <a:ext uri="{FF2B5EF4-FFF2-40B4-BE49-F238E27FC236}">
                <a16:creationId xmlns:a16="http://schemas.microsoft.com/office/drawing/2014/main" id="{CD480D3E-E653-6F47-B684-EE03E38E20A9}"/>
              </a:ext>
            </a:extLst>
          </p:cNvPr>
          <p:cNvPicPr>
            <a:picLocks noChangeAspect="1"/>
          </p:cNvPicPr>
          <p:nvPr/>
        </p:nvPicPr>
        <p:blipFill>
          <a:blip r:embed="rId6"/>
          <a:stretch>
            <a:fillRect/>
          </a:stretch>
        </p:blipFill>
        <p:spPr>
          <a:xfrm>
            <a:off x="7744866" y="173176"/>
            <a:ext cx="1219200" cy="1676400"/>
          </a:xfrm>
          <a:prstGeom prst="rect">
            <a:avLst/>
          </a:prstGeom>
        </p:spPr>
      </p:pic>
      <p:sp>
        <p:nvSpPr>
          <p:cNvPr id="13" name="TextBox 12">
            <a:extLst>
              <a:ext uri="{FF2B5EF4-FFF2-40B4-BE49-F238E27FC236}">
                <a16:creationId xmlns:a16="http://schemas.microsoft.com/office/drawing/2014/main" id="{1ED74409-06C2-3F4A-A31D-3AC222D0267D}"/>
              </a:ext>
            </a:extLst>
          </p:cNvPr>
          <p:cNvSpPr txBox="1"/>
          <p:nvPr/>
        </p:nvSpPr>
        <p:spPr>
          <a:xfrm>
            <a:off x="76351" y="6375119"/>
            <a:ext cx="9188734" cy="34881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rPr>
              <a:t>X-ray beam (high energy light!) = oscillating electromagnetic wave with </a:t>
            </a:r>
            <a:r>
              <a:rPr kumimoji="0" lang="en-US" sz="1600"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rPr>
              <a:t>particle</a:t>
            </a:r>
            <a:r>
              <a:rPr kumimoji="0" lang="en-US" sz="1600" b="0"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rPr>
              <a:t> </a:t>
            </a:r>
            <a:r>
              <a:rPr kumimoji="0" lang="en-US" sz="1600" b="0" i="1"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rPr>
              <a:t>and</a:t>
            </a:r>
            <a:r>
              <a:rPr kumimoji="0" lang="en-US" sz="1600" b="0"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rPr>
              <a:t> </a:t>
            </a:r>
            <a:r>
              <a:rPr kumimoji="0" lang="en-US" sz="1600"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rPr>
              <a:t>wave</a:t>
            </a:r>
            <a:r>
              <a:rPr kumimoji="0" lang="en-US" sz="1600" b="0"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rPr>
              <a:t> behavior</a:t>
            </a:r>
          </a:p>
        </p:txBody>
      </p:sp>
      <p:grpSp>
        <p:nvGrpSpPr>
          <p:cNvPr id="18" name="Group 17">
            <a:extLst>
              <a:ext uri="{FF2B5EF4-FFF2-40B4-BE49-F238E27FC236}">
                <a16:creationId xmlns:a16="http://schemas.microsoft.com/office/drawing/2014/main" id="{96C2CDAD-E4EF-1A4D-B62A-C523E35496AB}"/>
              </a:ext>
            </a:extLst>
          </p:cNvPr>
          <p:cNvGrpSpPr/>
          <p:nvPr/>
        </p:nvGrpSpPr>
        <p:grpSpPr>
          <a:xfrm>
            <a:off x="2936461" y="1909967"/>
            <a:ext cx="3308919" cy="472385"/>
            <a:chOff x="2936461" y="1909967"/>
            <a:chExt cx="3308919" cy="472385"/>
          </a:xfrm>
        </p:grpSpPr>
        <p:sp>
          <p:nvSpPr>
            <p:cNvPr id="14" name="TextBox 13">
              <a:extLst>
                <a:ext uri="{FF2B5EF4-FFF2-40B4-BE49-F238E27FC236}">
                  <a16:creationId xmlns:a16="http://schemas.microsoft.com/office/drawing/2014/main" id="{01C5AB66-CE22-8F4B-9482-D139344B3373}"/>
                </a:ext>
              </a:extLst>
            </p:cNvPr>
            <p:cNvSpPr txBox="1"/>
            <p:nvPr/>
          </p:nvSpPr>
          <p:spPr>
            <a:xfrm>
              <a:off x="2936461" y="1909967"/>
              <a:ext cx="3308919" cy="31803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lgn="l" rtl="0" latinLnBrk="1" hangingPunct="0"/>
              <a:r>
                <a:rPr kumimoji="0" lang="en-US" sz="1400" i="0" u="none" strike="noStrike" cap="none" spc="0" normalizeH="0" baseline="0" dirty="0">
                  <a:ln>
                    <a:noFill/>
                  </a:ln>
                  <a:solidFill>
                    <a:srgbClr val="0737F8"/>
                  </a:solidFill>
                  <a:effectLst/>
                  <a:uFill>
                    <a:solidFill>
                      <a:srgbClr val="000000"/>
                    </a:solidFill>
                  </a:uFill>
                  <a:latin typeface="Helvetica"/>
                  <a:ea typeface="Helvetica"/>
                  <a:cs typeface="Helvetica"/>
                  <a:sym typeface="Helvetica"/>
                </a:rPr>
                <a:t>C</a:t>
              </a:r>
              <a:r>
                <a:rPr kumimoji="0" lang="en-US" sz="1400" b="0"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rPr>
                <a:t>harge-</a:t>
              </a:r>
              <a:r>
                <a:rPr lang="en-US" sz="1400" dirty="0">
                  <a:solidFill>
                    <a:srgbClr val="0737F8"/>
                  </a:solidFill>
                  <a:uFill>
                    <a:solidFill>
                      <a:srgbClr val="000000"/>
                    </a:solidFill>
                  </a:uFill>
                </a:rPr>
                <a:t>C</a:t>
              </a:r>
              <a:r>
                <a:rPr kumimoji="0" lang="en-US" sz="1400" b="0"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rPr>
                <a:t>oupled </a:t>
              </a:r>
              <a:r>
                <a:rPr kumimoji="0" lang="en-US" sz="1400" b="0" i="0" u="none" strike="noStrike" cap="none" spc="0" normalizeH="0" baseline="0" dirty="0">
                  <a:ln>
                    <a:noFill/>
                  </a:ln>
                  <a:solidFill>
                    <a:srgbClr val="0737F8"/>
                  </a:solidFill>
                  <a:effectLst/>
                  <a:uFill>
                    <a:solidFill>
                      <a:srgbClr val="000000"/>
                    </a:solidFill>
                  </a:uFill>
                  <a:latin typeface="Helvetica"/>
                  <a:ea typeface="Helvetica"/>
                  <a:cs typeface="Helvetica"/>
                  <a:sym typeface="Helvetica"/>
                </a:rPr>
                <a:t>D</a:t>
              </a:r>
              <a:r>
                <a:rPr kumimoji="0" lang="en-US" sz="1400" b="0"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rPr>
                <a:t>evice, digital imaging</a:t>
              </a:r>
            </a:p>
          </p:txBody>
        </p:sp>
        <p:cxnSp>
          <p:nvCxnSpPr>
            <p:cNvPr id="17" name="Straight Arrow Connector 16">
              <a:extLst>
                <a:ext uri="{FF2B5EF4-FFF2-40B4-BE49-F238E27FC236}">
                  <a16:creationId xmlns:a16="http://schemas.microsoft.com/office/drawing/2014/main" id="{9E1C5AD0-D728-744A-B4E4-D84FF8865643}"/>
                </a:ext>
              </a:extLst>
            </p:cNvPr>
            <p:cNvCxnSpPr/>
            <p:nvPr/>
          </p:nvCxnSpPr>
          <p:spPr>
            <a:xfrm>
              <a:off x="4235116" y="2178294"/>
              <a:ext cx="0" cy="204058"/>
            </a:xfrm>
            <a:prstGeom prst="straightConnector1">
              <a:avLst/>
            </a:prstGeom>
            <a:noFill/>
            <a:ln w="9525" cap="flat">
              <a:solidFill>
                <a:srgbClr val="FF0000"/>
              </a:solidFill>
              <a:prstDash val="solid"/>
              <a:round/>
              <a:tailEnd type="triangle"/>
            </a:ln>
            <a:effectLst/>
          </p:spPr>
          <p:style>
            <a:lnRef idx="0">
              <a:scrgbClr r="0" g="0" b="0"/>
            </a:lnRef>
            <a:fillRef idx="0">
              <a:scrgbClr r="0" g="0" b="0"/>
            </a:fillRef>
            <a:effectRef idx="0">
              <a:scrgbClr r="0" g="0" b="0"/>
            </a:effectRef>
            <a:fontRef idx="none"/>
          </p:style>
        </p:cxnSp>
      </p:grpSp>
      <p:grpSp>
        <p:nvGrpSpPr>
          <p:cNvPr id="84" name="Group 83">
            <a:extLst>
              <a:ext uri="{FF2B5EF4-FFF2-40B4-BE49-F238E27FC236}">
                <a16:creationId xmlns:a16="http://schemas.microsoft.com/office/drawing/2014/main" id="{01A9A780-CA86-AF45-A975-FFFAA3675E6B}"/>
              </a:ext>
            </a:extLst>
          </p:cNvPr>
          <p:cNvGrpSpPr/>
          <p:nvPr/>
        </p:nvGrpSpPr>
        <p:grpSpPr>
          <a:xfrm>
            <a:off x="-102785" y="2091474"/>
            <a:ext cx="7632938" cy="3150765"/>
            <a:chOff x="-102785" y="2091474"/>
            <a:chExt cx="7632938" cy="3150765"/>
          </a:xfrm>
        </p:grpSpPr>
        <p:sp>
          <p:nvSpPr>
            <p:cNvPr id="85" name="Shape 62">
              <a:extLst>
                <a:ext uri="{FF2B5EF4-FFF2-40B4-BE49-F238E27FC236}">
                  <a16:creationId xmlns:a16="http://schemas.microsoft.com/office/drawing/2014/main" id="{66BEDFE6-9FA1-9D4D-811C-0B446F52ACBF}"/>
                </a:ext>
              </a:extLst>
            </p:cNvPr>
            <p:cNvSpPr/>
            <p:nvPr/>
          </p:nvSpPr>
          <p:spPr>
            <a:xfrm>
              <a:off x="1561388" y="2777328"/>
              <a:ext cx="104776" cy="130016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5965" y="0"/>
                    <a:pt x="10800" y="806"/>
                    <a:pt x="10800" y="1800"/>
                  </a:cubicBezTo>
                  <a:lnTo>
                    <a:pt x="10800" y="9000"/>
                  </a:lnTo>
                  <a:cubicBezTo>
                    <a:pt x="10800" y="9994"/>
                    <a:pt x="15635" y="10800"/>
                    <a:pt x="21600" y="10800"/>
                  </a:cubicBezTo>
                  <a:cubicBezTo>
                    <a:pt x="15635" y="10800"/>
                    <a:pt x="10800" y="11606"/>
                    <a:pt x="10800" y="12600"/>
                  </a:cubicBezTo>
                  <a:lnTo>
                    <a:pt x="10800" y="19800"/>
                  </a:lnTo>
                  <a:cubicBezTo>
                    <a:pt x="10800" y="20794"/>
                    <a:pt x="5965" y="21600"/>
                    <a:pt x="0" y="21600"/>
                  </a:cubicBezTo>
                </a:path>
              </a:pathLst>
            </a:custGeom>
            <a:ln w="19050">
              <a:solidFill/>
              <a:round/>
            </a:ln>
          </p:spPr>
          <p:txBody>
            <a:bodyPr lIns="0" tIns="0" rIns="0" bIns="0" anchor="ctr"/>
            <a:lstStyle/>
            <a:p>
              <a:pPr lvl="0"/>
              <a:endParaRPr>
                <a:latin typeface="Gill Sans" charset="0"/>
                <a:ea typeface="Gill Sans" charset="0"/>
                <a:cs typeface="Gill Sans" charset="0"/>
              </a:endParaRPr>
            </a:p>
          </p:txBody>
        </p:sp>
        <p:grpSp>
          <p:nvGrpSpPr>
            <p:cNvPr id="86" name="Group 96">
              <a:extLst>
                <a:ext uri="{FF2B5EF4-FFF2-40B4-BE49-F238E27FC236}">
                  <a16:creationId xmlns:a16="http://schemas.microsoft.com/office/drawing/2014/main" id="{06F0B7A5-E851-9E43-AFAF-3389EC6F5055}"/>
                </a:ext>
              </a:extLst>
            </p:cNvPr>
            <p:cNvGrpSpPr/>
            <p:nvPr/>
          </p:nvGrpSpPr>
          <p:grpSpPr>
            <a:xfrm>
              <a:off x="1649085" y="2743467"/>
              <a:ext cx="3493888" cy="2498772"/>
              <a:chOff x="0" y="-420638"/>
              <a:chExt cx="3493887" cy="2498771"/>
            </a:xfrm>
          </p:grpSpPr>
          <p:sp>
            <p:nvSpPr>
              <p:cNvPr id="93" name="Shape 94">
                <a:extLst>
                  <a:ext uri="{FF2B5EF4-FFF2-40B4-BE49-F238E27FC236}">
                    <a16:creationId xmlns:a16="http://schemas.microsoft.com/office/drawing/2014/main" id="{8901B5E5-53B0-C641-9BFA-838AC1E45C95}"/>
                  </a:ext>
                </a:extLst>
              </p:cNvPr>
              <p:cNvSpPr/>
              <p:nvPr/>
            </p:nvSpPr>
            <p:spPr>
              <a:xfrm>
                <a:off x="62675" y="385586"/>
                <a:ext cx="2871284" cy="169254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p>
                <a:pPr lvl="0">
                  <a:spcBef>
                    <a:spcPts val="900"/>
                  </a:spcBef>
                  <a:buClr>
                    <a:srgbClr val="000000"/>
                  </a:buClr>
                  <a:buFont typeface="Helvetica"/>
                  <a:defRPr sz="1800">
                    <a:uFillTx/>
                  </a:defRPr>
                </a:pPr>
                <a:r>
                  <a:rPr lang="en-US" sz="1600" b="0" dirty="0">
                    <a:uFill>
                      <a:solidFill/>
                    </a:uFill>
                    <a:latin typeface="Gill Sans" charset="0"/>
                    <a:ea typeface="Gill Sans" charset="0"/>
                    <a:cs typeface="Gill Sans" charset="0"/>
                    <a:sym typeface="Helvetica"/>
                  </a:rPr>
                  <a:t>contain </a:t>
                </a:r>
                <a:r>
                  <a:rPr lang="en-US" sz="1800" b="0" u="sng" dirty="0">
                    <a:uFill>
                      <a:solidFill/>
                    </a:uFill>
                    <a:latin typeface="Gill Sans" charset="0"/>
                    <a:ea typeface="Gill Sans" charset="0"/>
                    <a:cs typeface="Gill Sans" charset="0"/>
                  </a:rPr>
                  <a:t>all</a:t>
                </a:r>
                <a:r>
                  <a:rPr lang="en-US" sz="1600" b="0" dirty="0">
                    <a:uFill>
                      <a:solidFill/>
                    </a:uFill>
                    <a:latin typeface="Gill Sans" charset="0"/>
                    <a:ea typeface="Gill Sans" charset="0"/>
                    <a:cs typeface="Gill Sans" charset="0"/>
                    <a:sym typeface="Helvetica"/>
                  </a:rPr>
                  <a:t> info needed to solve 3D </a:t>
                </a:r>
                <a:r>
                  <a:rPr lang="en-US" sz="1600" b="0" dirty="0">
                    <a:solidFill>
                      <a:schemeClr val="tx1"/>
                    </a:solidFill>
                    <a:uFill>
                      <a:solidFill>
                        <a:srgbClr val="C866CA"/>
                      </a:solidFill>
                    </a:uFill>
                    <a:latin typeface="Gill Sans" charset="0"/>
                    <a:ea typeface="Gill Sans" charset="0"/>
                    <a:cs typeface="Gill Sans" charset="0"/>
                    <a:sym typeface="Helvetica"/>
                  </a:rPr>
                  <a:t>arrangement of those atoms!</a:t>
                </a:r>
              </a:p>
            </p:txBody>
          </p:sp>
          <p:sp>
            <p:nvSpPr>
              <p:cNvPr id="98" name="Shape 95">
                <a:extLst>
                  <a:ext uri="{FF2B5EF4-FFF2-40B4-BE49-F238E27FC236}">
                    <a16:creationId xmlns:a16="http://schemas.microsoft.com/office/drawing/2014/main" id="{87543530-2B24-F647-A168-338180DCA694}"/>
                  </a:ext>
                </a:extLst>
              </p:cNvPr>
              <p:cNvSpPr/>
              <p:nvPr/>
            </p:nvSpPr>
            <p:spPr>
              <a:xfrm>
                <a:off x="0" y="-420638"/>
                <a:ext cx="3493887" cy="87203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50800" tIns="50800" rIns="50800" bIns="50800" numCol="1" anchor="ctr">
                <a:spAutoFit/>
              </a:bodyPr>
              <a:lstStyle>
                <a:lvl1pPr>
                  <a:spcBef>
                    <a:spcPts val="900"/>
                  </a:spcBef>
                  <a:buClr>
                    <a:srgbClr val="000000"/>
                  </a:buClr>
                  <a:buFont typeface="Helvetica"/>
                  <a:defRPr sz="1600" b="1">
                    <a:latin typeface="Helvetica"/>
                    <a:ea typeface="Helvetica"/>
                    <a:cs typeface="Helvetica"/>
                    <a:sym typeface="Helvetica"/>
                  </a:defRPr>
                </a:lvl1pPr>
              </a:lstStyle>
              <a:p>
                <a:pPr lvl="0">
                  <a:defRPr sz="1800" b="0">
                    <a:uFillTx/>
                  </a:defRPr>
                </a:pPr>
                <a:r>
                  <a:rPr lang="en-US" sz="1600" b="0" dirty="0">
                    <a:uFill>
                      <a:solidFill/>
                    </a:uFill>
                    <a:latin typeface="Gill Sans" charset="0"/>
                    <a:ea typeface="Gill Sans" charset="0"/>
                    <a:cs typeface="Gill Sans" charset="0"/>
                  </a:rPr>
                  <a:t>The x-rays are scattered by the atoms in the </a:t>
                </a:r>
                <a:r>
                  <a:rPr lang="en-US" b="0" dirty="0">
                    <a:latin typeface="Gill Sans" charset="0"/>
                    <a:ea typeface="Gill Sans" charset="0"/>
                    <a:cs typeface="Gill Sans" charset="0"/>
                  </a:rPr>
                  <a:t>protein crystal.               </a:t>
                </a:r>
                <a:r>
                  <a:rPr sz="1600" b="0" dirty="0">
                    <a:uFill>
                      <a:solidFill/>
                    </a:uFill>
                    <a:latin typeface="Gill Sans" charset="0"/>
                    <a:ea typeface="Gill Sans" charset="0"/>
                    <a:cs typeface="Gill Sans" charset="0"/>
                  </a:rPr>
                  <a:t>T</a:t>
                </a:r>
                <a:r>
                  <a:rPr lang="en-US" sz="1600" b="0" dirty="0">
                    <a:uFill>
                      <a:solidFill/>
                    </a:uFill>
                    <a:latin typeface="Gill Sans" charset="0"/>
                    <a:ea typeface="Gill Sans" charset="0"/>
                    <a:cs typeface="Gill Sans" charset="0"/>
                  </a:rPr>
                  <a:t>hese 4 wave properties </a:t>
                </a:r>
                <a:endParaRPr sz="1600" b="0" dirty="0">
                  <a:uFill>
                    <a:solidFill/>
                  </a:uFill>
                  <a:latin typeface="Gill Sans" charset="0"/>
                  <a:ea typeface="Gill Sans" charset="0"/>
                  <a:cs typeface="Gill Sans" charset="0"/>
                </a:endParaRPr>
              </a:p>
            </p:txBody>
          </p:sp>
        </p:grpSp>
        <p:grpSp>
          <p:nvGrpSpPr>
            <p:cNvPr id="87" name="Group 86">
              <a:extLst>
                <a:ext uri="{FF2B5EF4-FFF2-40B4-BE49-F238E27FC236}">
                  <a16:creationId xmlns:a16="http://schemas.microsoft.com/office/drawing/2014/main" id="{99B8014D-E824-2542-A4B1-04B375F2BE33}"/>
                </a:ext>
              </a:extLst>
            </p:cNvPr>
            <p:cNvGrpSpPr/>
            <p:nvPr/>
          </p:nvGrpSpPr>
          <p:grpSpPr>
            <a:xfrm>
              <a:off x="-102785" y="2686965"/>
              <a:ext cx="558800" cy="1340474"/>
              <a:chOff x="-102785" y="2686965"/>
              <a:chExt cx="558800" cy="1340474"/>
            </a:xfrm>
          </p:grpSpPr>
          <p:sp>
            <p:nvSpPr>
              <p:cNvPr id="89" name="TextBox 88">
                <a:extLst>
                  <a:ext uri="{FF2B5EF4-FFF2-40B4-BE49-F238E27FC236}">
                    <a16:creationId xmlns:a16="http://schemas.microsoft.com/office/drawing/2014/main" id="{89986642-9E75-3442-899C-19E01A7B6D56}"/>
                  </a:ext>
                </a:extLst>
              </p:cNvPr>
              <p:cNvSpPr txBox="1"/>
              <p:nvPr/>
            </p:nvSpPr>
            <p:spPr>
              <a:xfrm>
                <a:off x="-102785" y="2686965"/>
                <a:ext cx="347133" cy="41036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lang="en-US" b="0" dirty="0">
                    <a:solidFill>
                      <a:srgbClr val="000000"/>
                    </a:solidFill>
                    <a:uFill>
                      <a:solidFill>
                        <a:srgbClr val="000000"/>
                      </a:solidFill>
                    </a:uFill>
                    <a:latin typeface="Wingdings 2" pitchFamily="2" charset="2"/>
                    <a:cs typeface="Gill Sans" panose="020B0502020104020203" pitchFamily="34" charset="-79"/>
                  </a:rPr>
                  <a:t>j </a:t>
                </a:r>
                <a:endParaRPr kumimoji="0" lang="en-US" b="0" u="none" strike="noStrike" cap="none" spc="0" normalizeH="0" baseline="0" dirty="0">
                  <a:ln>
                    <a:noFill/>
                  </a:ln>
                  <a:solidFill>
                    <a:srgbClr val="000000"/>
                  </a:solidFill>
                  <a:effectLst/>
                  <a:uFill>
                    <a:solidFill>
                      <a:srgbClr val="000000"/>
                    </a:solidFill>
                  </a:uFill>
                  <a:latin typeface="Wingdings 2" pitchFamily="2" charset="2"/>
                  <a:cs typeface="Gill Sans" panose="020B0502020104020203" pitchFamily="34" charset="-79"/>
                  <a:sym typeface="Helvetica"/>
                </a:endParaRPr>
              </a:p>
            </p:txBody>
          </p:sp>
          <p:sp>
            <p:nvSpPr>
              <p:cNvPr id="90" name="TextBox 89">
                <a:extLst>
                  <a:ext uri="{FF2B5EF4-FFF2-40B4-BE49-F238E27FC236}">
                    <a16:creationId xmlns:a16="http://schemas.microsoft.com/office/drawing/2014/main" id="{6E622C80-C9BF-904F-AD0B-BA7851CA6869}"/>
                  </a:ext>
                </a:extLst>
              </p:cNvPr>
              <p:cNvSpPr txBox="1"/>
              <p:nvPr/>
            </p:nvSpPr>
            <p:spPr>
              <a:xfrm>
                <a:off x="-102785" y="3000855"/>
                <a:ext cx="558800" cy="41036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lang="en-US" b="0" dirty="0">
                    <a:solidFill>
                      <a:srgbClr val="000000"/>
                    </a:solidFill>
                    <a:uFill>
                      <a:solidFill>
                        <a:srgbClr val="000000"/>
                      </a:solidFill>
                    </a:uFill>
                    <a:latin typeface="Wingdings 2" pitchFamily="2" charset="2"/>
                  </a:rPr>
                  <a:t>k</a:t>
                </a:r>
                <a:endParaRPr kumimoji="0" lang="en-US" sz="2000" b="0" i="0" u="none" strike="noStrike" cap="none" spc="0" normalizeH="0" baseline="0" dirty="0">
                  <a:ln>
                    <a:noFill/>
                  </a:ln>
                  <a:solidFill>
                    <a:srgbClr val="000000"/>
                  </a:solidFill>
                  <a:effectLst/>
                  <a:uFill>
                    <a:solidFill>
                      <a:srgbClr val="000000"/>
                    </a:solidFill>
                  </a:uFill>
                  <a:latin typeface="Wingdings 2" pitchFamily="2" charset="2"/>
                  <a:sym typeface="Helvetica"/>
                </a:endParaRPr>
              </a:p>
            </p:txBody>
          </p:sp>
          <p:sp>
            <p:nvSpPr>
              <p:cNvPr id="91" name="TextBox 90">
                <a:extLst>
                  <a:ext uri="{FF2B5EF4-FFF2-40B4-BE49-F238E27FC236}">
                    <a16:creationId xmlns:a16="http://schemas.microsoft.com/office/drawing/2014/main" id="{78F19130-A22F-FB4A-9101-A05A1E017A6B}"/>
                  </a:ext>
                </a:extLst>
              </p:cNvPr>
              <p:cNvSpPr txBox="1"/>
              <p:nvPr/>
            </p:nvSpPr>
            <p:spPr>
              <a:xfrm>
                <a:off x="-101632" y="3309995"/>
                <a:ext cx="541867" cy="41036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000000"/>
                    </a:solidFill>
                    <a:effectLst/>
                    <a:uFill>
                      <a:solidFill>
                        <a:srgbClr val="000000"/>
                      </a:solidFill>
                    </a:uFill>
                    <a:latin typeface="Wingdings 2" pitchFamily="2" charset="2"/>
                    <a:sym typeface="Helvetica"/>
                  </a:rPr>
                  <a:t>l</a:t>
                </a:r>
              </a:p>
            </p:txBody>
          </p:sp>
          <p:sp>
            <p:nvSpPr>
              <p:cNvPr id="92" name="TextBox 91">
                <a:extLst>
                  <a:ext uri="{FF2B5EF4-FFF2-40B4-BE49-F238E27FC236}">
                    <a16:creationId xmlns:a16="http://schemas.microsoft.com/office/drawing/2014/main" id="{09C71AB3-DF01-D44A-BB4C-4CA3BDADA141}"/>
                  </a:ext>
                </a:extLst>
              </p:cNvPr>
              <p:cNvSpPr txBox="1"/>
              <p:nvPr/>
            </p:nvSpPr>
            <p:spPr>
              <a:xfrm>
                <a:off x="-100138" y="3617070"/>
                <a:ext cx="527512" cy="41036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000000"/>
                    </a:solidFill>
                    <a:effectLst/>
                    <a:uFill>
                      <a:solidFill>
                        <a:srgbClr val="000000"/>
                      </a:solidFill>
                    </a:uFill>
                    <a:latin typeface="Wingdings 2" pitchFamily="2" charset="2"/>
                    <a:sym typeface="Helvetica"/>
                  </a:rPr>
                  <a:t>m</a:t>
                </a:r>
              </a:p>
            </p:txBody>
          </p:sp>
        </p:grpSp>
        <p:sp>
          <p:nvSpPr>
            <p:cNvPr id="88" name="Shape 34">
              <a:extLst>
                <a:ext uri="{FF2B5EF4-FFF2-40B4-BE49-F238E27FC236}">
                  <a16:creationId xmlns:a16="http://schemas.microsoft.com/office/drawing/2014/main" id="{0EA9B354-8293-864F-8267-44B3BA0EBF21}"/>
                </a:ext>
              </a:extLst>
            </p:cNvPr>
            <p:cNvSpPr/>
            <p:nvPr/>
          </p:nvSpPr>
          <p:spPr>
            <a:xfrm>
              <a:off x="126053" y="2091474"/>
              <a:ext cx="7404100" cy="1849224"/>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lvl="0">
                <a:spcBef>
                  <a:spcPts val="700"/>
                </a:spcBef>
                <a:buClr>
                  <a:srgbClr val="000000"/>
                </a:buClr>
                <a:buFont typeface="Symbol"/>
                <a:defRPr sz="1800">
                  <a:uFillTx/>
                </a:defRPr>
              </a:pPr>
              <a:endParaRPr sz="1400" b="0" dirty="0">
                <a:uFill>
                  <a:solidFill/>
                </a:uFill>
                <a:latin typeface="Gill Sans" charset="0"/>
                <a:ea typeface="Gill Sans" charset="0"/>
                <a:cs typeface="Gill Sans" charset="0"/>
                <a:sym typeface="Symbol"/>
              </a:endParaRPr>
            </a:p>
            <a:p>
              <a:pPr lvl="0">
                <a:spcBef>
                  <a:spcPts val="900"/>
                </a:spcBef>
                <a:buClr>
                  <a:srgbClr val="000000"/>
                </a:buClr>
                <a:buFont typeface="Helvetica"/>
                <a:defRPr sz="1800">
                  <a:uFillTx/>
                </a:defRPr>
              </a:pPr>
              <a:r>
                <a:rPr sz="1600" b="0" dirty="0">
                  <a:uFill>
                    <a:solidFill/>
                  </a:uFill>
                  <a:latin typeface="Gill Sans" charset="0"/>
                  <a:ea typeface="Gill Sans" charset="0"/>
                  <a:cs typeface="Gill Sans" charset="0"/>
                  <a:sym typeface="Helvetica"/>
                </a:rPr>
                <a:t>M</a:t>
              </a:r>
              <a:r>
                <a:rPr lang="en-US" sz="1600" b="0" dirty="0">
                  <a:uFill>
                    <a:solidFill/>
                  </a:uFill>
                  <a:latin typeface="Gill Sans" charset="0"/>
                  <a:ea typeface="Gill Sans" charset="0"/>
                  <a:cs typeface="Gill Sans" charset="0"/>
                  <a:sym typeface="Helvetica"/>
                </a:rPr>
                <a:t>easure diffracted x-ray </a:t>
              </a:r>
              <a:r>
                <a:rPr lang="en-US" sz="1600" b="0" dirty="0">
                  <a:solidFill>
                    <a:schemeClr val="tx1"/>
                  </a:solidFill>
                  <a:uFill>
                    <a:solidFill>
                      <a:srgbClr val="C966CC"/>
                    </a:solidFill>
                  </a:uFill>
                  <a:latin typeface="Gill Sans" charset="0"/>
                  <a:ea typeface="Gill Sans" charset="0"/>
                  <a:cs typeface="Gill Sans" charset="0"/>
                  <a:sym typeface="Helvetica"/>
                </a:rPr>
                <a:t>waves</a:t>
              </a:r>
              <a:r>
                <a:rPr lang="en-US" sz="1600" b="0" dirty="0">
                  <a:solidFill>
                    <a:srgbClr val="D86FDA"/>
                  </a:solidFill>
                  <a:uFill>
                    <a:solidFill>
                      <a:srgbClr val="D86FDA"/>
                    </a:solidFill>
                  </a:uFill>
                  <a:latin typeface="Gill Sans" charset="0"/>
                  <a:ea typeface="Gill Sans" charset="0"/>
                  <a:cs typeface="Gill Sans" charset="0"/>
                  <a:sym typeface="Helvetica"/>
                </a:rPr>
                <a:t> </a:t>
              </a:r>
              <a:r>
                <a:rPr lang="en-US" sz="1600" b="0" dirty="0">
                  <a:uFill>
                    <a:solidFill/>
                  </a:uFill>
                  <a:latin typeface="Gill Sans" charset="0"/>
                  <a:ea typeface="Gill Sans" charset="0"/>
                  <a:cs typeface="Gill Sans" charset="0"/>
                  <a:sym typeface="Helvetica"/>
                </a:rPr>
                <a:t>showing up on </a:t>
              </a:r>
              <a:r>
                <a:rPr sz="1600" b="0" dirty="0">
                  <a:solidFill>
                    <a:srgbClr val="0737F8"/>
                  </a:solidFill>
                  <a:uFill>
                    <a:solidFill/>
                  </a:uFill>
                  <a:latin typeface="Gill Sans" charset="0"/>
                  <a:ea typeface="Gill Sans" charset="0"/>
                  <a:cs typeface="Gill Sans" charset="0"/>
                  <a:sym typeface="Helvetica"/>
                </a:rPr>
                <a:t>CCD</a:t>
              </a:r>
              <a:r>
                <a:rPr sz="1600" b="0" dirty="0">
                  <a:uFill>
                    <a:solidFill/>
                  </a:uFill>
                  <a:latin typeface="Gill Sans" charset="0"/>
                  <a:ea typeface="Gill Sans" charset="0"/>
                  <a:cs typeface="Gill Sans" charset="0"/>
                  <a:sym typeface="Helvetica"/>
                </a:rPr>
                <a:t> </a:t>
              </a:r>
              <a:r>
                <a:rPr lang="en-US" sz="1600" b="0" dirty="0">
                  <a:uFill>
                    <a:solidFill/>
                  </a:uFill>
                  <a:latin typeface="Gill Sans" charset="0"/>
                  <a:ea typeface="Gill Sans" charset="0"/>
                  <a:cs typeface="Gill Sans" charset="0"/>
                  <a:sym typeface="Helvetica"/>
                </a:rPr>
                <a:t>camera as dark spots</a:t>
              </a:r>
              <a:r>
                <a:rPr sz="1600" b="0" dirty="0">
                  <a:uFill>
                    <a:solidFill/>
                  </a:uFill>
                  <a:latin typeface="Gill Sans" charset="0"/>
                  <a:ea typeface="Gill Sans" charset="0"/>
                  <a:cs typeface="Gill Sans" charset="0"/>
                  <a:sym typeface="Helvetica"/>
                </a:rPr>
                <a:t>:</a:t>
              </a:r>
            </a:p>
            <a:p>
              <a:pPr lvl="0">
                <a:spcBef>
                  <a:spcPts val="800"/>
                </a:spcBef>
                <a:buClr>
                  <a:srgbClr val="000000"/>
                </a:buClr>
                <a:buFont typeface="Helvetica"/>
                <a:defRPr sz="1800">
                  <a:uFillTx/>
                </a:defRPr>
              </a:pPr>
              <a:r>
                <a:rPr sz="1400" b="0" dirty="0">
                  <a:uFill>
                    <a:solidFill/>
                  </a:uFill>
                  <a:latin typeface="Gill Sans" charset="0"/>
                  <a:ea typeface="Gill Sans" charset="0"/>
                  <a:cs typeface="Gill Sans" charset="0"/>
                  <a:sym typeface="Helvetica"/>
                </a:rPr>
                <a:t>  </a:t>
              </a:r>
              <a:r>
                <a:rPr sz="1400" b="0" u="sng" dirty="0">
                  <a:uFill>
                    <a:solidFill/>
                  </a:uFill>
                  <a:latin typeface="Gill Sans" charset="0"/>
                  <a:ea typeface="Gill Sans" charset="0"/>
                  <a:cs typeface="Gill Sans" charset="0"/>
                  <a:sym typeface="Helvetica"/>
                </a:rPr>
                <a:t>D</a:t>
              </a:r>
              <a:r>
                <a:rPr lang="en-US" sz="1400" b="0" u="sng" dirty="0">
                  <a:uFill>
                    <a:solidFill/>
                  </a:uFill>
                  <a:latin typeface="Gill Sans" charset="0"/>
                  <a:ea typeface="Gill Sans" charset="0"/>
                  <a:cs typeface="Gill Sans" charset="0"/>
                  <a:sym typeface="Helvetica"/>
                </a:rPr>
                <a:t>irection</a:t>
              </a:r>
            </a:p>
            <a:p>
              <a:pPr lvl="0">
                <a:spcBef>
                  <a:spcPts val="800"/>
                </a:spcBef>
                <a:buClr>
                  <a:srgbClr val="000000"/>
                </a:buClr>
                <a:buFont typeface="Helvetica"/>
                <a:defRPr sz="1800">
                  <a:uFillTx/>
                </a:defRPr>
              </a:pPr>
              <a:r>
                <a:rPr sz="1400" b="0" dirty="0">
                  <a:uFill>
                    <a:solidFill/>
                  </a:uFill>
                  <a:latin typeface="Gill Sans" charset="0"/>
                  <a:ea typeface="Gill Sans" charset="0"/>
                  <a:cs typeface="Gill Sans" charset="0"/>
                  <a:sym typeface="Helvetica"/>
                </a:rPr>
                <a:t>  </a:t>
              </a:r>
              <a:r>
                <a:rPr sz="1400" b="0" u="sng" dirty="0">
                  <a:uFill>
                    <a:solidFill/>
                  </a:uFill>
                  <a:latin typeface="Gill Sans" charset="0"/>
                  <a:ea typeface="Gill Sans" charset="0"/>
                  <a:cs typeface="Gill Sans" charset="0"/>
                  <a:sym typeface="Helvetica"/>
                </a:rPr>
                <a:t>I</a:t>
              </a:r>
              <a:r>
                <a:rPr lang="en-US" sz="1400" b="0" u="sng" dirty="0">
                  <a:uFill>
                    <a:solidFill/>
                  </a:uFill>
                  <a:latin typeface="Gill Sans" charset="0"/>
                  <a:ea typeface="Gill Sans" charset="0"/>
                  <a:cs typeface="Gill Sans" charset="0"/>
                  <a:sym typeface="Helvetica"/>
                </a:rPr>
                <a:t>ntensity</a:t>
              </a:r>
            </a:p>
            <a:p>
              <a:pPr lvl="0">
                <a:spcBef>
                  <a:spcPts val="800"/>
                </a:spcBef>
                <a:buClr>
                  <a:srgbClr val="000000"/>
                </a:buClr>
                <a:buFont typeface="Helvetica"/>
                <a:defRPr sz="1800">
                  <a:uFillTx/>
                </a:defRPr>
              </a:pPr>
              <a:r>
                <a:rPr sz="1400" b="0" dirty="0">
                  <a:uFill>
                    <a:solidFill/>
                  </a:uFill>
                  <a:latin typeface="Gill Sans" charset="0"/>
                  <a:ea typeface="Gill Sans" charset="0"/>
                  <a:cs typeface="Gill Sans" charset="0"/>
                  <a:sym typeface="Helvetica"/>
                </a:rPr>
                <a:t>  </a:t>
              </a:r>
              <a:r>
                <a:rPr sz="1400" b="0" u="sng" dirty="0">
                  <a:uFill>
                    <a:solidFill/>
                  </a:uFill>
                  <a:latin typeface="Gill Sans" charset="0"/>
                  <a:ea typeface="Gill Sans" charset="0"/>
                  <a:cs typeface="Gill Sans" charset="0"/>
                  <a:sym typeface="Helvetica"/>
                </a:rPr>
                <a:t>X-</a:t>
              </a:r>
              <a:r>
                <a:rPr lang="en-US" sz="1400" b="0" u="sng" dirty="0">
                  <a:uFill>
                    <a:solidFill/>
                  </a:uFill>
                  <a:latin typeface="Gill Sans" charset="0"/>
                  <a:ea typeface="Gill Sans" charset="0"/>
                  <a:cs typeface="Gill Sans" charset="0"/>
                  <a:sym typeface="Helvetica"/>
                </a:rPr>
                <a:t>ray wavelength</a:t>
              </a:r>
            </a:p>
            <a:p>
              <a:pPr lvl="0">
                <a:spcBef>
                  <a:spcPts val="800"/>
                </a:spcBef>
                <a:buClr>
                  <a:srgbClr val="000000"/>
                </a:buClr>
                <a:buFont typeface="Helvetica"/>
                <a:defRPr sz="1800">
                  <a:uFillTx/>
                </a:defRPr>
              </a:pPr>
              <a:r>
                <a:rPr sz="1400" b="0" dirty="0">
                  <a:uFill>
                    <a:solidFill/>
                  </a:uFill>
                  <a:latin typeface="Gill Sans" charset="0"/>
                  <a:ea typeface="Gill Sans" charset="0"/>
                  <a:cs typeface="Gill Sans" charset="0"/>
                  <a:sym typeface="Helvetica"/>
                </a:rPr>
                <a:t>  </a:t>
              </a:r>
              <a:r>
                <a:rPr sz="1400" b="0" u="sng" dirty="0">
                  <a:uFill>
                    <a:solidFill/>
                  </a:uFill>
                  <a:latin typeface="Gill Sans" charset="0"/>
                  <a:ea typeface="Gill Sans" charset="0"/>
                  <a:cs typeface="Gill Sans" charset="0"/>
                  <a:sym typeface="Helvetica"/>
                </a:rPr>
                <a:t>P</a:t>
              </a:r>
              <a:r>
                <a:rPr lang="en-US" sz="1400" b="0" u="sng" dirty="0">
                  <a:uFill>
                    <a:solidFill/>
                  </a:uFill>
                  <a:latin typeface="Gill Sans" charset="0"/>
                  <a:ea typeface="Gill Sans" charset="0"/>
                  <a:cs typeface="Gill Sans" charset="0"/>
                  <a:sym typeface="Helvetica"/>
                </a:rPr>
                <a:t>hase</a:t>
              </a:r>
            </a:p>
          </p:txBody>
        </p:sp>
      </p:grpSp>
      <p:sp>
        <p:nvSpPr>
          <p:cNvPr id="8" name="TextBox 7">
            <a:extLst>
              <a:ext uri="{FF2B5EF4-FFF2-40B4-BE49-F238E27FC236}">
                <a16:creationId xmlns:a16="http://schemas.microsoft.com/office/drawing/2014/main" id="{042DB095-D3FD-DD4C-9A08-61986A4B0983}"/>
              </a:ext>
            </a:extLst>
          </p:cNvPr>
          <p:cNvSpPr txBox="1"/>
          <p:nvPr/>
        </p:nvSpPr>
        <p:spPr>
          <a:xfrm>
            <a:off x="1272036" y="4379246"/>
            <a:ext cx="2114681" cy="41036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2000" b="1"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rPr>
              <a:t>Light = photons</a:t>
            </a:r>
          </a:p>
        </p:txBody>
      </p:sp>
    </p:spTree>
    <p:extLst>
      <p:ext uri="{BB962C8B-B14F-4D97-AF65-F5344CB8AC3E}">
        <p14:creationId xmlns:p14="http://schemas.microsoft.com/office/powerpoint/2010/main" val="2908089639"/>
      </p:ext>
    </p:extLst>
  </p:cSld>
  <p:clrMapOvr>
    <a:masterClrMapping/>
  </p:clrMapOvr>
  <p:transition spd="med"/>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4"/>
                                        </p:tgtEl>
                                        <p:attrNameLst>
                                          <p:attrName>style.visibility</p:attrName>
                                        </p:attrNameLst>
                                      </p:cBhvr>
                                      <p:to>
                                        <p:strVal val="visible"/>
                                      </p:to>
                                    </p:set>
                                    <p:animEffect transition="in" filter="dissolve">
                                      <p:cBhvr>
                                        <p:cTn id="12" dur="500"/>
                                        <p:tgtEl>
                                          <p:spTgt spid="84"/>
                                        </p:tgtEl>
                                      </p:cBhvr>
                                    </p:animEffect>
                                  </p:childTnLst>
                                </p:cTn>
                              </p:par>
                              <p:par>
                                <p:cTn id="13" presetID="9"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dissolve">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7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80"/>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81"/>
                                        </p:tgtEl>
                                        <p:attrNameLst>
                                          <p:attrName>style.visibility</p:attrName>
                                        </p:attrNameLst>
                                      </p:cBhvr>
                                      <p:to>
                                        <p:strVal val="visible"/>
                                      </p:to>
                                    </p:set>
                                  </p:childTnLst>
                                </p:cTn>
                              </p:par>
                              <p:par>
                                <p:cTn id="24" presetID="9" presetClass="entr" presetSubtype="0" fill="hold"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dissolve">
                                      <p:cBhvr>
                                        <p:cTn id="26" dur="500"/>
                                        <p:tgtEl>
                                          <p:spTgt spid="20"/>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82"/>
                                        </p:tgtEl>
                                        <p:attrNameLst>
                                          <p:attrName>style.visibility</p:attrName>
                                        </p:attrNameLst>
                                      </p:cBhvr>
                                      <p:to>
                                        <p:strVal val="visible"/>
                                      </p:to>
                                    </p:set>
                                    <p:animEffect transition="in" filter="dissolve">
                                      <p:cBhvr>
                                        <p:cTn id="31" dur="500"/>
                                        <p:tgtEl>
                                          <p:spTgt spid="82"/>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70"/>
                                        </p:tgtEl>
                                        <p:attrNameLst>
                                          <p:attrName>style.visibility</p:attrName>
                                        </p:attrNameLst>
                                      </p:cBhvr>
                                      <p:to>
                                        <p:strVal val="visible"/>
                                      </p:to>
                                    </p:set>
                                    <p:animEffect transition="in" filter="dissolve">
                                      <p:cBhvr>
                                        <p:cTn id="34"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animBg="1"/>
      <p:bldP spid="80" grpId="0" animBg="1"/>
      <p:bldP spid="81" grpId="0" animBg="1"/>
      <p:bldP spid="82" grpId="0" animBg="1"/>
      <p:bldP spid="7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 name="image.pdf"/>
          <p:cNvPicPr/>
          <p:nvPr/>
        </p:nvPicPr>
        <p:blipFill>
          <a:blip r:embed="rId3"/>
          <a:stretch>
            <a:fillRect/>
          </a:stretch>
        </p:blipFill>
        <p:spPr>
          <a:xfrm>
            <a:off x="2624137" y="0"/>
            <a:ext cx="6519863" cy="2149475"/>
          </a:xfrm>
          <a:prstGeom prst="rect">
            <a:avLst/>
          </a:prstGeom>
          <a:ln w="12700">
            <a:miter lim="400000"/>
          </a:ln>
        </p:spPr>
      </p:pic>
      <p:sp>
        <p:nvSpPr>
          <p:cNvPr id="100" name="Shape 100"/>
          <p:cNvSpPr/>
          <p:nvPr/>
        </p:nvSpPr>
        <p:spPr>
          <a:xfrm>
            <a:off x="762000" y="4191000"/>
            <a:ext cx="2319337" cy="492443"/>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spcBef>
                <a:spcPts val="900"/>
              </a:spcBef>
              <a:buClr>
                <a:srgbClr val="000000"/>
              </a:buClr>
              <a:buFont typeface="Helvetica"/>
              <a:defRPr sz="1600" b="1">
                <a:latin typeface="Helvetica"/>
                <a:ea typeface="Helvetica"/>
                <a:cs typeface="Helvetica"/>
                <a:sym typeface="Helvetica"/>
              </a:defRPr>
            </a:lvl1pPr>
          </a:lstStyle>
          <a:p>
            <a:pPr lvl="0">
              <a:defRPr sz="1800" b="0">
                <a:uFillTx/>
              </a:defRPr>
            </a:pPr>
            <a:r>
              <a:rPr sz="1600" b="0" dirty="0">
                <a:uFill>
                  <a:solidFill/>
                </a:uFill>
                <a:latin typeface="Gill Sans" charset="0"/>
                <a:ea typeface="Gill Sans" charset="0"/>
                <a:cs typeface="Gill Sans" charset="0"/>
              </a:rPr>
              <a:t>M</a:t>
            </a:r>
            <a:r>
              <a:rPr lang="en-US" sz="1600" b="0" dirty="0">
                <a:uFill>
                  <a:solidFill/>
                </a:uFill>
                <a:latin typeface="Gill Sans" charset="0"/>
                <a:ea typeface="Gill Sans" charset="0"/>
                <a:cs typeface="Gill Sans" charset="0"/>
              </a:rPr>
              <a:t>any different ways to show protein structure</a:t>
            </a:r>
          </a:p>
        </p:txBody>
      </p:sp>
      <p:grpSp>
        <p:nvGrpSpPr>
          <p:cNvPr id="104" name="Group 104"/>
          <p:cNvGrpSpPr/>
          <p:nvPr/>
        </p:nvGrpSpPr>
        <p:grpSpPr>
          <a:xfrm>
            <a:off x="4708356" y="0"/>
            <a:ext cx="2759244" cy="317500"/>
            <a:chOff x="288756" y="0"/>
            <a:chExt cx="2759244" cy="317500"/>
          </a:xfrm>
        </p:grpSpPr>
        <p:sp>
          <p:nvSpPr>
            <p:cNvPr id="101" name="Shape 101"/>
            <p:cNvSpPr/>
            <p:nvPr/>
          </p:nvSpPr>
          <p:spPr>
            <a:xfrm>
              <a:off x="288756" y="0"/>
              <a:ext cx="1460500" cy="24622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spcBef>
                  <a:spcPts val="900"/>
                </a:spcBef>
                <a:buClr>
                  <a:srgbClr val="0A39FF"/>
                </a:buClr>
                <a:buFont typeface="Helvetica"/>
                <a:defRPr sz="1600" b="1">
                  <a:solidFill>
                    <a:srgbClr val="0A39FF"/>
                  </a:solidFill>
                  <a:uFill>
                    <a:solidFill>
                      <a:srgbClr val="0A39FF"/>
                    </a:solidFill>
                  </a:uFill>
                  <a:latin typeface="Helvetica"/>
                  <a:ea typeface="Helvetica"/>
                  <a:cs typeface="Helvetica"/>
                  <a:sym typeface="Helvetica"/>
                </a:defRPr>
              </a:lvl1pPr>
            </a:lstStyle>
            <a:p>
              <a:pPr lvl="0">
                <a:defRPr sz="1800" b="0">
                  <a:solidFill>
                    <a:srgbClr val="000000"/>
                  </a:solidFill>
                  <a:uFillTx/>
                </a:defRPr>
              </a:pPr>
              <a:r>
                <a:rPr sz="1600" b="0" dirty="0">
                  <a:solidFill>
                    <a:srgbClr val="0A39FF"/>
                  </a:solidFill>
                  <a:uFill>
                    <a:solidFill>
                      <a:srgbClr val="0A39FF"/>
                    </a:solidFill>
                  </a:uFill>
                  <a:latin typeface="Gill Sans" charset="0"/>
                  <a:ea typeface="Gill Sans" charset="0"/>
                  <a:cs typeface="Gill Sans" charset="0"/>
                </a:rPr>
                <a:t>F </a:t>
              </a:r>
              <a:r>
                <a:rPr lang="en-US" sz="1600" b="0" dirty="0">
                  <a:solidFill>
                    <a:srgbClr val="0A39FF"/>
                  </a:solidFill>
                  <a:uFill>
                    <a:solidFill>
                      <a:srgbClr val="0A39FF"/>
                    </a:solidFill>
                  </a:uFill>
                  <a:latin typeface="Gill Sans" charset="0"/>
                  <a:ea typeface="Gill Sans" charset="0"/>
                  <a:cs typeface="Gill Sans" charset="0"/>
                </a:rPr>
                <a:t>helix</a:t>
              </a:r>
            </a:p>
          </p:txBody>
        </p:sp>
        <p:sp>
          <p:nvSpPr>
            <p:cNvPr id="102" name="Shape 102"/>
            <p:cNvSpPr/>
            <p:nvPr/>
          </p:nvSpPr>
          <p:spPr>
            <a:xfrm>
              <a:off x="1371600" y="12700"/>
              <a:ext cx="1676400" cy="304800"/>
            </a:xfrm>
            <a:prstGeom prst="roundRect">
              <a:avLst>
                <a:gd name="adj" fmla="val 16667"/>
              </a:avLst>
            </a:prstGeom>
            <a:noFill/>
            <a:ln w="38100" cap="flat">
              <a:solidFill>
                <a:srgbClr val="0A39FF"/>
              </a:solidFill>
              <a:prstDash val="solid"/>
              <a:round/>
            </a:ln>
            <a:effectLst/>
          </p:spPr>
          <p:txBody>
            <a:bodyPr wrap="square" lIns="0" tIns="0" rIns="0" bIns="0" numCol="1" anchor="ctr">
              <a:noAutofit/>
            </a:bodyPr>
            <a:lstStyle/>
            <a:p>
              <a:pPr lvl="0"/>
              <a:endParaRPr>
                <a:latin typeface="Gill Sans" charset="0"/>
                <a:ea typeface="Gill Sans" charset="0"/>
                <a:cs typeface="Gill Sans" charset="0"/>
              </a:endParaRPr>
            </a:p>
          </p:txBody>
        </p:sp>
        <p:sp>
          <p:nvSpPr>
            <p:cNvPr id="103" name="Shape 103"/>
            <p:cNvSpPr/>
            <p:nvPr/>
          </p:nvSpPr>
          <p:spPr>
            <a:xfrm>
              <a:off x="914400" y="152400"/>
              <a:ext cx="457200" cy="1588"/>
            </a:xfrm>
            <a:prstGeom prst="line">
              <a:avLst/>
            </a:prstGeom>
            <a:noFill/>
            <a:ln w="19050" cap="flat">
              <a:solidFill>
                <a:srgbClr val="0A39FF"/>
              </a:solidFill>
              <a:prstDash val="solid"/>
              <a:round/>
              <a:tailEnd type="triangle" w="med" len="med"/>
            </a:ln>
            <a:effectLst/>
          </p:spPr>
          <p:txBody>
            <a:bodyPr wrap="square" lIns="0" tIns="0" rIns="0" bIns="0" numCol="1" anchor="t">
              <a:noAutofit/>
            </a:bodyPr>
            <a:lstStyle/>
            <a:p>
              <a:pPr marL="0" marR="0" lvl="0" defTabSz="457200">
                <a:defRPr sz="1200">
                  <a:uFillTx/>
                  <a:latin typeface="Helvetica"/>
                  <a:ea typeface="Helvetica"/>
                  <a:cs typeface="Helvetica"/>
                  <a:sym typeface="Helvetica"/>
                </a:defRPr>
              </a:pPr>
              <a:endParaRPr>
                <a:latin typeface="Gill Sans" charset="0"/>
                <a:ea typeface="Gill Sans" charset="0"/>
                <a:cs typeface="Gill Sans" charset="0"/>
              </a:endParaRPr>
            </a:p>
          </p:txBody>
        </p:sp>
      </p:grpSp>
      <p:grpSp>
        <p:nvGrpSpPr>
          <p:cNvPr id="108" name="Group 108"/>
          <p:cNvGrpSpPr/>
          <p:nvPr/>
        </p:nvGrpSpPr>
        <p:grpSpPr>
          <a:xfrm>
            <a:off x="6172200" y="1524000"/>
            <a:ext cx="2971800" cy="970521"/>
            <a:chOff x="0" y="0"/>
            <a:chExt cx="2971800" cy="970521"/>
          </a:xfrm>
        </p:grpSpPr>
        <p:sp>
          <p:nvSpPr>
            <p:cNvPr id="105" name="Shape 105"/>
            <p:cNvSpPr/>
            <p:nvPr/>
          </p:nvSpPr>
          <p:spPr>
            <a:xfrm>
              <a:off x="0" y="0"/>
              <a:ext cx="2971800" cy="685800"/>
            </a:xfrm>
            <a:prstGeom prst="roundRect">
              <a:avLst>
                <a:gd name="adj" fmla="val 16667"/>
              </a:avLst>
            </a:prstGeom>
            <a:noFill/>
            <a:ln w="38100" cap="flat">
              <a:solidFill>
                <a:srgbClr val="0A39FF"/>
              </a:solidFill>
              <a:prstDash val="solid"/>
              <a:round/>
            </a:ln>
            <a:effectLst/>
          </p:spPr>
          <p:txBody>
            <a:bodyPr wrap="square" lIns="0" tIns="0" rIns="0" bIns="0" numCol="1" anchor="ctr">
              <a:noAutofit/>
            </a:bodyPr>
            <a:lstStyle/>
            <a:p>
              <a:pPr lvl="0"/>
              <a:endParaRPr>
                <a:latin typeface="Gill Sans" charset="0"/>
                <a:ea typeface="Gill Sans" charset="0"/>
                <a:cs typeface="Gill Sans" charset="0"/>
              </a:endParaRPr>
            </a:p>
          </p:txBody>
        </p:sp>
        <p:sp>
          <p:nvSpPr>
            <p:cNvPr id="106" name="Shape 106"/>
            <p:cNvSpPr/>
            <p:nvPr/>
          </p:nvSpPr>
          <p:spPr>
            <a:xfrm>
              <a:off x="288757" y="724300"/>
              <a:ext cx="1384300" cy="24622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spcBef>
                  <a:spcPts val="900"/>
                </a:spcBef>
                <a:buClr>
                  <a:srgbClr val="0A39FF"/>
                </a:buClr>
                <a:buFont typeface="Helvetica"/>
                <a:defRPr sz="1600" b="1">
                  <a:solidFill>
                    <a:srgbClr val="0A39FF"/>
                  </a:solidFill>
                  <a:uFill>
                    <a:solidFill>
                      <a:srgbClr val="0A39FF"/>
                    </a:solidFill>
                  </a:uFill>
                  <a:latin typeface="Helvetica"/>
                  <a:ea typeface="Helvetica"/>
                  <a:cs typeface="Helvetica"/>
                  <a:sym typeface="Helvetica"/>
                </a:defRPr>
              </a:lvl1pPr>
            </a:lstStyle>
            <a:p>
              <a:pPr lvl="0">
                <a:defRPr sz="1800" b="0">
                  <a:solidFill>
                    <a:srgbClr val="000000"/>
                  </a:solidFill>
                  <a:uFillTx/>
                </a:defRPr>
              </a:pPr>
              <a:r>
                <a:rPr sz="1600" b="0" dirty="0">
                  <a:solidFill>
                    <a:srgbClr val="0A39FF"/>
                  </a:solidFill>
                  <a:uFill>
                    <a:solidFill>
                      <a:srgbClr val="0A39FF"/>
                    </a:solidFill>
                  </a:uFill>
                  <a:latin typeface="Gill Sans" charset="0"/>
                  <a:ea typeface="Gill Sans" charset="0"/>
                  <a:cs typeface="Gill Sans" charset="0"/>
                </a:rPr>
                <a:t>E </a:t>
              </a:r>
              <a:r>
                <a:rPr lang="en-US" sz="1600" b="0" dirty="0">
                  <a:solidFill>
                    <a:srgbClr val="0A39FF"/>
                  </a:solidFill>
                  <a:uFill>
                    <a:solidFill>
                      <a:srgbClr val="0A39FF"/>
                    </a:solidFill>
                  </a:uFill>
                  <a:latin typeface="Gill Sans" charset="0"/>
                  <a:ea typeface="Gill Sans" charset="0"/>
                  <a:cs typeface="Gill Sans" charset="0"/>
                </a:rPr>
                <a:t>helix</a:t>
              </a:r>
            </a:p>
          </p:txBody>
        </p:sp>
        <p:sp>
          <p:nvSpPr>
            <p:cNvPr id="107" name="Shape 107"/>
            <p:cNvSpPr/>
            <p:nvPr/>
          </p:nvSpPr>
          <p:spPr>
            <a:xfrm flipV="1">
              <a:off x="901700" y="717550"/>
              <a:ext cx="381000" cy="152400"/>
            </a:xfrm>
            <a:prstGeom prst="line">
              <a:avLst/>
            </a:prstGeom>
            <a:noFill/>
            <a:ln w="19050" cap="flat">
              <a:solidFill>
                <a:srgbClr val="0A39FF"/>
              </a:solidFill>
              <a:prstDash val="solid"/>
              <a:round/>
              <a:tailEnd type="triangle" w="med" len="med"/>
            </a:ln>
            <a:effectLst/>
          </p:spPr>
          <p:txBody>
            <a:bodyPr wrap="square" lIns="0" tIns="0" rIns="0" bIns="0" numCol="1" anchor="t">
              <a:noAutofit/>
            </a:bodyPr>
            <a:lstStyle/>
            <a:p>
              <a:pPr marL="0" marR="0" lvl="0" defTabSz="457200">
                <a:defRPr sz="1200">
                  <a:uFillTx/>
                  <a:latin typeface="Helvetica"/>
                  <a:ea typeface="Helvetica"/>
                  <a:cs typeface="Helvetica"/>
                  <a:sym typeface="Helvetica"/>
                </a:defRPr>
              </a:pPr>
              <a:endParaRPr>
                <a:latin typeface="Gill Sans" charset="0"/>
                <a:ea typeface="Gill Sans" charset="0"/>
                <a:cs typeface="Gill Sans" charset="0"/>
              </a:endParaRPr>
            </a:p>
          </p:txBody>
        </p:sp>
      </p:grpSp>
      <p:grpSp>
        <p:nvGrpSpPr>
          <p:cNvPr id="112" name="Group 112"/>
          <p:cNvGrpSpPr/>
          <p:nvPr/>
        </p:nvGrpSpPr>
        <p:grpSpPr>
          <a:xfrm>
            <a:off x="4935354" y="306281"/>
            <a:ext cx="2606602" cy="1520890"/>
            <a:chOff x="134754" y="-58892"/>
            <a:chExt cx="2606601" cy="1520889"/>
          </a:xfrm>
        </p:grpSpPr>
        <p:sp>
          <p:nvSpPr>
            <p:cNvPr id="109" name="Shape 109"/>
            <p:cNvSpPr/>
            <p:nvPr/>
          </p:nvSpPr>
          <p:spPr>
            <a:xfrm rot="18660000">
              <a:off x="1941254" y="436408"/>
              <a:ext cx="1295401" cy="304801"/>
            </a:xfrm>
            <a:prstGeom prst="roundRect">
              <a:avLst>
                <a:gd name="adj" fmla="val 16667"/>
              </a:avLst>
            </a:prstGeom>
            <a:noFill/>
            <a:ln w="38100" cap="flat">
              <a:solidFill>
                <a:srgbClr val="FF2810"/>
              </a:solidFill>
              <a:prstDash val="solid"/>
              <a:round/>
            </a:ln>
            <a:effectLst/>
          </p:spPr>
          <p:txBody>
            <a:bodyPr wrap="square" lIns="0" tIns="0" rIns="0" bIns="0" numCol="1" anchor="ctr">
              <a:noAutofit/>
            </a:bodyPr>
            <a:lstStyle/>
            <a:p>
              <a:pPr lvl="0"/>
              <a:endParaRPr>
                <a:latin typeface="Gill Sans" charset="0"/>
                <a:ea typeface="Gill Sans" charset="0"/>
                <a:cs typeface="Gill Sans" charset="0"/>
              </a:endParaRPr>
            </a:p>
          </p:txBody>
        </p:sp>
        <p:sp>
          <p:nvSpPr>
            <p:cNvPr id="110" name="Shape 110"/>
            <p:cNvSpPr/>
            <p:nvPr/>
          </p:nvSpPr>
          <p:spPr>
            <a:xfrm>
              <a:off x="134754" y="1215776"/>
              <a:ext cx="1003300" cy="24622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spcBef>
                  <a:spcPts val="900"/>
                </a:spcBef>
                <a:buClr>
                  <a:srgbClr val="FF2810"/>
                </a:buClr>
                <a:buFont typeface="Helvetica"/>
                <a:defRPr sz="1600" b="1">
                  <a:solidFill>
                    <a:srgbClr val="FF2810"/>
                  </a:solidFill>
                  <a:uFill>
                    <a:solidFill>
                      <a:srgbClr val="FF2810"/>
                    </a:solidFill>
                  </a:uFill>
                  <a:latin typeface="Helvetica"/>
                  <a:ea typeface="Helvetica"/>
                  <a:cs typeface="Helvetica"/>
                  <a:sym typeface="Helvetica"/>
                </a:defRPr>
              </a:lvl1pPr>
            </a:lstStyle>
            <a:p>
              <a:pPr lvl="0">
                <a:defRPr sz="1800" b="0">
                  <a:solidFill>
                    <a:srgbClr val="000000"/>
                  </a:solidFill>
                  <a:uFillTx/>
                </a:defRPr>
              </a:pPr>
              <a:r>
                <a:rPr sz="1600" b="0" dirty="0">
                  <a:solidFill>
                    <a:srgbClr val="FF2810"/>
                  </a:solidFill>
                  <a:uFill>
                    <a:solidFill>
                      <a:srgbClr val="FF2810"/>
                    </a:solidFill>
                  </a:uFill>
                  <a:latin typeface="Gill Sans" charset="0"/>
                  <a:ea typeface="Gill Sans" charset="0"/>
                  <a:cs typeface="Gill Sans" charset="0"/>
                </a:rPr>
                <a:t>H</a:t>
              </a:r>
              <a:r>
                <a:rPr lang="en-US" sz="1600" b="0" dirty="0">
                  <a:solidFill>
                    <a:srgbClr val="FF2810"/>
                  </a:solidFill>
                  <a:uFill>
                    <a:solidFill>
                      <a:srgbClr val="FF2810"/>
                    </a:solidFill>
                  </a:uFill>
                  <a:latin typeface="Gill Sans" charset="0"/>
                  <a:ea typeface="Gill Sans" charset="0"/>
                  <a:cs typeface="Gill Sans" charset="0"/>
                </a:rPr>
                <a:t>eme</a:t>
              </a:r>
            </a:p>
          </p:txBody>
        </p:sp>
        <p:sp>
          <p:nvSpPr>
            <p:cNvPr id="111" name="Shape 111"/>
            <p:cNvSpPr/>
            <p:nvPr/>
          </p:nvSpPr>
          <p:spPr>
            <a:xfrm flipV="1">
              <a:off x="685800" y="930226"/>
              <a:ext cx="1295400" cy="381001"/>
            </a:xfrm>
            <a:prstGeom prst="line">
              <a:avLst/>
            </a:prstGeom>
            <a:noFill/>
            <a:ln w="19050" cap="flat">
              <a:solidFill>
                <a:srgbClr val="FF2810"/>
              </a:solidFill>
              <a:prstDash val="solid"/>
              <a:round/>
              <a:tailEnd type="triangle" w="med" len="med"/>
            </a:ln>
            <a:effectLst/>
          </p:spPr>
          <p:txBody>
            <a:bodyPr wrap="square" lIns="0" tIns="0" rIns="0" bIns="0" numCol="1" anchor="t">
              <a:noAutofit/>
            </a:bodyPr>
            <a:lstStyle/>
            <a:p>
              <a:pPr marL="0" marR="0" lvl="0" defTabSz="457200">
                <a:defRPr sz="1200">
                  <a:uFillTx/>
                  <a:latin typeface="Helvetica"/>
                  <a:ea typeface="Helvetica"/>
                  <a:cs typeface="Helvetica"/>
                  <a:sym typeface="Helvetica"/>
                </a:defRPr>
              </a:pPr>
              <a:endParaRPr>
                <a:latin typeface="Gill Sans" charset="0"/>
                <a:ea typeface="Gill Sans" charset="0"/>
                <a:cs typeface="Gill Sans" charset="0"/>
              </a:endParaRPr>
            </a:p>
          </p:txBody>
        </p:sp>
      </p:grpSp>
      <p:grpSp>
        <p:nvGrpSpPr>
          <p:cNvPr id="116" name="Group 116"/>
          <p:cNvGrpSpPr/>
          <p:nvPr/>
        </p:nvGrpSpPr>
        <p:grpSpPr>
          <a:xfrm>
            <a:off x="4585632" y="381000"/>
            <a:ext cx="2697818" cy="779621"/>
            <a:chOff x="394632" y="0"/>
            <a:chExt cx="2697818" cy="779621"/>
          </a:xfrm>
        </p:grpSpPr>
        <p:sp>
          <p:nvSpPr>
            <p:cNvPr id="114" name="Shape 114"/>
            <p:cNvSpPr/>
            <p:nvPr/>
          </p:nvSpPr>
          <p:spPr>
            <a:xfrm>
              <a:off x="2482850" y="0"/>
              <a:ext cx="609600" cy="609600"/>
            </a:xfrm>
            <a:custGeom>
              <a:avLst/>
              <a:gdLst/>
              <a:ahLst/>
              <a:cxnLst>
                <a:cxn ang="0">
                  <a:pos x="wd2" y="hd2"/>
                </a:cxn>
                <a:cxn ang="5400000">
                  <a:pos x="wd2" y="hd2"/>
                </a:cxn>
                <a:cxn ang="10800000">
                  <a:pos x="wd2" y="hd2"/>
                </a:cxn>
                <a:cxn ang="16200000">
                  <a:pos x="wd2" y="hd2"/>
                </a:cxn>
              </a:cxnLst>
              <a:rect l="0" t="0" r="r" b="b"/>
              <a:pathLst>
                <a:path w="21600" h="21600" extrusionOk="0">
                  <a:moveTo>
                    <a:pt x="6326" y="0"/>
                  </a:moveTo>
                  <a:lnTo>
                    <a:pt x="0" y="6326"/>
                  </a:lnTo>
                  <a:lnTo>
                    <a:pt x="0" y="15274"/>
                  </a:lnTo>
                  <a:lnTo>
                    <a:pt x="6326" y="21600"/>
                  </a:lnTo>
                  <a:lnTo>
                    <a:pt x="15274" y="21600"/>
                  </a:lnTo>
                  <a:lnTo>
                    <a:pt x="21600" y="15274"/>
                  </a:lnTo>
                  <a:lnTo>
                    <a:pt x="21600" y="6326"/>
                  </a:lnTo>
                  <a:lnTo>
                    <a:pt x="15274" y="0"/>
                  </a:lnTo>
                  <a:close/>
                </a:path>
              </a:pathLst>
            </a:custGeom>
            <a:noFill/>
            <a:ln w="28575" cap="flat">
              <a:solidFill>
                <a:srgbClr val="0A39FF"/>
              </a:solidFill>
              <a:prstDash val="solid"/>
              <a:miter lim="400000"/>
            </a:ln>
            <a:effectLst/>
          </p:spPr>
          <p:txBody>
            <a:bodyPr wrap="square" lIns="0" tIns="0" rIns="0" bIns="0" numCol="1" anchor="ctr">
              <a:noAutofit/>
            </a:bodyPr>
            <a:lstStyle/>
            <a:p>
              <a:pPr lvl="0"/>
              <a:endParaRPr>
                <a:latin typeface="Gill Sans" charset="0"/>
                <a:ea typeface="Gill Sans" charset="0"/>
                <a:cs typeface="Gill Sans" charset="0"/>
              </a:endParaRPr>
            </a:p>
          </p:txBody>
        </p:sp>
        <p:sp>
          <p:nvSpPr>
            <p:cNvPr id="115" name="Shape 115"/>
            <p:cNvSpPr/>
            <p:nvPr/>
          </p:nvSpPr>
          <p:spPr>
            <a:xfrm flipV="1">
              <a:off x="1524000" y="457200"/>
              <a:ext cx="914400" cy="228600"/>
            </a:xfrm>
            <a:prstGeom prst="line">
              <a:avLst/>
            </a:prstGeom>
            <a:noFill/>
            <a:ln w="28575" cap="flat">
              <a:solidFill>
                <a:srgbClr val="0A39FF"/>
              </a:solidFill>
              <a:prstDash val="solid"/>
              <a:round/>
              <a:tailEnd type="triangle" w="med" len="med"/>
            </a:ln>
            <a:effectLst/>
          </p:spPr>
          <p:txBody>
            <a:bodyPr wrap="square" lIns="0" tIns="0" rIns="0" bIns="0" numCol="1" anchor="t">
              <a:noAutofit/>
            </a:bodyPr>
            <a:lstStyle/>
            <a:p>
              <a:pPr marL="0" marR="0" lvl="0" defTabSz="457200">
                <a:defRPr sz="1200">
                  <a:uFillTx/>
                  <a:latin typeface="Helvetica"/>
                  <a:ea typeface="Helvetica"/>
                  <a:cs typeface="Helvetica"/>
                  <a:sym typeface="Helvetica"/>
                </a:defRPr>
              </a:pPr>
              <a:endParaRPr>
                <a:latin typeface="Gill Sans" charset="0"/>
                <a:ea typeface="Gill Sans" charset="0"/>
                <a:cs typeface="Gill Sans" charset="0"/>
              </a:endParaRPr>
            </a:p>
          </p:txBody>
        </p:sp>
        <p:sp>
          <p:nvSpPr>
            <p:cNvPr id="113" name="Shape 113"/>
            <p:cNvSpPr/>
            <p:nvPr/>
          </p:nvSpPr>
          <p:spPr>
            <a:xfrm>
              <a:off x="394632" y="533400"/>
              <a:ext cx="1689100" cy="24622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spcBef>
                  <a:spcPts val="900"/>
                </a:spcBef>
                <a:buClr>
                  <a:srgbClr val="0A39FF"/>
                </a:buClr>
                <a:buFont typeface="Helvetica"/>
                <a:defRPr sz="1600" b="1">
                  <a:solidFill>
                    <a:srgbClr val="0A39FF"/>
                  </a:solidFill>
                  <a:uFill>
                    <a:solidFill>
                      <a:srgbClr val="0A39FF"/>
                    </a:solidFill>
                  </a:uFill>
                  <a:latin typeface="Helvetica"/>
                  <a:ea typeface="Helvetica"/>
                  <a:cs typeface="Helvetica"/>
                  <a:sym typeface="Helvetica"/>
                </a:defRPr>
              </a:lvl1pPr>
            </a:lstStyle>
            <a:p>
              <a:pPr lvl="0">
                <a:defRPr sz="1800" b="0">
                  <a:solidFill>
                    <a:srgbClr val="000000"/>
                  </a:solidFill>
                  <a:uFillTx/>
                </a:defRPr>
              </a:pPr>
              <a:r>
                <a:rPr sz="1600" b="0" dirty="0">
                  <a:solidFill>
                    <a:srgbClr val="0A39FF"/>
                  </a:solidFill>
                  <a:uFill>
                    <a:solidFill>
                      <a:srgbClr val="0A39FF"/>
                    </a:solidFill>
                  </a:uFill>
                  <a:latin typeface="Gill Sans" charset="0"/>
                  <a:ea typeface="Gill Sans" charset="0"/>
                  <a:cs typeface="Gill Sans" charset="0"/>
                </a:rPr>
                <a:t>P</a:t>
              </a:r>
              <a:r>
                <a:rPr lang="en-US" sz="1600" b="0" dirty="0">
                  <a:solidFill>
                    <a:srgbClr val="0A39FF"/>
                  </a:solidFill>
                  <a:uFill>
                    <a:solidFill>
                      <a:srgbClr val="0A39FF"/>
                    </a:solidFill>
                  </a:uFill>
                  <a:latin typeface="Gill Sans" charset="0"/>
                  <a:ea typeface="Gill Sans" charset="0"/>
                  <a:cs typeface="Gill Sans" charset="0"/>
                </a:rPr>
                <a:t>roximal</a:t>
              </a:r>
              <a:r>
                <a:rPr sz="1600" b="0" dirty="0">
                  <a:solidFill>
                    <a:srgbClr val="0A39FF"/>
                  </a:solidFill>
                  <a:uFill>
                    <a:solidFill>
                      <a:srgbClr val="0A39FF"/>
                    </a:solidFill>
                  </a:uFill>
                  <a:latin typeface="Gill Sans" charset="0"/>
                  <a:ea typeface="Gill Sans" charset="0"/>
                  <a:cs typeface="Gill Sans" charset="0"/>
                </a:rPr>
                <a:t> H</a:t>
              </a:r>
              <a:r>
                <a:rPr lang="en-US" sz="1600" b="0" dirty="0">
                  <a:solidFill>
                    <a:srgbClr val="0A39FF"/>
                  </a:solidFill>
                  <a:uFill>
                    <a:solidFill>
                      <a:srgbClr val="0A39FF"/>
                    </a:solidFill>
                  </a:uFill>
                  <a:latin typeface="Gill Sans" charset="0"/>
                  <a:ea typeface="Gill Sans" charset="0"/>
                  <a:cs typeface="Gill Sans" charset="0"/>
                </a:rPr>
                <a:t>is</a:t>
              </a:r>
            </a:p>
          </p:txBody>
        </p:sp>
      </p:grpSp>
      <p:grpSp>
        <p:nvGrpSpPr>
          <p:cNvPr id="120" name="Group 120"/>
          <p:cNvGrpSpPr/>
          <p:nvPr/>
        </p:nvGrpSpPr>
        <p:grpSpPr>
          <a:xfrm>
            <a:off x="4832683" y="1220258"/>
            <a:ext cx="3245136" cy="457202"/>
            <a:chOff x="336883" y="100636"/>
            <a:chExt cx="3245135" cy="457201"/>
          </a:xfrm>
        </p:grpSpPr>
        <p:sp>
          <p:nvSpPr>
            <p:cNvPr id="117" name="Shape 117"/>
            <p:cNvSpPr/>
            <p:nvPr/>
          </p:nvSpPr>
          <p:spPr>
            <a:xfrm>
              <a:off x="336883" y="167839"/>
              <a:ext cx="1384300" cy="24622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spcBef>
                  <a:spcPts val="900"/>
                </a:spcBef>
                <a:buClr>
                  <a:srgbClr val="0A39FF"/>
                </a:buClr>
                <a:buFont typeface="Helvetica"/>
                <a:defRPr sz="1600" b="1">
                  <a:solidFill>
                    <a:srgbClr val="0A39FF"/>
                  </a:solidFill>
                  <a:uFill>
                    <a:solidFill>
                      <a:srgbClr val="0A39FF"/>
                    </a:solidFill>
                  </a:uFill>
                  <a:latin typeface="Helvetica"/>
                  <a:ea typeface="Helvetica"/>
                  <a:cs typeface="Helvetica"/>
                  <a:sym typeface="Helvetica"/>
                </a:defRPr>
              </a:lvl1pPr>
            </a:lstStyle>
            <a:p>
              <a:pPr lvl="0">
                <a:defRPr sz="1800" b="0">
                  <a:solidFill>
                    <a:srgbClr val="000000"/>
                  </a:solidFill>
                  <a:uFillTx/>
                </a:defRPr>
              </a:pPr>
              <a:r>
                <a:rPr sz="1600" b="0" dirty="0">
                  <a:solidFill>
                    <a:srgbClr val="0A39FF"/>
                  </a:solidFill>
                  <a:uFill>
                    <a:solidFill>
                      <a:srgbClr val="0A39FF"/>
                    </a:solidFill>
                  </a:uFill>
                  <a:latin typeface="Gill Sans" charset="0"/>
                  <a:ea typeface="Gill Sans" charset="0"/>
                  <a:cs typeface="Gill Sans" charset="0"/>
                </a:rPr>
                <a:t>D</a:t>
              </a:r>
              <a:r>
                <a:rPr lang="en-US" sz="1600" b="0" dirty="0">
                  <a:solidFill>
                    <a:srgbClr val="0A39FF"/>
                  </a:solidFill>
                  <a:uFill>
                    <a:solidFill>
                      <a:srgbClr val="0A39FF"/>
                    </a:solidFill>
                  </a:uFill>
                  <a:latin typeface="Gill Sans" charset="0"/>
                  <a:ea typeface="Gill Sans" charset="0"/>
                  <a:cs typeface="Gill Sans" charset="0"/>
                </a:rPr>
                <a:t>istal</a:t>
              </a:r>
              <a:r>
                <a:rPr sz="1600" b="0" dirty="0">
                  <a:solidFill>
                    <a:srgbClr val="0A39FF"/>
                  </a:solidFill>
                  <a:uFill>
                    <a:solidFill>
                      <a:srgbClr val="0A39FF"/>
                    </a:solidFill>
                  </a:uFill>
                  <a:latin typeface="Gill Sans" charset="0"/>
                  <a:ea typeface="Gill Sans" charset="0"/>
                  <a:cs typeface="Gill Sans" charset="0"/>
                </a:rPr>
                <a:t> H</a:t>
              </a:r>
              <a:r>
                <a:rPr lang="en-US" sz="1600" b="0" dirty="0">
                  <a:solidFill>
                    <a:srgbClr val="0A39FF"/>
                  </a:solidFill>
                  <a:uFill>
                    <a:solidFill>
                      <a:srgbClr val="0A39FF"/>
                    </a:solidFill>
                  </a:uFill>
                  <a:latin typeface="Gill Sans" charset="0"/>
                  <a:ea typeface="Gill Sans" charset="0"/>
                  <a:cs typeface="Gill Sans" charset="0"/>
                </a:rPr>
                <a:t>is</a:t>
              </a:r>
            </a:p>
          </p:txBody>
        </p:sp>
        <p:sp>
          <p:nvSpPr>
            <p:cNvPr id="118" name="Shape 118"/>
            <p:cNvSpPr/>
            <p:nvPr/>
          </p:nvSpPr>
          <p:spPr>
            <a:xfrm rot="17940000">
              <a:off x="3086717" y="62536"/>
              <a:ext cx="457201" cy="533401"/>
            </a:xfrm>
            <a:custGeom>
              <a:avLst/>
              <a:gdLst/>
              <a:ahLst/>
              <a:cxnLst>
                <a:cxn ang="0">
                  <a:pos x="wd2" y="hd2"/>
                </a:cxn>
                <a:cxn ang="5400000">
                  <a:pos x="wd2" y="hd2"/>
                </a:cxn>
                <a:cxn ang="10800000">
                  <a:pos x="wd2" y="hd2"/>
                </a:cxn>
                <a:cxn ang="16200000">
                  <a:pos x="wd2" y="hd2"/>
                </a:cxn>
              </a:cxnLst>
              <a:rect l="0" t="0" r="r" b="b"/>
              <a:pathLst>
                <a:path w="21600" h="21600" extrusionOk="0">
                  <a:moveTo>
                    <a:pt x="6326" y="0"/>
                  </a:moveTo>
                  <a:lnTo>
                    <a:pt x="0" y="5422"/>
                  </a:lnTo>
                  <a:lnTo>
                    <a:pt x="0" y="16178"/>
                  </a:lnTo>
                  <a:lnTo>
                    <a:pt x="6326" y="21600"/>
                  </a:lnTo>
                  <a:lnTo>
                    <a:pt x="15274" y="21600"/>
                  </a:lnTo>
                  <a:lnTo>
                    <a:pt x="21600" y="16178"/>
                  </a:lnTo>
                  <a:lnTo>
                    <a:pt x="21600" y="5422"/>
                  </a:lnTo>
                  <a:lnTo>
                    <a:pt x="15274" y="0"/>
                  </a:lnTo>
                  <a:close/>
                </a:path>
              </a:pathLst>
            </a:custGeom>
            <a:noFill/>
            <a:ln w="28575" cap="flat">
              <a:solidFill>
                <a:srgbClr val="0A39FF"/>
              </a:solidFill>
              <a:prstDash val="solid"/>
              <a:miter lim="400000"/>
            </a:ln>
            <a:effectLst/>
          </p:spPr>
          <p:txBody>
            <a:bodyPr wrap="square" lIns="0" tIns="0" rIns="0" bIns="0" numCol="1" anchor="ctr">
              <a:noAutofit/>
            </a:bodyPr>
            <a:lstStyle/>
            <a:p>
              <a:pPr lvl="0"/>
              <a:endParaRPr>
                <a:latin typeface="Gill Sans" charset="0"/>
                <a:ea typeface="Gill Sans" charset="0"/>
                <a:cs typeface="Gill Sans" charset="0"/>
              </a:endParaRPr>
            </a:p>
          </p:txBody>
        </p:sp>
        <p:sp>
          <p:nvSpPr>
            <p:cNvPr id="119" name="Shape 119"/>
            <p:cNvSpPr/>
            <p:nvPr/>
          </p:nvSpPr>
          <p:spPr>
            <a:xfrm>
              <a:off x="1219200" y="328177"/>
              <a:ext cx="1828800" cy="1588"/>
            </a:xfrm>
            <a:prstGeom prst="line">
              <a:avLst/>
            </a:prstGeom>
            <a:noFill/>
            <a:ln w="28575" cap="flat">
              <a:solidFill>
                <a:srgbClr val="0A39FF"/>
              </a:solidFill>
              <a:prstDash val="solid"/>
              <a:round/>
              <a:tailEnd type="triangle" w="med" len="med"/>
            </a:ln>
            <a:effectLst/>
          </p:spPr>
          <p:txBody>
            <a:bodyPr wrap="square" lIns="0" tIns="0" rIns="0" bIns="0" numCol="1" anchor="t">
              <a:noAutofit/>
            </a:bodyPr>
            <a:lstStyle/>
            <a:p>
              <a:pPr marL="0" marR="0" lvl="0" defTabSz="457200">
                <a:defRPr sz="1200">
                  <a:uFillTx/>
                  <a:latin typeface="Helvetica"/>
                  <a:ea typeface="Helvetica"/>
                  <a:cs typeface="Helvetica"/>
                  <a:sym typeface="Helvetica"/>
                </a:defRPr>
              </a:pPr>
              <a:endParaRPr>
                <a:latin typeface="Gill Sans" charset="0"/>
                <a:ea typeface="Gill Sans" charset="0"/>
                <a:cs typeface="Gill Sans" charset="0"/>
              </a:endParaRPr>
            </a:p>
          </p:txBody>
        </p:sp>
      </p:grpSp>
      <p:pic>
        <p:nvPicPr>
          <p:cNvPr id="121" name="image.pdf"/>
          <p:cNvPicPr/>
          <p:nvPr/>
        </p:nvPicPr>
        <p:blipFill>
          <a:blip r:embed="rId4"/>
          <a:stretch>
            <a:fillRect/>
          </a:stretch>
        </p:blipFill>
        <p:spPr>
          <a:xfrm>
            <a:off x="73025" y="0"/>
            <a:ext cx="2136775" cy="2209800"/>
          </a:xfrm>
          <a:prstGeom prst="rect">
            <a:avLst/>
          </a:prstGeom>
          <a:ln w="12700">
            <a:miter lim="400000"/>
          </a:ln>
        </p:spPr>
      </p:pic>
      <p:sp>
        <p:nvSpPr>
          <p:cNvPr id="122" name="Shape 122"/>
          <p:cNvSpPr/>
          <p:nvPr/>
        </p:nvSpPr>
        <p:spPr>
          <a:xfrm>
            <a:off x="2572004" y="-6350"/>
            <a:ext cx="1676400" cy="1689100"/>
          </a:xfrm>
          <a:prstGeom prst="rect">
            <a:avLst/>
          </a:prstGeom>
          <a:solidFill>
            <a:srgbClr val="FFFFFF"/>
          </a:solidFill>
          <a:ln w="19050">
            <a:miter lim="400000"/>
          </a:ln>
        </p:spPr>
        <p:txBody>
          <a:bodyPr lIns="0" tIns="0" rIns="0" bIns="0" anchor="ctr"/>
          <a:lstStyle/>
          <a:p>
            <a:pPr lvl="0"/>
            <a:endParaRPr>
              <a:latin typeface="Gill Sans" charset="0"/>
              <a:ea typeface="Gill Sans" charset="0"/>
              <a:cs typeface="Gill Sans" charset="0"/>
            </a:endParaRPr>
          </a:p>
        </p:txBody>
      </p:sp>
      <p:sp>
        <p:nvSpPr>
          <p:cNvPr id="123" name="Shape 123"/>
          <p:cNvSpPr/>
          <p:nvPr/>
        </p:nvSpPr>
        <p:spPr>
          <a:xfrm>
            <a:off x="4292600" y="558800"/>
            <a:ext cx="1295400" cy="368300"/>
          </a:xfrm>
          <a:prstGeom prst="rect">
            <a:avLst/>
          </a:prstGeom>
          <a:solidFill>
            <a:srgbClr val="FFFFFF"/>
          </a:solidFill>
          <a:ln w="19050">
            <a:miter lim="400000"/>
          </a:ln>
        </p:spPr>
        <p:txBody>
          <a:bodyPr lIns="0" tIns="0" rIns="0" bIns="0" anchor="ctr"/>
          <a:lstStyle/>
          <a:p>
            <a:pPr lvl="0"/>
            <a:endParaRPr>
              <a:latin typeface="Gill Sans" charset="0"/>
              <a:ea typeface="Gill Sans" charset="0"/>
              <a:cs typeface="Gill Sans" charset="0"/>
            </a:endParaRPr>
          </a:p>
        </p:txBody>
      </p:sp>
      <p:grpSp>
        <p:nvGrpSpPr>
          <p:cNvPr id="128" name="Group 128"/>
          <p:cNvGrpSpPr/>
          <p:nvPr/>
        </p:nvGrpSpPr>
        <p:grpSpPr>
          <a:xfrm>
            <a:off x="2667000" y="774700"/>
            <a:ext cx="2057400" cy="241300"/>
            <a:chOff x="0" y="0"/>
            <a:chExt cx="2057400" cy="241300"/>
          </a:xfrm>
        </p:grpSpPr>
        <p:sp>
          <p:nvSpPr>
            <p:cNvPr id="124" name="Shape 124"/>
            <p:cNvSpPr/>
            <p:nvPr/>
          </p:nvSpPr>
          <p:spPr>
            <a:xfrm>
              <a:off x="0" y="88900"/>
              <a:ext cx="2057400" cy="1588"/>
            </a:xfrm>
            <a:prstGeom prst="line">
              <a:avLst/>
            </a:prstGeom>
            <a:noFill/>
            <a:ln w="19050" cap="flat">
              <a:solidFill>
                <a:srgbClr val="000000"/>
              </a:solidFill>
              <a:prstDash val="solid"/>
              <a:round/>
            </a:ln>
            <a:effectLst/>
          </p:spPr>
          <p:txBody>
            <a:bodyPr wrap="square" lIns="0" tIns="0" rIns="0" bIns="0" numCol="1" anchor="t">
              <a:noAutofit/>
            </a:bodyPr>
            <a:lstStyle/>
            <a:p>
              <a:pPr marL="0" marR="0" lvl="0" defTabSz="457200">
                <a:defRPr sz="1200">
                  <a:uFillTx/>
                  <a:latin typeface="Helvetica"/>
                  <a:ea typeface="Helvetica"/>
                  <a:cs typeface="Helvetica"/>
                  <a:sym typeface="Helvetica"/>
                </a:defRPr>
              </a:pPr>
              <a:endParaRPr>
                <a:latin typeface="Gill Sans" charset="0"/>
                <a:ea typeface="Gill Sans" charset="0"/>
                <a:cs typeface="Gill Sans" charset="0"/>
              </a:endParaRPr>
            </a:p>
          </p:txBody>
        </p:sp>
        <p:sp>
          <p:nvSpPr>
            <p:cNvPr id="125" name="Shape 125"/>
            <p:cNvSpPr/>
            <p:nvPr/>
          </p:nvSpPr>
          <p:spPr>
            <a:xfrm>
              <a:off x="1943100" y="0"/>
              <a:ext cx="114300" cy="95250"/>
            </a:xfrm>
            <a:prstGeom prst="line">
              <a:avLst/>
            </a:prstGeom>
            <a:noFill/>
            <a:ln w="19050" cap="flat">
              <a:solidFill>
                <a:srgbClr val="000000"/>
              </a:solidFill>
              <a:prstDash val="solid"/>
              <a:round/>
            </a:ln>
            <a:effectLst/>
          </p:spPr>
          <p:txBody>
            <a:bodyPr wrap="square" lIns="0" tIns="0" rIns="0" bIns="0" numCol="1" anchor="t">
              <a:noAutofit/>
            </a:bodyPr>
            <a:lstStyle/>
            <a:p>
              <a:pPr marL="0" marR="0" lvl="0" defTabSz="457200">
                <a:defRPr sz="1200">
                  <a:uFillTx/>
                  <a:latin typeface="Helvetica"/>
                  <a:ea typeface="Helvetica"/>
                  <a:cs typeface="Helvetica"/>
                  <a:sym typeface="Helvetica"/>
                </a:defRPr>
              </a:pPr>
              <a:endParaRPr>
                <a:latin typeface="Gill Sans" charset="0"/>
                <a:ea typeface="Gill Sans" charset="0"/>
                <a:cs typeface="Gill Sans" charset="0"/>
              </a:endParaRPr>
            </a:p>
          </p:txBody>
        </p:sp>
        <p:sp>
          <p:nvSpPr>
            <p:cNvPr id="126" name="Shape 126"/>
            <p:cNvSpPr/>
            <p:nvPr/>
          </p:nvSpPr>
          <p:spPr>
            <a:xfrm>
              <a:off x="0" y="165100"/>
              <a:ext cx="2057400" cy="1588"/>
            </a:xfrm>
            <a:prstGeom prst="line">
              <a:avLst/>
            </a:prstGeom>
            <a:noFill/>
            <a:ln w="19050" cap="flat">
              <a:solidFill>
                <a:srgbClr val="000000"/>
              </a:solidFill>
              <a:prstDash val="solid"/>
              <a:round/>
            </a:ln>
            <a:effectLst/>
          </p:spPr>
          <p:txBody>
            <a:bodyPr wrap="square" lIns="0" tIns="0" rIns="0" bIns="0" numCol="1" anchor="t">
              <a:noAutofit/>
            </a:bodyPr>
            <a:lstStyle/>
            <a:p>
              <a:pPr marL="0" marR="0" lvl="0" defTabSz="457200">
                <a:defRPr sz="1200">
                  <a:uFillTx/>
                  <a:latin typeface="Helvetica"/>
                  <a:ea typeface="Helvetica"/>
                  <a:cs typeface="Helvetica"/>
                  <a:sym typeface="Helvetica"/>
                </a:defRPr>
              </a:pPr>
              <a:endParaRPr>
                <a:latin typeface="Gill Sans" charset="0"/>
                <a:ea typeface="Gill Sans" charset="0"/>
                <a:cs typeface="Gill Sans" charset="0"/>
              </a:endParaRPr>
            </a:p>
          </p:txBody>
        </p:sp>
        <p:sp>
          <p:nvSpPr>
            <p:cNvPr id="127" name="Shape 127"/>
            <p:cNvSpPr/>
            <p:nvPr/>
          </p:nvSpPr>
          <p:spPr>
            <a:xfrm>
              <a:off x="0" y="165100"/>
              <a:ext cx="114300" cy="76200"/>
            </a:xfrm>
            <a:prstGeom prst="line">
              <a:avLst/>
            </a:prstGeom>
            <a:noFill/>
            <a:ln w="19050" cap="flat">
              <a:solidFill>
                <a:srgbClr val="000000"/>
              </a:solidFill>
              <a:prstDash val="solid"/>
              <a:round/>
            </a:ln>
            <a:effectLst/>
          </p:spPr>
          <p:txBody>
            <a:bodyPr wrap="square" lIns="0" tIns="0" rIns="0" bIns="0" numCol="1" anchor="t">
              <a:noAutofit/>
            </a:bodyPr>
            <a:lstStyle/>
            <a:p>
              <a:pPr marL="0" marR="0" lvl="0" defTabSz="457200">
                <a:defRPr sz="1200">
                  <a:uFillTx/>
                  <a:latin typeface="Helvetica"/>
                  <a:ea typeface="Helvetica"/>
                  <a:cs typeface="Helvetica"/>
                  <a:sym typeface="Helvetica"/>
                </a:defRPr>
              </a:pPr>
              <a:endParaRPr>
                <a:latin typeface="Gill Sans" charset="0"/>
                <a:ea typeface="Gill Sans" charset="0"/>
                <a:cs typeface="Gill Sans" charset="0"/>
              </a:endParaRPr>
            </a:p>
          </p:txBody>
        </p:sp>
      </p:grpSp>
      <p:sp>
        <p:nvSpPr>
          <p:cNvPr id="129" name="Shape 129"/>
          <p:cNvSpPr/>
          <p:nvPr/>
        </p:nvSpPr>
        <p:spPr>
          <a:xfrm>
            <a:off x="2670323" y="380635"/>
            <a:ext cx="2565400" cy="461665"/>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p>
            <a:pPr lvl="0">
              <a:buClr>
                <a:srgbClr val="000000"/>
              </a:buClr>
              <a:buFont typeface="Helvetica"/>
              <a:defRPr sz="1800">
                <a:uFillTx/>
              </a:defRPr>
            </a:pPr>
            <a:r>
              <a:rPr sz="1400" b="0" dirty="0">
                <a:uFill>
                  <a:solidFill/>
                </a:uFill>
                <a:latin typeface="Gill Sans" charset="0"/>
                <a:ea typeface="Gill Sans" charset="0"/>
                <a:cs typeface="Gill Sans" charset="0"/>
                <a:sym typeface="Helvetica"/>
              </a:rPr>
              <a:t>F</a:t>
            </a:r>
            <a:r>
              <a:rPr lang="en-US" sz="1400" b="0" dirty="0">
                <a:uFill>
                  <a:solidFill/>
                </a:uFill>
                <a:latin typeface="Gill Sans" charset="0"/>
                <a:ea typeface="Gill Sans" charset="0"/>
                <a:cs typeface="Gill Sans" charset="0"/>
                <a:sym typeface="Helvetica"/>
              </a:rPr>
              <a:t>ourier transform spot data into </a:t>
            </a:r>
            <a:r>
              <a:rPr sz="1600" b="0" dirty="0">
                <a:uFill>
                  <a:solidFill/>
                </a:uFill>
                <a:latin typeface="Gill Sans" charset="0"/>
                <a:ea typeface="Gill Sans" charset="0"/>
                <a:cs typeface="Gill Sans" charset="0"/>
                <a:sym typeface="Helvetica"/>
              </a:rPr>
              <a:t>e</a:t>
            </a:r>
            <a:r>
              <a:rPr sz="2000" b="0" baseline="25199" dirty="0">
                <a:uFill>
                  <a:solidFill/>
                </a:uFill>
                <a:latin typeface="Gill Sans" charset="0"/>
                <a:ea typeface="Gill Sans" charset="0"/>
                <a:cs typeface="Gill Sans" charset="0"/>
                <a:sym typeface="Helvetica"/>
              </a:rPr>
              <a:t>-</a:t>
            </a:r>
            <a:r>
              <a:rPr sz="1400" b="0" dirty="0">
                <a:uFill>
                  <a:solidFill/>
                </a:uFill>
                <a:latin typeface="Gill Sans" charset="0"/>
                <a:ea typeface="Gill Sans" charset="0"/>
                <a:cs typeface="Gill Sans" charset="0"/>
                <a:sym typeface="Helvetica"/>
              </a:rPr>
              <a:t>  </a:t>
            </a:r>
            <a:r>
              <a:rPr lang="en-US" sz="1400" b="0" dirty="0">
                <a:uFill>
                  <a:solidFill/>
                </a:uFill>
                <a:latin typeface="Gill Sans" charset="0"/>
                <a:ea typeface="Gill Sans" charset="0"/>
                <a:cs typeface="Gill Sans" charset="0"/>
                <a:sym typeface="Helvetica"/>
              </a:rPr>
              <a:t>density of Mb atoms</a:t>
            </a:r>
          </a:p>
        </p:txBody>
      </p:sp>
      <p:grpSp>
        <p:nvGrpSpPr>
          <p:cNvPr id="3" name="Group 2">
            <a:extLst>
              <a:ext uri="{FF2B5EF4-FFF2-40B4-BE49-F238E27FC236}">
                <a16:creationId xmlns:a16="http://schemas.microsoft.com/office/drawing/2014/main" id="{37BCD1A7-C7C4-4744-BD76-2F6537713E86}"/>
              </a:ext>
            </a:extLst>
          </p:cNvPr>
          <p:cNvGrpSpPr/>
          <p:nvPr/>
        </p:nvGrpSpPr>
        <p:grpSpPr>
          <a:xfrm>
            <a:off x="3232150" y="2387600"/>
            <a:ext cx="2876550" cy="1981200"/>
            <a:chOff x="3232150" y="2387600"/>
            <a:chExt cx="2876550" cy="1981200"/>
          </a:xfrm>
        </p:grpSpPr>
        <p:pic>
          <p:nvPicPr>
            <p:cNvPr id="130" name="image.pdf"/>
            <p:cNvPicPr/>
            <p:nvPr/>
          </p:nvPicPr>
          <p:blipFill>
            <a:blip r:embed="rId5"/>
            <a:stretch>
              <a:fillRect/>
            </a:stretch>
          </p:blipFill>
          <p:spPr>
            <a:xfrm>
              <a:off x="3232150" y="2387600"/>
              <a:ext cx="1873250" cy="1981200"/>
            </a:xfrm>
            <a:prstGeom prst="rect">
              <a:avLst/>
            </a:prstGeom>
            <a:ln w="12700">
              <a:miter lim="400000"/>
            </a:ln>
          </p:spPr>
        </p:pic>
        <p:sp>
          <p:nvSpPr>
            <p:cNvPr id="131" name="Shape 131"/>
            <p:cNvSpPr/>
            <p:nvPr/>
          </p:nvSpPr>
          <p:spPr>
            <a:xfrm>
              <a:off x="4343400" y="2463800"/>
              <a:ext cx="1765300" cy="215444"/>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800"/>
                </a:spcBef>
                <a:buClr>
                  <a:srgbClr val="000000"/>
                </a:buClr>
                <a:buFont typeface="Helvetica"/>
                <a:defRPr sz="1400" b="1">
                  <a:latin typeface="Helvetica"/>
                  <a:ea typeface="Helvetica"/>
                  <a:cs typeface="Helvetica"/>
                  <a:sym typeface="Helvetica"/>
                </a:defRPr>
              </a:lvl1pPr>
            </a:lstStyle>
            <a:p>
              <a:pPr lvl="0">
                <a:defRPr sz="1800" b="0">
                  <a:uFillTx/>
                </a:defRPr>
              </a:pPr>
              <a:r>
                <a:rPr sz="1400" b="0" dirty="0">
                  <a:uFill>
                    <a:solidFill/>
                  </a:uFill>
                  <a:latin typeface="Gill Sans" charset="0"/>
                  <a:ea typeface="Gill Sans" charset="0"/>
                  <a:cs typeface="Gill Sans" charset="0"/>
                </a:rPr>
                <a:t>S</a:t>
              </a:r>
              <a:r>
                <a:rPr lang="en-US" sz="1400" b="0" dirty="0">
                  <a:uFill>
                    <a:solidFill/>
                  </a:uFill>
                  <a:latin typeface="Gill Sans" charset="0"/>
                  <a:ea typeface="Gill Sans" charset="0"/>
                  <a:cs typeface="Gill Sans" charset="0"/>
                </a:rPr>
                <a:t>ticks</a:t>
              </a:r>
            </a:p>
          </p:txBody>
        </p:sp>
      </p:grpSp>
      <p:grpSp>
        <p:nvGrpSpPr>
          <p:cNvPr id="6" name="Group 5">
            <a:extLst>
              <a:ext uri="{FF2B5EF4-FFF2-40B4-BE49-F238E27FC236}">
                <a16:creationId xmlns:a16="http://schemas.microsoft.com/office/drawing/2014/main" id="{5DAD1F02-E129-2146-A66F-3AF128E3FD6E}"/>
              </a:ext>
            </a:extLst>
          </p:cNvPr>
          <p:cNvGrpSpPr/>
          <p:nvPr/>
        </p:nvGrpSpPr>
        <p:grpSpPr>
          <a:xfrm>
            <a:off x="3025775" y="4525962"/>
            <a:ext cx="3408363" cy="2395538"/>
            <a:chOff x="3025775" y="4525962"/>
            <a:chExt cx="3408363" cy="2395538"/>
          </a:xfrm>
        </p:grpSpPr>
        <p:pic>
          <p:nvPicPr>
            <p:cNvPr id="132" name="image.pdf"/>
            <p:cNvPicPr/>
            <p:nvPr/>
          </p:nvPicPr>
          <p:blipFill>
            <a:blip r:embed="rId6"/>
            <a:stretch>
              <a:fillRect/>
            </a:stretch>
          </p:blipFill>
          <p:spPr>
            <a:xfrm>
              <a:off x="3025775" y="4525962"/>
              <a:ext cx="2212975" cy="2395538"/>
            </a:xfrm>
            <a:prstGeom prst="rect">
              <a:avLst/>
            </a:prstGeom>
            <a:ln w="12700">
              <a:miter lim="400000"/>
            </a:ln>
          </p:spPr>
        </p:pic>
        <p:sp>
          <p:nvSpPr>
            <p:cNvPr id="133" name="Shape 133"/>
            <p:cNvSpPr/>
            <p:nvPr/>
          </p:nvSpPr>
          <p:spPr>
            <a:xfrm>
              <a:off x="4668837" y="4997450"/>
              <a:ext cx="1765301" cy="215444"/>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800"/>
                </a:spcBef>
                <a:buClr>
                  <a:srgbClr val="000000"/>
                </a:buClr>
                <a:buFont typeface="Helvetica"/>
                <a:defRPr sz="1400" b="1">
                  <a:latin typeface="Helvetica"/>
                  <a:ea typeface="Helvetica"/>
                  <a:cs typeface="Helvetica"/>
                  <a:sym typeface="Helvetica"/>
                </a:defRPr>
              </a:lvl1pPr>
            </a:lstStyle>
            <a:p>
              <a:pPr lvl="0">
                <a:defRPr sz="1800" b="0">
                  <a:uFillTx/>
                </a:defRPr>
              </a:pPr>
              <a:r>
                <a:rPr sz="1400" b="0" dirty="0">
                  <a:uFill>
                    <a:solidFill/>
                  </a:uFill>
                  <a:latin typeface="Gill Sans" charset="0"/>
                  <a:ea typeface="Gill Sans" charset="0"/>
                  <a:cs typeface="Gill Sans" charset="0"/>
                </a:rPr>
                <a:t>S</a:t>
              </a:r>
              <a:r>
                <a:rPr lang="en-US" sz="1400" b="0" dirty="0">
                  <a:uFill>
                    <a:solidFill/>
                  </a:uFill>
                  <a:latin typeface="Gill Sans" charset="0"/>
                  <a:ea typeface="Gill Sans" charset="0"/>
                  <a:cs typeface="Gill Sans" charset="0"/>
                </a:rPr>
                <a:t>pheres</a:t>
              </a:r>
            </a:p>
          </p:txBody>
        </p:sp>
      </p:grpSp>
      <p:grpSp>
        <p:nvGrpSpPr>
          <p:cNvPr id="5" name="Group 4">
            <a:extLst>
              <a:ext uri="{FF2B5EF4-FFF2-40B4-BE49-F238E27FC236}">
                <a16:creationId xmlns:a16="http://schemas.microsoft.com/office/drawing/2014/main" id="{3A3A3108-A468-0447-BE9C-243E040C2F13}"/>
              </a:ext>
            </a:extLst>
          </p:cNvPr>
          <p:cNvGrpSpPr/>
          <p:nvPr/>
        </p:nvGrpSpPr>
        <p:grpSpPr>
          <a:xfrm>
            <a:off x="6570662" y="4860925"/>
            <a:ext cx="2509838" cy="1895475"/>
            <a:chOff x="6570662" y="4860925"/>
            <a:chExt cx="2509838" cy="1895475"/>
          </a:xfrm>
        </p:grpSpPr>
        <p:pic>
          <p:nvPicPr>
            <p:cNvPr id="135" name="image.pdf"/>
            <p:cNvPicPr/>
            <p:nvPr/>
          </p:nvPicPr>
          <p:blipFill>
            <a:blip r:embed="rId7"/>
            <a:stretch>
              <a:fillRect/>
            </a:stretch>
          </p:blipFill>
          <p:spPr>
            <a:xfrm>
              <a:off x="6570662" y="4860925"/>
              <a:ext cx="1816101" cy="1895475"/>
            </a:xfrm>
            <a:prstGeom prst="rect">
              <a:avLst/>
            </a:prstGeom>
            <a:ln w="12700">
              <a:miter lim="400000"/>
            </a:ln>
          </p:spPr>
        </p:pic>
        <p:sp>
          <p:nvSpPr>
            <p:cNvPr id="136" name="Shape 136"/>
            <p:cNvSpPr/>
            <p:nvPr/>
          </p:nvSpPr>
          <p:spPr>
            <a:xfrm>
              <a:off x="7543800" y="5054600"/>
              <a:ext cx="1536700" cy="215444"/>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800"/>
                </a:spcBef>
                <a:buClr>
                  <a:srgbClr val="000000"/>
                </a:buClr>
                <a:buFont typeface="Helvetica"/>
                <a:defRPr sz="1400" b="1">
                  <a:latin typeface="Helvetica"/>
                  <a:ea typeface="Helvetica"/>
                  <a:cs typeface="Helvetica"/>
                  <a:sym typeface="Helvetica"/>
                </a:defRPr>
              </a:lvl1pPr>
            </a:lstStyle>
            <a:p>
              <a:pPr lvl="0">
                <a:defRPr sz="1800" b="0">
                  <a:uFillTx/>
                </a:defRPr>
              </a:pPr>
              <a:r>
                <a:rPr sz="1400" b="0" dirty="0">
                  <a:uFill>
                    <a:solidFill/>
                  </a:uFill>
                  <a:latin typeface="Gill Sans" charset="0"/>
                  <a:ea typeface="Gill Sans" charset="0"/>
                  <a:cs typeface="Gill Sans" charset="0"/>
                </a:rPr>
                <a:t>C</a:t>
              </a:r>
              <a:r>
                <a:rPr lang="en-US" sz="1400" b="0" dirty="0">
                  <a:uFill>
                    <a:solidFill/>
                  </a:uFill>
                  <a:latin typeface="Gill Sans" charset="0"/>
                  <a:ea typeface="Gill Sans" charset="0"/>
                  <a:cs typeface="Gill Sans" charset="0"/>
                </a:rPr>
                <a:t>artoon</a:t>
              </a:r>
            </a:p>
          </p:txBody>
        </p:sp>
      </p:grpSp>
      <p:grpSp>
        <p:nvGrpSpPr>
          <p:cNvPr id="4" name="Group 3">
            <a:extLst>
              <a:ext uri="{FF2B5EF4-FFF2-40B4-BE49-F238E27FC236}">
                <a16:creationId xmlns:a16="http://schemas.microsoft.com/office/drawing/2014/main" id="{2BD99810-D770-1841-B4C6-507ECDE502C6}"/>
              </a:ext>
            </a:extLst>
          </p:cNvPr>
          <p:cNvGrpSpPr/>
          <p:nvPr/>
        </p:nvGrpSpPr>
        <p:grpSpPr>
          <a:xfrm>
            <a:off x="6629400" y="2643187"/>
            <a:ext cx="2527300" cy="1852613"/>
            <a:chOff x="6629400" y="2643187"/>
            <a:chExt cx="2527300" cy="1852613"/>
          </a:xfrm>
        </p:grpSpPr>
        <p:pic>
          <p:nvPicPr>
            <p:cNvPr id="134" name="image.pdf"/>
            <p:cNvPicPr/>
            <p:nvPr/>
          </p:nvPicPr>
          <p:blipFill>
            <a:blip r:embed="rId8"/>
            <a:stretch>
              <a:fillRect/>
            </a:stretch>
          </p:blipFill>
          <p:spPr>
            <a:xfrm>
              <a:off x="6629400" y="2643187"/>
              <a:ext cx="1809750" cy="1852613"/>
            </a:xfrm>
            <a:prstGeom prst="rect">
              <a:avLst/>
            </a:prstGeom>
            <a:ln w="12700">
              <a:miter lim="400000"/>
            </a:ln>
          </p:spPr>
        </p:pic>
        <p:sp>
          <p:nvSpPr>
            <p:cNvPr id="137" name="Shape 137"/>
            <p:cNvSpPr/>
            <p:nvPr/>
          </p:nvSpPr>
          <p:spPr>
            <a:xfrm>
              <a:off x="7620000" y="2895600"/>
              <a:ext cx="1536700" cy="215444"/>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800"/>
                </a:spcBef>
                <a:buClr>
                  <a:srgbClr val="000000"/>
                </a:buClr>
                <a:buFont typeface="Helvetica"/>
                <a:defRPr sz="1400" b="1">
                  <a:latin typeface="Helvetica"/>
                  <a:ea typeface="Helvetica"/>
                  <a:cs typeface="Helvetica"/>
                  <a:sym typeface="Helvetica"/>
                </a:defRPr>
              </a:lvl1pPr>
            </a:lstStyle>
            <a:p>
              <a:pPr lvl="0">
                <a:defRPr sz="1800" b="0">
                  <a:uFillTx/>
                </a:defRPr>
              </a:pPr>
              <a:r>
                <a:rPr sz="1400" b="0" dirty="0">
                  <a:uFill>
                    <a:solidFill/>
                  </a:uFill>
                  <a:latin typeface="Gill Sans" charset="0"/>
                  <a:ea typeface="Gill Sans" charset="0"/>
                  <a:cs typeface="Gill Sans" charset="0"/>
                </a:rPr>
                <a:t>R</a:t>
              </a:r>
              <a:r>
                <a:rPr lang="en-US" sz="1400" b="0" dirty="0">
                  <a:uFill>
                    <a:solidFill/>
                  </a:uFill>
                  <a:latin typeface="Gill Sans" charset="0"/>
                  <a:ea typeface="Gill Sans" charset="0"/>
                  <a:cs typeface="Gill Sans" charset="0"/>
                </a:rPr>
                <a:t>ibbon</a:t>
              </a:r>
            </a:p>
          </p:txBody>
        </p:sp>
      </p:grpSp>
      <p:grpSp>
        <p:nvGrpSpPr>
          <p:cNvPr id="141" name="Group 141"/>
          <p:cNvGrpSpPr/>
          <p:nvPr/>
        </p:nvGrpSpPr>
        <p:grpSpPr>
          <a:xfrm>
            <a:off x="0" y="2133600"/>
            <a:ext cx="2451100" cy="721043"/>
            <a:chOff x="0" y="0"/>
            <a:chExt cx="2451100" cy="721043"/>
          </a:xfrm>
        </p:grpSpPr>
        <p:sp>
          <p:nvSpPr>
            <p:cNvPr id="139" name="Shape 139"/>
            <p:cNvSpPr/>
            <p:nvPr/>
          </p:nvSpPr>
          <p:spPr>
            <a:xfrm>
              <a:off x="0" y="228600"/>
              <a:ext cx="2451100" cy="49244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spcBef>
                  <a:spcPts val="900"/>
                </a:spcBef>
                <a:buClr>
                  <a:srgbClr val="0A39FF"/>
                </a:buClr>
                <a:buFont typeface="Helvetica"/>
                <a:defRPr sz="1600" b="1">
                  <a:solidFill>
                    <a:srgbClr val="0A39FF"/>
                  </a:solidFill>
                  <a:uFill>
                    <a:solidFill>
                      <a:srgbClr val="0A39FF"/>
                    </a:solidFill>
                  </a:uFill>
                  <a:latin typeface="Helvetica"/>
                  <a:ea typeface="Helvetica"/>
                  <a:cs typeface="Helvetica"/>
                  <a:sym typeface="Helvetica"/>
                </a:defRPr>
              </a:lvl1pPr>
            </a:lstStyle>
            <a:p>
              <a:pPr lvl="0">
                <a:defRPr sz="1800" b="0">
                  <a:solidFill>
                    <a:srgbClr val="000000"/>
                  </a:solidFill>
                  <a:uFillTx/>
                </a:defRPr>
              </a:pPr>
              <a:r>
                <a:rPr lang="en-US" sz="1600" b="0" dirty="0">
                  <a:solidFill>
                    <a:schemeClr val="tx1"/>
                  </a:solidFill>
                  <a:uFill>
                    <a:solidFill>
                      <a:srgbClr val="0A39FF"/>
                    </a:solidFill>
                  </a:uFill>
                  <a:latin typeface="Gill Sans" charset="0"/>
                  <a:ea typeface="Gill Sans" charset="0"/>
                  <a:cs typeface="Gill Sans" charset="0"/>
                </a:rPr>
                <a:t>x-ray diffraction from  crystal of </a:t>
              </a:r>
              <a:r>
                <a:rPr sz="1600" b="0" dirty="0">
                  <a:solidFill>
                    <a:schemeClr val="tx1"/>
                  </a:solidFill>
                  <a:uFill>
                    <a:solidFill>
                      <a:srgbClr val="0A39FF"/>
                    </a:solidFill>
                  </a:uFill>
                  <a:latin typeface="Gill Sans" charset="0"/>
                  <a:ea typeface="Gill Sans" charset="0"/>
                  <a:cs typeface="Gill Sans" charset="0"/>
                </a:rPr>
                <a:t>Mb</a:t>
              </a:r>
            </a:p>
          </p:txBody>
        </p:sp>
        <p:sp>
          <p:nvSpPr>
            <p:cNvPr id="140" name="Shape 140"/>
            <p:cNvSpPr/>
            <p:nvPr/>
          </p:nvSpPr>
          <p:spPr>
            <a:xfrm flipV="1">
              <a:off x="762000" y="0"/>
              <a:ext cx="228600" cy="304800"/>
            </a:xfrm>
            <a:prstGeom prst="line">
              <a:avLst/>
            </a:prstGeom>
            <a:noFill/>
            <a:ln w="28575" cap="flat">
              <a:solidFill>
                <a:schemeClr val="tx1"/>
              </a:solidFill>
              <a:prstDash val="solid"/>
              <a:round/>
              <a:tailEnd type="triangle" w="med" len="med"/>
            </a:ln>
            <a:effectLst/>
          </p:spPr>
          <p:txBody>
            <a:bodyPr wrap="square" lIns="0" tIns="0" rIns="0" bIns="0" numCol="1" anchor="t">
              <a:noAutofit/>
            </a:bodyPr>
            <a:lstStyle/>
            <a:p>
              <a:pPr marL="0" marR="0" lvl="0" defTabSz="457200">
                <a:defRPr sz="1200">
                  <a:uFillTx/>
                  <a:latin typeface="Helvetica"/>
                  <a:ea typeface="Helvetica"/>
                  <a:cs typeface="Helvetica"/>
                  <a:sym typeface="Helvetica"/>
                </a:defRPr>
              </a:pPr>
              <a:endParaRPr>
                <a:latin typeface="Gill Sans" charset="0"/>
                <a:ea typeface="Gill Sans" charset="0"/>
                <a:cs typeface="Gill Sans" charset="0"/>
              </a:endParaRPr>
            </a:p>
          </p:txBody>
        </p:sp>
      </p:grpSp>
    </p:spTree>
    <p:extLst>
      <p:ext uri="{BB962C8B-B14F-4D97-AF65-F5344CB8AC3E}">
        <p14:creationId xmlns:p14="http://schemas.microsoft.com/office/powerpoint/2010/main" val="3214324306"/>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1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1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1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1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p:tmAbs val="0"/>
                                  </p:iterate>
                                  <p:childTnLst>
                                    <p:set>
                                      <p:cBhvr>
                                        <p:cTn id="26" fill="hold"/>
                                        <p:tgtEl>
                                          <p:spTgt spid="10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p:tmAbs val="0"/>
                                  </p:iterate>
                                  <p:childTnLst>
                                    <p:set>
                                      <p:cBhvr>
                                        <p:cTn id="30" fill="hold"/>
                                        <p:tgtEl>
                                          <p:spTgt spid="10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dissolve">
                                      <p:cBhvr>
                                        <p:cTn id="39" dur="500"/>
                                        <p:tgtEl>
                                          <p:spTgt spid="3"/>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nodeType="click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dissolve">
                                      <p:cBhvr>
                                        <p:cTn id="44" dur="500"/>
                                        <p:tgtEl>
                                          <p:spTgt spid="4"/>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nodeType="clickEffect">
                                  <p:stCondLst>
                                    <p:cond delay="0"/>
                                  </p:stCondLst>
                                  <p:childTnLst>
                                    <p:set>
                                      <p:cBhvr>
                                        <p:cTn id="48" dur="1" fill="hold">
                                          <p:stCondLst>
                                            <p:cond delay="0"/>
                                          </p:stCondLst>
                                        </p:cTn>
                                        <p:tgtEl>
                                          <p:spTgt spid="5"/>
                                        </p:tgtEl>
                                        <p:attrNameLst>
                                          <p:attrName>style.visibility</p:attrName>
                                        </p:attrNameLst>
                                      </p:cBhvr>
                                      <p:to>
                                        <p:strVal val="visible"/>
                                      </p:to>
                                    </p:set>
                                    <p:animEffect transition="in" filter="dissolve">
                                      <p:cBhvr>
                                        <p:cTn id="49" dur="500"/>
                                        <p:tgtEl>
                                          <p:spTgt spid="5"/>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nodeType="clickEffect">
                                  <p:stCondLst>
                                    <p:cond delay="0"/>
                                  </p:stCondLst>
                                  <p:childTnLst>
                                    <p:set>
                                      <p:cBhvr>
                                        <p:cTn id="53" dur="1" fill="hold">
                                          <p:stCondLst>
                                            <p:cond delay="0"/>
                                          </p:stCondLst>
                                        </p:cTn>
                                        <p:tgtEl>
                                          <p:spTgt spid="6"/>
                                        </p:tgtEl>
                                        <p:attrNameLst>
                                          <p:attrName>style.visibility</p:attrName>
                                        </p:attrNameLst>
                                      </p:cBhvr>
                                      <p:to>
                                        <p:strVal val="visible"/>
                                      </p:to>
                                    </p:set>
                                    <p:animEffect transition="in" filter="dissolve">
                                      <p:cBhvr>
                                        <p:cTn id="5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animBg="1"/>
      <p:bldP spid="104" grpId="0" animBg="1" advAuto="0"/>
      <p:bldP spid="108" grpId="0" animBg="1" advAuto="0"/>
      <p:bldP spid="112" grpId="0" animBg="1" advAuto="0"/>
      <p:bldP spid="116" grpId="0" animBg="1" advAuto="0"/>
      <p:bldP spid="120" grpId="0" animBg="1" advAuto="0"/>
      <p:bldP spid="129" grpId="0" animBg="1" advAuto="0"/>
      <p:bldP spid="141" grpId="0" animBg="1" advAuto="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Shape 143"/>
          <p:cNvSpPr/>
          <p:nvPr/>
        </p:nvSpPr>
        <p:spPr>
          <a:xfrm>
            <a:off x="-20595" y="-26302"/>
            <a:ext cx="9147518" cy="369332"/>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spcBef>
                <a:spcPts val="1200"/>
              </a:spcBef>
              <a:buClr>
                <a:srgbClr val="000000"/>
              </a:buClr>
              <a:buFont typeface="Helvetica"/>
              <a:defRPr sz="2000" b="1">
                <a:latin typeface="Helvetica"/>
                <a:ea typeface="Helvetica"/>
                <a:cs typeface="Helvetica"/>
                <a:sym typeface="Helvetica"/>
              </a:defRPr>
            </a:lvl1pPr>
          </a:lstStyle>
          <a:p>
            <a:pPr lvl="0" algn="ctr">
              <a:defRPr sz="1800" b="0">
                <a:uFillTx/>
              </a:defRPr>
            </a:pPr>
            <a:endParaRPr sz="2400" b="0" dirty="0">
              <a:solidFill>
                <a:schemeClr val="tx1"/>
              </a:solidFill>
              <a:uFill>
                <a:solidFill/>
              </a:uFill>
              <a:latin typeface="Gill Sans" charset="0"/>
              <a:ea typeface="Gill Sans" charset="0"/>
              <a:cs typeface="Gill Sans" charset="0"/>
            </a:endParaRPr>
          </a:p>
        </p:txBody>
      </p:sp>
      <p:sp>
        <p:nvSpPr>
          <p:cNvPr id="144" name="Shape 144"/>
          <p:cNvSpPr/>
          <p:nvPr/>
        </p:nvSpPr>
        <p:spPr>
          <a:xfrm>
            <a:off x="-20595" y="113483"/>
            <a:ext cx="5372101" cy="6921501"/>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p>
            <a:pPr marL="497840" lvl="0" indent="-457200">
              <a:spcBef>
                <a:spcPts val="1100"/>
              </a:spcBef>
              <a:buClr>
                <a:srgbClr val="000000"/>
              </a:buClr>
              <a:buFont typeface="Times Roman"/>
              <a:defRPr sz="1800">
                <a:uFillTx/>
              </a:defRPr>
            </a:pPr>
            <a:endParaRPr b="0" dirty="0">
              <a:solidFill>
                <a:schemeClr val="tx1"/>
              </a:solidFill>
              <a:uFill>
                <a:solidFill/>
              </a:uFill>
              <a:latin typeface="Gill Sans" charset="0"/>
              <a:ea typeface="Gill Sans" charset="0"/>
              <a:cs typeface="Gill Sans" charset="0"/>
              <a:sym typeface="Helvetica"/>
            </a:endParaRPr>
          </a:p>
          <a:p>
            <a:pPr marL="497840" lvl="0" indent="-457200">
              <a:spcBef>
                <a:spcPts val="1100"/>
              </a:spcBef>
              <a:buClr>
                <a:srgbClr val="000000"/>
              </a:buClr>
              <a:buFont typeface="Times Roman"/>
              <a:defRPr sz="1800">
                <a:uFillTx/>
              </a:defRPr>
            </a:pPr>
            <a:endParaRPr b="0" dirty="0">
              <a:solidFill>
                <a:schemeClr val="tx1"/>
              </a:solidFill>
              <a:uFill>
                <a:solidFill/>
              </a:uFill>
              <a:latin typeface="Gill Sans" charset="0"/>
              <a:ea typeface="Gill Sans" charset="0"/>
              <a:cs typeface="Gill Sans" charset="0"/>
              <a:sym typeface="Helvetica"/>
            </a:endParaRPr>
          </a:p>
          <a:p>
            <a:pPr marL="497840" lvl="0" indent="-457200">
              <a:spcBef>
                <a:spcPts val="1100"/>
              </a:spcBef>
              <a:buClr>
                <a:srgbClr val="000000"/>
              </a:buClr>
              <a:buFont typeface="Times Roman"/>
              <a:defRPr sz="1800">
                <a:uFillTx/>
              </a:defRPr>
            </a:pPr>
            <a:endParaRPr sz="900" b="0" dirty="0">
              <a:solidFill>
                <a:schemeClr val="tx1"/>
              </a:solidFill>
              <a:uFill>
                <a:solidFill/>
              </a:uFill>
              <a:latin typeface="Gill Sans" charset="0"/>
              <a:ea typeface="Gill Sans" charset="0"/>
              <a:cs typeface="Gill Sans" charset="0"/>
              <a:sym typeface="Helvetica"/>
            </a:endParaRPr>
          </a:p>
          <a:p>
            <a:pPr marL="497840" lvl="0" indent="-457200">
              <a:spcBef>
                <a:spcPts val="1100"/>
              </a:spcBef>
              <a:buClr>
                <a:srgbClr val="000000"/>
              </a:buClr>
              <a:buFont typeface="Times Roman"/>
              <a:defRPr sz="1800">
                <a:uFillTx/>
              </a:defRPr>
            </a:pPr>
            <a:r>
              <a:rPr b="0" dirty="0">
                <a:solidFill>
                  <a:schemeClr val="tx1"/>
                </a:solidFill>
                <a:uFill>
                  <a:solidFill/>
                </a:uFill>
                <a:latin typeface="Gill Sans" charset="0"/>
                <a:ea typeface="Gill Sans" charset="0"/>
                <a:cs typeface="Gill Sans" charset="0"/>
                <a:sym typeface="Helvetica"/>
              </a:rPr>
              <a:t>2. C</a:t>
            </a:r>
            <a:r>
              <a:rPr lang="en-US" b="0" dirty="0">
                <a:solidFill>
                  <a:schemeClr val="tx1"/>
                </a:solidFill>
                <a:uFill>
                  <a:solidFill/>
                </a:uFill>
                <a:latin typeface="Gill Sans" charset="0"/>
                <a:ea typeface="Gill Sans" charset="0"/>
                <a:cs typeface="Gill Sans" charset="0"/>
                <a:sym typeface="Helvetica"/>
              </a:rPr>
              <a:t>ompact 45 x 35 x 25 Angstrom</a:t>
            </a:r>
          </a:p>
          <a:p>
            <a:pPr marL="497840" lvl="0" indent="-457200">
              <a:spcBef>
                <a:spcPts val="1200"/>
              </a:spcBef>
              <a:buClr>
                <a:srgbClr val="000000"/>
              </a:buClr>
              <a:buFont typeface="Times Roman"/>
              <a:defRPr sz="1800">
                <a:uFillTx/>
              </a:defRPr>
            </a:pPr>
            <a:endParaRPr sz="2000" b="0" dirty="0">
              <a:solidFill>
                <a:schemeClr val="tx1"/>
              </a:solidFill>
              <a:uFill>
                <a:solidFill/>
              </a:uFill>
              <a:latin typeface="Gill Sans" charset="0"/>
              <a:ea typeface="Gill Sans" charset="0"/>
              <a:cs typeface="Gill Sans" charset="0"/>
              <a:sym typeface="Helvetica"/>
            </a:endParaRPr>
          </a:p>
          <a:p>
            <a:pPr marL="497840" lvl="0" indent="-457200">
              <a:spcBef>
                <a:spcPts val="1100"/>
              </a:spcBef>
              <a:buClr>
                <a:srgbClr val="000000"/>
              </a:buClr>
              <a:buFont typeface="Times Roman"/>
              <a:defRPr sz="1800">
                <a:uFillTx/>
              </a:defRPr>
            </a:pPr>
            <a:r>
              <a:rPr b="0" dirty="0">
                <a:solidFill>
                  <a:schemeClr val="tx1"/>
                </a:solidFill>
                <a:uFill>
                  <a:solidFill/>
                </a:uFill>
                <a:latin typeface="Gill Sans" charset="0"/>
                <a:ea typeface="Gill Sans" charset="0"/>
                <a:cs typeface="Gill Sans" charset="0"/>
                <a:sym typeface="Helvetica"/>
              </a:rPr>
              <a:t>3. </a:t>
            </a:r>
            <a:r>
              <a:rPr b="0" dirty="0">
                <a:solidFill>
                  <a:schemeClr val="tx1"/>
                </a:solidFill>
                <a:uFill>
                  <a:solidFill/>
                </a:uFill>
                <a:latin typeface="Gill Sans" charset="0"/>
                <a:ea typeface="Gill Sans" charset="0"/>
                <a:cs typeface="Gill Sans" charset="0"/>
                <a:sym typeface="Symbol"/>
              </a:rPr>
              <a:t>α</a:t>
            </a:r>
            <a:r>
              <a:rPr b="0" dirty="0">
                <a:solidFill>
                  <a:schemeClr val="tx1"/>
                </a:solidFill>
                <a:uFill>
                  <a:solidFill/>
                </a:uFill>
                <a:latin typeface="Gill Sans" charset="0"/>
                <a:ea typeface="Gill Sans" charset="0"/>
                <a:cs typeface="Gill Sans" charset="0"/>
                <a:sym typeface="Helvetica"/>
              </a:rPr>
              <a:t>-</a:t>
            </a:r>
            <a:r>
              <a:rPr lang="en-US" b="0" dirty="0">
                <a:solidFill>
                  <a:schemeClr val="tx1"/>
                </a:solidFill>
                <a:uFill>
                  <a:solidFill/>
                </a:uFill>
                <a:latin typeface="Gill Sans" charset="0"/>
                <a:ea typeface="Gill Sans" charset="0"/>
                <a:cs typeface="Gill Sans" charset="0"/>
                <a:sym typeface="Helvetica"/>
              </a:rPr>
              <a:t>helix</a:t>
            </a:r>
          </a:p>
          <a:p>
            <a:pPr marL="497840" lvl="0" indent="-457200">
              <a:spcBef>
                <a:spcPts val="1200"/>
              </a:spcBef>
              <a:buClr>
                <a:srgbClr val="000000"/>
              </a:buClr>
              <a:buFont typeface="Times Roman"/>
              <a:defRPr sz="1800">
                <a:uFillTx/>
              </a:defRPr>
            </a:pPr>
            <a:endParaRPr sz="2000" b="0" dirty="0">
              <a:solidFill>
                <a:schemeClr val="tx1"/>
              </a:solidFill>
              <a:uFill>
                <a:solidFill/>
              </a:uFill>
              <a:latin typeface="Gill Sans" charset="0"/>
              <a:ea typeface="Gill Sans" charset="0"/>
              <a:cs typeface="Gill Sans" charset="0"/>
              <a:sym typeface="Helvetica"/>
            </a:endParaRPr>
          </a:p>
          <a:p>
            <a:pPr marL="497840" lvl="0" indent="-457200">
              <a:spcBef>
                <a:spcPts val="1100"/>
              </a:spcBef>
              <a:buClr>
                <a:srgbClr val="000000"/>
              </a:buClr>
              <a:buFont typeface="Times Roman"/>
              <a:defRPr sz="1800">
                <a:uFillTx/>
              </a:defRPr>
            </a:pPr>
            <a:r>
              <a:rPr b="0" dirty="0">
                <a:solidFill>
                  <a:schemeClr val="tx1"/>
                </a:solidFill>
                <a:uFill>
                  <a:solidFill/>
                </a:uFill>
                <a:latin typeface="Gill Sans" charset="0"/>
                <a:ea typeface="Gill Sans" charset="0"/>
                <a:cs typeface="Gill Sans" charset="0"/>
                <a:sym typeface="Helvetica"/>
              </a:rPr>
              <a:t>4. H</a:t>
            </a:r>
            <a:r>
              <a:rPr lang="en-US" b="0" dirty="0">
                <a:solidFill>
                  <a:schemeClr val="tx1"/>
                </a:solidFill>
                <a:uFill>
                  <a:solidFill/>
                </a:uFill>
                <a:latin typeface="Gill Sans" charset="0"/>
                <a:ea typeface="Gill Sans" charset="0"/>
                <a:cs typeface="Gill Sans" charset="0"/>
                <a:sym typeface="Helvetica"/>
              </a:rPr>
              <a:t>eme in a crevice</a:t>
            </a:r>
          </a:p>
          <a:p>
            <a:pPr marL="497840" lvl="0" indent="-457200">
              <a:spcBef>
                <a:spcPts val="1200"/>
              </a:spcBef>
              <a:buClr>
                <a:srgbClr val="000000"/>
              </a:buClr>
              <a:buFont typeface="Times Roman"/>
              <a:defRPr sz="1800">
                <a:uFillTx/>
              </a:defRPr>
            </a:pPr>
            <a:endParaRPr sz="2000" b="0" dirty="0">
              <a:solidFill>
                <a:schemeClr val="tx1"/>
              </a:solidFill>
              <a:uFill>
                <a:solidFill/>
              </a:uFill>
              <a:latin typeface="Gill Sans" charset="0"/>
              <a:ea typeface="Gill Sans" charset="0"/>
              <a:cs typeface="Gill Sans" charset="0"/>
              <a:sym typeface="Helvetica"/>
            </a:endParaRPr>
          </a:p>
          <a:p>
            <a:pPr marL="497840" lvl="0" indent="-457200">
              <a:spcBef>
                <a:spcPts val="1100"/>
              </a:spcBef>
              <a:buClr>
                <a:srgbClr val="000000"/>
              </a:buClr>
              <a:buFont typeface="Times Roman"/>
              <a:defRPr sz="1800">
                <a:uFillTx/>
              </a:defRPr>
            </a:pPr>
            <a:r>
              <a:rPr b="0" dirty="0">
                <a:solidFill>
                  <a:schemeClr val="tx1"/>
                </a:solidFill>
                <a:uFill>
                  <a:solidFill/>
                </a:uFill>
                <a:latin typeface="Gill Sans" charset="0"/>
                <a:ea typeface="Gill Sans" charset="0"/>
                <a:cs typeface="Gill Sans" charset="0"/>
                <a:sym typeface="Helvetica"/>
              </a:rPr>
              <a:t>5. N</a:t>
            </a:r>
            <a:r>
              <a:rPr lang="en-US" b="0" dirty="0">
                <a:solidFill>
                  <a:schemeClr val="tx1"/>
                </a:solidFill>
                <a:uFill>
                  <a:solidFill/>
                </a:uFill>
                <a:latin typeface="Gill Sans" charset="0"/>
                <a:ea typeface="Gill Sans" charset="0"/>
                <a:cs typeface="Gill Sans" charset="0"/>
                <a:sym typeface="Helvetica"/>
              </a:rPr>
              <a:t>onpolar interior</a:t>
            </a:r>
          </a:p>
          <a:p>
            <a:pPr marL="497840" lvl="0" indent="-457200">
              <a:spcBef>
                <a:spcPts val="1200"/>
              </a:spcBef>
              <a:buClr>
                <a:srgbClr val="000000"/>
              </a:buClr>
              <a:buFont typeface="Times Roman"/>
              <a:defRPr sz="1800">
                <a:uFillTx/>
              </a:defRPr>
            </a:pPr>
            <a:endParaRPr sz="2000" b="0" dirty="0">
              <a:solidFill>
                <a:schemeClr val="tx1"/>
              </a:solidFill>
              <a:uFill>
                <a:solidFill/>
              </a:uFill>
              <a:latin typeface="Gill Sans" charset="0"/>
              <a:ea typeface="Gill Sans" charset="0"/>
              <a:cs typeface="Gill Sans" charset="0"/>
              <a:sym typeface="Helvetica"/>
            </a:endParaRPr>
          </a:p>
          <a:p>
            <a:pPr marL="497840" lvl="0" indent="-457200">
              <a:spcBef>
                <a:spcPts val="1100"/>
              </a:spcBef>
              <a:buClr>
                <a:srgbClr val="000000"/>
              </a:buClr>
              <a:buFont typeface="Times Roman"/>
              <a:defRPr sz="1800">
                <a:uFillTx/>
              </a:defRPr>
            </a:pPr>
            <a:r>
              <a:rPr b="0" dirty="0">
                <a:solidFill>
                  <a:schemeClr val="tx1"/>
                </a:solidFill>
                <a:uFill>
                  <a:solidFill/>
                </a:uFill>
                <a:latin typeface="Gill Sans" charset="0"/>
                <a:ea typeface="Gill Sans" charset="0"/>
                <a:cs typeface="Gill Sans" charset="0"/>
                <a:sym typeface="Helvetica"/>
              </a:rPr>
              <a:t>6. Mb </a:t>
            </a:r>
            <a:r>
              <a:rPr lang="en-US" b="0" dirty="0">
                <a:solidFill>
                  <a:schemeClr val="tx1"/>
                </a:solidFill>
                <a:uFill>
                  <a:solidFill/>
                </a:uFill>
                <a:latin typeface="Gill Sans" charset="0"/>
                <a:ea typeface="Gill Sans" charset="0"/>
                <a:cs typeface="Gill Sans" charset="0"/>
                <a:sym typeface="Helvetica"/>
              </a:rPr>
              <a:t>surface</a:t>
            </a:r>
          </a:p>
          <a:p>
            <a:pPr marL="497840" lvl="0" indent="-457200">
              <a:spcBef>
                <a:spcPts val="1200"/>
              </a:spcBef>
              <a:buClr>
                <a:srgbClr val="000000"/>
              </a:buClr>
              <a:buFont typeface="Times Roman"/>
              <a:defRPr sz="1800">
                <a:uFillTx/>
              </a:defRPr>
            </a:pPr>
            <a:endParaRPr sz="2000" b="0" dirty="0">
              <a:solidFill>
                <a:schemeClr val="tx1"/>
              </a:solidFill>
              <a:uFill>
                <a:solidFill/>
              </a:uFill>
              <a:latin typeface="Gill Sans" charset="0"/>
              <a:ea typeface="Gill Sans" charset="0"/>
              <a:cs typeface="Gill Sans" charset="0"/>
              <a:sym typeface="Helvetica"/>
            </a:endParaRPr>
          </a:p>
          <a:p>
            <a:pPr marL="497840" lvl="0" indent="-457200">
              <a:spcBef>
                <a:spcPts val="1100"/>
              </a:spcBef>
              <a:buClr>
                <a:srgbClr val="000000"/>
              </a:buClr>
              <a:buFont typeface="Times Roman"/>
              <a:defRPr sz="1800">
                <a:uFillTx/>
              </a:defRPr>
            </a:pPr>
            <a:r>
              <a:rPr b="0" dirty="0">
                <a:solidFill>
                  <a:schemeClr val="tx1"/>
                </a:solidFill>
                <a:uFill>
                  <a:solidFill/>
                </a:uFill>
                <a:latin typeface="Gill Sans" charset="0"/>
                <a:ea typeface="Gill Sans" charset="0"/>
                <a:cs typeface="Gill Sans" charset="0"/>
                <a:sym typeface="Helvetica"/>
              </a:rPr>
              <a:t>7. AA </a:t>
            </a:r>
            <a:r>
              <a:rPr lang="en-US" b="0" dirty="0">
                <a:solidFill>
                  <a:schemeClr val="tx1"/>
                </a:solidFill>
                <a:uFill>
                  <a:solidFill/>
                </a:uFill>
                <a:latin typeface="Gill Sans" charset="0"/>
                <a:ea typeface="Gill Sans" charset="0"/>
                <a:cs typeface="Gill Sans" charset="0"/>
                <a:sym typeface="Helvetica"/>
              </a:rPr>
              <a:t>side chains where </a:t>
            </a:r>
            <a:r>
              <a:rPr b="0" dirty="0">
                <a:solidFill>
                  <a:schemeClr val="tx1"/>
                </a:solidFill>
                <a:uFill>
                  <a:solidFill/>
                </a:uFill>
                <a:latin typeface="Gill Sans" charset="0"/>
                <a:ea typeface="Gill Sans" charset="0"/>
                <a:cs typeface="Gill Sans" charset="0"/>
                <a:sym typeface="Helvetica"/>
              </a:rPr>
              <a:t>O</a:t>
            </a:r>
            <a:r>
              <a:rPr sz="2400" b="0" baseline="-15000" dirty="0">
                <a:solidFill>
                  <a:schemeClr val="tx1"/>
                </a:solidFill>
                <a:uFill>
                  <a:solidFill/>
                </a:uFill>
                <a:latin typeface="Gill Sans" charset="0"/>
                <a:ea typeface="Gill Sans" charset="0"/>
                <a:cs typeface="Gill Sans" charset="0"/>
                <a:sym typeface="Helvetica"/>
              </a:rPr>
              <a:t>2</a:t>
            </a:r>
            <a:r>
              <a:rPr b="0" dirty="0">
                <a:solidFill>
                  <a:schemeClr val="tx1"/>
                </a:solidFill>
                <a:uFill>
                  <a:solidFill/>
                </a:uFill>
                <a:latin typeface="Gill Sans" charset="0"/>
                <a:ea typeface="Gill Sans" charset="0"/>
                <a:cs typeface="Gill Sans" charset="0"/>
                <a:sym typeface="Helvetica"/>
              </a:rPr>
              <a:t> </a:t>
            </a:r>
            <a:r>
              <a:rPr lang="en-US" b="0" dirty="0">
                <a:solidFill>
                  <a:schemeClr val="tx1"/>
                </a:solidFill>
                <a:uFill>
                  <a:solidFill/>
                </a:uFill>
                <a:latin typeface="Gill Sans" charset="0"/>
                <a:ea typeface="Gill Sans" charset="0"/>
                <a:cs typeface="Gill Sans" charset="0"/>
                <a:sym typeface="Helvetica"/>
              </a:rPr>
              <a:t>binds</a:t>
            </a:r>
          </a:p>
          <a:p>
            <a:pPr marL="497840" lvl="0" indent="-457200">
              <a:spcBef>
                <a:spcPts val="1100"/>
              </a:spcBef>
              <a:buClr>
                <a:srgbClr val="000000"/>
              </a:buClr>
              <a:buFont typeface="Times Roman"/>
              <a:defRPr sz="1800">
                <a:uFillTx/>
              </a:defRPr>
            </a:pPr>
            <a:endParaRPr sz="500" b="0" dirty="0">
              <a:solidFill>
                <a:schemeClr val="tx1"/>
              </a:solidFill>
              <a:uFill>
                <a:solidFill/>
              </a:uFill>
              <a:latin typeface="Gill Sans" charset="0"/>
              <a:ea typeface="Gill Sans" charset="0"/>
              <a:cs typeface="Gill Sans" charset="0"/>
            </a:endParaRPr>
          </a:p>
          <a:p>
            <a:pPr marL="497840" lvl="0" indent="-457200">
              <a:spcBef>
                <a:spcPts val="1100"/>
              </a:spcBef>
              <a:buClr>
                <a:srgbClr val="000000"/>
              </a:buClr>
              <a:buFont typeface="Times Roman"/>
              <a:defRPr sz="1800">
                <a:uFillTx/>
              </a:defRPr>
            </a:pPr>
            <a:r>
              <a:rPr b="0" dirty="0">
                <a:solidFill>
                  <a:schemeClr val="tx1"/>
                </a:solidFill>
                <a:uFill>
                  <a:solidFill/>
                </a:uFill>
                <a:latin typeface="Gill Sans" charset="0"/>
                <a:ea typeface="Gill Sans" charset="0"/>
                <a:cs typeface="Gill Sans" charset="0"/>
                <a:sym typeface="Helvetica"/>
              </a:rPr>
              <a:t>8. O</a:t>
            </a:r>
            <a:r>
              <a:rPr lang="en-US" b="0" dirty="0">
                <a:solidFill>
                  <a:schemeClr val="tx1"/>
                </a:solidFill>
                <a:uFill>
                  <a:solidFill/>
                </a:uFill>
                <a:latin typeface="Gill Sans" charset="0"/>
                <a:ea typeface="Gill Sans" charset="0"/>
                <a:cs typeface="Gill Sans" charset="0"/>
                <a:sym typeface="Helvetica"/>
              </a:rPr>
              <a:t>ne His near </a:t>
            </a:r>
            <a:r>
              <a:rPr b="0" dirty="0">
                <a:solidFill>
                  <a:schemeClr val="tx1"/>
                </a:solidFill>
                <a:uFill>
                  <a:solidFill/>
                </a:uFill>
                <a:latin typeface="Gill Sans" charset="0"/>
                <a:ea typeface="Gill Sans" charset="0"/>
                <a:cs typeface="Gill Sans" charset="0"/>
                <a:sym typeface="Helvetica"/>
              </a:rPr>
              <a:t>O</a:t>
            </a:r>
            <a:r>
              <a:rPr sz="2400" b="0" baseline="-15000" dirty="0">
                <a:solidFill>
                  <a:schemeClr val="tx1"/>
                </a:solidFill>
                <a:uFill>
                  <a:solidFill/>
                </a:uFill>
                <a:latin typeface="Gill Sans" charset="0"/>
                <a:ea typeface="Gill Sans" charset="0"/>
                <a:cs typeface="Gill Sans" charset="0"/>
                <a:sym typeface="Helvetica"/>
              </a:rPr>
              <a:t>2</a:t>
            </a:r>
            <a:r>
              <a:rPr b="0" dirty="0">
                <a:solidFill>
                  <a:schemeClr val="tx1"/>
                </a:solidFill>
                <a:uFill>
                  <a:solidFill/>
                </a:uFill>
                <a:latin typeface="Gill Sans" charset="0"/>
                <a:ea typeface="Gill Sans" charset="0"/>
                <a:cs typeface="Gill Sans" charset="0"/>
                <a:sym typeface="Helvetica"/>
              </a:rPr>
              <a:t> </a:t>
            </a:r>
            <a:r>
              <a:rPr lang="en-US" b="0" dirty="0">
                <a:solidFill>
                  <a:schemeClr val="tx1"/>
                </a:solidFill>
                <a:uFill>
                  <a:solidFill/>
                </a:uFill>
                <a:latin typeface="Gill Sans" charset="0"/>
                <a:ea typeface="Gill Sans" charset="0"/>
                <a:cs typeface="Gill Sans" charset="0"/>
                <a:sym typeface="Helvetica"/>
              </a:rPr>
              <a:t>binding site</a:t>
            </a:r>
          </a:p>
        </p:txBody>
      </p:sp>
      <p:pic>
        <p:nvPicPr>
          <p:cNvPr id="145" name="image.pdf"/>
          <p:cNvPicPr/>
          <p:nvPr/>
        </p:nvPicPr>
        <p:blipFill>
          <a:blip r:embed="rId3"/>
          <a:stretch>
            <a:fillRect/>
          </a:stretch>
        </p:blipFill>
        <p:spPr>
          <a:xfrm>
            <a:off x="4386305" y="1531121"/>
            <a:ext cx="4800600" cy="2738438"/>
          </a:xfrm>
          <a:prstGeom prst="rect">
            <a:avLst/>
          </a:prstGeom>
          <a:ln w="12700">
            <a:miter lim="400000"/>
          </a:ln>
        </p:spPr>
      </p:pic>
      <p:sp>
        <p:nvSpPr>
          <p:cNvPr id="146" name="Shape 146"/>
          <p:cNvSpPr/>
          <p:nvPr/>
        </p:nvSpPr>
        <p:spPr>
          <a:xfrm>
            <a:off x="8025617" y="4252096"/>
            <a:ext cx="1384300" cy="24622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900"/>
              </a:spcBef>
              <a:buClr>
                <a:srgbClr val="000000"/>
              </a:buClr>
              <a:buFont typeface="Helvetica"/>
              <a:defRPr sz="1600" b="1">
                <a:latin typeface="Helvetica"/>
                <a:ea typeface="Helvetica"/>
                <a:cs typeface="Helvetica"/>
                <a:sym typeface="Helvetica"/>
              </a:defRPr>
            </a:lvl1pPr>
          </a:lstStyle>
          <a:p>
            <a:pPr lvl="0">
              <a:defRPr sz="1800" b="0">
                <a:uFillTx/>
              </a:defRPr>
            </a:pPr>
            <a:r>
              <a:rPr sz="1600" b="0" dirty="0">
                <a:solidFill>
                  <a:schemeClr val="tx1"/>
                </a:solidFill>
                <a:uFill>
                  <a:solidFill/>
                </a:uFill>
                <a:latin typeface="Gill Sans" charset="0"/>
                <a:ea typeface="Gill Sans" charset="0"/>
                <a:cs typeface="Gill Sans" charset="0"/>
              </a:rPr>
              <a:t>I</a:t>
            </a:r>
            <a:r>
              <a:rPr lang="en-US" sz="1600" b="0" dirty="0">
                <a:solidFill>
                  <a:schemeClr val="tx1"/>
                </a:solidFill>
                <a:uFill>
                  <a:solidFill/>
                </a:uFill>
                <a:latin typeface="Gill Sans" charset="0"/>
                <a:ea typeface="Gill Sans" charset="0"/>
                <a:cs typeface="Gill Sans" charset="0"/>
              </a:rPr>
              <a:t>nterior</a:t>
            </a:r>
          </a:p>
        </p:txBody>
      </p:sp>
      <p:sp>
        <p:nvSpPr>
          <p:cNvPr id="147" name="Shape 147"/>
          <p:cNvSpPr/>
          <p:nvPr/>
        </p:nvSpPr>
        <p:spPr>
          <a:xfrm>
            <a:off x="4901417" y="4252096"/>
            <a:ext cx="1231900" cy="24622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900"/>
              </a:spcBef>
              <a:buClr>
                <a:srgbClr val="000000"/>
              </a:buClr>
              <a:buFont typeface="Helvetica"/>
              <a:defRPr sz="1600" b="1">
                <a:latin typeface="Helvetica"/>
                <a:ea typeface="Helvetica"/>
                <a:cs typeface="Helvetica"/>
                <a:sym typeface="Helvetica"/>
              </a:defRPr>
            </a:lvl1pPr>
          </a:lstStyle>
          <a:p>
            <a:pPr lvl="0">
              <a:defRPr sz="1800" b="0">
                <a:uFillTx/>
              </a:defRPr>
            </a:pPr>
            <a:r>
              <a:rPr sz="1600" b="0" dirty="0">
                <a:solidFill>
                  <a:schemeClr val="tx1"/>
                </a:solidFill>
                <a:uFill>
                  <a:solidFill/>
                </a:uFill>
                <a:latin typeface="Gill Sans" charset="0"/>
                <a:ea typeface="Gill Sans" charset="0"/>
                <a:cs typeface="Gill Sans" charset="0"/>
              </a:rPr>
              <a:t>S</a:t>
            </a:r>
            <a:r>
              <a:rPr lang="en-US" sz="1600" b="0" dirty="0">
                <a:solidFill>
                  <a:schemeClr val="tx1"/>
                </a:solidFill>
                <a:uFill>
                  <a:solidFill/>
                </a:uFill>
                <a:latin typeface="Gill Sans" charset="0"/>
                <a:ea typeface="Gill Sans" charset="0"/>
                <a:cs typeface="Gill Sans" charset="0"/>
              </a:rPr>
              <a:t>urface</a:t>
            </a:r>
          </a:p>
        </p:txBody>
      </p:sp>
      <p:sp>
        <p:nvSpPr>
          <p:cNvPr id="148" name="Shape 148"/>
          <p:cNvSpPr/>
          <p:nvPr/>
        </p:nvSpPr>
        <p:spPr>
          <a:xfrm>
            <a:off x="5686277" y="1528200"/>
            <a:ext cx="2122699" cy="246221"/>
          </a:xfrm>
          <a:prstGeom prst="rect">
            <a:avLst/>
          </a:prstGeom>
          <a:solidFill>
            <a:srgbClr val="C6E6E9"/>
          </a:solidFill>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spcBef>
                <a:spcPts val="900"/>
              </a:spcBef>
              <a:buClr>
                <a:srgbClr val="062ACD"/>
              </a:buClr>
              <a:buFont typeface="Helvetica"/>
              <a:defRPr sz="1600" b="1">
                <a:solidFill>
                  <a:srgbClr val="062ACD"/>
                </a:solidFill>
                <a:uFill>
                  <a:solidFill>
                    <a:srgbClr val="062ACD"/>
                  </a:solidFill>
                </a:uFill>
                <a:latin typeface="Helvetica"/>
                <a:ea typeface="Helvetica"/>
                <a:cs typeface="Helvetica"/>
                <a:sym typeface="Helvetica"/>
              </a:defRPr>
            </a:lvl1pPr>
          </a:lstStyle>
          <a:p>
            <a:pPr lvl="0">
              <a:defRPr sz="1800" b="0">
                <a:solidFill>
                  <a:srgbClr val="000000"/>
                </a:solidFill>
                <a:uFillTx/>
              </a:defRPr>
            </a:pPr>
            <a:r>
              <a:rPr sz="1600" b="0" dirty="0">
                <a:solidFill>
                  <a:schemeClr val="tx1"/>
                </a:solidFill>
                <a:uFill>
                  <a:solidFill>
                    <a:srgbClr val="062ACD"/>
                  </a:solidFill>
                </a:uFill>
                <a:latin typeface="Gill Sans" charset="0"/>
                <a:ea typeface="Gill Sans" charset="0"/>
                <a:cs typeface="Gill Sans" charset="0"/>
              </a:rPr>
              <a:t>B</a:t>
            </a:r>
            <a:r>
              <a:rPr lang="en-US" sz="1600" b="0" dirty="0">
                <a:solidFill>
                  <a:schemeClr val="tx1"/>
                </a:solidFill>
                <a:uFill>
                  <a:solidFill>
                    <a:srgbClr val="062ACD"/>
                  </a:solidFill>
                </a:uFill>
                <a:latin typeface="Gill Sans" charset="0"/>
                <a:ea typeface="Gill Sans" charset="0"/>
                <a:cs typeface="Gill Sans" charset="0"/>
              </a:rPr>
              <a:t>lue</a:t>
            </a:r>
            <a:r>
              <a:rPr sz="1600" b="0" dirty="0">
                <a:solidFill>
                  <a:schemeClr val="tx1"/>
                </a:solidFill>
                <a:uFill>
                  <a:solidFill>
                    <a:srgbClr val="062ACD"/>
                  </a:solidFill>
                </a:uFill>
                <a:latin typeface="Gill Sans" charset="0"/>
                <a:ea typeface="Gill Sans" charset="0"/>
                <a:cs typeface="Gill Sans" charset="0"/>
              </a:rPr>
              <a:t> = </a:t>
            </a:r>
            <a:r>
              <a:rPr lang="en-US" sz="1600" b="0" dirty="0">
                <a:solidFill>
                  <a:schemeClr val="tx1"/>
                </a:solidFill>
                <a:uFill>
                  <a:solidFill>
                    <a:srgbClr val="062ACD"/>
                  </a:solidFill>
                </a:uFill>
                <a:latin typeface="Gill Sans" charset="0"/>
                <a:ea typeface="Gill Sans" charset="0"/>
                <a:cs typeface="Gill Sans" charset="0"/>
              </a:rPr>
              <a:t>polar or charged</a:t>
            </a:r>
          </a:p>
        </p:txBody>
      </p:sp>
      <p:sp>
        <p:nvSpPr>
          <p:cNvPr id="149" name="Shape 149"/>
          <p:cNvSpPr/>
          <p:nvPr/>
        </p:nvSpPr>
        <p:spPr>
          <a:xfrm>
            <a:off x="5876777" y="1883800"/>
            <a:ext cx="1749319" cy="246221"/>
          </a:xfrm>
          <a:prstGeom prst="rect">
            <a:avLst/>
          </a:prstGeom>
          <a:solidFill>
            <a:srgbClr val="FFF756">
              <a:alpha val="47843"/>
            </a:srgbClr>
          </a:solidFill>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spcBef>
                <a:spcPts val="900"/>
              </a:spcBef>
              <a:buClr>
                <a:srgbClr val="FDFB00"/>
              </a:buClr>
              <a:buFont typeface="Helvetica"/>
              <a:defRPr sz="1600" b="1">
                <a:solidFill>
                  <a:srgbClr val="FDFB00"/>
                </a:solidFill>
                <a:uFill>
                  <a:solidFill>
                    <a:srgbClr val="FDFB00"/>
                  </a:solidFill>
                </a:uFill>
                <a:latin typeface="Helvetica"/>
                <a:ea typeface="Helvetica"/>
                <a:cs typeface="Helvetica"/>
                <a:sym typeface="Helvetica"/>
              </a:defRPr>
            </a:lvl1pPr>
          </a:lstStyle>
          <a:p>
            <a:pPr lvl="0">
              <a:defRPr sz="1800" b="0">
                <a:solidFill>
                  <a:srgbClr val="000000"/>
                </a:solidFill>
                <a:uFillTx/>
              </a:defRPr>
            </a:pPr>
            <a:r>
              <a:rPr sz="1600" b="0" dirty="0">
                <a:solidFill>
                  <a:schemeClr val="tx1"/>
                </a:solidFill>
                <a:uFill>
                  <a:solidFill>
                    <a:srgbClr val="FDFB00"/>
                  </a:solidFill>
                </a:uFill>
                <a:latin typeface="Gill Sans" charset="0"/>
                <a:ea typeface="Gill Sans" charset="0"/>
                <a:cs typeface="Gill Sans" charset="0"/>
              </a:rPr>
              <a:t>Y</a:t>
            </a:r>
            <a:r>
              <a:rPr lang="en-US" sz="1600" b="0" dirty="0">
                <a:solidFill>
                  <a:schemeClr val="tx1"/>
                </a:solidFill>
                <a:uFill>
                  <a:solidFill>
                    <a:srgbClr val="FDFB00"/>
                  </a:solidFill>
                </a:uFill>
                <a:latin typeface="Gill Sans" charset="0"/>
                <a:ea typeface="Gill Sans" charset="0"/>
                <a:cs typeface="Gill Sans" charset="0"/>
              </a:rPr>
              <a:t>ellow</a:t>
            </a:r>
            <a:r>
              <a:rPr sz="1600" b="0" dirty="0">
                <a:solidFill>
                  <a:schemeClr val="tx1"/>
                </a:solidFill>
                <a:uFill>
                  <a:solidFill>
                    <a:srgbClr val="FDFB00"/>
                  </a:solidFill>
                </a:uFill>
                <a:latin typeface="Gill Sans" charset="0"/>
                <a:ea typeface="Gill Sans" charset="0"/>
                <a:cs typeface="Gill Sans" charset="0"/>
              </a:rPr>
              <a:t> = </a:t>
            </a:r>
            <a:r>
              <a:rPr lang="en-US" sz="1600" b="0" dirty="0">
                <a:solidFill>
                  <a:schemeClr val="tx1"/>
                </a:solidFill>
                <a:uFill>
                  <a:solidFill>
                    <a:srgbClr val="FDFB00"/>
                  </a:solidFill>
                </a:uFill>
                <a:latin typeface="Gill Sans" charset="0"/>
                <a:ea typeface="Gill Sans" charset="0"/>
                <a:cs typeface="Gill Sans" charset="0"/>
              </a:rPr>
              <a:t>nonpolar</a:t>
            </a:r>
          </a:p>
        </p:txBody>
      </p:sp>
      <p:sp>
        <p:nvSpPr>
          <p:cNvPr id="150" name="Shape 150"/>
          <p:cNvSpPr/>
          <p:nvPr/>
        </p:nvSpPr>
        <p:spPr>
          <a:xfrm>
            <a:off x="385805" y="1510483"/>
            <a:ext cx="2906035" cy="430887"/>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spcBef>
                <a:spcPts val="900"/>
              </a:spcBef>
              <a:buClr>
                <a:srgbClr val="062ACD"/>
              </a:buClr>
              <a:buFont typeface="Helvetica"/>
              <a:defRPr sz="1600" b="1">
                <a:solidFill>
                  <a:srgbClr val="062ACD"/>
                </a:solidFill>
                <a:uFill>
                  <a:solidFill>
                    <a:srgbClr val="062ACD"/>
                  </a:solidFill>
                </a:uFill>
                <a:latin typeface="Helvetica"/>
                <a:ea typeface="Helvetica"/>
                <a:cs typeface="Helvetica"/>
                <a:sym typeface="Helvetica"/>
              </a:defRPr>
            </a:lvl1pPr>
          </a:lstStyle>
          <a:p>
            <a:pPr lvl="0">
              <a:defRPr sz="1800" b="0">
                <a:solidFill>
                  <a:srgbClr val="000000"/>
                </a:solidFill>
                <a:uFillTx/>
              </a:defRPr>
            </a:pPr>
            <a:r>
              <a:rPr sz="1400" b="0" dirty="0">
                <a:solidFill>
                  <a:schemeClr val="tx1"/>
                </a:solidFill>
                <a:uFill>
                  <a:solidFill>
                    <a:srgbClr val="062ACD"/>
                  </a:solidFill>
                </a:uFill>
                <a:latin typeface="Gill Sans" charset="0"/>
                <a:ea typeface="Gill Sans" charset="0"/>
                <a:cs typeface="Gill Sans" charset="0"/>
              </a:rPr>
              <a:t>N</a:t>
            </a:r>
            <a:r>
              <a:rPr lang="en-US" sz="1400" b="0" dirty="0">
                <a:solidFill>
                  <a:schemeClr val="tx1"/>
                </a:solidFill>
                <a:uFill>
                  <a:solidFill>
                    <a:srgbClr val="062ACD"/>
                  </a:solidFill>
                </a:uFill>
                <a:latin typeface="Gill Sans" charset="0"/>
                <a:ea typeface="Gill Sans" charset="0"/>
                <a:cs typeface="Gill Sans" charset="0"/>
              </a:rPr>
              <a:t>o free space inside indicates precise fit of all parts; "soft solid"</a:t>
            </a:r>
          </a:p>
        </p:txBody>
      </p:sp>
      <p:sp>
        <p:nvSpPr>
          <p:cNvPr id="151" name="Shape 151"/>
          <p:cNvSpPr/>
          <p:nvPr/>
        </p:nvSpPr>
        <p:spPr>
          <a:xfrm>
            <a:off x="385805" y="2391354"/>
            <a:ext cx="3218689" cy="430887"/>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p>
            <a:pPr lvl="0">
              <a:spcBef>
                <a:spcPts val="900"/>
              </a:spcBef>
              <a:buClr>
                <a:srgbClr val="062ACD"/>
              </a:buClr>
              <a:buFont typeface="Helvetica"/>
              <a:defRPr sz="1800">
                <a:uFillTx/>
              </a:defRPr>
            </a:pPr>
            <a:r>
              <a:rPr lang="en-US" sz="1400" b="0" dirty="0">
                <a:solidFill>
                  <a:schemeClr val="tx1"/>
                </a:solidFill>
                <a:uFill>
                  <a:solidFill>
                    <a:srgbClr val="062ACD"/>
                  </a:solidFill>
                </a:uFill>
                <a:latin typeface="Gill Sans" charset="0"/>
                <a:ea typeface="Gill Sans" charset="0"/>
                <a:cs typeface="Gill Sans" charset="0"/>
              </a:rPr>
              <a:t>Mb h</a:t>
            </a:r>
            <a:r>
              <a:rPr lang="en-US" sz="1400" b="0" dirty="0">
                <a:solidFill>
                  <a:schemeClr val="tx1"/>
                </a:solidFill>
                <a:uFill>
                  <a:solidFill>
                    <a:srgbClr val="062ACD"/>
                  </a:solidFill>
                </a:uFill>
                <a:latin typeface="Gill Sans" charset="0"/>
                <a:ea typeface="Gill Sans" charset="0"/>
                <a:cs typeface="Gill Sans" charset="0"/>
                <a:sym typeface="Helvetica"/>
              </a:rPr>
              <a:t>as one of the highest </a:t>
            </a:r>
            <a:r>
              <a:rPr sz="1400" b="0" dirty="0">
                <a:solidFill>
                  <a:schemeClr val="tx1"/>
                </a:solidFill>
                <a:uFill>
                  <a:solidFill>
                    <a:srgbClr val="062ACD"/>
                  </a:solidFill>
                </a:uFill>
                <a:latin typeface="Gill Sans" charset="0"/>
                <a:ea typeface="Gill Sans" charset="0"/>
                <a:cs typeface="Gill Sans" charset="0"/>
                <a:sym typeface="Symbol"/>
              </a:rPr>
              <a:t>α</a:t>
            </a:r>
            <a:r>
              <a:rPr sz="1400" b="0" dirty="0">
                <a:solidFill>
                  <a:schemeClr val="tx1"/>
                </a:solidFill>
                <a:uFill>
                  <a:solidFill>
                    <a:srgbClr val="062ACD"/>
                  </a:solidFill>
                </a:uFill>
                <a:latin typeface="Gill Sans" charset="0"/>
                <a:ea typeface="Gill Sans" charset="0"/>
                <a:cs typeface="Gill Sans" charset="0"/>
                <a:sym typeface="Helvetica"/>
              </a:rPr>
              <a:t>-</a:t>
            </a:r>
            <a:r>
              <a:rPr lang="en-US" sz="1400" b="0" dirty="0">
                <a:solidFill>
                  <a:schemeClr val="tx1"/>
                </a:solidFill>
                <a:uFill>
                  <a:solidFill>
                    <a:srgbClr val="062ACD"/>
                  </a:solidFill>
                </a:uFill>
                <a:latin typeface="Gill Sans" charset="0"/>
                <a:ea typeface="Gill Sans" charset="0"/>
                <a:cs typeface="Gill Sans" charset="0"/>
                <a:sym typeface="Helvetica"/>
              </a:rPr>
              <a:t>helix content; some proteins have no </a:t>
            </a:r>
            <a:r>
              <a:rPr lang="el-GR" sz="1400" b="0" dirty="0">
                <a:solidFill>
                  <a:schemeClr val="tx1"/>
                </a:solidFill>
                <a:uFill>
                  <a:solidFill>
                    <a:srgbClr val="062ACD"/>
                  </a:solidFill>
                </a:uFill>
                <a:latin typeface="Gill Sans" charset="0"/>
                <a:ea typeface="Gill Sans" charset="0"/>
                <a:cs typeface="Gill Sans" charset="0"/>
                <a:sym typeface="Symbol"/>
              </a:rPr>
              <a:t>α</a:t>
            </a:r>
            <a:r>
              <a:rPr lang="el-GR" sz="1400" b="0" dirty="0">
                <a:solidFill>
                  <a:schemeClr val="tx1"/>
                </a:solidFill>
                <a:uFill>
                  <a:solidFill>
                    <a:srgbClr val="062ACD"/>
                  </a:solidFill>
                </a:uFill>
                <a:latin typeface="Gill Sans" charset="0"/>
                <a:ea typeface="Gill Sans" charset="0"/>
                <a:cs typeface="Gill Sans" charset="0"/>
              </a:rPr>
              <a:t>-</a:t>
            </a:r>
            <a:r>
              <a:rPr lang="en-US" sz="1400" b="0" dirty="0">
                <a:solidFill>
                  <a:schemeClr val="tx1"/>
                </a:solidFill>
                <a:uFill>
                  <a:solidFill>
                    <a:srgbClr val="062ACD"/>
                  </a:solidFill>
                </a:uFill>
                <a:latin typeface="Gill Sans" charset="0"/>
                <a:ea typeface="Gill Sans" charset="0"/>
                <a:cs typeface="Gill Sans" charset="0"/>
              </a:rPr>
              <a:t>helix </a:t>
            </a:r>
            <a:endParaRPr lang="en-US" sz="1400" b="0" dirty="0">
              <a:solidFill>
                <a:schemeClr val="tx1"/>
              </a:solidFill>
              <a:uFill>
                <a:solidFill>
                  <a:srgbClr val="062ACD"/>
                </a:solidFill>
              </a:uFill>
              <a:latin typeface="Gill Sans" charset="0"/>
              <a:ea typeface="Gill Sans" charset="0"/>
              <a:cs typeface="Gill Sans" charset="0"/>
              <a:sym typeface="Helvetica"/>
            </a:endParaRPr>
          </a:p>
        </p:txBody>
      </p:sp>
      <p:sp>
        <p:nvSpPr>
          <p:cNvPr id="152" name="Shape 152"/>
          <p:cNvSpPr/>
          <p:nvPr/>
        </p:nvSpPr>
        <p:spPr>
          <a:xfrm>
            <a:off x="385805" y="3232095"/>
            <a:ext cx="2595139" cy="430887"/>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p>
            <a:pPr lvl="0">
              <a:spcBef>
                <a:spcPts val="900"/>
              </a:spcBef>
              <a:buClr>
                <a:srgbClr val="062ACD"/>
              </a:buClr>
              <a:buFont typeface="Helvetica"/>
              <a:defRPr sz="1800">
                <a:uFillTx/>
              </a:defRPr>
            </a:pPr>
            <a:r>
              <a:rPr sz="1400" b="0" dirty="0">
                <a:solidFill>
                  <a:schemeClr val="tx1"/>
                </a:solidFill>
                <a:uFill>
                  <a:solidFill>
                    <a:srgbClr val="062ACD"/>
                  </a:solidFill>
                </a:uFill>
                <a:latin typeface="Gill Sans" charset="0"/>
                <a:ea typeface="Gill Sans" charset="0"/>
                <a:cs typeface="Gill Sans" charset="0"/>
                <a:sym typeface="Helvetica"/>
              </a:rPr>
              <a:t>P</a:t>
            </a:r>
            <a:r>
              <a:rPr lang="en-US" sz="1400" b="0" dirty="0">
                <a:solidFill>
                  <a:schemeClr val="tx1"/>
                </a:solidFill>
                <a:uFill>
                  <a:solidFill>
                    <a:srgbClr val="062ACD"/>
                  </a:solidFill>
                </a:uFill>
                <a:latin typeface="Gill Sans" charset="0"/>
                <a:ea typeface="Gill Sans" charset="0"/>
                <a:cs typeface="Gill Sans" charset="0"/>
                <a:sym typeface="Helvetica"/>
              </a:rPr>
              <a:t>rotein makes precise fit</a:t>
            </a:r>
            <a:r>
              <a:rPr sz="1400" b="0" dirty="0">
                <a:solidFill>
                  <a:schemeClr val="tx1"/>
                </a:solidFill>
                <a:uFill>
                  <a:solidFill>
                    <a:srgbClr val="062ACD"/>
                  </a:solidFill>
                </a:uFill>
                <a:latin typeface="Gill Sans" charset="0"/>
                <a:ea typeface="Gill Sans" charset="0"/>
                <a:cs typeface="Gill Sans" charset="0"/>
                <a:sym typeface="Helvetica"/>
              </a:rPr>
              <a:t>; Fe</a:t>
            </a:r>
            <a:r>
              <a:rPr sz="1400" b="0" baseline="29999" dirty="0">
                <a:solidFill>
                  <a:schemeClr val="tx1"/>
                </a:solidFill>
                <a:uFill>
                  <a:solidFill>
                    <a:srgbClr val="062ACD"/>
                  </a:solidFill>
                </a:uFill>
                <a:latin typeface="Gill Sans" charset="0"/>
                <a:ea typeface="Gill Sans" charset="0"/>
                <a:cs typeface="Gill Sans" charset="0"/>
                <a:sym typeface="Helvetica"/>
              </a:rPr>
              <a:t>2+</a:t>
            </a:r>
            <a:r>
              <a:rPr sz="1400" b="0" dirty="0">
                <a:solidFill>
                  <a:schemeClr val="tx1"/>
                </a:solidFill>
                <a:uFill>
                  <a:solidFill>
                    <a:srgbClr val="062ACD"/>
                  </a:solidFill>
                </a:uFill>
                <a:latin typeface="Gill Sans" charset="0"/>
                <a:ea typeface="Gill Sans" charset="0"/>
                <a:cs typeface="Gill Sans" charset="0"/>
                <a:sym typeface="Helvetica"/>
              </a:rPr>
              <a:t> </a:t>
            </a:r>
            <a:r>
              <a:rPr lang="en-US" sz="1400" b="0" dirty="0">
                <a:solidFill>
                  <a:schemeClr val="tx1"/>
                </a:solidFill>
                <a:uFill>
                  <a:solidFill>
                    <a:srgbClr val="062ACD"/>
                  </a:solidFill>
                </a:uFill>
                <a:latin typeface="Gill Sans" charset="0"/>
                <a:ea typeface="Gill Sans" charset="0"/>
                <a:cs typeface="Gill Sans" charset="0"/>
                <a:sym typeface="Helvetica"/>
              </a:rPr>
              <a:t>kept away from water</a:t>
            </a:r>
          </a:p>
        </p:txBody>
      </p:sp>
      <p:sp>
        <p:nvSpPr>
          <p:cNvPr id="153" name="Shape 153"/>
          <p:cNvSpPr/>
          <p:nvPr/>
        </p:nvSpPr>
        <p:spPr>
          <a:xfrm>
            <a:off x="366555" y="4131763"/>
            <a:ext cx="2394933" cy="430887"/>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spcBef>
                <a:spcPts val="900"/>
              </a:spcBef>
              <a:buClr>
                <a:srgbClr val="062ACD"/>
              </a:buClr>
              <a:buFont typeface="Helvetica"/>
              <a:defRPr sz="1600" b="1">
                <a:solidFill>
                  <a:srgbClr val="062ACD"/>
                </a:solidFill>
                <a:uFill>
                  <a:solidFill>
                    <a:srgbClr val="062ACD"/>
                  </a:solidFill>
                </a:uFill>
                <a:latin typeface="Helvetica"/>
                <a:ea typeface="Helvetica"/>
                <a:cs typeface="Helvetica"/>
                <a:sym typeface="Helvetica"/>
              </a:defRPr>
            </a:lvl1pPr>
          </a:lstStyle>
          <a:p>
            <a:pPr lvl="0">
              <a:defRPr sz="1800" b="0">
                <a:solidFill>
                  <a:srgbClr val="000000"/>
                </a:solidFill>
                <a:uFillTx/>
              </a:defRPr>
            </a:pPr>
            <a:r>
              <a:rPr sz="1400" b="0" dirty="0">
                <a:solidFill>
                  <a:schemeClr val="tx1"/>
                </a:solidFill>
                <a:uFill>
                  <a:solidFill>
                    <a:srgbClr val="062ACD"/>
                  </a:solidFill>
                </a:uFill>
                <a:latin typeface="Gill Sans" charset="0"/>
                <a:ea typeface="Gill Sans" charset="0"/>
                <a:cs typeface="Gill Sans" charset="0"/>
              </a:rPr>
              <a:t>T</a:t>
            </a:r>
            <a:r>
              <a:rPr lang="en-US" sz="1400" b="0" dirty="0">
                <a:solidFill>
                  <a:schemeClr val="tx1"/>
                </a:solidFill>
                <a:uFill>
                  <a:solidFill>
                    <a:srgbClr val="062ACD"/>
                  </a:solidFill>
                </a:uFill>
                <a:latin typeface="Gill Sans" charset="0"/>
                <a:ea typeface="Gill Sans" charset="0"/>
                <a:cs typeface="Gill Sans" charset="0"/>
              </a:rPr>
              <a:t>he hydrophobic effect!  Exceptions are </a:t>
            </a:r>
            <a:r>
              <a:rPr sz="1400" b="0" dirty="0">
                <a:solidFill>
                  <a:schemeClr val="tx1"/>
                </a:solidFill>
                <a:uFill>
                  <a:solidFill>
                    <a:srgbClr val="062ACD"/>
                  </a:solidFill>
                </a:uFill>
                <a:latin typeface="Gill Sans" charset="0"/>
                <a:ea typeface="Gill Sans" charset="0"/>
                <a:cs typeface="Gill Sans" charset="0"/>
              </a:rPr>
              <a:t>2 H</a:t>
            </a:r>
            <a:r>
              <a:rPr lang="en-US" sz="1400" b="0" dirty="0">
                <a:solidFill>
                  <a:schemeClr val="tx1"/>
                </a:solidFill>
                <a:uFill>
                  <a:solidFill>
                    <a:srgbClr val="062ACD"/>
                  </a:solidFill>
                </a:uFill>
                <a:latin typeface="Gill Sans" charset="0"/>
                <a:ea typeface="Gill Sans" charset="0"/>
                <a:cs typeface="Gill Sans" charset="0"/>
              </a:rPr>
              <a:t>is</a:t>
            </a:r>
          </a:p>
        </p:txBody>
      </p:sp>
      <p:sp>
        <p:nvSpPr>
          <p:cNvPr id="154" name="Shape 154"/>
          <p:cNvSpPr/>
          <p:nvPr/>
        </p:nvSpPr>
        <p:spPr>
          <a:xfrm>
            <a:off x="385805" y="4963683"/>
            <a:ext cx="2686579" cy="430887"/>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p>
            <a:pPr lvl="0">
              <a:spcBef>
                <a:spcPts val="900"/>
              </a:spcBef>
              <a:buClr>
                <a:srgbClr val="062ACD"/>
              </a:buClr>
              <a:buFont typeface="Helvetica"/>
              <a:defRPr sz="1800">
                <a:uFillTx/>
              </a:defRPr>
            </a:pPr>
            <a:r>
              <a:rPr sz="1400" b="0" dirty="0">
                <a:solidFill>
                  <a:schemeClr val="tx1"/>
                </a:solidFill>
                <a:uFill>
                  <a:solidFill>
                    <a:schemeClr val="tx1"/>
                  </a:solidFill>
                </a:uFill>
                <a:latin typeface="Gill Sans" charset="0"/>
                <a:ea typeface="Gill Sans" charset="0"/>
                <a:cs typeface="Gill Sans" charset="0"/>
                <a:sym typeface="Helvetica"/>
              </a:rPr>
              <a:t>A</a:t>
            </a:r>
            <a:r>
              <a:rPr lang="en-US" sz="1400" b="0" dirty="0">
                <a:solidFill>
                  <a:schemeClr val="tx1"/>
                </a:solidFill>
                <a:uFill>
                  <a:solidFill>
                    <a:schemeClr val="tx1"/>
                  </a:solidFill>
                </a:uFill>
                <a:latin typeface="Gill Sans" charset="0"/>
                <a:ea typeface="Gill Sans" charset="0"/>
                <a:cs typeface="Gill Sans" charset="0"/>
                <a:sym typeface="Helvetica"/>
              </a:rPr>
              <a:t>lmost all polar &amp; charged </a:t>
            </a:r>
            <a:r>
              <a:rPr sz="1400" b="0" dirty="0">
                <a:solidFill>
                  <a:schemeClr val="tx1"/>
                </a:solidFill>
                <a:uFill>
                  <a:solidFill>
                    <a:schemeClr val="tx1"/>
                  </a:solidFill>
                </a:uFill>
                <a:latin typeface="Gill Sans" charset="0"/>
                <a:ea typeface="Gill Sans" charset="0"/>
                <a:cs typeface="Gill Sans" charset="0"/>
                <a:sym typeface="Helvetica"/>
              </a:rPr>
              <a:t>AA</a:t>
            </a:r>
            <a:r>
              <a:rPr lang="en-US" sz="1400" b="0" dirty="0">
                <a:solidFill>
                  <a:schemeClr val="tx1"/>
                </a:solidFill>
                <a:uFill>
                  <a:solidFill>
                    <a:schemeClr val="tx1"/>
                  </a:solidFill>
                </a:uFill>
                <a:latin typeface="Gill Sans" charset="0"/>
                <a:ea typeface="Gill Sans" charset="0"/>
                <a:cs typeface="Gill Sans" charset="0"/>
                <a:sym typeface="Helvetica"/>
              </a:rPr>
              <a:t> are surface</a:t>
            </a:r>
            <a:r>
              <a:rPr sz="1400" b="0" dirty="0">
                <a:solidFill>
                  <a:schemeClr val="tx1"/>
                </a:solidFill>
                <a:uFill>
                  <a:solidFill>
                    <a:schemeClr val="tx1"/>
                  </a:solidFill>
                </a:uFill>
                <a:latin typeface="Gill Sans" charset="0"/>
                <a:ea typeface="Gill Sans" charset="0"/>
                <a:cs typeface="Gill Sans" charset="0"/>
                <a:sym typeface="Helvetica"/>
              </a:rPr>
              <a:t>;  </a:t>
            </a:r>
            <a:r>
              <a:rPr lang="en-US" sz="1400" b="0" u="sng" dirty="0">
                <a:solidFill>
                  <a:schemeClr val="tx1"/>
                </a:solidFill>
                <a:uFill>
                  <a:solidFill>
                    <a:schemeClr val="tx1"/>
                  </a:solidFill>
                </a:uFill>
                <a:latin typeface="Gill Sans" charset="0"/>
                <a:ea typeface="Gill Sans" charset="0"/>
                <a:cs typeface="Gill Sans" charset="0"/>
              </a:rPr>
              <a:t>But a</a:t>
            </a:r>
            <a:r>
              <a:rPr lang="en-US" sz="1400" b="0" u="sng" dirty="0">
                <a:solidFill>
                  <a:schemeClr val="tx1"/>
                </a:solidFill>
                <a:uFill>
                  <a:solidFill>
                    <a:schemeClr val="tx1"/>
                  </a:solidFill>
                </a:uFill>
                <a:latin typeface="Gill Sans" charset="0"/>
                <a:ea typeface="Gill Sans" charset="0"/>
                <a:cs typeface="Gill Sans" charset="0"/>
                <a:sym typeface="Helvetica"/>
              </a:rPr>
              <a:t>lso many nonpolar!</a:t>
            </a:r>
          </a:p>
        </p:txBody>
      </p:sp>
      <p:sp>
        <p:nvSpPr>
          <p:cNvPr id="155" name="Shape 155"/>
          <p:cNvSpPr/>
          <p:nvPr/>
        </p:nvSpPr>
        <p:spPr>
          <a:xfrm>
            <a:off x="373105" y="5847088"/>
            <a:ext cx="3771900" cy="215444"/>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900"/>
              </a:spcBef>
              <a:buClr>
                <a:srgbClr val="062ACD"/>
              </a:buClr>
              <a:buFont typeface="Helvetica"/>
              <a:defRPr sz="1600" b="1">
                <a:solidFill>
                  <a:srgbClr val="062ACD"/>
                </a:solidFill>
                <a:uFill>
                  <a:solidFill>
                    <a:srgbClr val="062ACD"/>
                  </a:solidFill>
                </a:uFill>
                <a:latin typeface="Helvetica"/>
                <a:ea typeface="Helvetica"/>
                <a:cs typeface="Helvetica"/>
                <a:sym typeface="Helvetica"/>
              </a:defRPr>
            </a:lvl1pPr>
          </a:lstStyle>
          <a:p>
            <a:pPr lvl="0">
              <a:defRPr sz="1800" b="0">
                <a:solidFill>
                  <a:srgbClr val="000000"/>
                </a:solidFill>
                <a:uFillTx/>
              </a:defRPr>
            </a:pPr>
            <a:r>
              <a:rPr sz="1400" b="0" dirty="0">
                <a:solidFill>
                  <a:schemeClr val="tx1"/>
                </a:solidFill>
                <a:uFill>
                  <a:solidFill>
                    <a:srgbClr val="062ACD"/>
                  </a:solidFill>
                </a:uFill>
                <a:latin typeface="Gill Sans" charset="0"/>
                <a:ea typeface="Gill Sans" charset="0"/>
                <a:cs typeface="Gill Sans" charset="0"/>
              </a:rPr>
              <a:t>I</a:t>
            </a:r>
            <a:r>
              <a:rPr lang="en-US" sz="1400" b="0" dirty="0">
                <a:solidFill>
                  <a:schemeClr val="tx1"/>
                </a:solidFill>
                <a:uFill>
                  <a:solidFill>
                    <a:srgbClr val="062ACD"/>
                  </a:solidFill>
                </a:uFill>
                <a:latin typeface="Gill Sans" charset="0"/>
                <a:ea typeface="Gill Sans" charset="0"/>
                <a:cs typeface="Gill Sans" charset="0"/>
              </a:rPr>
              <a:t>le</a:t>
            </a:r>
            <a:r>
              <a:rPr sz="1400" b="0" dirty="0">
                <a:solidFill>
                  <a:schemeClr val="tx1"/>
                </a:solidFill>
                <a:uFill>
                  <a:solidFill>
                    <a:srgbClr val="062ACD"/>
                  </a:solidFill>
                </a:uFill>
                <a:latin typeface="Gill Sans" charset="0"/>
                <a:ea typeface="Gill Sans" charset="0"/>
                <a:cs typeface="Gill Sans" charset="0"/>
              </a:rPr>
              <a:t>, V</a:t>
            </a:r>
            <a:r>
              <a:rPr lang="en-US" sz="1400" b="0" dirty="0">
                <a:solidFill>
                  <a:schemeClr val="tx1"/>
                </a:solidFill>
                <a:uFill>
                  <a:solidFill>
                    <a:srgbClr val="062ACD"/>
                  </a:solidFill>
                </a:uFill>
                <a:latin typeface="Gill Sans" charset="0"/>
                <a:ea typeface="Gill Sans" charset="0"/>
                <a:cs typeface="Gill Sans" charset="0"/>
              </a:rPr>
              <a:t>al</a:t>
            </a:r>
            <a:r>
              <a:rPr sz="1400" b="0" dirty="0">
                <a:solidFill>
                  <a:schemeClr val="tx1"/>
                </a:solidFill>
                <a:uFill>
                  <a:solidFill>
                    <a:srgbClr val="062ACD"/>
                  </a:solidFill>
                </a:uFill>
                <a:latin typeface="Gill Sans" charset="0"/>
                <a:ea typeface="Gill Sans" charset="0"/>
                <a:cs typeface="Gill Sans" charset="0"/>
              </a:rPr>
              <a:t>, L</a:t>
            </a:r>
            <a:r>
              <a:rPr lang="en-US" sz="1400" b="0" dirty="0">
                <a:solidFill>
                  <a:schemeClr val="tx1"/>
                </a:solidFill>
                <a:uFill>
                  <a:solidFill>
                    <a:srgbClr val="062ACD"/>
                  </a:solidFill>
                </a:uFill>
                <a:latin typeface="Gill Sans" charset="0"/>
                <a:ea typeface="Gill Sans" charset="0"/>
                <a:cs typeface="Gill Sans" charset="0"/>
              </a:rPr>
              <a:t>eu</a:t>
            </a:r>
            <a:r>
              <a:rPr sz="1400" b="0" dirty="0">
                <a:solidFill>
                  <a:schemeClr val="tx1"/>
                </a:solidFill>
                <a:uFill>
                  <a:solidFill>
                    <a:srgbClr val="062ACD"/>
                  </a:solidFill>
                </a:uFill>
                <a:latin typeface="Gill Sans" charset="0"/>
                <a:ea typeface="Gill Sans" charset="0"/>
                <a:cs typeface="Gill Sans" charset="0"/>
              </a:rPr>
              <a:t> </a:t>
            </a:r>
            <a:r>
              <a:rPr lang="en-US" sz="1400" b="0" dirty="0">
                <a:solidFill>
                  <a:schemeClr val="tx1"/>
                </a:solidFill>
                <a:uFill>
                  <a:solidFill>
                    <a:srgbClr val="062ACD"/>
                  </a:solidFill>
                </a:uFill>
                <a:latin typeface="Gill Sans" charset="0"/>
                <a:ea typeface="Gill Sans" charset="0"/>
                <a:cs typeface="Gill Sans" charset="0"/>
              </a:rPr>
              <a:t>all nonpolar, keep water out </a:t>
            </a:r>
            <a:endParaRPr sz="1400" b="0" dirty="0">
              <a:solidFill>
                <a:schemeClr val="tx1"/>
              </a:solidFill>
              <a:uFill>
                <a:solidFill>
                  <a:srgbClr val="062ACD"/>
                </a:solidFill>
              </a:uFill>
              <a:latin typeface="Gill Sans" charset="0"/>
              <a:ea typeface="Gill Sans" charset="0"/>
              <a:cs typeface="Gill Sans" charset="0"/>
            </a:endParaRPr>
          </a:p>
        </p:txBody>
      </p:sp>
      <p:sp>
        <p:nvSpPr>
          <p:cNvPr id="156" name="Shape 156"/>
          <p:cNvSpPr/>
          <p:nvPr/>
        </p:nvSpPr>
        <p:spPr>
          <a:xfrm>
            <a:off x="360405" y="6455011"/>
            <a:ext cx="3060700" cy="430887"/>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lvl="0">
              <a:spcBef>
                <a:spcPts val="900"/>
              </a:spcBef>
              <a:buClr>
                <a:srgbClr val="062ACD"/>
              </a:buClr>
              <a:buFont typeface="Helvetica"/>
              <a:defRPr sz="1800">
                <a:uFillTx/>
              </a:defRPr>
            </a:pPr>
            <a:r>
              <a:rPr sz="1400" b="0" dirty="0">
                <a:solidFill>
                  <a:schemeClr val="tx1"/>
                </a:solidFill>
                <a:uFill>
                  <a:solidFill>
                    <a:srgbClr val="062ACD"/>
                  </a:solidFill>
                </a:uFill>
                <a:latin typeface="Gill Sans" charset="0"/>
                <a:ea typeface="Gill Sans" charset="0"/>
                <a:cs typeface="Gill Sans" charset="0"/>
                <a:sym typeface="Helvetica"/>
              </a:rPr>
              <a:t>D</a:t>
            </a:r>
            <a:r>
              <a:rPr lang="en-US" sz="1400" b="0" dirty="0">
                <a:solidFill>
                  <a:schemeClr val="tx1"/>
                </a:solidFill>
                <a:uFill>
                  <a:solidFill>
                    <a:srgbClr val="062ACD"/>
                  </a:solidFill>
                </a:uFill>
                <a:latin typeface="Gill Sans" charset="0"/>
                <a:ea typeface="Gill Sans" charset="0"/>
                <a:cs typeface="Gill Sans" charset="0"/>
                <a:sym typeface="Helvetica"/>
              </a:rPr>
              <a:t>istal</a:t>
            </a:r>
            <a:r>
              <a:rPr sz="1400" b="0" dirty="0">
                <a:solidFill>
                  <a:schemeClr val="tx1"/>
                </a:solidFill>
                <a:uFill>
                  <a:solidFill>
                    <a:srgbClr val="062ACD"/>
                  </a:solidFill>
                </a:uFill>
                <a:latin typeface="Gill Sans" charset="0"/>
                <a:ea typeface="Gill Sans" charset="0"/>
                <a:cs typeface="Gill Sans" charset="0"/>
                <a:sym typeface="Helvetica"/>
              </a:rPr>
              <a:t> H</a:t>
            </a:r>
            <a:r>
              <a:rPr lang="en-US" sz="1400" b="0" dirty="0">
                <a:solidFill>
                  <a:schemeClr val="tx1"/>
                </a:solidFill>
                <a:uFill>
                  <a:solidFill>
                    <a:srgbClr val="062ACD"/>
                  </a:solidFill>
                </a:uFill>
                <a:latin typeface="Gill Sans" charset="0"/>
                <a:ea typeface="Gill Sans" charset="0"/>
                <a:cs typeface="Gill Sans" charset="0"/>
                <a:sym typeface="Helvetica"/>
              </a:rPr>
              <a:t>is helps bind </a:t>
            </a:r>
            <a:r>
              <a:rPr sz="1400" b="0" dirty="0">
                <a:solidFill>
                  <a:schemeClr val="tx1"/>
                </a:solidFill>
                <a:uFill>
                  <a:solidFill>
                    <a:srgbClr val="062ACD"/>
                  </a:solidFill>
                </a:uFill>
                <a:latin typeface="Gill Sans" charset="0"/>
                <a:ea typeface="Gill Sans" charset="0"/>
                <a:cs typeface="Gill Sans" charset="0"/>
                <a:sym typeface="Helvetica"/>
              </a:rPr>
              <a:t>O</a:t>
            </a:r>
            <a:r>
              <a:rPr sz="1400" b="0" baseline="-15000" dirty="0">
                <a:solidFill>
                  <a:schemeClr val="tx1"/>
                </a:solidFill>
                <a:uFill>
                  <a:solidFill>
                    <a:srgbClr val="062ACD"/>
                  </a:solidFill>
                </a:uFill>
                <a:latin typeface="Gill Sans" charset="0"/>
                <a:ea typeface="Gill Sans" charset="0"/>
                <a:cs typeface="Gill Sans" charset="0"/>
                <a:sym typeface="Helvetica"/>
              </a:rPr>
              <a:t>2</a:t>
            </a:r>
            <a:r>
              <a:rPr lang="en-US" sz="1400" b="0" dirty="0">
                <a:solidFill>
                  <a:schemeClr val="tx1"/>
                </a:solidFill>
                <a:uFill>
                  <a:solidFill>
                    <a:srgbClr val="062ACD"/>
                  </a:solidFill>
                </a:uFill>
                <a:latin typeface="Gill Sans" charset="0"/>
                <a:ea typeface="Gill Sans" charset="0"/>
                <a:cs typeface="Gill Sans" charset="0"/>
                <a:sym typeface="Helvetica"/>
              </a:rPr>
              <a:t>; proximal His binds </a:t>
            </a:r>
            <a:r>
              <a:rPr lang="en-US" sz="1400" b="0" dirty="0" err="1">
                <a:solidFill>
                  <a:schemeClr val="tx1"/>
                </a:solidFill>
                <a:uFill>
                  <a:solidFill>
                    <a:srgbClr val="062ACD"/>
                  </a:solidFill>
                </a:uFill>
                <a:latin typeface="Gill Sans" charset="0"/>
                <a:ea typeface="Gill Sans" charset="0"/>
                <a:cs typeface="Gill Sans" charset="0"/>
                <a:sym typeface="Helvetica"/>
              </a:rPr>
              <a:t>heme</a:t>
            </a:r>
            <a:r>
              <a:rPr lang="en-US" sz="1400" b="0" dirty="0">
                <a:solidFill>
                  <a:schemeClr val="tx1"/>
                </a:solidFill>
                <a:uFill>
                  <a:solidFill>
                    <a:srgbClr val="062ACD"/>
                  </a:solidFill>
                </a:uFill>
                <a:latin typeface="Gill Sans" charset="0"/>
                <a:ea typeface="Gill Sans" charset="0"/>
                <a:cs typeface="Gill Sans" charset="0"/>
                <a:sym typeface="Helvetica"/>
              </a:rPr>
              <a:t> Fe</a:t>
            </a:r>
            <a:endParaRPr sz="1400" b="0" baseline="-15000" dirty="0">
              <a:solidFill>
                <a:schemeClr val="tx1"/>
              </a:solidFill>
              <a:uFill>
                <a:solidFill>
                  <a:srgbClr val="062ACD"/>
                </a:solidFill>
              </a:uFill>
              <a:latin typeface="Gill Sans" charset="0"/>
              <a:ea typeface="Gill Sans" charset="0"/>
              <a:cs typeface="Gill Sans" charset="0"/>
              <a:sym typeface="Helvetica"/>
            </a:endParaRPr>
          </a:p>
        </p:txBody>
      </p:sp>
      <p:sp>
        <p:nvSpPr>
          <p:cNvPr id="157" name="Shape 157"/>
          <p:cNvSpPr/>
          <p:nvPr/>
        </p:nvSpPr>
        <p:spPr>
          <a:xfrm>
            <a:off x="4329155" y="4687893"/>
            <a:ext cx="5041901" cy="276999"/>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900"/>
              </a:spcBef>
              <a:buClr>
                <a:srgbClr val="E62C9A"/>
              </a:buClr>
              <a:buFont typeface="Helvetica"/>
              <a:defRPr sz="1600" b="1">
                <a:solidFill>
                  <a:srgbClr val="E62C9A"/>
                </a:solidFill>
                <a:uFill>
                  <a:solidFill>
                    <a:srgbClr val="E62C9A"/>
                  </a:solidFill>
                </a:uFill>
                <a:latin typeface="Helvetica"/>
                <a:ea typeface="Helvetica"/>
                <a:cs typeface="Helvetica"/>
                <a:sym typeface="Helvetica"/>
              </a:defRPr>
            </a:lvl1pPr>
          </a:lstStyle>
          <a:p>
            <a:pPr lvl="0">
              <a:defRPr sz="1800" b="0">
                <a:solidFill>
                  <a:srgbClr val="000000"/>
                </a:solidFill>
                <a:uFillTx/>
              </a:defRPr>
            </a:pPr>
            <a:r>
              <a:rPr sz="1800" b="0" dirty="0">
                <a:solidFill>
                  <a:schemeClr val="tx1"/>
                </a:solidFill>
                <a:uFill>
                  <a:solidFill>
                    <a:srgbClr val="E62C9A"/>
                  </a:solidFill>
                </a:uFill>
                <a:latin typeface="Gill Sans" charset="0"/>
                <a:ea typeface="Gill Sans" charset="0"/>
                <a:cs typeface="Gill Sans" charset="0"/>
              </a:rPr>
              <a:t>W</a:t>
            </a:r>
            <a:r>
              <a:rPr lang="en-US" sz="1800" b="0" dirty="0">
                <a:solidFill>
                  <a:schemeClr val="tx1"/>
                </a:solidFill>
                <a:uFill>
                  <a:solidFill>
                    <a:srgbClr val="E62C9A"/>
                  </a:solidFill>
                </a:uFill>
                <a:latin typeface="Gill Sans" charset="0"/>
                <a:ea typeface="Gill Sans" charset="0"/>
                <a:cs typeface="Gill Sans" charset="0"/>
              </a:rPr>
              <a:t>hat is purpose of the </a:t>
            </a:r>
            <a:r>
              <a:rPr sz="1800" b="0" dirty="0">
                <a:solidFill>
                  <a:schemeClr val="tx1"/>
                </a:solidFill>
                <a:uFill>
                  <a:solidFill>
                    <a:srgbClr val="E62C9A"/>
                  </a:solidFill>
                </a:uFill>
                <a:latin typeface="Gill Sans" charset="0"/>
                <a:ea typeface="Gill Sans" charset="0"/>
                <a:cs typeface="Gill Sans" charset="0"/>
              </a:rPr>
              <a:t>Mb </a:t>
            </a:r>
            <a:r>
              <a:rPr lang="en-US" sz="1800" b="0" dirty="0">
                <a:solidFill>
                  <a:schemeClr val="tx1"/>
                </a:solidFill>
                <a:uFill>
                  <a:solidFill>
                    <a:srgbClr val="E62C9A"/>
                  </a:solidFill>
                </a:uFill>
                <a:latin typeface="Gill Sans" charset="0"/>
                <a:ea typeface="Gill Sans" charset="0"/>
                <a:cs typeface="Gill Sans" charset="0"/>
              </a:rPr>
              <a:t>polypeptide?!</a:t>
            </a:r>
          </a:p>
        </p:txBody>
      </p:sp>
      <p:sp>
        <p:nvSpPr>
          <p:cNvPr id="158" name="Shape 158"/>
          <p:cNvSpPr/>
          <p:nvPr/>
        </p:nvSpPr>
        <p:spPr>
          <a:xfrm>
            <a:off x="4767305" y="5021160"/>
            <a:ext cx="4432300" cy="24622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900"/>
              </a:spcBef>
              <a:buClr>
                <a:srgbClr val="E62C9A"/>
              </a:buClr>
              <a:buFont typeface="Helvetica"/>
              <a:defRPr sz="1600" b="1">
                <a:solidFill>
                  <a:srgbClr val="E62C9A"/>
                </a:solidFill>
                <a:uFill>
                  <a:solidFill>
                    <a:srgbClr val="E62C9A"/>
                  </a:solidFill>
                </a:uFill>
                <a:latin typeface="Helvetica"/>
                <a:ea typeface="Helvetica"/>
                <a:cs typeface="Helvetica"/>
                <a:sym typeface="Helvetica"/>
              </a:defRPr>
            </a:lvl1pPr>
          </a:lstStyle>
          <a:p>
            <a:pPr lvl="0">
              <a:defRPr sz="1800" b="0">
                <a:solidFill>
                  <a:srgbClr val="000000"/>
                </a:solidFill>
                <a:uFillTx/>
              </a:defRPr>
            </a:pPr>
            <a:r>
              <a:rPr sz="1600" b="0" dirty="0">
                <a:solidFill>
                  <a:schemeClr val="tx1"/>
                </a:solidFill>
                <a:uFill>
                  <a:solidFill>
                    <a:srgbClr val="E62C9A"/>
                  </a:solidFill>
                </a:uFill>
                <a:latin typeface="Gill Sans" charset="0"/>
                <a:ea typeface="Gill Sans" charset="0"/>
                <a:cs typeface="Gill Sans" charset="0"/>
              </a:rPr>
              <a:t>1. A </a:t>
            </a:r>
            <a:r>
              <a:rPr lang="en-US" sz="1600" b="0" dirty="0">
                <a:solidFill>
                  <a:schemeClr val="tx1"/>
                </a:solidFill>
                <a:uFill>
                  <a:solidFill>
                    <a:srgbClr val="E62C9A"/>
                  </a:solidFill>
                </a:uFill>
                <a:latin typeface="Gill Sans" charset="0"/>
                <a:ea typeface="Gill Sans" charset="0"/>
                <a:cs typeface="Gill Sans" charset="0"/>
              </a:rPr>
              <a:t>"construction" that is stable</a:t>
            </a:r>
          </a:p>
        </p:txBody>
      </p:sp>
      <p:sp>
        <p:nvSpPr>
          <p:cNvPr id="159" name="Shape 159"/>
          <p:cNvSpPr/>
          <p:nvPr/>
        </p:nvSpPr>
        <p:spPr>
          <a:xfrm>
            <a:off x="4767305" y="5504447"/>
            <a:ext cx="3898900" cy="24622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lvl="0">
              <a:spcBef>
                <a:spcPts val="900"/>
              </a:spcBef>
              <a:buClr>
                <a:srgbClr val="E62C9A"/>
              </a:buClr>
              <a:buFont typeface="Helvetica"/>
              <a:defRPr sz="1800">
                <a:uFillTx/>
              </a:defRPr>
            </a:pPr>
            <a:r>
              <a:rPr sz="1600" b="0" dirty="0">
                <a:solidFill>
                  <a:schemeClr val="tx1"/>
                </a:solidFill>
                <a:uFill>
                  <a:solidFill>
                    <a:srgbClr val="E62C9A"/>
                  </a:solidFill>
                </a:uFill>
                <a:latin typeface="Gill Sans" charset="0"/>
                <a:ea typeface="Gill Sans" charset="0"/>
                <a:cs typeface="Gill Sans" charset="0"/>
                <a:sym typeface="Helvetica"/>
              </a:rPr>
              <a:t>3. G</a:t>
            </a:r>
            <a:r>
              <a:rPr lang="en-US" sz="1600" b="0" dirty="0">
                <a:solidFill>
                  <a:schemeClr val="tx1"/>
                </a:solidFill>
                <a:uFill>
                  <a:solidFill>
                    <a:srgbClr val="E62C9A"/>
                  </a:solidFill>
                </a:uFill>
                <a:latin typeface="Gill Sans" charset="0"/>
                <a:ea typeface="Gill Sans" charset="0"/>
                <a:cs typeface="Gill Sans" charset="0"/>
                <a:sym typeface="Helvetica"/>
              </a:rPr>
              <a:t>ood fit to heme and </a:t>
            </a:r>
            <a:r>
              <a:rPr sz="1600" b="0" dirty="0">
                <a:solidFill>
                  <a:schemeClr val="tx1"/>
                </a:solidFill>
                <a:uFill>
                  <a:solidFill>
                    <a:srgbClr val="E62C9A"/>
                  </a:solidFill>
                </a:uFill>
                <a:latin typeface="Gill Sans" charset="0"/>
                <a:ea typeface="Gill Sans" charset="0"/>
                <a:cs typeface="Gill Sans" charset="0"/>
                <a:sym typeface="Helvetica"/>
              </a:rPr>
              <a:t>O</a:t>
            </a:r>
            <a:r>
              <a:rPr sz="2400" b="0" baseline="-15000" dirty="0">
                <a:solidFill>
                  <a:schemeClr val="tx1"/>
                </a:solidFill>
                <a:uFill>
                  <a:solidFill>
                    <a:srgbClr val="E62C9A"/>
                  </a:solidFill>
                </a:uFill>
                <a:latin typeface="Gill Sans" charset="0"/>
                <a:ea typeface="Gill Sans" charset="0"/>
                <a:cs typeface="Gill Sans" charset="0"/>
                <a:sym typeface="Helvetica"/>
              </a:rPr>
              <a:t>2</a:t>
            </a:r>
          </a:p>
        </p:txBody>
      </p:sp>
      <p:sp>
        <p:nvSpPr>
          <p:cNvPr id="160" name="Shape 160"/>
          <p:cNvSpPr/>
          <p:nvPr/>
        </p:nvSpPr>
        <p:spPr>
          <a:xfrm>
            <a:off x="4767305" y="6020341"/>
            <a:ext cx="4432300" cy="24622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lvl="0">
              <a:spcBef>
                <a:spcPts val="900"/>
              </a:spcBef>
              <a:buClr>
                <a:srgbClr val="E62C9A"/>
              </a:buClr>
              <a:buFont typeface="Helvetica"/>
              <a:defRPr sz="1800">
                <a:uFillTx/>
              </a:defRPr>
            </a:pPr>
            <a:r>
              <a:rPr sz="1600" b="0" dirty="0">
                <a:solidFill>
                  <a:schemeClr val="tx1"/>
                </a:solidFill>
                <a:uFill>
                  <a:solidFill>
                    <a:srgbClr val="E62C9A"/>
                  </a:solidFill>
                </a:uFill>
                <a:latin typeface="Gill Sans" charset="0"/>
                <a:ea typeface="Gill Sans" charset="0"/>
                <a:cs typeface="Gill Sans" charset="0"/>
                <a:sym typeface="Helvetica"/>
              </a:rPr>
              <a:t>5. S</a:t>
            </a:r>
            <a:r>
              <a:rPr lang="en-US" sz="1600" b="0" dirty="0">
                <a:solidFill>
                  <a:schemeClr val="tx1"/>
                </a:solidFill>
                <a:uFill>
                  <a:solidFill>
                    <a:srgbClr val="E62C9A"/>
                  </a:solidFill>
                </a:uFill>
                <a:latin typeface="Gill Sans" charset="0"/>
                <a:ea typeface="Gill Sans" charset="0"/>
                <a:cs typeface="Gill Sans" charset="0"/>
                <a:sym typeface="Helvetica"/>
              </a:rPr>
              <a:t>lightly flexible to let </a:t>
            </a:r>
            <a:r>
              <a:rPr sz="1600" b="0" dirty="0">
                <a:solidFill>
                  <a:schemeClr val="tx1"/>
                </a:solidFill>
                <a:uFill>
                  <a:solidFill>
                    <a:srgbClr val="E62C9A"/>
                  </a:solidFill>
                </a:uFill>
                <a:latin typeface="Gill Sans" charset="0"/>
                <a:ea typeface="Gill Sans" charset="0"/>
                <a:cs typeface="Gill Sans" charset="0"/>
                <a:sym typeface="Helvetica"/>
              </a:rPr>
              <a:t>O</a:t>
            </a:r>
            <a:r>
              <a:rPr sz="2400" b="0" baseline="-15000" dirty="0">
                <a:solidFill>
                  <a:schemeClr val="tx1"/>
                </a:solidFill>
                <a:uFill>
                  <a:solidFill>
                    <a:srgbClr val="E62C9A"/>
                  </a:solidFill>
                </a:uFill>
                <a:latin typeface="Gill Sans" charset="0"/>
                <a:ea typeface="Gill Sans" charset="0"/>
                <a:cs typeface="Gill Sans" charset="0"/>
                <a:sym typeface="Helvetica"/>
              </a:rPr>
              <a:t>2</a:t>
            </a:r>
            <a:r>
              <a:rPr sz="1600" b="0" dirty="0">
                <a:solidFill>
                  <a:schemeClr val="tx1"/>
                </a:solidFill>
                <a:uFill>
                  <a:solidFill>
                    <a:srgbClr val="E62C9A"/>
                  </a:solidFill>
                </a:uFill>
                <a:latin typeface="Gill Sans" charset="0"/>
                <a:ea typeface="Gill Sans" charset="0"/>
                <a:cs typeface="Gill Sans" charset="0"/>
                <a:sym typeface="Helvetica"/>
              </a:rPr>
              <a:t> </a:t>
            </a:r>
            <a:r>
              <a:rPr lang="en-US" sz="1600" b="0" dirty="0">
                <a:solidFill>
                  <a:schemeClr val="tx1"/>
                </a:solidFill>
                <a:uFill>
                  <a:solidFill>
                    <a:srgbClr val="E62C9A"/>
                  </a:solidFill>
                </a:uFill>
                <a:latin typeface="Gill Sans" charset="0"/>
                <a:ea typeface="Gill Sans" charset="0"/>
                <a:cs typeface="Gill Sans" charset="0"/>
                <a:sym typeface="Helvetica"/>
              </a:rPr>
              <a:t>in/out</a:t>
            </a:r>
          </a:p>
        </p:txBody>
      </p:sp>
      <p:sp>
        <p:nvSpPr>
          <p:cNvPr id="161" name="Shape 161"/>
          <p:cNvSpPr/>
          <p:nvPr/>
        </p:nvSpPr>
        <p:spPr>
          <a:xfrm>
            <a:off x="4386305" y="6406347"/>
            <a:ext cx="4461362" cy="307777"/>
          </a:xfrm>
          <a:prstGeom prst="rect">
            <a:avLst/>
          </a:prstGeom>
          <a:ln>
            <a:solidFill>
              <a:schemeClr val="tx1"/>
            </a:solidFill>
            <a:miter lim="400000"/>
          </a:ln>
          <a:extLst>
            <a:ext uri="{C572A759-6A51-4108-AA02-DFA0A04FC94B}">
              <ma14:wrappingTextBoxFlag xmlns:ma14="http://schemas.microsoft.com/office/mac/drawingml/2011/main" xmlns="" val="1"/>
            </a:ext>
          </a:extLst>
        </p:spPr>
        <p:txBody>
          <a:bodyPr wrap="square" lIns="0" tIns="0" rIns="0" bIns="0">
            <a:spAutoFit/>
          </a:bodyPr>
          <a:lstStyle/>
          <a:p>
            <a:pPr lvl="0">
              <a:spcBef>
                <a:spcPts val="1200"/>
              </a:spcBef>
              <a:buClr>
                <a:srgbClr val="E62C9A"/>
              </a:buClr>
              <a:buFont typeface="Helvetica"/>
              <a:defRPr sz="1800">
                <a:uFillTx/>
              </a:defRPr>
            </a:pPr>
            <a:r>
              <a:rPr sz="2000" b="0" dirty="0">
                <a:solidFill>
                  <a:schemeClr val="tx1"/>
                </a:solidFill>
                <a:uFill>
                  <a:solidFill>
                    <a:srgbClr val="E62C9A"/>
                  </a:solidFill>
                </a:uFill>
                <a:latin typeface="Gill Sans" charset="0"/>
                <a:ea typeface="Gill Sans" charset="0"/>
                <a:cs typeface="Gill Sans" charset="0"/>
                <a:sym typeface="Helvetica"/>
              </a:rPr>
              <a:t>W</a:t>
            </a:r>
            <a:r>
              <a:rPr lang="en-US" sz="2000" b="0" dirty="0">
                <a:solidFill>
                  <a:schemeClr val="tx1"/>
                </a:solidFill>
                <a:uFill>
                  <a:solidFill>
                    <a:srgbClr val="E62C9A"/>
                  </a:solidFill>
                </a:uFill>
                <a:latin typeface="Gill Sans" charset="0"/>
                <a:ea typeface="Gill Sans" charset="0"/>
                <a:cs typeface="Gill Sans" charset="0"/>
                <a:sym typeface="Helvetica"/>
              </a:rPr>
              <a:t>hat are </a:t>
            </a:r>
            <a:r>
              <a:rPr lang="en-US" sz="2000" b="0">
                <a:solidFill>
                  <a:schemeClr val="tx1"/>
                </a:solidFill>
                <a:uFill>
                  <a:solidFill>
                    <a:srgbClr val="E62C9A"/>
                  </a:solidFill>
                </a:uFill>
                <a:latin typeface="Gill Sans" charset="0"/>
                <a:ea typeface="Gill Sans" charset="0"/>
                <a:cs typeface="Gill Sans" charset="0"/>
                <a:sym typeface="Helvetica"/>
              </a:rPr>
              <a:t>the protein construction </a:t>
            </a:r>
            <a:r>
              <a:rPr lang="en-US" sz="2000" b="0" dirty="0">
                <a:solidFill>
                  <a:schemeClr val="tx1"/>
                </a:solidFill>
                <a:uFill>
                  <a:solidFill>
                    <a:srgbClr val="E62C9A"/>
                  </a:solidFill>
                </a:uFill>
                <a:latin typeface="Gill Sans" charset="0"/>
                <a:ea typeface="Gill Sans" charset="0"/>
                <a:cs typeface="Gill Sans" charset="0"/>
                <a:sym typeface="Helvetica"/>
              </a:rPr>
              <a:t>rules?</a:t>
            </a:r>
          </a:p>
        </p:txBody>
      </p:sp>
      <p:sp>
        <p:nvSpPr>
          <p:cNvPr id="162" name="Shape 162"/>
          <p:cNvSpPr/>
          <p:nvPr/>
        </p:nvSpPr>
        <p:spPr>
          <a:xfrm>
            <a:off x="972946" y="2091208"/>
            <a:ext cx="3022600" cy="276999"/>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lvl="0">
              <a:spcBef>
                <a:spcPts val="900"/>
              </a:spcBef>
              <a:buClr>
                <a:srgbClr val="062ACD"/>
              </a:buClr>
              <a:buFont typeface="Helvetica"/>
              <a:defRPr sz="1800">
                <a:uFillTx/>
              </a:defRPr>
            </a:pPr>
            <a:r>
              <a:rPr sz="1600" b="0" dirty="0">
                <a:solidFill>
                  <a:schemeClr val="tx1"/>
                </a:solidFill>
                <a:uFill>
                  <a:solidFill>
                    <a:srgbClr val="062ACD"/>
                  </a:solidFill>
                </a:uFill>
                <a:latin typeface="Gill Sans" charset="0"/>
                <a:ea typeface="Gill Sans" charset="0"/>
                <a:cs typeface="Gill Sans" charset="0"/>
                <a:sym typeface="Helvetica"/>
              </a:rPr>
              <a:t>8 </a:t>
            </a:r>
            <a:r>
              <a:rPr b="0" dirty="0">
                <a:solidFill>
                  <a:schemeClr val="tx1"/>
                </a:solidFill>
                <a:uFill>
                  <a:solidFill>
                    <a:srgbClr val="062ACD"/>
                  </a:solidFill>
                </a:uFill>
                <a:latin typeface="Gill Sans" charset="0"/>
                <a:ea typeface="Gill Sans" charset="0"/>
                <a:cs typeface="Gill Sans" charset="0"/>
                <a:sym typeface="Symbol"/>
              </a:rPr>
              <a:t>α</a:t>
            </a:r>
            <a:r>
              <a:rPr sz="1600" b="0" dirty="0">
                <a:solidFill>
                  <a:schemeClr val="tx1"/>
                </a:solidFill>
                <a:uFill>
                  <a:solidFill>
                    <a:srgbClr val="062ACD"/>
                  </a:solidFill>
                </a:uFill>
                <a:latin typeface="Gill Sans" charset="0"/>
                <a:ea typeface="Gill Sans" charset="0"/>
                <a:cs typeface="Gill Sans" charset="0"/>
                <a:sym typeface="Helvetica"/>
              </a:rPr>
              <a:t>-</a:t>
            </a:r>
            <a:r>
              <a:rPr lang="en-US" sz="1600" b="0" dirty="0">
                <a:solidFill>
                  <a:schemeClr val="tx1"/>
                </a:solidFill>
                <a:uFill>
                  <a:solidFill>
                    <a:srgbClr val="062ACD"/>
                  </a:solidFill>
                </a:uFill>
                <a:latin typeface="Gill Sans" charset="0"/>
                <a:ea typeface="Gill Sans" charset="0"/>
                <a:cs typeface="Gill Sans" charset="0"/>
                <a:sym typeface="Helvetica"/>
              </a:rPr>
              <a:t>helices</a:t>
            </a:r>
            <a:r>
              <a:rPr sz="1600" b="0" dirty="0">
                <a:solidFill>
                  <a:schemeClr val="tx1"/>
                </a:solidFill>
                <a:uFill>
                  <a:solidFill>
                    <a:srgbClr val="062ACD"/>
                  </a:solidFill>
                </a:uFill>
                <a:latin typeface="Gill Sans" charset="0"/>
                <a:ea typeface="Gill Sans" charset="0"/>
                <a:cs typeface="Gill Sans" charset="0"/>
                <a:sym typeface="Helvetica"/>
              </a:rPr>
              <a:t>, ~70% </a:t>
            </a:r>
            <a:r>
              <a:rPr lang="en-US" sz="1600" b="0" dirty="0">
                <a:solidFill>
                  <a:schemeClr val="tx1"/>
                </a:solidFill>
                <a:uFill>
                  <a:solidFill>
                    <a:srgbClr val="062ACD"/>
                  </a:solidFill>
                </a:uFill>
                <a:latin typeface="Gill Sans" charset="0"/>
                <a:ea typeface="Gill Sans" charset="0"/>
                <a:cs typeface="Gill Sans" charset="0"/>
              </a:rPr>
              <a:t>of</a:t>
            </a:r>
            <a:r>
              <a:rPr sz="1600" b="0" dirty="0">
                <a:solidFill>
                  <a:schemeClr val="tx1"/>
                </a:solidFill>
                <a:uFill>
                  <a:solidFill>
                    <a:srgbClr val="062ACD"/>
                  </a:solidFill>
                </a:uFill>
                <a:latin typeface="Gill Sans" charset="0"/>
                <a:ea typeface="Gill Sans" charset="0"/>
                <a:cs typeface="Gill Sans" charset="0"/>
                <a:sym typeface="Helvetica"/>
              </a:rPr>
              <a:t> Mb</a:t>
            </a:r>
          </a:p>
        </p:txBody>
      </p:sp>
      <p:sp>
        <p:nvSpPr>
          <p:cNvPr id="163" name="Shape 163"/>
          <p:cNvSpPr/>
          <p:nvPr/>
        </p:nvSpPr>
        <p:spPr>
          <a:xfrm>
            <a:off x="1136367" y="274079"/>
            <a:ext cx="9145588" cy="24622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lvl="0">
              <a:spcBef>
                <a:spcPts val="900"/>
              </a:spcBef>
              <a:buClr>
                <a:srgbClr val="1E31E3"/>
              </a:buClr>
              <a:buFont typeface="Helvetica"/>
              <a:defRPr sz="1800">
                <a:uFillTx/>
              </a:defRPr>
            </a:pPr>
            <a:r>
              <a:rPr sz="1600" b="0" dirty="0">
                <a:solidFill>
                  <a:schemeClr val="tx1"/>
                </a:solidFill>
                <a:uFill>
                  <a:solidFill>
                    <a:srgbClr val="1E31E3"/>
                  </a:solidFill>
                </a:uFill>
                <a:latin typeface="Gill Sans" charset="0"/>
                <a:ea typeface="Gill Sans" charset="0"/>
                <a:cs typeface="Gill Sans" charset="0"/>
                <a:sym typeface="Helvetica"/>
              </a:rPr>
              <a:t>N</a:t>
            </a:r>
            <a:r>
              <a:rPr lang="en-US" sz="1600" b="0" dirty="0">
                <a:solidFill>
                  <a:schemeClr val="tx1"/>
                </a:solidFill>
                <a:uFill>
                  <a:solidFill>
                    <a:srgbClr val="1E31E3"/>
                  </a:solidFill>
                </a:uFill>
                <a:latin typeface="Gill Sans" charset="0"/>
                <a:ea typeface="Gill Sans" charset="0"/>
                <a:cs typeface="Gill Sans" charset="0"/>
                <a:sym typeface="Helvetica"/>
              </a:rPr>
              <a:t>ote</a:t>
            </a:r>
            <a:r>
              <a:rPr sz="1600" b="0" dirty="0">
                <a:solidFill>
                  <a:schemeClr val="tx1"/>
                </a:solidFill>
                <a:uFill>
                  <a:solidFill>
                    <a:srgbClr val="0632F7"/>
                  </a:solidFill>
                </a:uFill>
                <a:latin typeface="Gill Sans" charset="0"/>
                <a:ea typeface="Gill Sans" charset="0"/>
                <a:cs typeface="Gill Sans" charset="0"/>
                <a:sym typeface="Helvetica"/>
              </a:rPr>
              <a:t>: H-</a:t>
            </a:r>
            <a:r>
              <a:rPr lang="en-US" sz="1600" b="0" dirty="0">
                <a:solidFill>
                  <a:schemeClr val="tx1"/>
                </a:solidFill>
                <a:uFill>
                  <a:solidFill>
                    <a:srgbClr val="0632F7"/>
                  </a:solidFill>
                </a:uFill>
                <a:latin typeface="Gill Sans" charset="0"/>
                <a:ea typeface="Gill Sans" charset="0"/>
                <a:cs typeface="Gill Sans" charset="0"/>
                <a:sym typeface="Helvetica"/>
              </a:rPr>
              <a:t>atoms do not show u</a:t>
            </a:r>
            <a:r>
              <a:rPr lang="en-US" sz="1600" b="0" dirty="0">
                <a:solidFill>
                  <a:schemeClr val="tx1"/>
                </a:solidFill>
                <a:uFill>
                  <a:solidFill>
                    <a:srgbClr val="1E31E3"/>
                  </a:solidFill>
                </a:uFill>
                <a:latin typeface="Gill Sans" charset="0"/>
                <a:ea typeface="Gill Sans" charset="0"/>
                <a:cs typeface="Gill Sans" charset="0"/>
                <a:sym typeface="Helvetica"/>
              </a:rPr>
              <a:t>p by x-ray diffraction!</a:t>
            </a:r>
          </a:p>
        </p:txBody>
      </p:sp>
      <p:sp>
        <p:nvSpPr>
          <p:cNvPr id="164" name="Shape 164"/>
          <p:cNvSpPr/>
          <p:nvPr/>
        </p:nvSpPr>
        <p:spPr>
          <a:xfrm>
            <a:off x="-12658" y="581796"/>
            <a:ext cx="4965701" cy="276999"/>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1100"/>
              </a:spcBef>
              <a:buClr>
                <a:srgbClr val="000000"/>
              </a:buClr>
              <a:buFont typeface="Helvetica"/>
              <a:defRPr sz="1800" b="1">
                <a:latin typeface="Helvetica"/>
                <a:ea typeface="Helvetica"/>
                <a:cs typeface="Helvetica"/>
                <a:sym typeface="Helvetica"/>
              </a:defRPr>
            </a:lvl1pPr>
          </a:lstStyle>
          <a:p>
            <a:pPr lvl="0">
              <a:defRPr b="0">
                <a:uFillTx/>
              </a:defRPr>
            </a:pPr>
            <a:r>
              <a:rPr b="0" dirty="0">
                <a:solidFill>
                  <a:schemeClr val="tx1"/>
                </a:solidFill>
                <a:uFill>
                  <a:solidFill/>
                </a:uFill>
                <a:latin typeface="Gill Sans" charset="0"/>
                <a:ea typeface="Gill Sans" charset="0"/>
                <a:cs typeface="Gill Sans" charset="0"/>
              </a:rPr>
              <a:t>1. P</a:t>
            </a:r>
            <a:r>
              <a:rPr lang="en-US" b="0" dirty="0">
                <a:solidFill>
                  <a:schemeClr val="tx1"/>
                </a:solidFill>
                <a:uFill>
                  <a:solidFill/>
                </a:uFill>
                <a:latin typeface="Gill Sans" charset="0"/>
                <a:ea typeface="Gill Sans" charset="0"/>
                <a:cs typeface="Gill Sans" charset="0"/>
              </a:rPr>
              <a:t>rotein crystal is ~ 50% water!</a:t>
            </a:r>
          </a:p>
        </p:txBody>
      </p:sp>
      <p:sp>
        <p:nvSpPr>
          <p:cNvPr id="165" name="Shape 165"/>
          <p:cNvSpPr/>
          <p:nvPr/>
        </p:nvSpPr>
        <p:spPr>
          <a:xfrm>
            <a:off x="5541337" y="283672"/>
            <a:ext cx="3179763" cy="24622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900"/>
              </a:spcBef>
              <a:buClr>
                <a:srgbClr val="0632F7"/>
              </a:buClr>
              <a:buFont typeface="Helvetica"/>
              <a:defRPr sz="1600" b="1">
                <a:solidFill>
                  <a:srgbClr val="0632F7"/>
                </a:solidFill>
                <a:uFill>
                  <a:solidFill>
                    <a:srgbClr val="0632F7"/>
                  </a:solidFill>
                </a:uFill>
                <a:latin typeface="Helvetica"/>
                <a:ea typeface="Helvetica"/>
                <a:cs typeface="Helvetica"/>
                <a:sym typeface="Helvetica"/>
              </a:defRPr>
            </a:lvl1pPr>
          </a:lstStyle>
          <a:p>
            <a:pPr lvl="0">
              <a:defRPr sz="1800" b="0">
                <a:solidFill>
                  <a:srgbClr val="000000"/>
                </a:solidFill>
                <a:uFillTx/>
              </a:defRPr>
            </a:pPr>
            <a:r>
              <a:rPr sz="1600" b="0" dirty="0">
                <a:solidFill>
                  <a:schemeClr val="tx1"/>
                </a:solidFill>
                <a:uFill>
                  <a:solidFill>
                    <a:srgbClr val="0632F7"/>
                  </a:solidFill>
                </a:uFill>
                <a:latin typeface="Gill Sans" charset="0"/>
                <a:ea typeface="Gill Sans" charset="0"/>
                <a:cs typeface="Gill Sans" charset="0"/>
              </a:rPr>
              <a:t>N</a:t>
            </a:r>
            <a:r>
              <a:rPr lang="en-US" sz="1600" b="0" dirty="0">
                <a:solidFill>
                  <a:schemeClr val="tx1"/>
                </a:solidFill>
                <a:uFill>
                  <a:solidFill>
                    <a:srgbClr val="0632F7"/>
                  </a:solidFill>
                </a:uFill>
                <a:latin typeface="Gill Sans" charset="0"/>
                <a:ea typeface="Gill Sans" charset="0"/>
                <a:cs typeface="Gill Sans" charset="0"/>
              </a:rPr>
              <a:t>eed</a:t>
            </a:r>
            <a:r>
              <a:rPr sz="1600" b="0" dirty="0">
                <a:solidFill>
                  <a:schemeClr val="tx1"/>
                </a:solidFill>
                <a:uFill>
                  <a:solidFill>
                    <a:srgbClr val="0632F7"/>
                  </a:solidFill>
                </a:uFill>
                <a:latin typeface="Gill Sans" charset="0"/>
                <a:ea typeface="Gill Sans" charset="0"/>
                <a:cs typeface="Gill Sans" charset="0"/>
              </a:rPr>
              <a:t> </a:t>
            </a:r>
            <a:r>
              <a:rPr lang="en-US" sz="1600" b="0" baseline="30000" dirty="0">
                <a:solidFill>
                  <a:schemeClr val="tx1"/>
                </a:solidFill>
                <a:uFill>
                  <a:solidFill>
                    <a:srgbClr val="0632F7"/>
                  </a:solidFill>
                </a:uFill>
                <a:latin typeface="Gill Sans" charset="0"/>
                <a:ea typeface="Gill Sans" charset="0"/>
                <a:cs typeface="Gill Sans" charset="0"/>
              </a:rPr>
              <a:t>1</a:t>
            </a:r>
            <a:r>
              <a:rPr lang="en-US" sz="1600" b="0" dirty="0">
                <a:solidFill>
                  <a:schemeClr val="tx1"/>
                </a:solidFill>
                <a:uFill>
                  <a:solidFill>
                    <a:srgbClr val="0632F7"/>
                  </a:solidFill>
                </a:uFill>
                <a:latin typeface="Gill Sans" charset="0"/>
                <a:ea typeface="Gill Sans" charset="0"/>
                <a:cs typeface="Gill Sans" charset="0"/>
              </a:rPr>
              <a:t>H</a:t>
            </a:r>
            <a:r>
              <a:rPr sz="1600" b="0" dirty="0">
                <a:solidFill>
                  <a:schemeClr val="tx1"/>
                </a:solidFill>
                <a:uFill>
                  <a:solidFill>
                    <a:srgbClr val="0632F7"/>
                  </a:solidFill>
                </a:uFill>
                <a:latin typeface="Gill Sans" charset="0"/>
                <a:ea typeface="Gill Sans" charset="0"/>
                <a:cs typeface="Gill Sans" charset="0"/>
              </a:rPr>
              <a:t>NMR, </a:t>
            </a:r>
            <a:r>
              <a:rPr lang="en-US" sz="1600" b="0" dirty="0">
                <a:solidFill>
                  <a:schemeClr val="tx1"/>
                </a:solidFill>
                <a:uFill>
                  <a:solidFill>
                    <a:srgbClr val="0632F7"/>
                  </a:solidFill>
                </a:uFill>
                <a:latin typeface="Gill Sans" charset="0"/>
                <a:ea typeface="Gill Sans" charset="0"/>
                <a:cs typeface="Gill Sans" charset="0"/>
              </a:rPr>
              <a:t>or just guess</a:t>
            </a:r>
            <a:r>
              <a:rPr sz="1600" b="0" dirty="0">
                <a:solidFill>
                  <a:schemeClr val="tx1"/>
                </a:solidFill>
                <a:uFill>
                  <a:solidFill>
                    <a:srgbClr val="0632F7"/>
                  </a:solidFill>
                </a:uFill>
                <a:latin typeface="Gill Sans" charset="0"/>
                <a:ea typeface="Gill Sans" charset="0"/>
                <a:cs typeface="Gill Sans" charset="0"/>
              </a:rPr>
              <a:t>!</a:t>
            </a:r>
          </a:p>
        </p:txBody>
      </p:sp>
      <p:sp>
        <p:nvSpPr>
          <p:cNvPr id="167" name="Shape 167"/>
          <p:cNvSpPr/>
          <p:nvPr/>
        </p:nvSpPr>
        <p:spPr>
          <a:xfrm>
            <a:off x="4767305" y="5757574"/>
            <a:ext cx="4432300" cy="24622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lvl="0">
              <a:spcBef>
                <a:spcPts val="900"/>
              </a:spcBef>
              <a:buClr>
                <a:srgbClr val="E62C9A"/>
              </a:buClr>
              <a:buFont typeface="Helvetica"/>
              <a:defRPr sz="1800">
                <a:uFillTx/>
              </a:defRPr>
            </a:pPr>
            <a:r>
              <a:rPr sz="1600" b="0" dirty="0">
                <a:solidFill>
                  <a:schemeClr val="tx1"/>
                </a:solidFill>
                <a:uFill>
                  <a:solidFill>
                    <a:srgbClr val="E62C9A"/>
                  </a:solidFill>
                </a:uFill>
                <a:latin typeface="Gill Sans" charset="0"/>
                <a:ea typeface="Gill Sans" charset="0"/>
                <a:cs typeface="Gill Sans" charset="0"/>
                <a:sym typeface="Helvetica"/>
              </a:rPr>
              <a:t>4. N</a:t>
            </a:r>
            <a:r>
              <a:rPr lang="en-US" sz="1600" b="0" dirty="0">
                <a:solidFill>
                  <a:schemeClr val="tx1"/>
                </a:solidFill>
                <a:uFill>
                  <a:solidFill>
                    <a:srgbClr val="E62C9A"/>
                  </a:solidFill>
                </a:uFill>
                <a:latin typeface="Gill Sans" charset="0"/>
                <a:ea typeface="Gill Sans" charset="0"/>
                <a:cs typeface="Gill Sans" charset="0"/>
                <a:sym typeface="Helvetica"/>
              </a:rPr>
              <a:t>onpolar</a:t>
            </a:r>
            <a:r>
              <a:rPr sz="1600" b="0" dirty="0">
                <a:solidFill>
                  <a:schemeClr val="tx1"/>
                </a:solidFill>
                <a:uFill>
                  <a:solidFill>
                    <a:srgbClr val="E62C9A"/>
                  </a:solidFill>
                </a:uFill>
                <a:latin typeface="Gill Sans" charset="0"/>
                <a:ea typeface="Gill Sans" charset="0"/>
                <a:cs typeface="Gill Sans" charset="0"/>
                <a:sym typeface="Helvetica"/>
              </a:rPr>
              <a:t> O</a:t>
            </a:r>
            <a:r>
              <a:rPr sz="2400" b="0" baseline="-15000" dirty="0">
                <a:solidFill>
                  <a:schemeClr val="tx1"/>
                </a:solidFill>
                <a:uFill>
                  <a:solidFill>
                    <a:srgbClr val="E62C9A"/>
                  </a:solidFill>
                </a:uFill>
                <a:latin typeface="Gill Sans" charset="0"/>
                <a:ea typeface="Gill Sans" charset="0"/>
                <a:cs typeface="Gill Sans" charset="0"/>
                <a:sym typeface="Helvetica"/>
              </a:rPr>
              <a:t>2</a:t>
            </a:r>
            <a:r>
              <a:rPr sz="1600" b="0" dirty="0">
                <a:solidFill>
                  <a:schemeClr val="tx1"/>
                </a:solidFill>
                <a:uFill>
                  <a:solidFill>
                    <a:srgbClr val="E62C9A"/>
                  </a:solidFill>
                </a:uFill>
                <a:latin typeface="Gill Sans" charset="0"/>
                <a:ea typeface="Gill Sans" charset="0"/>
                <a:cs typeface="Gill Sans" charset="0"/>
                <a:sym typeface="Helvetica"/>
              </a:rPr>
              <a:t> </a:t>
            </a:r>
            <a:r>
              <a:rPr lang="en-US" sz="1600" b="0" dirty="0">
                <a:solidFill>
                  <a:schemeClr val="tx1"/>
                </a:solidFill>
                <a:uFill>
                  <a:solidFill>
                    <a:srgbClr val="E62C9A"/>
                  </a:solidFill>
                </a:uFill>
                <a:latin typeface="Gill Sans" charset="0"/>
                <a:ea typeface="Gill Sans" charset="0"/>
                <a:cs typeface="Gill Sans" charset="0"/>
                <a:sym typeface="Helvetica"/>
              </a:rPr>
              <a:t>binding site</a:t>
            </a:r>
          </a:p>
        </p:txBody>
      </p:sp>
      <p:sp>
        <p:nvSpPr>
          <p:cNvPr id="169" name="Shape 169"/>
          <p:cNvSpPr/>
          <p:nvPr/>
        </p:nvSpPr>
        <p:spPr>
          <a:xfrm>
            <a:off x="385805" y="828684"/>
            <a:ext cx="3429001" cy="430887"/>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spcBef>
                <a:spcPts val="900"/>
              </a:spcBef>
              <a:buClr>
                <a:srgbClr val="062ACD"/>
              </a:buClr>
              <a:buFont typeface="Helvetica"/>
              <a:defRPr sz="1600" b="1">
                <a:solidFill>
                  <a:srgbClr val="062ACD"/>
                </a:solidFill>
                <a:uFill>
                  <a:solidFill>
                    <a:srgbClr val="062ACD"/>
                  </a:solidFill>
                </a:uFill>
                <a:latin typeface="Helvetica"/>
                <a:ea typeface="Helvetica"/>
                <a:cs typeface="Helvetica"/>
                <a:sym typeface="Helvetica"/>
              </a:defRPr>
            </a:lvl1pPr>
          </a:lstStyle>
          <a:p>
            <a:pPr lvl="0">
              <a:defRPr sz="1800" b="0">
                <a:solidFill>
                  <a:srgbClr val="000000"/>
                </a:solidFill>
                <a:uFillTx/>
              </a:defRPr>
            </a:pPr>
            <a:r>
              <a:rPr sz="1400" b="0" dirty="0">
                <a:solidFill>
                  <a:schemeClr val="tx1"/>
                </a:solidFill>
                <a:uFill>
                  <a:solidFill>
                    <a:srgbClr val="062ACD"/>
                  </a:solidFill>
                </a:uFill>
                <a:latin typeface="Gill Sans" charset="0"/>
                <a:ea typeface="Gill Sans" charset="0"/>
                <a:cs typeface="Gill Sans" charset="0"/>
              </a:rPr>
              <a:t>U</a:t>
            </a:r>
            <a:r>
              <a:rPr lang="en-US" sz="1400" b="0" dirty="0">
                <a:solidFill>
                  <a:schemeClr val="tx1"/>
                </a:solidFill>
                <a:uFill>
                  <a:solidFill>
                    <a:srgbClr val="062ACD"/>
                  </a:solidFill>
                </a:uFill>
                <a:latin typeface="Gill Sans" charset="0"/>
                <a:ea typeface="Gill Sans" charset="0"/>
                <a:cs typeface="Gill Sans" charset="0"/>
              </a:rPr>
              <a:t>nlike a crystal of </a:t>
            </a:r>
            <a:r>
              <a:rPr sz="1400" b="0" dirty="0">
                <a:solidFill>
                  <a:schemeClr val="tx1"/>
                </a:solidFill>
                <a:uFill>
                  <a:solidFill>
                    <a:srgbClr val="062ACD"/>
                  </a:solidFill>
                </a:uFill>
                <a:latin typeface="Gill Sans" charset="0"/>
                <a:ea typeface="Gill Sans" charset="0"/>
                <a:cs typeface="Gill Sans" charset="0"/>
              </a:rPr>
              <a:t>e.g. </a:t>
            </a:r>
            <a:r>
              <a:rPr lang="en-US" sz="1400" b="0" dirty="0">
                <a:solidFill>
                  <a:schemeClr val="tx1"/>
                </a:solidFill>
                <a:uFill>
                  <a:solidFill>
                    <a:srgbClr val="062ACD"/>
                  </a:solidFill>
                </a:uFill>
                <a:latin typeface="Gill Sans" charset="0"/>
                <a:ea typeface="Gill Sans" charset="0"/>
                <a:cs typeface="Gill Sans" charset="0"/>
              </a:rPr>
              <a:t>salt, a protein in a crystal is rather like a protein in water</a:t>
            </a:r>
          </a:p>
        </p:txBody>
      </p:sp>
      <p:sp>
        <p:nvSpPr>
          <p:cNvPr id="170" name="Shape 170"/>
          <p:cNvSpPr/>
          <p:nvPr/>
        </p:nvSpPr>
        <p:spPr>
          <a:xfrm>
            <a:off x="4716505" y="5257998"/>
            <a:ext cx="3898900" cy="24622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900"/>
              </a:spcBef>
              <a:buClr>
                <a:srgbClr val="E62C9A"/>
              </a:buClr>
              <a:buFont typeface="Helvetica"/>
              <a:defRPr sz="1600" b="1">
                <a:solidFill>
                  <a:srgbClr val="E62C9A"/>
                </a:solidFill>
                <a:uFill>
                  <a:solidFill>
                    <a:srgbClr val="E62C9A"/>
                  </a:solidFill>
                </a:uFill>
                <a:latin typeface="Helvetica"/>
                <a:ea typeface="Helvetica"/>
                <a:cs typeface="Helvetica"/>
                <a:sym typeface="Helvetica"/>
              </a:defRPr>
            </a:lvl1pPr>
          </a:lstStyle>
          <a:p>
            <a:pPr lvl="0">
              <a:defRPr sz="1800" b="0">
                <a:solidFill>
                  <a:srgbClr val="000000"/>
                </a:solidFill>
                <a:uFillTx/>
              </a:defRPr>
            </a:pPr>
            <a:r>
              <a:rPr sz="1600" b="0" dirty="0">
                <a:solidFill>
                  <a:schemeClr val="tx1"/>
                </a:solidFill>
                <a:uFill>
                  <a:solidFill>
                    <a:srgbClr val="E62C9A"/>
                  </a:solidFill>
                </a:uFill>
                <a:latin typeface="Gill Sans" charset="0"/>
                <a:ea typeface="Gill Sans" charset="0"/>
                <a:cs typeface="Gill Sans" charset="0"/>
              </a:rPr>
              <a:t> 2. V</a:t>
            </a:r>
            <a:r>
              <a:rPr lang="en-US" sz="1600" b="0" dirty="0">
                <a:solidFill>
                  <a:schemeClr val="tx1"/>
                </a:solidFill>
                <a:uFill>
                  <a:solidFill>
                    <a:srgbClr val="E62C9A"/>
                  </a:solidFill>
                </a:uFill>
                <a:latin typeface="Gill Sans" charset="0"/>
                <a:ea typeface="Gill Sans" charset="0"/>
                <a:cs typeface="Gill Sans" charset="0"/>
              </a:rPr>
              <a:t>ery soluble in water</a:t>
            </a:r>
          </a:p>
        </p:txBody>
      </p:sp>
      <p:sp>
        <p:nvSpPr>
          <p:cNvPr id="2" name="TextBox 1"/>
          <p:cNvSpPr txBox="1"/>
          <p:nvPr/>
        </p:nvSpPr>
        <p:spPr>
          <a:xfrm>
            <a:off x="-334181" y="-117437"/>
            <a:ext cx="9164595" cy="77970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lvl="0" algn="ctr" rtl="0" latinLnBrk="1" hangingPunct="0"/>
            <a:r>
              <a:rPr lang="en-US" b="0" dirty="0">
                <a:solidFill>
                  <a:schemeClr val="tx1"/>
                </a:solidFill>
                <a:latin typeface="Gill Sans" charset="0"/>
                <a:ea typeface="Gill Sans" charset="0"/>
                <a:cs typeface="Gill Sans" charset="0"/>
              </a:rPr>
              <a:t>X-ray diffraction results for Mb</a:t>
            </a:r>
            <a:endParaRPr lang="en-US" sz="2800" b="0" dirty="0">
              <a:solidFill>
                <a:schemeClr val="tx1"/>
              </a:solidFill>
              <a:latin typeface="Gill Sans" charset="0"/>
              <a:ea typeface="Gill Sans" charset="0"/>
              <a:cs typeface="Gill Sans" charset="0"/>
            </a:endParaRPr>
          </a:p>
          <a:p>
            <a:pPr marL="40639" marR="40639" indent="0" algn="ctr" defTabSz="914400" rtl="0" fontAlgn="auto" latinLnBrk="1" hangingPunct="0">
              <a:lnSpc>
                <a:spcPct val="100000"/>
              </a:lnSpc>
              <a:spcBef>
                <a:spcPts val="0"/>
              </a:spcBef>
              <a:spcAft>
                <a:spcPts val="0"/>
              </a:spcAft>
              <a:buClrTx/>
              <a:buSzTx/>
              <a:buFontTx/>
              <a:buNone/>
              <a:tabLst/>
            </a:pPr>
            <a:endParaRPr kumimoji="0" lang="en-US" sz="2400" b="0" u="none" strike="noStrike" cap="none" spc="0" normalizeH="0" baseline="0" dirty="0">
              <a:ln>
                <a:noFill/>
              </a:ln>
              <a:solidFill>
                <a:schemeClr val="tx1"/>
              </a:solidFill>
              <a:effectLst/>
              <a:uFill>
                <a:solidFill>
                  <a:srgbClr val="000000"/>
                </a:solidFill>
              </a:uFill>
              <a:latin typeface="Gill Sans" charset="0"/>
              <a:ea typeface="Gill Sans" charset="0"/>
              <a:cs typeface="Gill Sans" charset="0"/>
              <a:sym typeface="Times Roman"/>
            </a:endParaRPr>
          </a:p>
        </p:txBody>
      </p:sp>
    </p:spTree>
    <p:extLst>
      <p:ext uri="{BB962C8B-B14F-4D97-AF65-F5344CB8AC3E}">
        <p14:creationId xmlns:p14="http://schemas.microsoft.com/office/powerpoint/2010/main" val="1887785767"/>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1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162"/>
                                        </p:tgtEl>
                                        <p:attrNameLst>
                                          <p:attrName>style.visibility</p:attrName>
                                        </p:attrNameLst>
                                      </p:cBhvr>
                                      <p:to>
                                        <p:strVal val="visible"/>
                                      </p:to>
                                    </p:set>
                                  </p:childTnLst>
                                </p:cTn>
                              </p:par>
                              <p:par>
                                <p:cTn id="15" presetID="1" presetClass="entr" presetSubtype="0" fill="hold" grpId="0" nodeType="withEffect">
                                  <p:stCondLst>
                                    <p:cond delay="0"/>
                                  </p:stCondLst>
                                  <p:iterate>
                                    <p:tmAbs val="0"/>
                                  </p:iterate>
                                  <p:childTnLst>
                                    <p:set>
                                      <p:cBhvr>
                                        <p:cTn id="16" fill="hold"/>
                                        <p:tgtEl>
                                          <p:spTgt spid="15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15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15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15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p:tmAbs val="0"/>
                                  </p:iterate>
                                  <p:childTnLst>
                                    <p:set>
                                      <p:cBhvr>
                                        <p:cTn id="32" fill="hold"/>
                                        <p:tgtEl>
                                          <p:spTgt spid="15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p:tmAbs val="0"/>
                                  </p:iterate>
                                  <p:childTnLst>
                                    <p:set>
                                      <p:cBhvr>
                                        <p:cTn id="36" fill="hold"/>
                                        <p:tgtEl>
                                          <p:spTgt spid="15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iterate>
                                    <p:tmAbs val="0"/>
                                  </p:iterate>
                                  <p:childTnLst>
                                    <p:set>
                                      <p:cBhvr>
                                        <p:cTn id="40" fill="hold"/>
                                        <p:tgtEl>
                                          <p:spTgt spid="15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iterate>
                                    <p:tmAbs val="0"/>
                                  </p:iterate>
                                  <p:childTnLst>
                                    <p:set>
                                      <p:cBhvr>
                                        <p:cTn id="44" fill="hold"/>
                                        <p:tgtEl>
                                          <p:spTgt spid="15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iterate>
                                    <p:tmAbs val="0"/>
                                  </p:iterate>
                                  <p:childTnLst>
                                    <p:set>
                                      <p:cBhvr>
                                        <p:cTn id="48" fill="hold"/>
                                        <p:tgtEl>
                                          <p:spTgt spid="17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iterate>
                                    <p:tmAbs val="0"/>
                                  </p:iterate>
                                  <p:childTnLst>
                                    <p:set>
                                      <p:cBhvr>
                                        <p:cTn id="52" fill="hold"/>
                                        <p:tgtEl>
                                          <p:spTgt spid="15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iterate>
                                    <p:tmAbs val="0"/>
                                  </p:iterate>
                                  <p:childTnLst>
                                    <p:set>
                                      <p:cBhvr>
                                        <p:cTn id="56" fill="hold"/>
                                        <p:tgtEl>
                                          <p:spTgt spid="16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iterate>
                                    <p:tmAbs val="0"/>
                                  </p:iterate>
                                  <p:childTnLst>
                                    <p:set>
                                      <p:cBhvr>
                                        <p:cTn id="60" fill="hold"/>
                                        <p:tgtEl>
                                          <p:spTgt spid="16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iterate>
                                    <p:tmAbs val="0"/>
                                  </p:iterate>
                                  <p:childTnLst>
                                    <p:set>
                                      <p:cBhvr>
                                        <p:cTn id="64" fill="hold"/>
                                        <p:tgtEl>
                                          <p:spTgt spid="1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animBg="1" advAuto="0"/>
      <p:bldP spid="151" grpId="0" animBg="1" advAuto="0"/>
      <p:bldP spid="152" grpId="0" animBg="1" advAuto="0"/>
      <p:bldP spid="153" grpId="0" animBg="1" advAuto="0"/>
      <p:bldP spid="154" grpId="0" animBg="1" advAuto="0"/>
      <p:bldP spid="155" grpId="0" animBg="1" advAuto="0"/>
      <p:bldP spid="156" grpId="0" animBg="1" advAuto="0"/>
      <p:bldP spid="157" grpId="0" animBg="1" advAuto="0"/>
      <p:bldP spid="158" grpId="0" animBg="1" advAuto="0"/>
      <p:bldP spid="159" grpId="0" animBg="1" advAuto="0"/>
      <p:bldP spid="160" grpId="0" animBg="1" advAuto="0"/>
      <p:bldP spid="161" grpId="0" animBg="1" advAuto="0"/>
      <p:bldP spid="162" grpId="0" animBg="1" advAuto="0"/>
      <p:bldP spid="167" grpId="0" animBg="1" advAuto="0"/>
      <p:bldP spid="169" grpId="0" animBg="1" advAuto="0"/>
      <p:bldP spid="170" grpId="0" animBg="1" advAuto="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Shape 172"/>
          <p:cNvSpPr>
            <a:spLocks noGrp="1"/>
          </p:cNvSpPr>
          <p:nvPr>
            <p:ph type="title"/>
          </p:nvPr>
        </p:nvSpPr>
        <p:spPr>
          <a:xfrm>
            <a:off x="-193675" y="-63500"/>
            <a:ext cx="9525000" cy="457200"/>
          </a:xfrm>
          <a:prstGeom prst="rect">
            <a:avLst/>
          </a:prstGeom>
        </p:spPr>
        <p:txBody>
          <a:bodyPr/>
          <a:lstStyle>
            <a:lvl1pPr>
              <a:defRPr sz="2000" b="1">
                <a:latin typeface="Helvetica"/>
                <a:ea typeface="Helvetica"/>
                <a:cs typeface="Helvetica"/>
                <a:sym typeface="Helvetica"/>
              </a:defRPr>
            </a:lvl1pPr>
          </a:lstStyle>
          <a:p>
            <a:pPr lvl="0">
              <a:defRPr sz="1800" b="0">
                <a:uFillTx/>
              </a:defRPr>
            </a:pPr>
            <a:r>
              <a:rPr sz="2400" b="0" dirty="0">
                <a:uFill>
                  <a:solidFill/>
                </a:uFill>
                <a:latin typeface="Gill Sans" charset="0"/>
                <a:ea typeface="Gill Sans" charset="0"/>
                <a:cs typeface="Gill Sans" charset="0"/>
              </a:rPr>
              <a:t>6 </a:t>
            </a:r>
            <a:r>
              <a:rPr lang="en-US" sz="2400" b="0" dirty="0">
                <a:uFill>
                  <a:solidFill/>
                </a:uFill>
                <a:latin typeface="Gill Sans" charset="0"/>
                <a:ea typeface="Gill Sans" charset="0"/>
                <a:cs typeface="Gill Sans" charset="0"/>
              </a:rPr>
              <a:t>categories of interactions </a:t>
            </a:r>
            <a:r>
              <a:rPr sz="2400" b="0" dirty="0">
                <a:uFill>
                  <a:solidFill/>
                </a:uFill>
                <a:latin typeface="Gill Sans" charset="0"/>
                <a:ea typeface="Gill Sans" charset="0"/>
                <a:cs typeface="Gill Sans" charset="0"/>
              </a:rPr>
              <a:t>or, </a:t>
            </a:r>
            <a:r>
              <a:rPr sz="2400" dirty="0">
                <a:uFill>
                  <a:solidFill/>
                </a:uFill>
                <a:latin typeface="Gill Sans" charset="0"/>
                <a:ea typeface="Gill Sans" charset="0"/>
                <a:cs typeface="Gill Sans" charset="0"/>
              </a:rPr>
              <a:t>W</a:t>
            </a:r>
            <a:r>
              <a:rPr lang="en-US" sz="2400" dirty="0">
                <a:uFill>
                  <a:solidFill/>
                </a:uFill>
                <a:latin typeface="Gill Sans" charset="0"/>
                <a:ea typeface="Gill Sans" charset="0"/>
                <a:cs typeface="Gill Sans" charset="0"/>
              </a:rPr>
              <a:t>hy proteins have structure</a:t>
            </a:r>
          </a:p>
        </p:txBody>
      </p:sp>
      <p:sp>
        <p:nvSpPr>
          <p:cNvPr id="173" name="Shape 173"/>
          <p:cNvSpPr/>
          <p:nvPr/>
        </p:nvSpPr>
        <p:spPr>
          <a:xfrm>
            <a:off x="0" y="498474"/>
            <a:ext cx="7099300" cy="487680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marL="497840" lvl="0" indent="-457200">
              <a:spcBef>
                <a:spcPts val="1100"/>
              </a:spcBef>
              <a:buClr>
                <a:srgbClr val="000000"/>
              </a:buClr>
              <a:buFont typeface="Times Roman"/>
              <a:defRPr sz="1800">
                <a:uFillTx/>
              </a:defRPr>
            </a:pPr>
            <a:r>
              <a:rPr b="0" dirty="0">
                <a:uFill>
                  <a:solidFill/>
                </a:uFill>
                <a:latin typeface="Gill Sans" charset="0"/>
                <a:ea typeface="Gill Sans" charset="0"/>
                <a:cs typeface="Gill Sans" charset="0"/>
                <a:sym typeface="Helvetica"/>
              </a:rPr>
              <a:t>1. H</a:t>
            </a:r>
            <a:r>
              <a:rPr lang="en-US" b="0" dirty="0">
                <a:uFill>
                  <a:solidFill/>
                </a:uFill>
                <a:latin typeface="Gill Sans" charset="0"/>
                <a:ea typeface="Gill Sans" charset="0"/>
                <a:cs typeface="Gill Sans" charset="0"/>
                <a:sym typeface="Helvetica"/>
              </a:rPr>
              <a:t>ydrogen bonds</a:t>
            </a:r>
          </a:p>
          <a:p>
            <a:pPr marL="497840" lvl="0" indent="-457200">
              <a:spcBef>
                <a:spcPts val="1200"/>
              </a:spcBef>
              <a:buClr>
                <a:srgbClr val="000000"/>
              </a:buClr>
              <a:buSzPct val="100000"/>
              <a:buFont typeface="Times Roman"/>
              <a:buChar char="•"/>
              <a:defRPr sz="1800">
                <a:uFillTx/>
              </a:defRPr>
            </a:pPr>
            <a:endParaRPr sz="2000" dirty="0">
              <a:uFill>
                <a:solidFill/>
              </a:uFill>
              <a:latin typeface="Gill Sans" charset="0"/>
              <a:ea typeface="Gill Sans" charset="0"/>
              <a:cs typeface="Gill Sans" charset="0"/>
              <a:sym typeface="Helvetica"/>
            </a:endParaRPr>
          </a:p>
          <a:p>
            <a:pPr marL="497840" lvl="0" indent="-457200">
              <a:spcBef>
                <a:spcPts val="1200"/>
              </a:spcBef>
              <a:buClr>
                <a:srgbClr val="000000"/>
              </a:buClr>
              <a:buFont typeface="Times Roman"/>
              <a:defRPr sz="1800">
                <a:uFillTx/>
              </a:defRPr>
            </a:pPr>
            <a:endParaRPr sz="2000" dirty="0">
              <a:uFill>
                <a:solidFill/>
              </a:uFill>
              <a:latin typeface="Gill Sans" charset="0"/>
              <a:ea typeface="Gill Sans" charset="0"/>
              <a:cs typeface="Gill Sans" charset="0"/>
              <a:sym typeface="Helvetica"/>
            </a:endParaRPr>
          </a:p>
          <a:p>
            <a:pPr marL="497840" lvl="0" indent="-457200">
              <a:spcBef>
                <a:spcPts val="1200"/>
              </a:spcBef>
              <a:buClr>
                <a:srgbClr val="000000"/>
              </a:buClr>
              <a:buFont typeface="Times Roman"/>
              <a:defRPr sz="1800">
                <a:uFillTx/>
              </a:defRPr>
            </a:pPr>
            <a:endParaRPr sz="2000" dirty="0">
              <a:uFill>
                <a:solidFill/>
              </a:uFill>
              <a:latin typeface="Gill Sans" charset="0"/>
              <a:ea typeface="Gill Sans" charset="0"/>
              <a:cs typeface="Gill Sans" charset="0"/>
              <a:sym typeface="Helvetica"/>
            </a:endParaRPr>
          </a:p>
          <a:p>
            <a:pPr marL="497840" lvl="0" indent="-457200">
              <a:spcBef>
                <a:spcPts val="1200"/>
              </a:spcBef>
              <a:buClr>
                <a:srgbClr val="000000"/>
              </a:buClr>
              <a:buFont typeface="Times Roman"/>
              <a:defRPr sz="1800">
                <a:uFillTx/>
              </a:defRPr>
            </a:pPr>
            <a:endParaRPr sz="2000" dirty="0">
              <a:uFill>
                <a:solidFill/>
              </a:uFill>
              <a:latin typeface="Gill Sans" charset="0"/>
              <a:ea typeface="Gill Sans" charset="0"/>
              <a:cs typeface="Gill Sans" charset="0"/>
              <a:sym typeface="Helvetica"/>
            </a:endParaRPr>
          </a:p>
          <a:p>
            <a:pPr marL="497840" lvl="0" indent="-457200">
              <a:spcBef>
                <a:spcPts val="1100"/>
              </a:spcBef>
              <a:buClr>
                <a:srgbClr val="000000"/>
              </a:buClr>
              <a:buFont typeface="Times Roman"/>
              <a:defRPr sz="1800">
                <a:uFillTx/>
              </a:defRPr>
            </a:pPr>
            <a:r>
              <a:rPr b="0" dirty="0">
                <a:uFill>
                  <a:solidFill/>
                </a:uFill>
                <a:latin typeface="Gill Sans" charset="0"/>
                <a:ea typeface="Gill Sans" charset="0"/>
                <a:cs typeface="Gill Sans" charset="0"/>
                <a:sym typeface="Helvetica"/>
              </a:rPr>
              <a:t>2. E</a:t>
            </a:r>
            <a:r>
              <a:rPr lang="en-US" b="0" dirty="0">
                <a:uFill>
                  <a:solidFill/>
                </a:uFill>
                <a:latin typeface="Gill Sans" charset="0"/>
                <a:ea typeface="Gill Sans" charset="0"/>
                <a:cs typeface="Gill Sans" charset="0"/>
                <a:sym typeface="Helvetica"/>
              </a:rPr>
              <a:t>lectrostatic (Ion Pair, Salt Bridge)</a:t>
            </a:r>
          </a:p>
          <a:p>
            <a:pPr marL="497840" lvl="0" indent="-457200">
              <a:spcBef>
                <a:spcPts val="1200"/>
              </a:spcBef>
              <a:buClr>
                <a:srgbClr val="000000"/>
              </a:buClr>
              <a:buFont typeface="Times Roman"/>
              <a:defRPr sz="1800">
                <a:uFillTx/>
              </a:defRPr>
            </a:pPr>
            <a:endParaRPr sz="2000" dirty="0">
              <a:uFill>
                <a:solidFill/>
              </a:uFill>
              <a:latin typeface="Gill Sans" charset="0"/>
              <a:ea typeface="Gill Sans" charset="0"/>
              <a:cs typeface="Gill Sans" charset="0"/>
              <a:sym typeface="Helvetica"/>
            </a:endParaRPr>
          </a:p>
          <a:p>
            <a:pPr marL="497840" lvl="0" indent="-457200">
              <a:spcBef>
                <a:spcPts val="1200"/>
              </a:spcBef>
              <a:buClr>
                <a:srgbClr val="000000"/>
              </a:buClr>
              <a:buFont typeface="Times Roman"/>
              <a:defRPr sz="1800">
                <a:uFillTx/>
              </a:defRPr>
            </a:pPr>
            <a:endParaRPr sz="2000" dirty="0">
              <a:uFill>
                <a:solidFill/>
              </a:uFill>
              <a:latin typeface="Gill Sans" charset="0"/>
              <a:ea typeface="Gill Sans" charset="0"/>
              <a:cs typeface="Gill Sans" charset="0"/>
              <a:sym typeface="Helvetica"/>
            </a:endParaRPr>
          </a:p>
          <a:p>
            <a:pPr marL="497840" lvl="0" indent="-457200">
              <a:spcBef>
                <a:spcPts val="1200"/>
              </a:spcBef>
              <a:buClr>
                <a:srgbClr val="000000"/>
              </a:buClr>
              <a:buFont typeface="Times Roman"/>
              <a:defRPr sz="1800">
                <a:uFillTx/>
              </a:defRPr>
            </a:pPr>
            <a:endParaRPr sz="2000" dirty="0">
              <a:uFill>
                <a:solidFill/>
              </a:uFill>
              <a:latin typeface="Gill Sans" charset="0"/>
              <a:ea typeface="Gill Sans" charset="0"/>
              <a:cs typeface="Gill Sans" charset="0"/>
              <a:sym typeface="Helvetica"/>
            </a:endParaRPr>
          </a:p>
          <a:p>
            <a:pPr marL="497840" lvl="0" indent="-457200">
              <a:spcBef>
                <a:spcPts val="1200"/>
              </a:spcBef>
              <a:buClr>
                <a:srgbClr val="000000"/>
              </a:buClr>
              <a:buFont typeface="Times Roman"/>
              <a:defRPr sz="1800">
                <a:uFillTx/>
              </a:defRPr>
            </a:pPr>
            <a:endParaRPr sz="2000" dirty="0">
              <a:uFill>
                <a:solidFill/>
              </a:uFill>
              <a:latin typeface="Gill Sans" charset="0"/>
              <a:ea typeface="Gill Sans" charset="0"/>
              <a:cs typeface="Gill Sans" charset="0"/>
              <a:sym typeface="Helvetica"/>
            </a:endParaRPr>
          </a:p>
          <a:p>
            <a:pPr marL="497840" lvl="0" indent="-457200">
              <a:spcBef>
                <a:spcPts val="1100"/>
              </a:spcBef>
              <a:buClr>
                <a:srgbClr val="000000"/>
              </a:buClr>
              <a:buFont typeface="Times Roman"/>
              <a:defRPr sz="1800">
                <a:uFillTx/>
              </a:defRPr>
            </a:pPr>
            <a:r>
              <a:rPr b="0" dirty="0">
                <a:uFill>
                  <a:solidFill/>
                </a:uFill>
                <a:latin typeface="Gill Sans" charset="0"/>
                <a:ea typeface="Gill Sans" charset="0"/>
                <a:cs typeface="Gill Sans" charset="0"/>
                <a:sym typeface="Helvetica"/>
              </a:rPr>
              <a:t>3. </a:t>
            </a:r>
            <a:r>
              <a:rPr lang="en-US" b="0" dirty="0">
                <a:uFill>
                  <a:solidFill/>
                </a:uFill>
                <a:latin typeface="Gill Sans" charset="0"/>
                <a:ea typeface="Gill Sans" charset="0"/>
                <a:cs typeface="Gill Sans" charset="0"/>
                <a:sym typeface="Helvetica"/>
              </a:rPr>
              <a:t>Cysteine – </a:t>
            </a:r>
            <a:r>
              <a:rPr lang="en-US" b="0" dirty="0">
                <a:latin typeface="Gill Sans" charset="0"/>
                <a:ea typeface="Gill Sans" charset="0"/>
                <a:cs typeface="Gill Sans" charset="0"/>
              </a:rPr>
              <a:t>Cysteine d</a:t>
            </a:r>
            <a:r>
              <a:rPr lang="en-US" b="0" dirty="0">
                <a:uFill>
                  <a:solidFill/>
                </a:uFill>
                <a:latin typeface="Gill Sans" charset="0"/>
                <a:ea typeface="Gill Sans" charset="0"/>
                <a:cs typeface="Gill Sans" charset="0"/>
                <a:sym typeface="Helvetica"/>
              </a:rPr>
              <a:t>isulfide bond</a:t>
            </a:r>
          </a:p>
        </p:txBody>
      </p:sp>
      <p:pic>
        <p:nvPicPr>
          <p:cNvPr id="174" name="image.pdf"/>
          <p:cNvPicPr/>
          <p:nvPr/>
        </p:nvPicPr>
        <p:blipFill>
          <a:blip r:embed="rId3"/>
          <a:stretch>
            <a:fillRect/>
          </a:stretch>
        </p:blipFill>
        <p:spPr>
          <a:xfrm>
            <a:off x="5046662" y="4705350"/>
            <a:ext cx="3657601" cy="2528888"/>
          </a:xfrm>
          <a:prstGeom prst="rect">
            <a:avLst/>
          </a:prstGeom>
          <a:ln w="12700">
            <a:miter lim="400000"/>
          </a:ln>
        </p:spPr>
      </p:pic>
      <p:sp>
        <p:nvSpPr>
          <p:cNvPr id="175" name="Shape 175"/>
          <p:cNvSpPr/>
          <p:nvPr/>
        </p:nvSpPr>
        <p:spPr>
          <a:xfrm>
            <a:off x="24714" y="838200"/>
            <a:ext cx="2146300" cy="24622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900"/>
              </a:spcBef>
              <a:buClr>
                <a:srgbClr val="E62C9A"/>
              </a:buClr>
              <a:buFont typeface="Helvetica"/>
              <a:defRPr sz="1600" b="1">
                <a:solidFill>
                  <a:srgbClr val="E62C9A"/>
                </a:solidFill>
                <a:uFill>
                  <a:solidFill>
                    <a:srgbClr val="E62C9A"/>
                  </a:solidFill>
                </a:uFill>
                <a:latin typeface="Helvetica"/>
                <a:ea typeface="Helvetica"/>
                <a:cs typeface="Helvetica"/>
                <a:sym typeface="Helvetica"/>
              </a:defRPr>
            </a:lvl1pPr>
          </a:lstStyle>
          <a:p>
            <a:pPr lvl="0">
              <a:defRPr sz="1800" b="0">
                <a:solidFill>
                  <a:srgbClr val="000000"/>
                </a:solidFill>
                <a:uFillTx/>
              </a:defRPr>
            </a:pPr>
            <a:r>
              <a:rPr sz="1600" b="0" dirty="0">
                <a:solidFill>
                  <a:schemeClr val="tx1"/>
                </a:solidFill>
                <a:uFill>
                  <a:solidFill>
                    <a:srgbClr val="E62C9A"/>
                  </a:solidFill>
                </a:uFill>
                <a:latin typeface="Gill Sans" charset="0"/>
                <a:ea typeface="Gill Sans" charset="0"/>
                <a:cs typeface="Gill Sans" charset="0"/>
              </a:rPr>
              <a:t>10 - 40 kJ/M</a:t>
            </a:r>
            <a:r>
              <a:rPr lang="en-US" sz="1600" b="0" dirty="0">
                <a:solidFill>
                  <a:schemeClr val="tx1"/>
                </a:solidFill>
                <a:uFill>
                  <a:solidFill>
                    <a:srgbClr val="E62C9A"/>
                  </a:solidFill>
                </a:uFill>
                <a:latin typeface="Gill Sans" charset="0"/>
                <a:ea typeface="Gill Sans" charset="0"/>
                <a:cs typeface="Gill Sans" charset="0"/>
              </a:rPr>
              <a:t>ole</a:t>
            </a:r>
          </a:p>
        </p:txBody>
      </p:sp>
      <p:sp>
        <p:nvSpPr>
          <p:cNvPr id="176" name="Shape 176"/>
          <p:cNvSpPr/>
          <p:nvPr/>
        </p:nvSpPr>
        <p:spPr>
          <a:xfrm>
            <a:off x="0" y="1781175"/>
            <a:ext cx="9309100" cy="24622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900"/>
              </a:spcBef>
              <a:buClr>
                <a:srgbClr val="E62C9A"/>
              </a:buClr>
              <a:buFont typeface="Helvetica"/>
              <a:defRPr sz="1600" b="1">
                <a:solidFill>
                  <a:srgbClr val="E62C9A"/>
                </a:solidFill>
                <a:uFill>
                  <a:solidFill>
                    <a:srgbClr val="E62C9A"/>
                  </a:solidFill>
                </a:uFill>
                <a:latin typeface="Helvetica"/>
                <a:ea typeface="Helvetica"/>
                <a:cs typeface="Helvetica"/>
                <a:sym typeface="Helvetica"/>
              </a:defRPr>
            </a:lvl1pPr>
          </a:lstStyle>
          <a:p>
            <a:pPr lvl="0">
              <a:defRPr sz="1800" b="0">
                <a:solidFill>
                  <a:srgbClr val="000000"/>
                </a:solidFill>
                <a:uFillTx/>
              </a:defRPr>
            </a:pPr>
            <a:r>
              <a:rPr lang="en-US" sz="1600" b="0" dirty="0">
                <a:solidFill>
                  <a:schemeClr val="tx1"/>
                </a:solidFill>
                <a:uFill>
                  <a:solidFill>
                    <a:srgbClr val="E62C9A"/>
                  </a:solidFill>
                </a:uFill>
                <a:latin typeface="Gill Sans" charset="0"/>
                <a:ea typeface="Gill Sans" charset="0"/>
                <a:cs typeface="Gill Sans" charset="0"/>
              </a:rPr>
              <a:t>(Almost) </a:t>
            </a:r>
            <a:r>
              <a:rPr sz="1600" b="0" dirty="0">
                <a:solidFill>
                  <a:schemeClr val="tx1"/>
                </a:solidFill>
                <a:uFill>
                  <a:solidFill>
                    <a:srgbClr val="E62C9A"/>
                  </a:solidFill>
                </a:uFill>
                <a:latin typeface="Gill Sans" charset="0"/>
                <a:ea typeface="Gill Sans" charset="0"/>
                <a:cs typeface="Gill Sans" charset="0"/>
              </a:rPr>
              <a:t>E</a:t>
            </a:r>
            <a:r>
              <a:rPr lang="en-US" sz="1600" b="0" dirty="0">
                <a:solidFill>
                  <a:schemeClr val="tx1"/>
                </a:solidFill>
                <a:uFill>
                  <a:solidFill>
                    <a:srgbClr val="E62C9A"/>
                  </a:solidFill>
                </a:uFill>
                <a:latin typeface="Gill Sans" charset="0"/>
                <a:ea typeface="Gill Sans" charset="0"/>
                <a:cs typeface="Gill Sans" charset="0"/>
              </a:rPr>
              <a:t>very </a:t>
            </a:r>
            <a:r>
              <a:rPr sz="1600" b="0" dirty="0">
                <a:solidFill>
                  <a:schemeClr val="tx1"/>
                </a:solidFill>
                <a:uFill>
                  <a:solidFill>
                    <a:srgbClr val="E62C9A"/>
                  </a:solidFill>
                </a:uFill>
                <a:latin typeface="Gill Sans" charset="0"/>
                <a:ea typeface="Gill Sans" charset="0"/>
                <a:cs typeface="Gill Sans" charset="0"/>
              </a:rPr>
              <a:t>OH, SH, NH </a:t>
            </a:r>
            <a:r>
              <a:rPr lang="en-US" sz="1600" b="0" dirty="0">
                <a:solidFill>
                  <a:schemeClr val="tx1"/>
                </a:solidFill>
                <a:uFill>
                  <a:solidFill>
                    <a:srgbClr val="E62C9A"/>
                  </a:solidFill>
                </a:uFill>
                <a:latin typeface="Gill Sans" charset="0"/>
                <a:ea typeface="Gill Sans" charset="0"/>
                <a:cs typeface="Gill Sans" charset="0"/>
              </a:rPr>
              <a:t>is</a:t>
            </a:r>
            <a:r>
              <a:rPr sz="1600" b="0" dirty="0">
                <a:solidFill>
                  <a:schemeClr val="tx1"/>
                </a:solidFill>
                <a:uFill>
                  <a:solidFill>
                    <a:srgbClr val="E62C9A"/>
                  </a:solidFill>
                </a:uFill>
                <a:latin typeface="Gill Sans" charset="0"/>
                <a:ea typeface="Gill Sans" charset="0"/>
                <a:cs typeface="Gill Sans" charset="0"/>
              </a:rPr>
              <a:t> H-</a:t>
            </a:r>
            <a:r>
              <a:rPr lang="en-US" sz="1600" b="0" dirty="0">
                <a:solidFill>
                  <a:schemeClr val="tx1"/>
                </a:solidFill>
                <a:uFill>
                  <a:solidFill>
                    <a:srgbClr val="E62C9A"/>
                  </a:solidFill>
                </a:uFill>
                <a:latin typeface="Gill Sans" charset="0"/>
                <a:ea typeface="Gill Sans" charset="0"/>
                <a:cs typeface="Gill Sans" charset="0"/>
              </a:rPr>
              <a:t>bonded to (1</a:t>
            </a:r>
            <a:r>
              <a:rPr sz="1600" b="0" dirty="0">
                <a:solidFill>
                  <a:schemeClr val="tx1"/>
                </a:solidFill>
                <a:uFill>
                  <a:solidFill>
                    <a:srgbClr val="E62C9A"/>
                  </a:solidFill>
                </a:uFill>
                <a:latin typeface="Gill Sans" charset="0"/>
                <a:ea typeface="Gill Sans" charset="0"/>
                <a:cs typeface="Gill Sans" charset="0"/>
              </a:rPr>
              <a:t>) A</a:t>
            </a:r>
            <a:r>
              <a:rPr lang="en-US" sz="1600" b="0" dirty="0">
                <a:solidFill>
                  <a:schemeClr val="tx1"/>
                </a:solidFill>
                <a:uFill>
                  <a:solidFill>
                    <a:srgbClr val="E62C9A"/>
                  </a:solidFill>
                </a:uFill>
                <a:latin typeface="Gill Sans" charset="0"/>
                <a:ea typeface="Gill Sans" charset="0"/>
                <a:cs typeface="Gill Sans" charset="0"/>
              </a:rPr>
              <a:t>nother part of protein; or </a:t>
            </a:r>
            <a:r>
              <a:rPr sz="1600" b="0" dirty="0">
                <a:solidFill>
                  <a:schemeClr val="tx1"/>
                </a:solidFill>
                <a:uFill>
                  <a:solidFill>
                    <a:srgbClr val="E62C9A"/>
                  </a:solidFill>
                </a:uFill>
                <a:latin typeface="Gill Sans" charset="0"/>
                <a:ea typeface="Gill Sans" charset="0"/>
                <a:cs typeface="Gill Sans" charset="0"/>
              </a:rPr>
              <a:t>(2) W</a:t>
            </a:r>
            <a:r>
              <a:rPr lang="en-US" sz="1600" b="0" dirty="0">
                <a:solidFill>
                  <a:schemeClr val="tx1"/>
                </a:solidFill>
                <a:uFill>
                  <a:solidFill>
                    <a:srgbClr val="E62C9A"/>
                  </a:solidFill>
                </a:uFill>
                <a:latin typeface="Gill Sans" charset="0"/>
                <a:ea typeface="Gill Sans" charset="0"/>
                <a:cs typeface="Gill Sans" charset="0"/>
              </a:rPr>
              <a:t>ater</a:t>
            </a:r>
          </a:p>
        </p:txBody>
      </p:sp>
      <p:sp>
        <p:nvSpPr>
          <p:cNvPr id="177" name="Shape 177"/>
          <p:cNvSpPr/>
          <p:nvPr/>
        </p:nvSpPr>
        <p:spPr>
          <a:xfrm>
            <a:off x="76200" y="2092124"/>
            <a:ext cx="7406373" cy="276999"/>
          </a:xfrm>
          <a:prstGeom prst="rect">
            <a:avLst/>
          </a:prstGeom>
          <a:ln w="19050">
            <a:solidFill>
              <a:srgbClr val="062ACD"/>
            </a:solidFill>
            <a:prstDash val="sysDot"/>
            <a:miter lim="400000"/>
          </a:ln>
          <a:extLst>
            <a:ext uri="{C572A759-6A51-4108-AA02-DFA0A04FC94B}">
              <ma14:wrappingTextBoxFlag xmlns:ma14="http://schemas.microsoft.com/office/mac/drawingml/2011/main" xmlns="" val="1"/>
            </a:ext>
          </a:extLst>
        </p:spPr>
        <p:txBody>
          <a:bodyPr wrap="square" lIns="0" tIns="0" rIns="0" bIns="0">
            <a:spAutoFit/>
          </a:bodyPr>
          <a:lstStyle/>
          <a:p>
            <a:pPr lvl="0">
              <a:spcBef>
                <a:spcPts val="900"/>
              </a:spcBef>
              <a:buClr>
                <a:srgbClr val="E62C9A"/>
              </a:buClr>
              <a:buFont typeface="Helvetica"/>
              <a:defRPr sz="1800">
                <a:uFillTx/>
              </a:defRPr>
            </a:pPr>
            <a:r>
              <a:rPr sz="1600" b="0" dirty="0">
                <a:solidFill>
                  <a:schemeClr val="tx1"/>
                </a:solidFill>
                <a:uFill>
                  <a:solidFill>
                    <a:srgbClr val="E62C9A"/>
                  </a:solidFill>
                </a:uFill>
                <a:latin typeface="Gill Sans" charset="0"/>
                <a:ea typeface="Gill Sans" charset="0"/>
                <a:cs typeface="Gill Sans" charset="0"/>
                <a:sym typeface="Helvetica"/>
              </a:rPr>
              <a:t>T</a:t>
            </a:r>
            <a:r>
              <a:rPr lang="en-US" sz="1600" b="0" dirty="0">
                <a:solidFill>
                  <a:schemeClr val="tx1"/>
                </a:solidFill>
                <a:uFill>
                  <a:solidFill>
                    <a:srgbClr val="E62C9A"/>
                  </a:solidFill>
                </a:uFill>
                <a:latin typeface="Gill Sans" charset="0"/>
                <a:ea typeface="Gill Sans" charset="0"/>
                <a:cs typeface="Gill Sans" charset="0"/>
                <a:sym typeface="Helvetica"/>
              </a:rPr>
              <a:t>he protein structure  </a:t>
            </a:r>
            <a:r>
              <a:rPr lang="en-US" b="0" u="sng" dirty="0">
                <a:solidFill>
                  <a:schemeClr val="tx1"/>
                </a:solidFill>
                <a:uFill>
                  <a:solidFill>
                    <a:srgbClr val="0737F8"/>
                  </a:solidFill>
                </a:uFill>
                <a:latin typeface="Gill Sans" charset="0"/>
                <a:ea typeface="Gill Sans" charset="0"/>
                <a:cs typeface="Gill Sans" charset="0"/>
                <a:sym typeface="Chalkboard"/>
              </a:rPr>
              <a:t>whatever it is</a:t>
            </a:r>
            <a:r>
              <a:rPr lang="en-US" sz="1600" b="0" dirty="0">
                <a:solidFill>
                  <a:schemeClr val="tx1"/>
                </a:solidFill>
                <a:uFill>
                  <a:solidFill>
                    <a:srgbClr val="0737F8"/>
                  </a:solidFill>
                </a:uFill>
                <a:latin typeface="Gill Sans" charset="0"/>
                <a:ea typeface="Gill Sans" charset="0"/>
                <a:cs typeface="Gill Sans" charset="0"/>
                <a:sym typeface="Helvetica"/>
              </a:rPr>
              <a:t>  </a:t>
            </a:r>
            <a:r>
              <a:rPr lang="en-US" sz="1600" b="0" dirty="0">
                <a:solidFill>
                  <a:schemeClr val="tx1"/>
                </a:solidFill>
                <a:uFill>
                  <a:solidFill>
                    <a:srgbClr val="E62C9A"/>
                  </a:solidFill>
                </a:uFill>
                <a:latin typeface="Gill Sans" charset="0"/>
                <a:ea typeface="Gill Sans" charset="0"/>
                <a:cs typeface="Gill Sans" charset="0"/>
                <a:sym typeface="Helvetica"/>
              </a:rPr>
              <a:t>must allow  ~ every possible </a:t>
            </a:r>
            <a:r>
              <a:rPr sz="1600" b="0" dirty="0">
                <a:solidFill>
                  <a:schemeClr val="tx1"/>
                </a:solidFill>
                <a:uFill>
                  <a:solidFill>
                    <a:srgbClr val="E62C9A"/>
                  </a:solidFill>
                </a:uFill>
                <a:latin typeface="Gill Sans" charset="0"/>
                <a:ea typeface="Gill Sans" charset="0"/>
                <a:cs typeface="Gill Sans" charset="0"/>
                <a:sym typeface="Helvetica"/>
              </a:rPr>
              <a:t>H-</a:t>
            </a:r>
            <a:r>
              <a:rPr lang="en-US" sz="1600" b="0" dirty="0">
                <a:solidFill>
                  <a:schemeClr val="tx1"/>
                </a:solidFill>
                <a:uFill>
                  <a:solidFill>
                    <a:srgbClr val="E62C9A"/>
                  </a:solidFill>
                </a:uFill>
                <a:latin typeface="Gill Sans" charset="0"/>
                <a:ea typeface="Gill Sans" charset="0"/>
                <a:cs typeface="Gill Sans" charset="0"/>
                <a:sym typeface="Helvetica"/>
              </a:rPr>
              <a:t>bond to form</a:t>
            </a:r>
          </a:p>
        </p:txBody>
      </p:sp>
      <p:sp>
        <p:nvSpPr>
          <p:cNvPr id="178" name="Shape 178"/>
          <p:cNvSpPr/>
          <p:nvPr/>
        </p:nvSpPr>
        <p:spPr>
          <a:xfrm>
            <a:off x="0" y="3022600"/>
            <a:ext cx="2527300" cy="24622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900"/>
              </a:spcBef>
              <a:buClr>
                <a:srgbClr val="E62C9A"/>
              </a:buClr>
              <a:buFont typeface="Helvetica"/>
              <a:defRPr sz="1600" b="1">
                <a:solidFill>
                  <a:srgbClr val="E62C9A"/>
                </a:solidFill>
                <a:uFill>
                  <a:solidFill>
                    <a:srgbClr val="E62C9A"/>
                  </a:solidFill>
                </a:uFill>
                <a:latin typeface="Helvetica"/>
                <a:ea typeface="Helvetica"/>
                <a:cs typeface="Helvetica"/>
                <a:sym typeface="Helvetica"/>
              </a:defRPr>
            </a:lvl1pPr>
          </a:lstStyle>
          <a:p>
            <a:pPr lvl="0">
              <a:defRPr sz="1800" b="0">
                <a:solidFill>
                  <a:srgbClr val="000000"/>
                </a:solidFill>
                <a:uFillTx/>
              </a:defRPr>
            </a:pPr>
            <a:r>
              <a:rPr sz="1600" b="0" dirty="0">
                <a:solidFill>
                  <a:schemeClr val="tx1"/>
                </a:solidFill>
                <a:uFill>
                  <a:solidFill>
                    <a:srgbClr val="E62C9A"/>
                  </a:solidFill>
                </a:uFill>
                <a:latin typeface="Gill Sans" charset="0"/>
                <a:ea typeface="Gill Sans" charset="0"/>
                <a:cs typeface="Gill Sans" charset="0"/>
              </a:rPr>
              <a:t>10 - 40 kJ/M</a:t>
            </a:r>
            <a:r>
              <a:rPr lang="en-US" sz="1600" b="0" dirty="0">
                <a:solidFill>
                  <a:schemeClr val="tx1"/>
                </a:solidFill>
                <a:uFill>
                  <a:solidFill>
                    <a:srgbClr val="E62C9A"/>
                  </a:solidFill>
                </a:uFill>
                <a:latin typeface="Gill Sans" charset="0"/>
                <a:ea typeface="Gill Sans" charset="0"/>
                <a:cs typeface="Gill Sans" charset="0"/>
              </a:rPr>
              <a:t>ole</a:t>
            </a:r>
          </a:p>
        </p:txBody>
      </p:sp>
      <p:sp>
        <p:nvSpPr>
          <p:cNvPr id="179" name="Shape 179"/>
          <p:cNvSpPr/>
          <p:nvPr/>
        </p:nvSpPr>
        <p:spPr>
          <a:xfrm>
            <a:off x="76200" y="3854450"/>
            <a:ext cx="8547100" cy="24622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900"/>
              </a:spcBef>
              <a:buClr>
                <a:srgbClr val="E62C9A"/>
              </a:buClr>
              <a:buFont typeface="Helvetica"/>
              <a:defRPr sz="1600" b="1">
                <a:solidFill>
                  <a:srgbClr val="E62C9A"/>
                </a:solidFill>
                <a:uFill>
                  <a:solidFill>
                    <a:srgbClr val="E62C9A"/>
                  </a:solidFill>
                </a:uFill>
                <a:latin typeface="Helvetica"/>
                <a:ea typeface="Helvetica"/>
                <a:cs typeface="Helvetica"/>
                <a:sym typeface="Helvetica"/>
              </a:defRPr>
            </a:lvl1pPr>
          </a:lstStyle>
          <a:p>
            <a:pPr lvl="0">
              <a:defRPr sz="1800" b="0">
                <a:solidFill>
                  <a:srgbClr val="000000"/>
                </a:solidFill>
                <a:uFillTx/>
              </a:defRPr>
            </a:pPr>
            <a:r>
              <a:rPr sz="1600" b="0" dirty="0">
                <a:solidFill>
                  <a:schemeClr val="tx1"/>
                </a:solidFill>
                <a:uFill>
                  <a:solidFill>
                    <a:srgbClr val="E62C9A"/>
                  </a:solidFill>
                </a:uFill>
                <a:latin typeface="Gill Sans" charset="0"/>
                <a:ea typeface="Gill Sans" charset="0"/>
                <a:cs typeface="Gill Sans" charset="0"/>
              </a:rPr>
              <a:t>   </a:t>
            </a:r>
            <a:r>
              <a:rPr lang="en-US" sz="1600" b="0" dirty="0">
                <a:solidFill>
                  <a:schemeClr val="tx1"/>
                </a:solidFill>
                <a:uFill>
                  <a:solidFill>
                    <a:srgbClr val="E62C9A"/>
                  </a:solidFill>
                </a:uFill>
                <a:latin typeface="Gill Sans" charset="0"/>
                <a:ea typeface="Gill Sans" charset="0"/>
                <a:cs typeface="Gill Sans" charset="0"/>
              </a:rPr>
              <a:t>On protein surface: this can be met by aqueous salt ions </a:t>
            </a:r>
          </a:p>
        </p:txBody>
      </p:sp>
      <p:grpSp>
        <p:nvGrpSpPr>
          <p:cNvPr id="182" name="Group 182"/>
          <p:cNvGrpSpPr/>
          <p:nvPr/>
        </p:nvGrpSpPr>
        <p:grpSpPr>
          <a:xfrm>
            <a:off x="76200" y="4173537"/>
            <a:ext cx="8318500" cy="607859"/>
            <a:chOff x="0" y="0"/>
            <a:chExt cx="8318500" cy="607858"/>
          </a:xfrm>
        </p:grpSpPr>
        <p:sp>
          <p:nvSpPr>
            <p:cNvPr id="180" name="Shape 180"/>
            <p:cNvSpPr/>
            <p:nvPr/>
          </p:nvSpPr>
          <p:spPr>
            <a:xfrm>
              <a:off x="0" y="0"/>
              <a:ext cx="8166100" cy="60785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spcBef>
                  <a:spcPts val="900"/>
                </a:spcBef>
                <a:buClr>
                  <a:srgbClr val="E62C9A"/>
                </a:buClr>
                <a:buFont typeface="Helvetica"/>
                <a:defRPr sz="1600" b="1">
                  <a:solidFill>
                    <a:srgbClr val="E62C9A"/>
                  </a:solidFill>
                  <a:uFill>
                    <a:solidFill>
                      <a:srgbClr val="E62C9A"/>
                    </a:solidFill>
                  </a:uFill>
                  <a:latin typeface="Helvetica"/>
                  <a:ea typeface="Helvetica"/>
                  <a:cs typeface="Helvetica"/>
                  <a:sym typeface="Helvetica"/>
                </a:defRPr>
              </a:lvl1pPr>
            </a:lstStyle>
            <a:p>
              <a:pPr>
                <a:defRPr sz="1800" b="0">
                  <a:solidFill>
                    <a:srgbClr val="000000"/>
                  </a:solidFill>
                  <a:uFillTx/>
                </a:defRPr>
              </a:pPr>
              <a:r>
                <a:rPr sz="1600" b="0" dirty="0">
                  <a:solidFill>
                    <a:schemeClr val="tx1"/>
                  </a:solidFill>
                  <a:uFill>
                    <a:solidFill>
                      <a:srgbClr val="E62C9A"/>
                    </a:solidFill>
                  </a:uFill>
                  <a:latin typeface="Gill Sans" charset="0"/>
                  <a:ea typeface="Gill Sans" charset="0"/>
                  <a:cs typeface="Gill Sans" charset="0"/>
                </a:rPr>
                <a:t>   I</a:t>
              </a:r>
              <a:r>
                <a:rPr lang="en-US" sz="1600" b="0" dirty="0">
                  <a:solidFill>
                    <a:schemeClr val="tx1"/>
                  </a:solidFill>
                  <a:uFill>
                    <a:solidFill>
                      <a:srgbClr val="E62C9A"/>
                    </a:solidFill>
                  </a:uFill>
                  <a:latin typeface="Gill Sans" charset="0"/>
                  <a:ea typeface="Gill Sans" charset="0"/>
                  <a:cs typeface="Gill Sans" charset="0"/>
                </a:rPr>
                <a:t>nside protein: when a charge is attracted and balanced by oppositely charged side chain, </a:t>
              </a:r>
              <a:r>
                <a:rPr lang="en-US" sz="1600" dirty="0">
                  <a:solidFill>
                    <a:srgbClr val="0737F8"/>
                  </a:solidFill>
                  <a:uFill>
                    <a:solidFill>
                      <a:srgbClr val="E62C9A"/>
                    </a:solidFill>
                  </a:uFill>
                  <a:latin typeface="Symbol" pitchFamily="2" charset="2"/>
                  <a:ea typeface="Gill Sans" charset="0"/>
                  <a:cs typeface="Gill Sans" charset="0"/>
                </a:rPr>
                <a:t>+</a:t>
              </a:r>
              <a:r>
                <a:rPr lang="en-US" sz="1600" b="0" dirty="0">
                  <a:solidFill>
                    <a:srgbClr val="C00000"/>
                  </a:solidFill>
                  <a:uFill>
                    <a:solidFill>
                      <a:srgbClr val="E62C9A"/>
                    </a:solidFill>
                  </a:uFill>
                  <a:latin typeface="Symbol" pitchFamily="2" charset="2"/>
                  <a:ea typeface="Gill Sans" charset="0"/>
                  <a:cs typeface="Gill Sans" charset="0"/>
                </a:rPr>
                <a:t>  </a:t>
              </a:r>
              <a:r>
                <a:rPr lang="en-US" sz="1600" dirty="0">
                  <a:solidFill>
                    <a:srgbClr val="C00000"/>
                  </a:solidFill>
                  <a:uFill>
                    <a:solidFill>
                      <a:srgbClr val="E62C9A"/>
                    </a:solidFill>
                  </a:uFill>
                  <a:latin typeface="Symbol" pitchFamily="2" charset="2"/>
                  <a:ea typeface="Gill Sans" charset="0"/>
                  <a:cs typeface="Gill Sans" charset="0"/>
                </a:rPr>
                <a:t>- </a:t>
              </a:r>
              <a:r>
                <a:rPr lang="en-US" sz="1600" dirty="0">
                  <a:solidFill>
                    <a:schemeClr val="tx1"/>
                  </a:solidFill>
                  <a:uFill>
                    <a:solidFill>
                      <a:srgbClr val="E62C9A"/>
                    </a:solidFill>
                  </a:uFill>
                  <a:latin typeface="Symbol" pitchFamily="2" charset="2"/>
                  <a:ea typeface="Gill Sans" charset="0"/>
                  <a:cs typeface="Gill Sans" charset="0"/>
                </a:rPr>
                <a:t>,</a:t>
              </a:r>
              <a:r>
                <a:rPr lang="en-US" sz="1600" b="0" dirty="0">
                  <a:solidFill>
                    <a:srgbClr val="C00000"/>
                  </a:solidFill>
                  <a:uFill>
                    <a:solidFill>
                      <a:srgbClr val="E62C9A"/>
                    </a:solidFill>
                  </a:uFill>
                  <a:latin typeface="Symbol" pitchFamily="2" charset="2"/>
                  <a:ea typeface="Gill Sans" charset="0"/>
                  <a:cs typeface="Gill Sans" charset="0"/>
                </a:rPr>
                <a:t> </a:t>
              </a:r>
              <a:endParaRPr lang="en-US" b="0" dirty="0">
                <a:solidFill>
                  <a:srgbClr val="C00000"/>
                </a:solidFill>
                <a:latin typeface="Symbol" pitchFamily="2" charset="2"/>
                <a:ea typeface="Gill Sans" charset="0"/>
                <a:cs typeface="Gill Sans" charset="0"/>
              </a:endParaRPr>
            </a:p>
            <a:p>
              <a:pPr lvl="0">
                <a:defRPr sz="1800" b="0">
                  <a:solidFill>
                    <a:srgbClr val="000000"/>
                  </a:solidFill>
                  <a:uFillTx/>
                </a:defRPr>
              </a:pPr>
              <a:endParaRPr lang="en-US" sz="1600" b="0" dirty="0">
                <a:solidFill>
                  <a:schemeClr val="tx1"/>
                </a:solidFill>
                <a:uFill>
                  <a:solidFill>
                    <a:srgbClr val="E62C9A"/>
                  </a:solidFill>
                </a:uFill>
                <a:latin typeface="Gill Sans" charset="0"/>
                <a:ea typeface="Gill Sans" charset="0"/>
                <a:cs typeface="Gill Sans" charset="0"/>
              </a:endParaRPr>
            </a:p>
          </p:txBody>
        </p:sp>
        <p:sp>
          <p:nvSpPr>
            <p:cNvPr id="181" name="Shape 181"/>
            <p:cNvSpPr/>
            <p:nvPr/>
          </p:nvSpPr>
          <p:spPr>
            <a:xfrm>
              <a:off x="76200" y="290512"/>
              <a:ext cx="8242300" cy="24622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spcBef>
                  <a:spcPts val="900"/>
                </a:spcBef>
                <a:buClr>
                  <a:srgbClr val="E62C9A"/>
                </a:buClr>
                <a:buFont typeface="Helvetica"/>
                <a:defRPr sz="1600" b="1">
                  <a:solidFill>
                    <a:srgbClr val="E62C9A"/>
                  </a:solidFill>
                  <a:uFill>
                    <a:solidFill>
                      <a:srgbClr val="E62C9A"/>
                    </a:solidFill>
                  </a:uFill>
                  <a:latin typeface="Helvetica"/>
                  <a:ea typeface="Helvetica"/>
                  <a:cs typeface="Helvetica"/>
                  <a:sym typeface="Helvetica"/>
                </a:defRPr>
              </a:lvl1pPr>
            </a:lstStyle>
            <a:p>
              <a:pPr lvl="0">
                <a:defRPr sz="1800" b="0">
                  <a:solidFill>
                    <a:srgbClr val="000000"/>
                  </a:solidFill>
                  <a:uFillTx/>
                </a:defRPr>
              </a:pPr>
              <a:r>
                <a:rPr lang="en-US" sz="1600" b="0" dirty="0">
                  <a:solidFill>
                    <a:schemeClr val="tx1"/>
                  </a:solidFill>
                  <a:uFill>
                    <a:solidFill>
                      <a:srgbClr val="E62C9A"/>
                    </a:solidFill>
                  </a:uFill>
                  <a:latin typeface="Gill Sans" charset="0"/>
                  <a:ea typeface="Gill Sans" charset="0"/>
                  <a:cs typeface="Gill Sans" charset="0"/>
                </a:rPr>
                <a:t>  </a:t>
              </a:r>
            </a:p>
          </p:txBody>
        </p:sp>
      </p:grpSp>
      <p:sp>
        <p:nvSpPr>
          <p:cNvPr id="183" name="Shape 183"/>
          <p:cNvSpPr/>
          <p:nvPr/>
        </p:nvSpPr>
        <p:spPr>
          <a:xfrm>
            <a:off x="-25400" y="3295650"/>
            <a:ext cx="7556500" cy="24622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900"/>
              </a:spcBef>
              <a:buClr>
                <a:srgbClr val="E62C9A"/>
              </a:buClr>
              <a:buFont typeface="Helvetica"/>
              <a:defRPr sz="1600" b="1">
                <a:solidFill>
                  <a:srgbClr val="E62C9A"/>
                </a:solidFill>
                <a:uFill>
                  <a:solidFill>
                    <a:srgbClr val="E62C9A"/>
                  </a:solidFill>
                </a:uFill>
                <a:latin typeface="Helvetica"/>
                <a:ea typeface="Helvetica"/>
                <a:cs typeface="Helvetica"/>
                <a:sym typeface="Helvetica"/>
              </a:defRPr>
            </a:lvl1pPr>
          </a:lstStyle>
          <a:p>
            <a:pPr lvl="0">
              <a:defRPr sz="1800" b="0">
                <a:solidFill>
                  <a:srgbClr val="000000"/>
                </a:solidFill>
                <a:uFillTx/>
              </a:defRPr>
            </a:pPr>
            <a:r>
              <a:rPr sz="1600" b="0" dirty="0">
                <a:solidFill>
                  <a:schemeClr val="tx1"/>
                </a:solidFill>
                <a:uFill>
                  <a:solidFill>
                    <a:srgbClr val="E62C9A"/>
                  </a:solidFill>
                </a:uFill>
                <a:latin typeface="Gill Sans" charset="0"/>
                <a:ea typeface="Gill Sans" charset="0"/>
                <a:cs typeface="Gill Sans" charset="0"/>
              </a:rPr>
              <a:t>G</a:t>
            </a:r>
            <a:r>
              <a:rPr lang="en-US" sz="1600" b="0" dirty="0">
                <a:solidFill>
                  <a:schemeClr val="tx1"/>
                </a:solidFill>
                <a:uFill>
                  <a:solidFill>
                    <a:srgbClr val="E62C9A"/>
                  </a:solidFill>
                </a:uFill>
                <a:latin typeface="Gill Sans" charset="0"/>
                <a:ea typeface="Gill Sans" charset="0"/>
                <a:cs typeface="Gill Sans" charset="0"/>
              </a:rPr>
              <a:t>eometry</a:t>
            </a:r>
            <a:r>
              <a:rPr sz="1600" b="0" dirty="0">
                <a:solidFill>
                  <a:schemeClr val="tx1"/>
                </a:solidFill>
                <a:uFill>
                  <a:solidFill>
                    <a:srgbClr val="E62C9A"/>
                  </a:solidFill>
                </a:uFill>
                <a:latin typeface="Gill Sans" charset="0"/>
                <a:ea typeface="Gill Sans" charset="0"/>
                <a:cs typeface="Gill Sans" charset="0"/>
              </a:rPr>
              <a:t>: N</a:t>
            </a:r>
            <a:r>
              <a:rPr lang="en-US" sz="1600" b="0" dirty="0">
                <a:solidFill>
                  <a:schemeClr val="tx1"/>
                </a:solidFill>
                <a:uFill>
                  <a:solidFill>
                    <a:srgbClr val="E62C9A"/>
                  </a:solidFill>
                </a:uFill>
                <a:latin typeface="Gill Sans" charset="0"/>
                <a:ea typeface="Gill Sans" charset="0"/>
                <a:cs typeface="Gill Sans" charset="0"/>
              </a:rPr>
              <a:t>o directionality</a:t>
            </a:r>
          </a:p>
        </p:txBody>
      </p:sp>
      <p:grpSp>
        <p:nvGrpSpPr>
          <p:cNvPr id="186" name="Group 186"/>
          <p:cNvGrpSpPr/>
          <p:nvPr/>
        </p:nvGrpSpPr>
        <p:grpSpPr>
          <a:xfrm>
            <a:off x="2926744" y="5861050"/>
            <a:ext cx="2501441" cy="246221"/>
            <a:chOff x="2926745" y="0"/>
            <a:chExt cx="2501439" cy="246221"/>
          </a:xfrm>
        </p:grpSpPr>
        <p:sp>
          <p:nvSpPr>
            <p:cNvPr id="184" name="Shape 184"/>
            <p:cNvSpPr/>
            <p:nvPr/>
          </p:nvSpPr>
          <p:spPr>
            <a:xfrm>
              <a:off x="2926745" y="0"/>
              <a:ext cx="2501439" cy="24622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spcBef>
                  <a:spcPts val="900"/>
                </a:spcBef>
                <a:buClr>
                  <a:srgbClr val="E62C9A"/>
                </a:buClr>
                <a:buFont typeface="Helvetica"/>
                <a:defRPr sz="1600" b="1">
                  <a:solidFill>
                    <a:srgbClr val="192DE4"/>
                  </a:solidFill>
                  <a:uFill>
                    <a:solidFill>
                      <a:srgbClr val="E62C9A"/>
                    </a:solidFill>
                  </a:uFill>
                  <a:latin typeface="Helvetica"/>
                  <a:ea typeface="Helvetica"/>
                  <a:cs typeface="Helvetica"/>
                  <a:sym typeface="Helvetica"/>
                </a:defRPr>
              </a:lvl1pPr>
            </a:lstStyle>
            <a:p>
              <a:pPr lvl="0">
                <a:defRPr sz="1800" b="0">
                  <a:solidFill>
                    <a:srgbClr val="000000"/>
                  </a:solidFill>
                  <a:uFillTx/>
                </a:defRPr>
              </a:pPr>
              <a:r>
                <a:rPr lang="en-US" sz="1600" b="0" dirty="0">
                  <a:solidFill>
                    <a:srgbClr val="192DE4"/>
                  </a:solidFill>
                  <a:uFill>
                    <a:solidFill>
                      <a:srgbClr val="E62C9A"/>
                    </a:solidFill>
                  </a:uFill>
                  <a:latin typeface="Gill Sans" charset="0"/>
                  <a:ea typeface="Gill Sans" charset="0"/>
                  <a:cs typeface="Gill Sans" charset="0"/>
                </a:rPr>
                <a:t>geometry: “zig-zag</a:t>
              </a:r>
              <a:r>
                <a:rPr sz="1600" b="0" dirty="0">
                  <a:solidFill>
                    <a:srgbClr val="192DE4"/>
                  </a:solidFill>
                  <a:uFill>
                    <a:solidFill>
                      <a:srgbClr val="E62C9A"/>
                    </a:solidFill>
                  </a:uFill>
                  <a:latin typeface="Gill Sans" charset="0"/>
                  <a:ea typeface="Gill Sans" charset="0"/>
                  <a:cs typeface="Gill Sans" charset="0"/>
                </a:rPr>
                <a:t>”</a:t>
              </a:r>
            </a:p>
          </p:txBody>
        </p:sp>
        <p:sp>
          <p:nvSpPr>
            <p:cNvPr id="185" name="Shape 185"/>
            <p:cNvSpPr/>
            <p:nvPr/>
          </p:nvSpPr>
          <p:spPr>
            <a:xfrm flipV="1">
              <a:off x="4535279" y="166786"/>
              <a:ext cx="882859" cy="1"/>
            </a:xfrm>
            <a:prstGeom prst="line">
              <a:avLst/>
            </a:prstGeom>
            <a:noFill/>
            <a:ln w="28575" cap="flat">
              <a:solidFill>
                <a:srgbClr val="0D2CE4"/>
              </a:solidFill>
              <a:prstDash val="solid"/>
              <a:round/>
              <a:tailEnd type="triangle" w="med" len="med"/>
            </a:ln>
            <a:effectLst/>
          </p:spPr>
          <p:txBody>
            <a:bodyPr wrap="square" lIns="0" tIns="0" rIns="0" bIns="0" numCol="1" anchor="t">
              <a:noAutofit/>
            </a:bodyPr>
            <a:lstStyle/>
            <a:p>
              <a:pPr marL="0" marR="0" lvl="0" defTabSz="457200">
                <a:defRPr sz="1200">
                  <a:uFillTx/>
                  <a:latin typeface="Helvetica"/>
                  <a:ea typeface="Helvetica"/>
                  <a:cs typeface="Helvetica"/>
                  <a:sym typeface="Helvetica"/>
                </a:defRPr>
              </a:pPr>
              <a:endParaRPr>
                <a:latin typeface="Gill Sans" charset="0"/>
                <a:ea typeface="Gill Sans" charset="0"/>
                <a:cs typeface="Gill Sans" charset="0"/>
              </a:endParaRPr>
            </a:p>
          </p:txBody>
        </p:sp>
      </p:grpSp>
      <p:sp>
        <p:nvSpPr>
          <p:cNvPr id="187" name="Shape 187"/>
          <p:cNvSpPr/>
          <p:nvPr/>
        </p:nvSpPr>
        <p:spPr>
          <a:xfrm>
            <a:off x="255582" y="4403898"/>
            <a:ext cx="2936896" cy="246221"/>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spcBef>
                <a:spcPts val="900"/>
              </a:spcBef>
              <a:buClr>
                <a:srgbClr val="E62C9A"/>
              </a:buClr>
              <a:buFont typeface="Helvetica"/>
              <a:defRPr sz="1600" b="1">
                <a:solidFill>
                  <a:srgbClr val="E62C9A"/>
                </a:solidFill>
                <a:uFill>
                  <a:solidFill>
                    <a:srgbClr val="E62C9A"/>
                  </a:solidFill>
                </a:uFill>
                <a:latin typeface="Helvetica"/>
                <a:ea typeface="Helvetica"/>
                <a:cs typeface="Helvetica"/>
                <a:sym typeface="Helvetica"/>
              </a:defRPr>
            </a:lvl1pPr>
          </a:lstStyle>
          <a:p>
            <a:pPr lvl="0">
              <a:defRPr sz="1800" b="0">
                <a:solidFill>
                  <a:srgbClr val="000000"/>
                </a:solidFill>
                <a:uFillTx/>
              </a:defRPr>
            </a:pPr>
            <a:r>
              <a:rPr lang="en-US" sz="1600" b="0" dirty="0">
                <a:solidFill>
                  <a:schemeClr val="tx1"/>
                </a:solidFill>
                <a:uFill>
                  <a:solidFill>
                    <a:srgbClr val="E62C9A"/>
                  </a:solidFill>
                </a:uFill>
                <a:latin typeface="Gill Sans" charset="0"/>
                <a:ea typeface="Gill Sans" charset="0"/>
                <a:cs typeface="Gill Sans" charset="0"/>
              </a:rPr>
              <a:t>called “ion pair” or “salt bridge”</a:t>
            </a:r>
          </a:p>
        </p:txBody>
      </p:sp>
      <p:sp>
        <p:nvSpPr>
          <p:cNvPr id="188" name="Shape 188"/>
          <p:cNvSpPr/>
          <p:nvPr/>
        </p:nvSpPr>
        <p:spPr>
          <a:xfrm>
            <a:off x="2819400" y="495300"/>
            <a:ext cx="2451100" cy="307777"/>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buClr>
                <a:srgbClr val="0A39FF"/>
              </a:buClr>
              <a:buFont typeface="Helvetica"/>
              <a:defRPr sz="2000" b="1">
                <a:solidFill>
                  <a:srgbClr val="0A39FF"/>
                </a:solidFill>
                <a:uFill>
                  <a:solidFill>
                    <a:srgbClr val="0A39FF"/>
                  </a:solidFill>
                </a:uFill>
                <a:latin typeface="Helvetica"/>
                <a:ea typeface="Helvetica"/>
                <a:cs typeface="Helvetica"/>
                <a:sym typeface="Helvetica"/>
              </a:defRPr>
            </a:lvl1pPr>
          </a:lstStyle>
          <a:p>
            <a:pPr lvl="0">
              <a:defRPr sz="1800" b="0">
                <a:solidFill>
                  <a:srgbClr val="000000"/>
                </a:solidFill>
                <a:uFillTx/>
              </a:defRPr>
            </a:pPr>
            <a:r>
              <a:rPr sz="2000" b="0" dirty="0">
                <a:solidFill>
                  <a:srgbClr val="0A39FF"/>
                </a:solidFill>
                <a:uFill>
                  <a:solidFill>
                    <a:srgbClr val="0A39FF"/>
                  </a:solidFill>
                </a:uFill>
                <a:latin typeface="Gill Sans" charset="0"/>
                <a:ea typeface="Gill Sans" charset="0"/>
                <a:cs typeface="Gill Sans" charset="0"/>
              </a:rPr>
              <a:t>N - H       O = C</a:t>
            </a:r>
          </a:p>
        </p:txBody>
      </p:sp>
      <p:sp>
        <p:nvSpPr>
          <p:cNvPr id="189" name="Shape 189"/>
          <p:cNvSpPr/>
          <p:nvPr/>
        </p:nvSpPr>
        <p:spPr>
          <a:xfrm>
            <a:off x="3555561" y="698757"/>
            <a:ext cx="381845" cy="1249"/>
          </a:xfrm>
          <a:prstGeom prst="line">
            <a:avLst/>
          </a:prstGeom>
          <a:ln w="57150">
            <a:solidFill>
              <a:srgbClr val="0A39FF"/>
            </a:solidFill>
            <a:prstDash val="sysDot"/>
            <a:round/>
          </a:ln>
        </p:spPr>
        <p:txBody>
          <a:bodyPr lIns="0" tIns="0" rIns="0" bIns="0"/>
          <a:lstStyle/>
          <a:p>
            <a:pPr marL="0" marR="0" lvl="0" defTabSz="457200">
              <a:defRPr sz="1200">
                <a:uFillTx/>
                <a:latin typeface="Helvetica"/>
                <a:ea typeface="Helvetica"/>
                <a:cs typeface="Helvetica"/>
                <a:sym typeface="Helvetica"/>
              </a:defRPr>
            </a:pPr>
            <a:endParaRPr>
              <a:latin typeface="Gill Sans" charset="0"/>
              <a:ea typeface="Gill Sans" charset="0"/>
              <a:cs typeface="Gill Sans" charset="0"/>
            </a:endParaRPr>
          </a:p>
        </p:txBody>
      </p:sp>
      <p:sp>
        <p:nvSpPr>
          <p:cNvPr id="190" name="Shape 190"/>
          <p:cNvSpPr/>
          <p:nvPr/>
        </p:nvSpPr>
        <p:spPr>
          <a:xfrm>
            <a:off x="2920314" y="880076"/>
            <a:ext cx="1143000" cy="1588"/>
          </a:xfrm>
          <a:prstGeom prst="line">
            <a:avLst/>
          </a:prstGeom>
          <a:ln w="28575">
            <a:solidFill>
              <a:srgbClr val="0A39FF"/>
            </a:solidFill>
            <a:round/>
            <a:headEnd type="triangle"/>
            <a:tailEnd type="triangle"/>
          </a:ln>
        </p:spPr>
        <p:txBody>
          <a:bodyPr lIns="0" tIns="0" rIns="0" bIns="0"/>
          <a:lstStyle/>
          <a:p>
            <a:pPr marL="0" marR="0" lvl="0" defTabSz="457200">
              <a:defRPr sz="1200">
                <a:uFillTx/>
                <a:latin typeface="Helvetica"/>
                <a:ea typeface="Helvetica"/>
                <a:cs typeface="Helvetica"/>
                <a:sym typeface="Helvetica"/>
              </a:defRPr>
            </a:pPr>
            <a:endParaRPr>
              <a:latin typeface="Gill Sans" charset="0"/>
              <a:ea typeface="Gill Sans" charset="0"/>
              <a:cs typeface="Gill Sans" charset="0"/>
            </a:endParaRPr>
          </a:p>
        </p:txBody>
      </p:sp>
      <p:grpSp>
        <p:nvGrpSpPr>
          <p:cNvPr id="194" name="Group 194"/>
          <p:cNvGrpSpPr/>
          <p:nvPr/>
        </p:nvGrpSpPr>
        <p:grpSpPr>
          <a:xfrm>
            <a:off x="2971800" y="812800"/>
            <a:ext cx="1219201" cy="409377"/>
            <a:chOff x="0" y="0"/>
            <a:chExt cx="1219200" cy="409377"/>
          </a:xfrm>
        </p:grpSpPr>
        <p:sp>
          <p:nvSpPr>
            <p:cNvPr id="191" name="Shape 191"/>
            <p:cNvSpPr/>
            <p:nvPr/>
          </p:nvSpPr>
          <p:spPr>
            <a:xfrm>
              <a:off x="0" y="146050"/>
              <a:ext cx="763350" cy="24622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buClr>
                  <a:srgbClr val="0A39FF"/>
                </a:buClr>
                <a:buFont typeface="Helvetica"/>
                <a:defRPr sz="1600" b="1">
                  <a:solidFill>
                    <a:srgbClr val="0A39FF"/>
                  </a:solidFill>
                  <a:uFill>
                    <a:solidFill>
                      <a:srgbClr val="0A39FF"/>
                    </a:solidFill>
                  </a:uFill>
                  <a:latin typeface="Helvetica"/>
                  <a:ea typeface="Helvetica"/>
                  <a:cs typeface="Helvetica"/>
                  <a:sym typeface="Helvetica"/>
                </a:defRPr>
              </a:lvl1pPr>
            </a:lstStyle>
            <a:p>
              <a:pPr lvl="0">
                <a:defRPr sz="1800" b="0">
                  <a:solidFill>
                    <a:srgbClr val="000000"/>
                  </a:solidFill>
                  <a:uFillTx/>
                </a:defRPr>
              </a:pPr>
              <a:r>
                <a:rPr sz="1600" b="0">
                  <a:solidFill>
                    <a:srgbClr val="0A39FF"/>
                  </a:solidFill>
                  <a:uFill>
                    <a:solidFill>
                      <a:srgbClr val="0A39FF"/>
                    </a:solidFill>
                  </a:uFill>
                  <a:latin typeface="Gill Sans" charset="0"/>
                  <a:ea typeface="Gill Sans" charset="0"/>
                  <a:cs typeface="Gill Sans" charset="0"/>
                </a:rPr>
                <a:t>2.8 - 3.2</a:t>
              </a:r>
            </a:p>
          </p:txBody>
        </p:sp>
        <p:sp>
          <p:nvSpPr>
            <p:cNvPr id="192" name="Shape 192"/>
            <p:cNvSpPr/>
            <p:nvPr/>
          </p:nvSpPr>
          <p:spPr>
            <a:xfrm>
              <a:off x="749300" y="101600"/>
              <a:ext cx="469900" cy="30777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spcBef>
                  <a:spcPts val="1200"/>
                </a:spcBef>
                <a:buClr>
                  <a:srgbClr val="0A39FF"/>
                </a:buClr>
                <a:buFont typeface="Helvetica"/>
                <a:defRPr sz="2000" b="1">
                  <a:solidFill>
                    <a:srgbClr val="0A39FF"/>
                  </a:solidFill>
                  <a:uFill>
                    <a:solidFill>
                      <a:srgbClr val="0A39FF"/>
                    </a:solidFill>
                  </a:uFill>
                  <a:latin typeface="Helvetica"/>
                  <a:ea typeface="Helvetica"/>
                  <a:cs typeface="Helvetica"/>
                  <a:sym typeface="Helvetica"/>
                </a:defRPr>
              </a:lvl1pPr>
            </a:lstStyle>
            <a:p>
              <a:pPr lvl="0">
                <a:defRPr sz="1800" b="0">
                  <a:solidFill>
                    <a:srgbClr val="000000"/>
                  </a:solidFill>
                  <a:uFillTx/>
                </a:defRPr>
              </a:pPr>
              <a:r>
                <a:rPr sz="2000" b="0">
                  <a:solidFill>
                    <a:srgbClr val="0A39FF"/>
                  </a:solidFill>
                  <a:uFill>
                    <a:solidFill>
                      <a:srgbClr val="0A39FF"/>
                    </a:solidFill>
                  </a:uFill>
                  <a:latin typeface="Gill Sans" charset="0"/>
                  <a:ea typeface="Gill Sans" charset="0"/>
                  <a:cs typeface="Gill Sans" charset="0"/>
                </a:rPr>
                <a:t>A</a:t>
              </a:r>
            </a:p>
          </p:txBody>
        </p:sp>
        <p:sp>
          <p:nvSpPr>
            <p:cNvPr id="193" name="Shape 193"/>
            <p:cNvSpPr/>
            <p:nvPr/>
          </p:nvSpPr>
          <p:spPr>
            <a:xfrm>
              <a:off x="787400" y="0"/>
              <a:ext cx="393700" cy="21544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spcBef>
                  <a:spcPts val="800"/>
                </a:spcBef>
                <a:buClr>
                  <a:srgbClr val="0A39FF"/>
                </a:buClr>
                <a:buFont typeface="Helvetica"/>
                <a:defRPr sz="1400" b="1">
                  <a:solidFill>
                    <a:srgbClr val="0A39FF"/>
                  </a:solidFill>
                  <a:uFill>
                    <a:solidFill>
                      <a:srgbClr val="0A39FF"/>
                    </a:solidFill>
                  </a:uFill>
                  <a:latin typeface="Helvetica"/>
                  <a:ea typeface="Helvetica"/>
                  <a:cs typeface="Helvetica"/>
                  <a:sym typeface="Helvetica"/>
                </a:defRPr>
              </a:lvl1pPr>
            </a:lstStyle>
            <a:p>
              <a:pPr lvl="0">
                <a:defRPr sz="1800" b="0">
                  <a:solidFill>
                    <a:srgbClr val="000000"/>
                  </a:solidFill>
                  <a:uFillTx/>
                </a:defRPr>
              </a:pPr>
              <a:r>
                <a:rPr sz="1400" b="0">
                  <a:solidFill>
                    <a:srgbClr val="0A39FF"/>
                  </a:solidFill>
                  <a:uFill>
                    <a:solidFill>
                      <a:srgbClr val="0A39FF"/>
                    </a:solidFill>
                  </a:uFill>
                  <a:latin typeface="Gill Sans" charset="0"/>
                  <a:ea typeface="Gill Sans" charset="0"/>
                  <a:cs typeface="Gill Sans" charset="0"/>
                </a:rPr>
                <a:t>o</a:t>
              </a:r>
            </a:p>
          </p:txBody>
        </p:sp>
      </p:grpSp>
      <p:grpSp>
        <p:nvGrpSpPr>
          <p:cNvPr id="198" name="Group 198"/>
          <p:cNvGrpSpPr/>
          <p:nvPr/>
        </p:nvGrpSpPr>
        <p:grpSpPr>
          <a:xfrm>
            <a:off x="282419" y="3524250"/>
            <a:ext cx="9309103" cy="647700"/>
            <a:chOff x="307134" y="0"/>
            <a:chExt cx="9309101" cy="647700"/>
          </a:xfrm>
        </p:grpSpPr>
        <p:sp>
          <p:nvSpPr>
            <p:cNvPr id="195" name="Shape 195"/>
            <p:cNvSpPr/>
            <p:nvPr/>
          </p:nvSpPr>
          <p:spPr>
            <a:xfrm>
              <a:off x="307134" y="0"/>
              <a:ext cx="9309101" cy="6477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p>
              <a:pPr lvl="0">
                <a:spcBef>
                  <a:spcPts val="900"/>
                </a:spcBef>
                <a:buClr>
                  <a:srgbClr val="E62C9A"/>
                </a:buClr>
                <a:buFont typeface="Helvetica"/>
                <a:defRPr sz="1800">
                  <a:uFillTx/>
                </a:defRPr>
              </a:pPr>
              <a:r>
                <a:rPr lang="en-US" sz="1600" b="0" dirty="0">
                  <a:solidFill>
                    <a:schemeClr val="tx1"/>
                  </a:solidFill>
                  <a:uFill>
                    <a:solidFill>
                      <a:srgbClr val="E62C9A"/>
                    </a:solidFill>
                  </a:uFill>
                  <a:latin typeface="Gill Sans" charset="0"/>
                  <a:ea typeface="Gill Sans" charset="0"/>
                  <a:cs typeface="Gill Sans" charset="0"/>
                  <a:sym typeface="Helvetica"/>
                </a:rPr>
                <a:t>A </a:t>
              </a:r>
              <a:r>
                <a:rPr sz="2000" b="0" dirty="0">
                  <a:solidFill>
                    <a:schemeClr val="tx1"/>
                  </a:solidFill>
                  <a:uFill>
                    <a:solidFill>
                      <a:srgbClr val="E62C9A"/>
                    </a:solidFill>
                  </a:uFill>
                  <a:latin typeface="Gill Sans" charset="0"/>
                  <a:ea typeface="Gill Sans" charset="0"/>
                  <a:cs typeface="Gill Sans" charset="0"/>
                  <a:sym typeface="Helvetica"/>
                </a:rPr>
                <a:t>+ </a:t>
              </a:r>
              <a:r>
                <a:rPr sz="1600" b="0" dirty="0">
                  <a:solidFill>
                    <a:schemeClr val="tx1"/>
                  </a:solidFill>
                  <a:uFill>
                    <a:solidFill>
                      <a:srgbClr val="E62C9A"/>
                    </a:solidFill>
                  </a:uFill>
                  <a:latin typeface="Gill Sans" charset="0"/>
                  <a:ea typeface="Gill Sans" charset="0"/>
                  <a:cs typeface="Gill Sans" charset="0"/>
                  <a:sym typeface="Helvetica"/>
                </a:rPr>
                <a:t> </a:t>
              </a:r>
              <a:r>
                <a:rPr lang="en-US" sz="1600" b="0" dirty="0">
                  <a:solidFill>
                    <a:schemeClr val="tx1"/>
                  </a:solidFill>
                  <a:uFill>
                    <a:solidFill>
                      <a:srgbClr val="E62C9A"/>
                    </a:solidFill>
                  </a:uFill>
                  <a:latin typeface="Gill Sans" charset="0"/>
                  <a:ea typeface="Gill Sans" charset="0"/>
                  <a:cs typeface="Gill Sans" charset="0"/>
                  <a:sym typeface="Helvetica"/>
                </a:rPr>
                <a:t>and a  </a:t>
              </a:r>
              <a:r>
                <a:rPr sz="2000" b="0" dirty="0">
                  <a:solidFill>
                    <a:schemeClr val="tx1"/>
                  </a:solidFill>
                  <a:uFill>
                    <a:solidFill>
                      <a:srgbClr val="E62C9A"/>
                    </a:solidFill>
                  </a:uFill>
                  <a:latin typeface="Gill Sans" charset="0"/>
                  <a:ea typeface="Gill Sans" charset="0"/>
                  <a:cs typeface="Gill Sans" charset="0"/>
                  <a:sym typeface="Helvetica"/>
                </a:rPr>
                <a:t>-</a:t>
              </a:r>
              <a:r>
                <a:rPr sz="1600" b="0" dirty="0">
                  <a:solidFill>
                    <a:schemeClr val="tx1"/>
                  </a:solidFill>
                  <a:uFill>
                    <a:solidFill>
                      <a:srgbClr val="E62C9A"/>
                    </a:solidFill>
                  </a:uFill>
                  <a:latin typeface="Gill Sans" charset="0"/>
                  <a:ea typeface="Gill Sans" charset="0"/>
                  <a:cs typeface="Gill Sans" charset="0"/>
                  <a:sym typeface="Helvetica"/>
                </a:rPr>
                <a:t> </a:t>
              </a:r>
              <a:r>
                <a:rPr lang="en-US" sz="1600" b="0" dirty="0">
                  <a:solidFill>
                    <a:schemeClr val="tx1"/>
                  </a:solidFill>
                  <a:uFill>
                    <a:solidFill>
                      <a:srgbClr val="E62C9A"/>
                    </a:solidFill>
                  </a:uFill>
                  <a:latin typeface="Gill Sans" charset="0"/>
                  <a:ea typeface="Gill Sans" charset="0"/>
                  <a:cs typeface="Gill Sans" charset="0"/>
                  <a:sym typeface="Helvetica"/>
                </a:rPr>
                <a:t>  have equal, opposite charge within few Angstroms</a:t>
              </a:r>
            </a:p>
          </p:txBody>
        </p:sp>
        <p:sp>
          <p:nvSpPr>
            <p:cNvPr id="196" name="Shape 196"/>
            <p:cNvSpPr/>
            <p:nvPr/>
          </p:nvSpPr>
          <p:spPr>
            <a:xfrm>
              <a:off x="508787" y="44250"/>
              <a:ext cx="236339" cy="22860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noFill/>
            <a:ln w="9525" cap="flat">
              <a:solidFill>
                <a:schemeClr val="tx1"/>
              </a:solidFill>
              <a:prstDash val="solid"/>
              <a:round/>
            </a:ln>
            <a:effectLst/>
          </p:spPr>
          <p:txBody>
            <a:bodyPr wrap="square" lIns="0" tIns="0" rIns="0" bIns="0" numCol="1" anchor="ctr">
              <a:noAutofit/>
            </a:bodyPr>
            <a:lstStyle/>
            <a:p>
              <a:pPr lvl="0"/>
              <a:endParaRPr>
                <a:solidFill>
                  <a:schemeClr val="tx1"/>
                </a:solidFill>
                <a:latin typeface="Gill Sans" charset="0"/>
                <a:ea typeface="Gill Sans" charset="0"/>
                <a:cs typeface="Gill Sans" charset="0"/>
              </a:endParaRPr>
            </a:p>
          </p:txBody>
        </p:sp>
        <p:sp>
          <p:nvSpPr>
            <p:cNvPr id="197" name="Shape 197"/>
            <p:cNvSpPr/>
            <p:nvPr/>
          </p:nvSpPr>
          <p:spPr>
            <a:xfrm>
              <a:off x="1295441" y="93973"/>
              <a:ext cx="236340" cy="22860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noFill/>
            <a:ln w="9525" cap="flat">
              <a:solidFill>
                <a:schemeClr val="tx1"/>
              </a:solidFill>
              <a:prstDash val="solid"/>
              <a:round/>
            </a:ln>
            <a:effectLst/>
          </p:spPr>
          <p:txBody>
            <a:bodyPr wrap="square" lIns="0" tIns="0" rIns="0" bIns="0" numCol="1" anchor="ctr">
              <a:noAutofit/>
            </a:bodyPr>
            <a:lstStyle/>
            <a:p>
              <a:pPr lvl="0"/>
              <a:endParaRPr>
                <a:solidFill>
                  <a:schemeClr val="tx1"/>
                </a:solidFill>
                <a:latin typeface="Gill Sans" charset="0"/>
                <a:ea typeface="Gill Sans" charset="0"/>
                <a:cs typeface="Gill Sans" charset="0"/>
              </a:endParaRPr>
            </a:p>
          </p:txBody>
        </p:sp>
      </p:grpSp>
      <p:sp>
        <p:nvSpPr>
          <p:cNvPr id="199" name="Shape 199"/>
          <p:cNvSpPr/>
          <p:nvPr/>
        </p:nvSpPr>
        <p:spPr>
          <a:xfrm>
            <a:off x="3532632" y="2895600"/>
            <a:ext cx="2070100" cy="307777"/>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lvl="0">
              <a:spcBef>
                <a:spcPts val="1200"/>
              </a:spcBef>
              <a:buClr>
                <a:srgbClr val="0A39FF"/>
              </a:buClr>
              <a:buFont typeface="Helvetica"/>
              <a:defRPr sz="1800">
                <a:uFillTx/>
              </a:defRPr>
            </a:pPr>
            <a:r>
              <a:rPr sz="2000" b="0" dirty="0">
                <a:solidFill>
                  <a:srgbClr val="0A39FF"/>
                </a:solidFill>
                <a:uFill>
                  <a:solidFill>
                    <a:srgbClr val="0A39FF"/>
                  </a:solidFill>
                </a:uFill>
                <a:latin typeface="Gill Sans" charset="0"/>
                <a:ea typeface="Gill Sans" charset="0"/>
                <a:cs typeface="Gill Sans" charset="0"/>
                <a:sym typeface="Helvetica"/>
              </a:rPr>
              <a:t>e.g.   L</a:t>
            </a:r>
            <a:r>
              <a:rPr lang="en-US" sz="2000" b="0" dirty="0">
                <a:solidFill>
                  <a:srgbClr val="0A39FF"/>
                </a:solidFill>
                <a:uFill>
                  <a:solidFill>
                    <a:srgbClr val="0A39FF"/>
                  </a:solidFill>
                </a:uFill>
                <a:latin typeface="Gill Sans" charset="0"/>
                <a:ea typeface="Gill Sans" charset="0"/>
                <a:cs typeface="Gill Sans" charset="0"/>
                <a:sym typeface="Helvetica"/>
              </a:rPr>
              <a:t>ys</a:t>
            </a:r>
            <a:r>
              <a:rPr sz="2000" b="0" dirty="0">
                <a:solidFill>
                  <a:srgbClr val="0A39FF"/>
                </a:solidFill>
                <a:uFill>
                  <a:solidFill>
                    <a:srgbClr val="0A39FF"/>
                  </a:solidFill>
                </a:uFill>
                <a:latin typeface="Gill Sans" charset="0"/>
                <a:ea typeface="Gill Sans" charset="0"/>
                <a:cs typeface="Gill Sans" charset="0"/>
                <a:sym typeface="Helvetica"/>
              </a:rPr>
              <a:t>- NH</a:t>
            </a:r>
            <a:r>
              <a:rPr sz="2000" b="0" baseline="-14999" dirty="0">
                <a:solidFill>
                  <a:srgbClr val="0A39FF"/>
                </a:solidFill>
                <a:uFill>
                  <a:solidFill>
                    <a:srgbClr val="0A39FF"/>
                  </a:solidFill>
                </a:uFill>
                <a:latin typeface="Gill Sans" charset="0"/>
                <a:ea typeface="Gill Sans" charset="0"/>
                <a:cs typeface="Gill Sans" charset="0"/>
                <a:sym typeface="Helvetica"/>
              </a:rPr>
              <a:t>3</a:t>
            </a:r>
            <a:r>
              <a:rPr sz="2000" b="0" dirty="0">
                <a:solidFill>
                  <a:srgbClr val="0A39FF"/>
                </a:solidFill>
                <a:uFill>
                  <a:solidFill>
                    <a:srgbClr val="0A39FF"/>
                  </a:solidFill>
                </a:uFill>
                <a:latin typeface="Gill Sans" charset="0"/>
                <a:ea typeface="Gill Sans" charset="0"/>
                <a:cs typeface="Gill Sans" charset="0"/>
                <a:sym typeface="Helvetica"/>
              </a:rPr>
              <a:t>         </a:t>
            </a:r>
          </a:p>
        </p:txBody>
      </p:sp>
      <p:sp>
        <p:nvSpPr>
          <p:cNvPr id="200" name="Shape 200"/>
          <p:cNvSpPr/>
          <p:nvPr/>
        </p:nvSpPr>
        <p:spPr>
          <a:xfrm>
            <a:off x="5245100" y="3086100"/>
            <a:ext cx="457200" cy="1588"/>
          </a:xfrm>
          <a:prstGeom prst="line">
            <a:avLst/>
          </a:prstGeom>
          <a:ln w="57150">
            <a:solidFill>
              <a:srgbClr val="0A39FF"/>
            </a:solidFill>
            <a:prstDash val="sysDot"/>
            <a:round/>
          </a:ln>
        </p:spPr>
        <p:txBody>
          <a:bodyPr lIns="0" tIns="0" rIns="0" bIns="0"/>
          <a:lstStyle/>
          <a:p>
            <a:pPr marL="0" marR="0" lvl="0" defTabSz="457200">
              <a:defRPr sz="1200">
                <a:uFillTx/>
                <a:latin typeface="Helvetica"/>
                <a:ea typeface="Helvetica"/>
                <a:cs typeface="Helvetica"/>
                <a:sym typeface="Helvetica"/>
              </a:defRPr>
            </a:pPr>
            <a:endParaRPr>
              <a:latin typeface="Gill Sans" charset="0"/>
              <a:ea typeface="Gill Sans" charset="0"/>
              <a:cs typeface="Gill Sans" charset="0"/>
            </a:endParaRPr>
          </a:p>
        </p:txBody>
      </p:sp>
      <p:sp>
        <p:nvSpPr>
          <p:cNvPr id="201" name="Shape 201"/>
          <p:cNvSpPr/>
          <p:nvPr/>
        </p:nvSpPr>
        <p:spPr>
          <a:xfrm>
            <a:off x="4920488" y="2778252"/>
            <a:ext cx="393700" cy="307777"/>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1200"/>
              </a:spcBef>
              <a:buClr>
                <a:srgbClr val="0A39FF"/>
              </a:buClr>
              <a:buFont typeface="Helvetica"/>
              <a:defRPr sz="2000" b="1">
                <a:solidFill>
                  <a:srgbClr val="0A39FF"/>
                </a:solidFill>
                <a:uFill>
                  <a:solidFill>
                    <a:srgbClr val="0A39FF"/>
                  </a:solidFill>
                </a:uFill>
                <a:latin typeface="Helvetica"/>
                <a:ea typeface="Helvetica"/>
                <a:cs typeface="Helvetica"/>
                <a:sym typeface="Helvetica"/>
              </a:defRPr>
            </a:lvl1pPr>
          </a:lstStyle>
          <a:p>
            <a:pPr lvl="0">
              <a:defRPr sz="1800" b="0">
                <a:solidFill>
                  <a:srgbClr val="000000"/>
                </a:solidFill>
                <a:uFillTx/>
              </a:defRPr>
            </a:pPr>
            <a:r>
              <a:rPr sz="2000" b="0">
                <a:solidFill>
                  <a:srgbClr val="0A39FF"/>
                </a:solidFill>
                <a:uFill>
                  <a:solidFill>
                    <a:srgbClr val="0A39FF"/>
                  </a:solidFill>
                </a:uFill>
                <a:latin typeface="Gill Sans" charset="0"/>
                <a:ea typeface="Gill Sans" charset="0"/>
                <a:cs typeface="Gill Sans" charset="0"/>
              </a:rPr>
              <a:t>+</a:t>
            </a:r>
          </a:p>
        </p:txBody>
      </p:sp>
      <p:sp>
        <p:nvSpPr>
          <p:cNvPr id="202" name="Shape 202"/>
          <p:cNvSpPr/>
          <p:nvPr/>
        </p:nvSpPr>
        <p:spPr>
          <a:xfrm>
            <a:off x="5854700" y="2667000"/>
            <a:ext cx="546100" cy="307777"/>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1200"/>
              </a:spcBef>
              <a:buClr>
                <a:srgbClr val="0A39FF"/>
              </a:buClr>
              <a:buFont typeface="Helvetica"/>
              <a:defRPr sz="2000" b="1">
                <a:solidFill>
                  <a:srgbClr val="0A39FF"/>
                </a:solidFill>
                <a:uFill>
                  <a:solidFill>
                    <a:srgbClr val="0A39FF"/>
                  </a:solidFill>
                </a:uFill>
                <a:latin typeface="Helvetica"/>
                <a:ea typeface="Helvetica"/>
                <a:cs typeface="Helvetica"/>
                <a:sym typeface="Helvetica"/>
              </a:defRPr>
            </a:lvl1pPr>
          </a:lstStyle>
          <a:p>
            <a:pPr lvl="0">
              <a:defRPr sz="1800" b="0">
                <a:solidFill>
                  <a:srgbClr val="000000"/>
                </a:solidFill>
                <a:uFillTx/>
              </a:defRPr>
            </a:pPr>
            <a:r>
              <a:rPr sz="2000" b="0">
                <a:solidFill>
                  <a:srgbClr val="0A39FF"/>
                </a:solidFill>
                <a:uFill>
                  <a:solidFill>
                    <a:srgbClr val="0A39FF"/>
                  </a:solidFill>
                </a:uFill>
                <a:latin typeface="Gill Sans" charset="0"/>
                <a:ea typeface="Gill Sans" charset="0"/>
                <a:cs typeface="Gill Sans" charset="0"/>
              </a:rPr>
              <a:t>O</a:t>
            </a:r>
          </a:p>
        </p:txBody>
      </p:sp>
      <p:sp>
        <p:nvSpPr>
          <p:cNvPr id="203" name="Shape 203"/>
          <p:cNvSpPr/>
          <p:nvPr/>
        </p:nvSpPr>
        <p:spPr>
          <a:xfrm>
            <a:off x="5854700" y="2971800"/>
            <a:ext cx="293670" cy="307777"/>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spcBef>
                <a:spcPts val="1200"/>
              </a:spcBef>
              <a:buClr>
                <a:srgbClr val="0A39FF"/>
              </a:buClr>
              <a:buFont typeface="Helvetica"/>
              <a:defRPr sz="2000" b="1">
                <a:solidFill>
                  <a:srgbClr val="0A39FF"/>
                </a:solidFill>
                <a:uFill>
                  <a:solidFill>
                    <a:srgbClr val="0A39FF"/>
                  </a:solidFill>
                </a:uFill>
                <a:latin typeface="Helvetica"/>
                <a:ea typeface="Helvetica"/>
                <a:cs typeface="Helvetica"/>
                <a:sym typeface="Helvetica"/>
              </a:defRPr>
            </a:lvl1pPr>
          </a:lstStyle>
          <a:p>
            <a:pPr lvl="0">
              <a:defRPr sz="1800" b="0">
                <a:solidFill>
                  <a:srgbClr val="000000"/>
                </a:solidFill>
                <a:uFillTx/>
              </a:defRPr>
            </a:pPr>
            <a:r>
              <a:rPr sz="2000" b="0">
                <a:solidFill>
                  <a:srgbClr val="0A39FF"/>
                </a:solidFill>
                <a:uFill>
                  <a:solidFill>
                    <a:srgbClr val="0A39FF"/>
                  </a:solidFill>
                </a:uFill>
                <a:latin typeface="Gill Sans" charset="0"/>
                <a:ea typeface="Gill Sans" charset="0"/>
                <a:cs typeface="Gill Sans" charset="0"/>
              </a:rPr>
              <a:t>O</a:t>
            </a:r>
          </a:p>
        </p:txBody>
      </p:sp>
      <p:sp>
        <p:nvSpPr>
          <p:cNvPr id="204" name="Shape 204"/>
          <p:cNvSpPr/>
          <p:nvPr/>
        </p:nvSpPr>
        <p:spPr>
          <a:xfrm>
            <a:off x="6235700" y="2819400"/>
            <a:ext cx="546100" cy="307777"/>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1200"/>
              </a:spcBef>
              <a:buClr>
                <a:srgbClr val="0A39FF"/>
              </a:buClr>
              <a:buFont typeface="Helvetica"/>
              <a:defRPr sz="2000" b="1">
                <a:solidFill>
                  <a:srgbClr val="0A39FF"/>
                </a:solidFill>
                <a:uFill>
                  <a:solidFill>
                    <a:srgbClr val="0A39FF"/>
                  </a:solidFill>
                </a:uFill>
                <a:latin typeface="Helvetica"/>
                <a:ea typeface="Helvetica"/>
                <a:cs typeface="Helvetica"/>
                <a:sym typeface="Helvetica"/>
              </a:defRPr>
            </a:lvl1pPr>
          </a:lstStyle>
          <a:p>
            <a:pPr lvl="0">
              <a:defRPr sz="1800" b="0">
                <a:solidFill>
                  <a:srgbClr val="000000"/>
                </a:solidFill>
                <a:uFillTx/>
              </a:defRPr>
            </a:pPr>
            <a:r>
              <a:rPr sz="2000" b="0">
                <a:solidFill>
                  <a:srgbClr val="0A39FF"/>
                </a:solidFill>
                <a:uFill>
                  <a:solidFill>
                    <a:srgbClr val="0A39FF"/>
                  </a:solidFill>
                </a:uFill>
                <a:latin typeface="Gill Sans" charset="0"/>
                <a:ea typeface="Gill Sans" charset="0"/>
                <a:cs typeface="Gill Sans" charset="0"/>
              </a:rPr>
              <a:t>C</a:t>
            </a:r>
          </a:p>
        </p:txBody>
      </p:sp>
      <p:sp>
        <p:nvSpPr>
          <p:cNvPr id="205" name="Shape 205"/>
          <p:cNvSpPr/>
          <p:nvPr/>
        </p:nvSpPr>
        <p:spPr>
          <a:xfrm rot="1500000">
            <a:off x="6070672" y="2778643"/>
            <a:ext cx="317501" cy="307777"/>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1200"/>
              </a:spcBef>
              <a:buClr>
                <a:srgbClr val="0A39FF"/>
              </a:buClr>
              <a:buFont typeface="Helvetica"/>
              <a:defRPr sz="2000" b="1">
                <a:solidFill>
                  <a:srgbClr val="0A39FF"/>
                </a:solidFill>
                <a:uFill>
                  <a:solidFill>
                    <a:srgbClr val="0A39FF"/>
                  </a:solidFill>
                </a:uFill>
                <a:latin typeface="Helvetica"/>
                <a:ea typeface="Helvetica"/>
                <a:cs typeface="Helvetica"/>
                <a:sym typeface="Helvetica"/>
              </a:defRPr>
            </a:lvl1pPr>
          </a:lstStyle>
          <a:p>
            <a:pPr lvl="0">
              <a:defRPr sz="1800" b="0">
                <a:solidFill>
                  <a:srgbClr val="000000"/>
                </a:solidFill>
                <a:uFillTx/>
              </a:defRPr>
            </a:pPr>
            <a:r>
              <a:rPr sz="2000" b="0">
                <a:solidFill>
                  <a:srgbClr val="0A39FF"/>
                </a:solidFill>
                <a:uFill>
                  <a:solidFill>
                    <a:srgbClr val="0A39FF"/>
                  </a:solidFill>
                </a:uFill>
                <a:latin typeface="Gill Sans" charset="0"/>
                <a:ea typeface="Gill Sans" charset="0"/>
                <a:cs typeface="Gill Sans" charset="0"/>
              </a:rPr>
              <a:t>=</a:t>
            </a:r>
          </a:p>
        </p:txBody>
      </p:sp>
      <p:sp>
        <p:nvSpPr>
          <p:cNvPr id="206" name="Shape 206"/>
          <p:cNvSpPr/>
          <p:nvPr/>
        </p:nvSpPr>
        <p:spPr>
          <a:xfrm flipV="1">
            <a:off x="6118225" y="3016250"/>
            <a:ext cx="152400" cy="76200"/>
          </a:xfrm>
          <a:prstGeom prst="line">
            <a:avLst/>
          </a:prstGeom>
          <a:ln w="19050">
            <a:solidFill>
              <a:srgbClr val="0A39FF"/>
            </a:solidFill>
            <a:round/>
          </a:ln>
        </p:spPr>
        <p:txBody>
          <a:bodyPr lIns="0" tIns="0" rIns="0" bIns="0"/>
          <a:lstStyle/>
          <a:p>
            <a:pPr marL="0" marR="0" lvl="0" defTabSz="457200">
              <a:defRPr sz="1200">
                <a:uFillTx/>
                <a:latin typeface="Helvetica"/>
                <a:ea typeface="Helvetica"/>
                <a:cs typeface="Helvetica"/>
                <a:sym typeface="Helvetica"/>
              </a:defRPr>
            </a:pPr>
            <a:endParaRPr>
              <a:latin typeface="Gill Sans" charset="0"/>
              <a:ea typeface="Gill Sans" charset="0"/>
              <a:cs typeface="Gill Sans" charset="0"/>
            </a:endParaRPr>
          </a:p>
        </p:txBody>
      </p:sp>
      <p:sp>
        <p:nvSpPr>
          <p:cNvPr id="207" name="Shape 207"/>
          <p:cNvSpPr/>
          <p:nvPr/>
        </p:nvSpPr>
        <p:spPr>
          <a:xfrm>
            <a:off x="5892644" y="3047483"/>
            <a:ext cx="241300" cy="36933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1400"/>
              </a:spcBef>
              <a:buClr>
                <a:srgbClr val="0A39FF"/>
              </a:buClr>
              <a:buFont typeface="Helvetica"/>
              <a:defRPr b="1">
                <a:solidFill>
                  <a:srgbClr val="0A39FF"/>
                </a:solidFill>
                <a:uFill>
                  <a:solidFill>
                    <a:srgbClr val="0A39FF"/>
                  </a:solidFill>
                </a:uFill>
                <a:latin typeface="Helvetica"/>
                <a:ea typeface="Helvetica"/>
                <a:cs typeface="Helvetica"/>
                <a:sym typeface="Helvetica"/>
              </a:defRPr>
            </a:lvl1pPr>
          </a:lstStyle>
          <a:p>
            <a:pPr lvl="0">
              <a:defRPr sz="1800" b="0">
                <a:solidFill>
                  <a:srgbClr val="000000"/>
                </a:solidFill>
                <a:uFillTx/>
              </a:defRPr>
            </a:pPr>
            <a:r>
              <a:rPr sz="2400" b="0">
                <a:solidFill>
                  <a:srgbClr val="0A39FF"/>
                </a:solidFill>
                <a:uFill>
                  <a:solidFill>
                    <a:srgbClr val="0A39FF"/>
                  </a:solidFill>
                </a:uFill>
                <a:latin typeface="Gill Sans" charset="0"/>
                <a:ea typeface="Gill Sans" charset="0"/>
                <a:cs typeface="Gill Sans" charset="0"/>
              </a:rPr>
              <a:t>-</a:t>
            </a:r>
          </a:p>
        </p:txBody>
      </p:sp>
      <p:grpSp>
        <p:nvGrpSpPr>
          <p:cNvPr id="210" name="Group 210"/>
          <p:cNvGrpSpPr/>
          <p:nvPr/>
        </p:nvGrpSpPr>
        <p:grpSpPr>
          <a:xfrm>
            <a:off x="0" y="1304925"/>
            <a:ext cx="9461500" cy="341471"/>
            <a:chOff x="0" y="3175"/>
            <a:chExt cx="9461500" cy="341471"/>
          </a:xfrm>
        </p:grpSpPr>
        <p:sp>
          <p:nvSpPr>
            <p:cNvPr id="208" name="Shape 208"/>
            <p:cNvSpPr/>
            <p:nvPr/>
          </p:nvSpPr>
          <p:spPr>
            <a:xfrm>
              <a:off x="0" y="98425"/>
              <a:ext cx="9461500" cy="24622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spcBef>
                  <a:spcPts val="900"/>
                </a:spcBef>
                <a:buClr>
                  <a:srgbClr val="E62C9A"/>
                </a:buClr>
                <a:buFont typeface="Helvetica"/>
                <a:defRPr sz="1600" b="1">
                  <a:solidFill>
                    <a:srgbClr val="E62C9A"/>
                  </a:solidFill>
                  <a:uFill>
                    <a:solidFill>
                      <a:srgbClr val="E62C9A"/>
                    </a:solidFill>
                  </a:uFill>
                  <a:latin typeface="Helvetica"/>
                  <a:ea typeface="Helvetica"/>
                  <a:cs typeface="Helvetica"/>
                  <a:sym typeface="Helvetica"/>
                </a:defRPr>
              </a:lvl1pPr>
            </a:lstStyle>
            <a:p>
              <a:pPr lvl="0">
                <a:defRPr sz="1800" b="0">
                  <a:solidFill>
                    <a:srgbClr val="000000"/>
                  </a:solidFill>
                  <a:uFillTx/>
                </a:defRPr>
              </a:pPr>
              <a:r>
                <a:rPr sz="1600" b="0" dirty="0">
                  <a:solidFill>
                    <a:schemeClr val="tx1"/>
                  </a:solidFill>
                  <a:uFill>
                    <a:solidFill>
                      <a:srgbClr val="E62C9A"/>
                    </a:solidFill>
                  </a:uFill>
                  <a:latin typeface="Gill Sans" charset="0"/>
                  <a:ea typeface="Gill Sans" charset="0"/>
                  <a:cs typeface="Gill Sans" charset="0"/>
                </a:rPr>
                <a:t>G</a:t>
              </a:r>
              <a:r>
                <a:rPr lang="en-US" sz="1600" b="0" dirty="0">
                  <a:solidFill>
                    <a:schemeClr val="tx1"/>
                  </a:solidFill>
                  <a:uFill>
                    <a:solidFill>
                      <a:srgbClr val="E62C9A"/>
                    </a:solidFill>
                  </a:uFill>
                  <a:latin typeface="Gill Sans" charset="0"/>
                  <a:ea typeface="Gill Sans" charset="0"/>
                  <a:cs typeface="Gill Sans" charset="0"/>
                </a:rPr>
                <a:t>eometry</a:t>
              </a:r>
              <a:r>
                <a:rPr sz="1600" b="0" dirty="0">
                  <a:solidFill>
                    <a:schemeClr val="tx1"/>
                  </a:solidFill>
                  <a:uFill>
                    <a:solidFill>
                      <a:srgbClr val="E62C9A"/>
                    </a:solidFill>
                  </a:uFill>
                  <a:latin typeface="Gill Sans" charset="0"/>
                  <a:ea typeface="Gill Sans" charset="0"/>
                  <a:cs typeface="Gill Sans" charset="0"/>
                </a:rPr>
                <a:t>: ~ </a:t>
              </a:r>
              <a:r>
                <a:rPr lang="en-US" sz="1600" b="0" dirty="0">
                  <a:solidFill>
                    <a:schemeClr val="tx1"/>
                  </a:solidFill>
                  <a:uFill>
                    <a:solidFill>
                      <a:srgbClr val="E62C9A"/>
                    </a:solidFill>
                  </a:uFill>
                  <a:latin typeface="Gill Sans" charset="0"/>
                  <a:ea typeface="Gill Sans" charset="0"/>
                  <a:cs typeface="Gill Sans" charset="0"/>
                </a:rPr>
                <a:t>straight line thru 3 atoms; Electronegative atoms are </a:t>
              </a:r>
              <a:r>
                <a:rPr sz="1600" b="0" dirty="0">
                  <a:solidFill>
                    <a:schemeClr val="tx1"/>
                  </a:solidFill>
                  <a:uFill>
                    <a:solidFill>
                      <a:srgbClr val="E62C9A"/>
                    </a:solidFill>
                  </a:uFill>
                  <a:latin typeface="Gill Sans" charset="0"/>
                  <a:ea typeface="Gill Sans" charset="0"/>
                  <a:cs typeface="Gill Sans" charset="0"/>
                </a:rPr>
                <a:t>2.8 - 3.2 A  </a:t>
              </a:r>
              <a:r>
                <a:rPr lang="en-US" sz="1600" b="0" dirty="0">
                  <a:solidFill>
                    <a:schemeClr val="tx1"/>
                  </a:solidFill>
                  <a:uFill>
                    <a:solidFill>
                      <a:srgbClr val="E62C9A"/>
                    </a:solidFill>
                  </a:uFill>
                  <a:latin typeface="Gill Sans" charset="0"/>
                  <a:ea typeface="Gill Sans" charset="0"/>
                  <a:cs typeface="Gill Sans" charset="0"/>
                </a:rPr>
                <a:t>apart;</a:t>
              </a:r>
            </a:p>
          </p:txBody>
        </p:sp>
        <p:sp>
          <p:nvSpPr>
            <p:cNvPr id="209" name="Shape 209"/>
            <p:cNvSpPr/>
            <p:nvPr/>
          </p:nvSpPr>
          <p:spPr>
            <a:xfrm>
              <a:off x="6284052" y="3175"/>
              <a:ext cx="393700" cy="18466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spcBef>
                  <a:spcPts val="700"/>
                </a:spcBef>
                <a:buClr>
                  <a:srgbClr val="E62C9A"/>
                </a:buClr>
                <a:buFont typeface="Helvetica"/>
                <a:defRPr sz="1200" b="1">
                  <a:solidFill>
                    <a:srgbClr val="E62C9A"/>
                  </a:solidFill>
                  <a:uFill>
                    <a:solidFill>
                      <a:srgbClr val="E62C9A"/>
                    </a:solidFill>
                  </a:uFill>
                  <a:latin typeface="Helvetica"/>
                  <a:ea typeface="Helvetica"/>
                  <a:cs typeface="Helvetica"/>
                  <a:sym typeface="Helvetica"/>
                </a:defRPr>
              </a:lvl1pPr>
            </a:lstStyle>
            <a:p>
              <a:pPr lvl="0">
                <a:defRPr sz="1800" b="0">
                  <a:solidFill>
                    <a:srgbClr val="000000"/>
                  </a:solidFill>
                  <a:uFillTx/>
                </a:defRPr>
              </a:pPr>
              <a:r>
                <a:rPr sz="1200" b="0" dirty="0">
                  <a:solidFill>
                    <a:schemeClr val="tx1"/>
                  </a:solidFill>
                  <a:uFill>
                    <a:solidFill>
                      <a:srgbClr val="E62C9A"/>
                    </a:solidFill>
                  </a:uFill>
                  <a:latin typeface="Gill Sans" charset="0"/>
                  <a:ea typeface="Gill Sans" charset="0"/>
                  <a:cs typeface="Gill Sans" charset="0"/>
                </a:rPr>
                <a:t>o</a:t>
              </a:r>
            </a:p>
          </p:txBody>
        </p:sp>
      </p:grpSp>
      <p:sp>
        <p:nvSpPr>
          <p:cNvPr id="211" name="Shape 211"/>
          <p:cNvSpPr/>
          <p:nvPr/>
        </p:nvSpPr>
        <p:spPr>
          <a:xfrm>
            <a:off x="8420100" y="5915025"/>
            <a:ext cx="546100" cy="24622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900"/>
              </a:spcBef>
              <a:buClr>
                <a:srgbClr val="000000"/>
              </a:buClr>
              <a:buFont typeface="Helvetica"/>
              <a:defRPr sz="1600" b="1">
                <a:latin typeface="Helvetica"/>
                <a:ea typeface="Helvetica"/>
                <a:cs typeface="Helvetica"/>
                <a:sym typeface="Helvetica"/>
              </a:defRPr>
            </a:lvl1pPr>
          </a:lstStyle>
          <a:p>
            <a:pPr lvl="0">
              <a:defRPr sz="1800" b="0">
                <a:uFillTx/>
              </a:defRPr>
            </a:pPr>
            <a:r>
              <a:rPr sz="1600" b="0">
                <a:uFill>
                  <a:solidFill/>
                </a:uFill>
                <a:latin typeface="Gill Sans" charset="0"/>
                <a:ea typeface="Gill Sans" charset="0"/>
                <a:cs typeface="Gill Sans" charset="0"/>
              </a:rPr>
              <a:t>S</a:t>
            </a:r>
          </a:p>
        </p:txBody>
      </p:sp>
      <p:sp>
        <p:nvSpPr>
          <p:cNvPr id="212" name="Shape 212"/>
          <p:cNvSpPr/>
          <p:nvPr/>
        </p:nvSpPr>
        <p:spPr>
          <a:xfrm>
            <a:off x="8066087" y="6092825"/>
            <a:ext cx="546101" cy="24622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900"/>
              </a:spcBef>
              <a:buClr>
                <a:srgbClr val="000000"/>
              </a:buClr>
              <a:buFont typeface="Helvetica"/>
              <a:defRPr sz="1600" b="1">
                <a:latin typeface="Helvetica"/>
                <a:ea typeface="Helvetica"/>
                <a:cs typeface="Helvetica"/>
                <a:sym typeface="Helvetica"/>
              </a:defRPr>
            </a:lvl1pPr>
          </a:lstStyle>
          <a:p>
            <a:pPr lvl="0">
              <a:defRPr sz="1800" b="0">
                <a:uFillTx/>
              </a:defRPr>
            </a:pPr>
            <a:r>
              <a:rPr sz="1600" b="0">
                <a:uFill>
                  <a:solidFill/>
                </a:uFill>
                <a:latin typeface="Gill Sans" charset="0"/>
                <a:ea typeface="Gill Sans" charset="0"/>
                <a:cs typeface="Gill Sans" charset="0"/>
              </a:rPr>
              <a:t>S</a:t>
            </a:r>
          </a:p>
        </p:txBody>
      </p:sp>
      <p:sp>
        <p:nvSpPr>
          <p:cNvPr id="213" name="Shape 213"/>
          <p:cNvSpPr/>
          <p:nvPr/>
        </p:nvSpPr>
        <p:spPr>
          <a:xfrm>
            <a:off x="6475412" y="2803525"/>
            <a:ext cx="1841501" cy="307777"/>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1200"/>
              </a:spcBef>
              <a:buClr>
                <a:srgbClr val="0A39FF"/>
              </a:buClr>
              <a:buFont typeface="Helvetica"/>
              <a:defRPr sz="2000" b="1">
                <a:solidFill>
                  <a:srgbClr val="0A39FF"/>
                </a:solidFill>
                <a:uFill>
                  <a:solidFill>
                    <a:srgbClr val="0A39FF"/>
                  </a:solidFill>
                </a:uFill>
                <a:latin typeface="Helvetica"/>
                <a:ea typeface="Helvetica"/>
                <a:cs typeface="Helvetica"/>
                <a:sym typeface="Helvetica"/>
              </a:defRPr>
            </a:lvl1pPr>
          </a:lstStyle>
          <a:p>
            <a:pPr lvl="0">
              <a:defRPr sz="1800" b="0">
                <a:solidFill>
                  <a:srgbClr val="000000"/>
                </a:solidFill>
                <a:uFillTx/>
              </a:defRPr>
            </a:pPr>
            <a:r>
              <a:rPr sz="2000" b="0" dirty="0">
                <a:solidFill>
                  <a:srgbClr val="0A39FF"/>
                </a:solidFill>
                <a:uFill>
                  <a:solidFill>
                    <a:srgbClr val="0A39FF"/>
                  </a:solidFill>
                </a:uFill>
                <a:latin typeface="Gill Sans" charset="0"/>
                <a:ea typeface="Gill Sans" charset="0"/>
                <a:cs typeface="Gill Sans" charset="0"/>
              </a:rPr>
              <a:t>-A</a:t>
            </a:r>
            <a:r>
              <a:rPr lang="en-US" sz="2000" b="0" dirty="0">
                <a:solidFill>
                  <a:srgbClr val="0A39FF"/>
                </a:solidFill>
                <a:uFill>
                  <a:solidFill>
                    <a:srgbClr val="0A39FF"/>
                  </a:solidFill>
                </a:uFill>
                <a:latin typeface="Gill Sans" charset="0"/>
                <a:ea typeface="Gill Sans" charset="0"/>
                <a:cs typeface="Gill Sans" charset="0"/>
              </a:rPr>
              <a:t>sp</a:t>
            </a:r>
            <a:endParaRPr sz="2000" b="0" dirty="0">
              <a:solidFill>
                <a:srgbClr val="0A39FF"/>
              </a:solidFill>
              <a:uFill>
                <a:solidFill>
                  <a:srgbClr val="0A39FF"/>
                </a:solidFill>
              </a:uFill>
              <a:latin typeface="Gill Sans" charset="0"/>
              <a:ea typeface="Gill Sans" charset="0"/>
              <a:cs typeface="Gill Sans" charset="0"/>
            </a:endParaRPr>
          </a:p>
        </p:txBody>
      </p:sp>
      <p:grpSp>
        <p:nvGrpSpPr>
          <p:cNvPr id="216" name="Group 216"/>
          <p:cNvGrpSpPr/>
          <p:nvPr/>
        </p:nvGrpSpPr>
        <p:grpSpPr>
          <a:xfrm>
            <a:off x="-18859" y="5359399"/>
            <a:ext cx="6215066" cy="889002"/>
            <a:chOff x="0" y="114300"/>
            <a:chExt cx="6215065" cy="889000"/>
          </a:xfrm>
        </p:grpSpPr>
        <p:sp>
          <p:nvSpPr>
            <p:cNvPr id="214" name="Shape 214"/>
            <p:cNvSpPr/>
            <p:nvPr/>
          </p:nvSpPr>
          <p:spPr>
            <a:xfrm>
              <a:off x="0" y="114300"/>
              <a:ext cx="5205357" cy="58102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spcBef>
                  <a:spcPts val="900"/>
                </a:spcBef>
                <a:buClr>
                  <a:srgbClr val="E62C9A"/>
                </a:buClr>
                <a:buFont typeface="Helvetica"/>
                <a:defRPr sz="1600" b="1">
                  <a:solidFill>
                    <a:srgbClr val="E62C9A"/>
                  </a:solidFill>
                  <a:uFill>
                    <a:solidFill>
                      <a:srgbClr val="E62C9A"/>
                    </a:solidFill>
                  </a:uFill>
                  <a:latin typeface="Helvetica"/>
                  <a:ea typeface="Helvetica"/>
                  <a:cs typeface="Helvetica"/>
                  <a:sym typeface="Helvetica"/>
                </a:defRPr>
              </a:lvl1pPr>
            </a:lstStyle>
            <a:p>
              <a:pPr lvl="0">
                <a:defRPr sz="1800" b="0">
                  <a:solidFill>
                    <a:srgbClr val="000000"/>
                  </a:solidFill>
                  <a:uFillTx/>
                </a:defRPr>
              </a:pPr>
              <a:r>
                <a:rPr sz="1600" b="0" dirty="0">
                  <a:solidFill>
                    <a:schemeClr val="tx1"/>
                  </a:solidFill>
                  <a:uFill>
                    <a:solidFill>
                      <a:srgbClr val="E62C9A"/>
                    </a:solidFill>
                  </a:uFill>
                  <a:latin typeface="Gill Sans" charset="0"/>
                  <a:ea typeface="Gill Sans" charset="0"/>
                  <a:cs typeface="Gill Sans" charset="0"/>
                </a:rPr>
                <a:t>~ 200 kJ/M</a:t>
              </a:r>
              <a:r>
                <a:rPr lang="en-US" sz="1600" b="0" dirty="0">
                  <a:solidFill>
                    <a:schemeClr val="tx1"/>
                  </a:solidFill>
                  <a:uFill>
                    <a:solidFill>
                      <a:srgbClr val="E62C9A"/>
                    </a:solidFill>
                  </a:uFill>
                  <a:latin typeface="Gill Sans" charset="0"/>
                  <a:ea typeface="Gill Sans" charset="0"/>
                  <a:cs typeface="Gill Sans" charset="0"/>
                </a:rPr>
                <a:t>ole (compare </a:t>
              </a:r>
              <a:r>
                <a:rPr sz="1600" b="0" dirty="0">
                  <a:solidFill>
                    <a:schemeClr val="tx1"/>
                  </a:solidFill>
                  <a:uFill>
                    <a:solidFill>
                      <a:srgbClr val="E62C9A"/>
                    </a:solidFill>
                  </a:uFill>
                  <a:latin typeface="Gill Sans" charset="0"/>
                  <a:ea typeface="Gill Sans" charset="0"/>
                  <a:cs typeface="Gill Sans" charset="0"/>
                </a:rPr>
                <a:t>C-C </a:t>
              </a:r>
              <a:r>
                <a:rPr lang="en-US" sz="1600" b="0" dirty="0">
                  <a:solidFill>
                    <a:schemeClr val="tx1"/>
                  </a:solidFill>
                  <a:uFill>
                    <a:solidFill>
                      <a:srgbClr val="E62C9A"/>
                    </a:solidFill>
                  </a:uFill>
                  <a:latin typeface="Gill Sans" charset="0"/>
                  <a:ea typeface="Gill Sans" charset="0"/>
                  <a:cs typeface="Gill Sans" charset="0"/>
                </a:rPr>
                <a:t>at</a:t>
              </a:r>
              <a:r>
                <a:rPr sz="1600" b="0" dirty="0">
                  <a:solidFill>
                    <a:schemeClr val="tx1"/>
                  </a:solidFill>
                  <a:uFill>
                    <a:solidFill>
                      <a:srgbClr val="E62C9A"/>
                    </a:solidFill>
                  </a:uFill>
                  <a:latin typeface="Gill Sans" charset="0"/>
                  <a:ea typeface="Gill Sans" charset="0"/>
                  <a:cs typeface="Gill Sans" charset="0"/>
                </a:rPr>
                <a:t> ~ 350 kJ/M</a:t>
              </a:r>
              <a:r>
                <a:rPr lang="en-US" sz="1600" b="0" dirty="0">
                  <a:solidFill>
                    <a:schemeClr val="tx1"/>
                  </a:solidFill>
                  <a:uFill>
                    <a:solidFill>
                      <a:srgbClr val="E62C9A"/>
                    </a:solidFill>
                  </a:uFill>
                  <a:latin typeface="Gill Sans" charset="0"/>
                  <a:ea typeface="Gill Sans" charset="0"/>
                  <a:cs typeface="Gill Sans" charset="0"/>
                </a:rPr>
                <a:t>ole</a:t>
              </a:r>
              <a:r>
                <a:rPr sz="1600" b="0" dirty="0">
                  <a:solidFill>
                    <a:schemeClr val="tx1"/>
                  </a:solidFill>
                  <a:uFill>
                    <a:solidFill>
                      <a:srgbClr val="E62C9A"/>
                    </a:solidFill>
                  </a:uFill>
                  <a:latin typeface="Gill Sans" charset="0"/>
                  <a:ea typeface="Gill Sans" charset="0"/>
                  <a:cs typeface="Gill Sans" charset="0"/>
                </a:rPr>
                <a:t>)</a:t>
              </a:r>
            </a:p>
          </p:txBody>
        </p:sp>
        <p:sp>
          <p:nvSpPr>
            <p:cNvPr id="215" name="Shape 215"/>
            <p:cNvSpPr/>
            <p:nvPr/>
          </p:nvSpPr>
          <p:spPr>
            <a:xfrm flipH="1">
              <a:off x="6045008" y="673495"/>
              <a:ext cx="170058" cy="329806"/>
            </a:xfrm>
            <a:prstGeom prst="line">
              <a:avLst/>
            </a:prstGeom>
            <a:noFill/>
            <a:ln w="57150" cap="flat">
              <a:solidFill>
                <a:srgbClr val="E62C9A"/>
              </a:solidFill>
              <a:prstDash val="solid"/>
              <a:round/>
            </a:ln>
            <a:effectLst/>
          </p:spPr>
          <p:txBody>
            <a:bodyPr wrap="square" lIns="0" tIns="0" rIns="0" bIns="0" numCol="1" anchor="t">
              <a:noAutofit/>
            </a:bodyPr>
            <a:lstStyle/>
            <a:p>
              <a:pPr marL="0" marR="0" lvl="0" defTabSz="457200">
                <a:defRPr sz="1200">
                  <a:uFillTx/>
                  <a:latin typeface="Helvetica"/>
                  <a:ea typeface="Helvetica"/>
                  <a:cs typeface="Helvetica"/>
                  <a:sym typeface="Helvetica"/>
                </a:defRPr>
              </a:pPr>
              <a:endParaRPr>
                <a:solidFill>
                  <a:schemeClr val="tx1"/>
                </a:solidFill>
                <a:latin typeface="Gill Sans" charset="0"/>
                <a:ea typeface="Gill Sans" charset="0"/>
                <a:cs typeface="Gill Sans" charset="0"/>
              </a:endParaRPr>
            </a:p>
          </p:txBody>
        </p:sp>
      </p:grpSp>
      <p:sp>
        <p:nvSpPr>
          <p:cNvPr id="217" name="Shape 217"/>
          <p:cNvSpPr/>
          <p:nvPr/>
        </p:nvSpPr>
        <p:spPr>
          <a:xfrm>
            <a:off x="6916737" y="4729162"/>
            <a:ext cx="2379663" cy="2395538"/>
          </a:xfrm>
          <a:prstGeom prst="rect">
            <a:avLst/>
          </a:prstGeom>
          <a:solidFill>
            <a:srgbClr val="FFFFFF"/>
          </a:solidFill>
          <a:ln w="19050">
            <a:miter lim="400000"/>
          </a:ln>
        </p:spPr>
        <p:txBody>
          <a:bodyPr lIns="0" tIns="0" rIns="0" bIns="0" anchor="ctr"/>
          <a:lstStyle/>
          <a:p>
            <a:pPr lvl="0"/>
            <a:endParaRPr>
              <a:latin typeface="Gill Sans" charset="0"/>
              <a:ea typeface="Gill Sans" charset="0"/>
              <a:cs typeface="Gill Sans" charset="0"/>
            </a:endParaRPr>
          </a:p>
        </p:txBody>
      </p:sp>
      <p:sp>
        <p:nvSpPr>
          <p:cNvPr id="218" name="Shape 218"/>
          <p:cNvSpPr/>
          <p:nvPr/>
        </p:nvSpPr>
        <p:spPr>
          <a:xfrm>
            <a:off x="6426200" y="5600700"/>
            <a:ext cx="1041400" cy="1338263"/>
          </a:xfrm>
          <a:prstGeom prst="rect">
            <a:avLst/>
          </a:prstGeom>
          <a:solidFill>
            <a:srgbClr val="FFFFFF"/>
          </a:solidFill>
          <a:ln w="19050">
            <a:miter lim="400000"/>
          </a:ln>
        </p:spPr>
        <p:txBody>
          <a:bodyPr lIns="0" tIns="0" rIns="0" bIns="0" anchor="ctr"/>
          <a:lstStyle/>
          <a:p>
            <a:pPr lvl="0"/>
            <a:endParaRPr>
              <a:latin typeface="Gill Sans" charset="0"/>
              <a:ea typeface="Gill Sans" charset="0"/>
              <a:cs typeface="Gill Sans" charset="0"/>
            </a:endParaRPr>
          </a:p>
        </p:txBody>
      </p:sp>
      <p:pic>
        <p:nvPicPr>
          <p:cNvPr id="219" name="disulfide in spheres.png"/>
          <p:cNvPicPr/>
          <p:nvPr/>
        </p:nvPicPr>
        <p:blipFill>
          <a:blip r:embed="rId4"/>
          <a:stretch>
            <a:fillRect/>
          </a:stretch>
        </p:blipFill>
        <p:spPr>
          <a:xfrm>
            <a:off x="7010400" y="5095875"/>
            <a:ext cx="1941513" cy="1543050"/>
          </a:xfrm>
          <a:prstGeom prst="rect">
            <a:avLst/>
          </a:prstGeom>
          <a:ln w="12700">
            <a:miter lim="400000"/>
          </a:ln>
        </p:spPr>
      </p:pic>
      <p:sp>
        <p:nvSpPr>
          <p:cNvPr id="220" name="Shape 220"/>
          <p:cNvSpPr/>
          <p:nvPr/>
        </p:nvSpPr>
        <p:spPr>
          <a:xfrm>
            <a:off x="3532632" y="4983529"/>
            <a:ext cx="1066318" cy="27699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defRPr sz="1800" b="1">
                <a:latin typeface="Helvetica"/>
                <a:ea typeface="Helvetica"/>
                <a:cs typeface="Helvetica"/>
                <a:sym typeface="Helvetica"/>
              </a:defRPr>
            </a:lvl1pPr>
          </a:lstStyle>
          <a:p>
            <a:pPr lvl="0">
              <a:defRPr b="0">
                <a:uFillTx/>
              </a:defRPr>
            </a:pPr>
            <a:r>
              <a:rPr lang="en-US" b="0" dirty="0">
                <a:uFill>
                  <a:solidFill/>
                </a:uFill>
                <a:latin typeface="Gill Sans" charset="0"/>
                <a:ea typeface="Gill Sans" charset="0"/>
                <a:cs typeface="Gill Sans" charset="0"/>
              </a:rPr>
              <a:t>is covalent</a:t>
            </a:r>
          </a:p>
        </p:txBody>
      </p:sp>
      <p:sp>
        <p:nvSpPr>
          <p:cNvPr id="221" name="Shape 221"/>
          <p:cNvSpPr/>
          <p:nvPr/>
        </p:nvSpPr>
        <p:spPr>
          <a:xfrm>
            <a:off x="42333" y="5594349"/>
            <a:ext cx="2929467" cy="492443"/>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spcBef>
                <a:spcPts val="900"/>
              </a:spcBef>
              <a:buClr>
                <a:srgbClr val="E62C9A"/>
              </a:buClr>
              <a:buFont typeface="Helvetica"/>
              <a:defRPr sz="1600" b="1">
                <a:solidFill>
                  <a:srgbClr val="E62C9A"/>
                </a:solidFill>
                <a:uFill>
                  <a:solidFill>
                    <a:srgbClr val="E62C9A"/>
                  </a:solidFill>
                </a:uFill>
                <a:latin typeface="Helvetica"/>
                <a:ea typeface="Helvetica"/>
                <a:cs typeface="Helvetica"/>
                <a:sym typeface="Helvetica"/>
              </a:defRPr>
            </a:lvl1pPr>
          </a:lstStyle>
          <a:p>
            <a:pPr lvl="0">
              <a:defRPr sz="1800" b="0">
                <a:solidFill>
                  <a:srgbClr val="000000"/>
                </a:solidFill>
                <a:uFillTx/>
              </a:defRPr>
            </a:pPr>
            <a:r>
              <a:rPr sz="1600" b="0" dirty="0">
                <a:solidFill>
                  <a:schemeClr val="tx1"/>
                </a:solidFill>
                <a:uFill>
                  <a:solidFill>
                    <a:srgbClr val="E62C9A"/>
                  </a:solidFill>
                </a:uFill>
                <a:latin typeface="Gill Sans" charset="0"/>
                <a:ea typeface="Gill Sans" charset="0"/>
                <a:cs typeface="Gill Sans" charset="0"/>
              </a:rPr>
              <a:t>W</a:t>
            </a:r>
            <a:r>
              <a:rPr lang="en-US" sz="1600" b="0" dirty="0">
                <a:solidFill>
                  <a:schemeClr val="tx1"/>
                </a:solidFill>
                <a:uFill>
                  <a:solidFill>
                    <a:srgbClr val="E62C9A"/>
                  </a:solidFill>
                </a:uFill>
                <a:latin typeface="Gill Sans" charset="0"/>
                <a:ea typeface="Gill Sans" charset="0"/>
                <a:cs typeface="Gill Sans" charset="0"/>
              </a:rPr>
              <a:t>eak for a covalent bond, but much stronger than </a:t>
            </a:r>
            <a:r>
              <a:rPr sz="1600" b="0" dirty="0">
                <a:solidFill>
                  <a:schemeClr val="tx1"/>
                </a:solidFill>
                <a:uFill>
                  <a:solidFill>
                    <a:srgbClr val="E62C9A"/>
                  </a:solidFill>
                </a:uFill>
                <a:latin typeface="Gill Sans" charset="0"/>
                <a:ea typeface="Gill Sans" charset="0"/>
                <a:cs typeface="Gill Sans" charset="0"/>
              </a:rPr>
              <a:t>e.g. H-</a:t>
            </a:r>
            <a:r>
              <a:rPr lang="en-US" sz="1600" b="0" dirty="0">
                <a:solidFill>
                  <a:schemeClr val="tx1"/>
                </a:solidFill>
                <a:uFill>
                  <a:solidFill>
                    <a:srgbClr val="E62C9A"/>
                  </a:solidFill>
                </a:uFill>
                <a:latin typeface="Gill Sans" charset="0"/>
                <a:ea typeface="Gill Sans" charset="0"/>
                <a:cs typeface="Gill Sans" charset="0"/>
              </a:rPr>
              <a:t>bond</a:t>
            </a:r>
          </a:p>
        </p:txBody>
      </p:sp>
      <p:grpSp>
        <p:nvGrpSpPr>
          <p:cNvPr id="3" name="Group 2">
            <a:extLst>
              <a:ext uri="{FF2B5EF4-FFF2-40B4-BE49-F238E27FC236}">
                <a16:creationId xmlns:a16="http://schemas.microsoft.com/office/drawing/2014/main" id="{2DD48055-677B-F648-ADE6-24AB65609A85}"/>
              </a:ext>
            </a:extLst>
          </p:cNvPr>
          <p:cNvGrpSpPr/>
          <p:nvPr/>
        </p:nvGrpSpPr>
        <p:grpSpPr>
          <a:xfrm>
            <a:off x="5452248" y="505023"/>
            <a:ext cx="1664544" cy="1006750"/>
            <a:chOff x="5452248" y="505023"/>
            <a:chExt cx="1664544" cy="1006750"/>
          </a:xfrm>
        </p:grpSpPr>
        <p:sp>
          <p:nvSpPr>
            <p:cNvPr id="52" name="Shape 188">
              <a:extLst>
                <a:ext uri="{FF2B5EF4-FFF2-40B4-BE49-F238E27FC236}">
                  <a16:creationId xmlns:a16="http://schemas.microsoft.com/office/drawing/2014/main" id="{1559B9D5-C143-8342-B757-F722FB7F95CE}"/>
                </a:ext>
              </a:extLst>
            </p:cNvPr>
            <p:cNvSpPr/>
            <p:nvPr/>
          </p:nvSpPr>
          <p:spPr>
            <a:xfrm>
              <a:off x="5452248" y="505023"/>
              <a:ext cx="948552" cy="307777"/>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buClr>
                  <a:srgbClr val="0A39FF"/>
                </a:buClr>
                <a:buFont typeface="Helvetica"/>
                <a:defRPr sz="2000" b="1">
                  <a:solidFill>
                    <a:srgbClr val="0A39FF"/>
                  </a:solidFill>
                  <a:uFill>
                    <a:solidFill>
                      <a:srgbClr val="0A39FF"/>
                    </a:solidFill>
                  </a:uFill>
                  <a:latin typeface="Helvetica"/>
                  <a:ea typeface="Helvetica"/>
                  <a:cs typeface="Helvetica"/>
                  <a:sym typeface="Helvetica"/>
                </a:defRPr>
              </a:lvl1pPr>
            </a:lstStyle>
            <a:p>
              <a:pPr lvl="0">
                <a:defRPr sz="1800" b="0">
                  <a:solidFill>
                    <a:srgbClr val="000000"/>
                  </a:solidFill>
                  <a:uFillTx/>
                </a:defRPr>
              </a:pPr>
              <a:r>
                <a:rPr sz="2000" b="0" dirty="0">
                  <a:solidFill>
                    <a:srgbClr val="0A39FF"/>
                  </a:solidFill>
                  <a:uFill>
                    <a:solidFill>
                      <a:srgbClr val="0A39FF"/>
                    </a:solidFill>
                  </a:uFill>
                  <a:latin typeface="Gill Sans" charset="0"/>
                  <a:ea typeface="Gill Sans" charset="0"/>
                  <a:cs typeface="Gill Sans" charset="0"/>
                </a:rPr>
                <a:t>N - H</a:t>
              </a:r>
            </a:p>
          </p:txBody>
        </p:sp>
        <p:sp>
          <p:nvSpPr>
            <p:cNvPr id="2" name="Rectangle 1">
              <a:extLst>
                <a:ext uri="{FF2B5EF4-FFF2-40B4-BE49-F238E27FC236}">
                  <a16:creationId xmlns:a16="http://schemas.microsoft.com/office/drawing/2014/main" id="{34CD2755-4DBA-C44F-8649-CC6E1016E3B8}"/>
                </a:ext>
              </a:extLst>
            </p:cNvPr>
            <p:cNvSpPr/>
            <p:nvPr/>
          </p:nvSpPr>
          <p:spPr>
            <a:xfrm rot="2825239">
              <a:off x="6441927" y="836909"/>
              <a:ext cx="949619" cy="400110"/>
            </a:xfrm>
            <a:prstGeom prst="rect">
              <a:avLst/>
            </a:prstGeom>
          </p:spPr>
          <p:txBody>
            <a:bodyPr wrap="none">
              <a:spAutoFit/>
            </a:bodyPr>
            <a:lstStyle/>
            <a:p>
              <a:r>
                <a:rPr lang="en-US" b="0" dirty="0">
                  <a:solidFill>
                    <a:srgbClr val="0A39FF"/>
                  </a:solidFill>
                  <a:uFill>
                    <a:solidFill>
                      <a:srgbClr val="0A39FF"/>
                    </a:solidFill>
                  </a:uFill>
                  <a:latin typeface="Gill Sans" charset="0"/>
                  <a:ea typeface="Gill Sans" charset="0"/>
                  <a:cs typeface="Gill Sans" charset="0"/>
                </a:rPr>
                <a:t>O = C</a:t>
              </a:r>
              <a:endParaRPr lang="en-US" dirty="0"/>
            </a:p>
          </p:txBody>
        </p:sp>
        <p:sp>
          <p:nvSpPr>
            <p:cNvPr id="54" name="Shape 189">
              <a:extLst>
                <a:ext uri="{FF2B5EF4-FFF2-40B4-BE49-F238E27FC236}">
                  <a16:creationId xmlns:a16="http://schemas.microsoft.com/office/drawing/2014/main" id="{B0FE59FA-DEF1-2E4D-B1A1-DBA198733785}"/>
                </a:ext>
              </a:extLst>
            </p:cNvPr>
            <p:cNvSpPr/>
            <p:nvPr/>
          </p:nvSpPr>
          <p:spPr>
            <a:xfrm>
              <a:off x="6200703" y="670432"/>
              <a:ext cx="393700" cy="148718"/>
            </a:xfrm>
            <a:prstGeom prst="line">
              <a:avLst/>
            </a:prstGeom>
            <a:ln w="57150">
              <a:solidFill>
                <a:srgbClr val="0A39FF"/>
              </a:solidFill>
              <a:prstDash val="sysDot"/>
              <a:round/>
            </a:ln>
          </p:spPr>
          <p:txBody>
            <a:bodyPr lIns="0" tIns="0" rIns="0" bIns="0"/>
            <a:lstStyle/>
            <a:p>
              <a:pPr marL="0" marR="0" lvl="0" defTabSz="457200">
                <a:defRPr sz="1200">
                  <a:uFillTx/>
                  <a:latin typeface="Helvetica"/>
                  <a:ea typeface="Helvetica"/>
                  <a:cs typeface="Helvetica"/>
                  <a:sym typeface="Helvetica"/>
                </a:defRPr>
              </a:pPr>
              <a:endParaRPr>
                <a:latin typeface="Gill Sans" charset="0"/>
                <a:ea typeface="Gill Sans" charset="0"/>
                <a:cs typeface="Gill Sans" charset="0"/>
              </a:endParaRPr>
            </a:p>
          </p:txBody>
        </p:sp>
      </p:grpSp>
    </p:spTree>
    <p:extLst>
      <p:ext uri="{BB962C8B-B14F-4D97-AF65-F5344CB8AC3E}">
        <p14:creationId xmlns:p14="http://schemas.microsoft.com/office/powerpoint/2010/main" val="1091985191"/>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2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17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17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p:tmAbs val="0"/>
                                  </p:iterate>
                                  <p:childTnLst>
                                    <p:set>
                                      <p:cBhvr>
                                        <p:cTn id="26" fill="hold"/>
                                        <p:tgtEl>
                                          <p:spTgt spid="17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p:tmAbs val="0"/>
                                  </p:iterate>
                                  <p:childTnLst>
                                    <p:set>
                                      <p:cBhvr>
                                        <p:cTn id="30" fill="hold"/>
                                        <p:tgtEl>
                                          <p:spTgt spid="18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p:tmAbs val="0"/>
                                  </p:iterate>
                                  <p:childTnLst>
                                    <p:set>
                                      <p:cBhvr>
                                        <p:cTn id="34" fill="hold"/>
                                        <p:tgtEl>
                                          <p:spTgt spid="19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iterate>
                                    <p:tmAbs val="0"/>
                                  </p:iterate>
                                  <p:childTnLst>
                                    <p:set>
                                      <p:cBhvr>
                                        <p:cTn id="38" fill="hold"/>
                                        <p:tgtEl>
                                          <p:spTgt spid="17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iterate>
                                    <p:tmAbs val="0"/>
                                  </p:iterate>
                                  <p:childTnLst>
                                    <p:set>
                                      <p:cBhvr>
                                        <p:cTn id="42" fill="hold"/>
                                        <p:tgtEl>
                                          <p:spTgt spid="182"/>
                                        </p:tgtEl>
                                        <p:attrNameLst>
                                          <p:attrName>style.visibility</p:attrName>
                                        </p:attrNameLst>
                                      </p:cBhvr>
                                      <p:to>
                                        <p:strVal val="visible"/>
                                      </p:to>
                                    </p:set>
                                  </p:childTnLst>
                                </p:cTn>
                              </p:par>
                              <p:par>
                                <p:cTn id="43" presetID="1" presetClass="entr" presetSubtype="0" fill="hold" grpId="0" nodeType="withEffect">
                                  <p:stCondLst>
                                    <p:cond delay="0"/>
                                  </p:stCondLst>
                                  <p:iterate>
                                    <p:tmAbs val="0"/>
                                  </p:iterate>
                                  <p:childTnLst>
                                    <p:set>
                                      <p:cBhvr>
                                        <p:cTn id="44" fill="hold"/>
                                        <p:tgtEl>
                                          <p:spTgt spid="18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iterate>
                                    <p:tmAbs val="0"/>
                                  </p:iterate>
                                  <p:childTnLst>
                                    <p:set>
                                      <p:cBhvr>
                                        <p:cTn id="48" fill="hold"/>
                                        <p:tgtEl>
                                          <p:spTgt spid="22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iterate>
                                    <p:tmAbs val="0"/>
                                  </p:iterate>
                                  <p:childTnLst>
                                    <p:set>
                                      <p:cBhvr>
                                        <p:cTn id="52" fill="hold"/>
                                        <p:tgtEl>
                                          <p:spTgt spid="21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iterate>
                                    <p:tmAbs val="0"/>
                                  </p:iterate>
                                  <p:childTnLst>
                                    <p:set>
                                      <p:cBhvr>
                                        <p:cTn id="56" fill="hold"/>
                                        <p:tgtEl>
                                          <p:spTgt spid="22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iterate>
                                    <p:tmAbs val="0"/>
                                  </p:iterate>
                                  <p:childTnLst>
                                    <p:set>
                                      <p:cBhvr>
                                        <p:cTn id="60" fill="hold"/>
                                        <p:tgtEl>
                                          <p:spTgt spid="1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 grpId="0" animBg="1" advAuto="0"/>
      <p:bldP spid="176" grpId="0" animBg="1" advAuto="0"/>
      <p:bldP spid="177" grpId="0" animBg="1" advAuto="0"/>
      <p:bldP spid="178" grpId="0" animBg="1" advAuto="0"/>
      <p:bldP spid="179" grpId="0" animBg="1" advAuto="0"/>
      <p:bldP spid="182" grpId="0" advAuto="0"/>
      <p:bldP spid="183" grpId="0" animBg="1" advAuto="0"/>
      <p:bldP spid="186" grpId="0" animBg="1" advAuto="0"/>
      <p:bldP spid="187" grpId="0" animBg="1" advAuto="0"/>
      <p:bldP spid="198" grpId="0" advAuto="0"/>
      <p:bldP spid="210" grpId="0" advAuto="0"/>
      <p:bldP spid="216" grpId="0" advAuto="0"/>
      <p:bldP spid="220" grpId="0" animBg="1" advAuto="0"/>
      <p:bldP spid="221" grpId="0" animBg="1" advAuto="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Shape 223">
            <a:extLst>
              <a:ext uri="{FF2B5EF4-FFF2-40B4-BE49-F238E27FC236}">
                <a16:creationId xmlns:a16="http://schemas.microsoft.com/office/drawing/2014/main" id="{FBB3CA17-009E-6C4E-9DA0-BAC172067F43}"/>
              </a:ext>
            </a:extLst>
          </p:cNvPr>
          <p:cNvSpPr/>
          <p:nvPr/>
        </p:nvSpPr>
        <p:spPr>
          <a:xfrm>
            <a:off x="7849" y="0"/>
            <a:ext cx="7480300" cy="327660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lvl="0">
              <a:spcBef>
                <a:spcPts val="900"/>
              </a:spcBef>
              <a:buClr>
                <a:srgbClr val="000000"/>
              </a:buClr>
              <a:buFont typeface="Helvetica"/>
              <a:defRPr sz="1800">
                <a:uFillTx/>
              </a:defRPr>
            </a:pPr>
            <a:r>
              <a:rPr sz="1600" b="0" dirty="0">
                <a:uFill>
                  <a:solidFill/>
                </a:uFill>
                <a:latin typeface="Gill Sans" charset="0"/>
                <a:ea typeface="Gill Sans" charset="0"/>
                <a:cs typeface="Gill Sans" charset="0"/>
                <a:sym typeface="Helvetica"/>
              </a:rPr>
              <a:t>4. W</a:t>
            </a:r>
            <a:r>
              <a:rPr lang="en-US" sz="1600" b="0" dirty="0">
                <a:uFill>
                  <a:solidFill/>
                </a:uFill>
                <a:latin typeface="Gill Sans" charset="0"/>
                <a:ea typeface="Gill Sans" charset="0"/>
                <a:cs typeface="Gill Sans" charset="0"/>
                <a:sym typeface="Helvetica"/>
              </a:rPr>
              <a:t>eak and weakly directional forces:</a:t>
            </a:r>
          </a:p>
          <a:p>
            <a:pPr lvl="0">
              <a:spcBef>
                <a:spcPts val="1200"/>
              </a:spcBef>
              <a:buClr>
                <a:srgbClr val="000000"/>
              </a:buClr>
              <a:buFont typeface="Helvetica"/>
              <a:defRPr sz="1800">
                <a:uFillTx/>
              </a:defRPr>
            </a:pPr>
            <a:endParaRPr sz="2000" b="0" dirty="0">
              <a:uFill>
                <a:solidFill/>
              </a:uFill>
              <a:latin typeface="Gill Sans" charset="0"/>
              <a:ea typeface="Gill Sans" charset="0"/>
              <a:cs typeface="Gill Sans" charset="0"/>
              <a:sym typeface="Helvetica"/>
            </a:endParaRPr>
          </a:p>
          <a:p>
            <a:pPr lvl="0">
              <a:spcBef>
                <a:spcPts val="1200"/>
              </a:spcBef>
              <a:buClr>
                <a:srgbClr val="000000"/>
              </a:buClr>
              <a:buFont typeface="Helvetica"/>
              <a:defRPr sz="1800">
                <a:uFillTx/>
              </a:defRPr>
            </a:pPr>
            <a:endParaRPr sz="2000" b="0" dirty="0">
              <a:uFill>
                <a:solidFill/>
              </a:uFill>
              <a:latin typeface="Gill Sans" charset="0"/>
              <a:ea typeface="Gill Sans" charset="0"/>
              <a:cs typeface="Gill Sans" charset="0"/>
              <a:sym typeface="Helvetica"/>
            </a:endParaRPr>
          </a:p>
          <a:p>
            <a:pPr lvl="0">
              <a:spcBef>
                <a:spcPts val="500"/>
              </a:spcBef>
              <a:buClr>
                <a:srgbClr val="000000"/>
              </a:buClr>
              <a:buFont typeface="Helvetica"/>
              <a:defRPr sz="1800">
                <a:uFillTx/>
              </a:defRPr>
            </a:pPr>
            <a:endParaRPr sz="800" b="0" dirty="0">
              <a:uFill>
                <a:solidFill/>
              </a:uFill>
              <a:latin typeface="Gill Sans" charset="0"/>
              <a:ea typeface="Gill Sans" charset="0"/>
              <a:cs typeface="Gill Sans" charset="0"/>
              <a:sym typeface="Helvetica"/>
            </a:endParaRPr>
          </a:p>
          <a:p>
            <a:pPr lvl="0">
              <a:spcBef>
                <a:spcPts val="500"/>
              </a:spcBef>
              <a:buClr>
                <a:srgbClr val="000000"/>
              </a:buClr>
              <a:buFont typeface="Helvetica"/>
              <a:defRPr sz="1800">
                <a:uFillTx/>
              </a:defRPr>
            </a:pPr>
            <a:endParaRPr sz="800" b="0" dirty="0">
              <a:uFill>
                <a:solidFill/>
              </a:uFill>
              <a:latin typeface="Gill Sans" charset="0"/>
              <a:ea typeface="Gill Sans" charset="0"/>
              <a:cs typeface="Gill Sans" charset="0"/>
              <a:sym typeface="Helvetica"/>
            </a:endParaRPr>
          </a:p>
          <a:p>
            <a:pPr lvl="0">
              <a:spcBef>
                <a:spcPts val="900"/>
              </a:spcBef>
              <a:buClr>
                <a:srgbClr val="000000"/>
              </a:buClr>
              <a:buFont typeface="Helvetica"/>
              <a:defRPr sz="1800">
                <a:uFillTx/>
              </a:defRPr>
            </a:pPr>
            <a:r>
              <a:rPr sz="1600" b="0" dirty="0">
                <a:uFill>
                  <a:solidFill/>
                </a:uFill>
                <a:latin typeface="Gill Sans" charset="0"/>
                <a:ea typeface="Gill Sans" charset="0"/>
                <a:cs typeface="Gill Sans" charset="0"/>
                <a:sym typeface="Helvetica"/>
              </a:rPr>
              <a:t>5. R</a:t>
            </a:r>
            <a:r>
              <a:rPr lang="en-US" sz="1600" b="0" dirty="0">
                <a:uFill>
                  <a:solidFill/>
                </a:uFill>
                <a:latin typeface="Gill Sans" charset="0"/>
                <a:ea typeface="Gill Sans" charset="0"/>
                <a:cs typeface="Gill Sans" charset="0"/>
                <a:sym typeface="Helvetica"/>
              </a:rPr>
              <a:t>ing-stacking</a:t>
            </a:r>
            <a:r>
              <a:rPr sz="1600" b="0" dirty="0">
                <a:uFill>
                  <a:solidFill/>
                </a:uFill>
                <a:latin typeface="Gill Sans" charset="0"/>
                <a:ea typeface="Gill Sans" charset="0"/>
                <a:cs typeface="Gill Sans" charset="0"/>
                <a:sym typeface="Helvetica"/>
              </a:rPr>
              <a:t> (P</a:t>
            </a:r>
            <a:r>
              <a:rPr lang="en-US" sz="1600" b="0" dirty="0">
                <a:uFill>
                  <a:solidFill/>
                </a:uFill>
                <a:latin typeface="Gill Sans" charset="0"/>
                <a:ea typeface="Gill Sans" charset="0"/>
                <a:cs typeface="Gill Sans" charset="0"/>
                <a:sym typeface="Helvetica"/>
              </a:rPr>
              <a:t>he</a:t>
            </a:r>
            <a:r>
              <a:rPr sz="1600" b="0" dirty="0">
                <a:uFill>
                  <a:solidFill/>
                </a:uFill>
                <a:latin typeface="Gill Sans" charset="0"/>
                <a:ea typeface="Gill Sans" charset="0"/>
                <a:cs typeface="Gill Sans" charset="0"/>
                <a:sym typeface="Helvetica"/>
              </a:rPr>
              <a:t>, T</a:t>
            </a:r>
            <a:r>
              <a:rPr lang="en-US" sz="1600" b="0" dirty="0">
                <a:uFill>
                  <a:solidFill/>
                </a:uFill>
                <a:latin typeface="Gill Sans" charset="0"/>
                <a:ea typeface="Gill Sans" charset="0"/>
                <a:cs typeface="Gill Sans" charset="0"/>
                <a:sym typeface="Helvetica"/>
              </a:rPr>
              <a:t>yr</a:t>
            </a:r>
            <a:r>
              <a:rPr sz="1600" b="0" dirty="0">
                <a:uFill>
                  <a:solidFill/>
                </a:uFill>
                <a:latin typeface="Gill Sans" charset="0"/>
                <a:ea typeface="Gill Sans" charset="0"/>
                <a:cs typeface="Gill Sans" charset="0"/>
                <a:sym typeface="Helvetica"/>
              </a:rPr>
              <a:t>, &amp; T</a:t>
            </a:r>
            <a:r>
              <a:rPr lang="en-US" sz="1600" b="0" dirty="0">
                <a:uFill>
                  <a:solidFill/>
                </a:uFill>
                <a:latin typeface="Gill Sans" charset="0"/>
                <a:ea typeface="Gill Sans" charset="0"/>
                <a:cs typeface="Gill Sans" charset="0"/>
                <a:sym typeface="Helvetica"/>
              </a:rPr>
              <a:t>rp</a:t>
            </a:r>
            <a:r>
              <a:rPr sz="1600" b="0" dirty="0">
                <a:uFill>
                  <a:solidFill/>
                </a:uFill>
                <a:latin typeface="Gill Sans" charset="0"/>
                <a:ea typeface="Gill Sans" charset="0"/>
                <a:cs typeface="Gill Sans" charset="0"/>
                <a:sym typeface="Helvetica"/>
              </a:rPr>
              <a:t>)</a:t>
            </a:r>
          </a:p>
          <a:p>
            <a:pPr lvl="0">
              <a:spcBef>
                <a:spcPts val="1200"/>
              </a:spcBef>
              <a:buClr>
                <a:srgbClr val="000000"/>
              </a:buClr>
              <a:buFont typeface="Helvetica"/>
              <a:defRPr sz="1800">
                <a:uFillTx/>
              </a:defRPr>
            </a:pPr>
            <a:endParaRPr sz="2000" b="0" dirty="0">
              <a:uFill>
                <a:solidFill/>
              </a:uFill>
              <a:latin typeface="Gill Sans" charset="0"/>
              <a:ea typeface="Gill Sans" charset="0"/>
              <a:cs typeface="Gill Sans" charset="0"/>
              <a:sym typeface="Helvetica"/>
            </a:endParaRPr>
          </a:p>
          <a:p>
            <a:pPr lvl="0">
              <a:spcBef>
                <a:spcPts val="1200"/>
              </a:spcBef>
              <a:buClr>
                <a:srgbClr val="000000"/>
              </a:buClr>
              <a:buFont typeface="Helvetica"/>
              <a:defRPr sz="1800">
                <a:uFillTx/>
              </a:defRPr>
            </a:pPr>
            <a:endParaRPr sz="2000" b="0" dirty="0">
              <a:uFill>
                <a:solidFill/>
              </a:uFill>
              <a:latin typeface="Gill Sans" charset="0"/>
              <a:ea typeface="Gill Sans" charset="0"/>
              <a:cs typeface="Gill Sans" charset="0"/>
              <a:sym typeface="Helvetica"/>
            </a:endParaRPr>
          </a:p>
          <a:p>
            <a:pPr lvl="0">
              <a:spcBef>
                <a:spcPts val="900"/>
              </a:spcBef>
              <a:buClr>
                <a:srgbClr val="000000"/>
              </a:buClr>
              <a:buFont typeface="Helvetica"/>
              <a:defRPr sz="1800">
                <a:uFillTx/>
              </a:defRPr>
            </a:pPr>
            <a:r>
              <a:rPr sz="1600" b="0" dirty="0">
                <a:uFill>
                  <a:solidFill/>
                </a:uFill>
                <a:latin typeface="Gill Sans" charset="0"/>
                <a:ea typeface="Gill Sans" charset="0"/>
                <a:cs typeface="Gill Sans" charset="0"/>
                <a:sym typeface="Helvetica"/>
              </a:rPr>
              <a:t>6. H</a:t>
            </a:r>
            <a:r>
              <a:rPr lang="en-US" sz="1600" b="0" dirty="0">
                <a:uFill>
                  <a:solidFill/>
                </a:uFill>
                <a:latin typeface="Gill Sans" charset="0"/>
                <a:ea typeface="Gill Sans" charset="0"/>
                <a:cs typeface="Gill Sans" charset="0"/>
                <a:sym typeface="Helvetica"/>
              </a:rPr>
              <a:t>ydrophobic interaction</a:t>
            </a:r>
          </a:p>
        </p:txBody>
      </p:sp>
      <p:sp>
        <p:nvSpPr>
          <p:cNvPr id="230" name="Shape 230"/>
          <p:cNvSpPr/>
          <p:nvPr/>
        </p:nvSpPr>
        <p:spPr>
          <a:xfrm>
            <a:off x="241300" y="241300"/>
            <a:ext cx="3594100" cy="184666"/>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700"/>
              </a:spcBef>
              <a:buClr>
                <a:srgbClr val="000000"/>
              </a:buClr>
              <a:buFont typeface="Helvetica"/>
              <a:defRPr sz="1200" b="1">
                <a:latin typeface="Helvetica"/>
                <a:ea typeface="Helvetica"/>
                <a:cs typeface="Helvetica"/>
                <a:sym typeface="Helvetica"/>
              </a:defRPr>
            </a:lvl1pPr>
          </a:lstStyle>
          <a:p>
            <a:pPr lvl="0">
              <a:defRPr sz="1800" b="0">
                <a:uFillTx/>
              </a:defRPr>
            </a:pPr>
            <a:r>
              <a:rPr sz="1200" b="0" dirty="0">
                <a:uFill>
                  <a:solidFill/>
                </a:uFill>
                <a:latin typeface="Gill Sans" charset="0"/>
                <a:ea typeface="Gill Sans" charset="0"/>
                <a:cs typeface="Gill Sans" charset="0"/>
              </a:rPr>
              <a:t>5-20 kJ/</a:t>
            </a:r>
            <a:r>
              <a:rPr lang="en-US" sz="1200" b="0" dirty="0">
                <a:uFill>
                  <a:solidFill/>
                </a:uFill>
                <a:latin typeface="Gill Sans" charset="0"/>
                <a:ea typeface="Gill Sans" charset="0"/>
                <a:cs typeface="Gill Sans" charset="0"/>
              </a:rPr>
              <a:t>Mole</a:t>
            </a:r>
            <a:endParaRPr sz="1200" b="0" dirty="0">
              <a:uFill>
                <a:solidFill/>
              </a:uFill>
              <a:latin typeface="Gill Sans" charset="0"/>
              <a:ea typeface="Gill Sans" charset="0"/>
              <a:cs typeface="Gill Sans" charset="0"/>
            </a:endParaRPr>
          </a:p>
        </p:txBody>
      </p:sp>
      <p:sp>
        <p:nvSpPr>
          <p:cNvPr id="231" name="Shape 231"/>
          <p:cNvSpPr/>
          <p:nvPr/>
        </p:nvSpPr>
        <p:spPr>
          <a:xfrm>
            <a:off x="276225" y="490537"/>
            <a:ext cx="227948" cy="246221"/>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buClr>
                <a:srgbClr val="000000"/>
              </a:buClr>
              <a:buFont typeface="Helvetica"/>
              <a:defRPr sz="1600" b="1">
                <a:latin typeface="Helvetica"/>
                <a:ea typeface="Helvetica"/>
                <a:cs typeface="Helvetica"/>
                <a:sym typeface="Helvetica"/>
              </a:defRPr>
            </a:lvl1pPr>
          </a:lstStyle>
          <a:p>
            <a:pPr lvl="0">
              <a:defRPr sz="1800" b="0">
                <a:uFillTx/>
              </a:defRPr>
            </a:pPr>
            <a:r>
              <a:rPr sz="1600" b="0">
                <a:uFill>
                  <a:solidFill/>
                </a:uFill>
                <a:latin typeface="Gill Sans" charset="0"/>
                <a:ea typeface="Gill Sans" charset="0"/>
                <a:cs typeface="Gill Sans" charset="0"/>
              </a:rPr>
              <a:t>C</a:t>
            </a:r>
          </a:p>
        </p:txBody>
      </p:sp>
      <p:sp>
        <p:nvSpPr>
          <p:cNvPr id="232" name="Shape 232"/>
          <p:cNvSpPr/>
          <p:nvPr/>
        </p:nvSpPr>
        <p:spPr>
          <a:xfrm>
            <a:off x="263525" y="862012"/>
            <a:ext cx="469900" cy="24622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900"/>
              </a:spcBef>
              <a:buClr>
                <a:srgbClr val="000000"/>
              </a:buClr>
              <a:buFont typeface="Helvetica"/>
              <a:defRPr sz="1600" b="1">
                <a:latin typeface="Helvetica"/>
                <a:ea typeface="Helvetica"/>
                <a:cs typeface="Helvetica"/>
                <a:sym typeface="Helvetica"/>
              </a:defRPr>
            </a:lvl1pPr>
          </a:lstStyle>
          <a:p>
            <a:pPr lvl="0">
              <a:defRPr sz="1800" b="0">
                <a:uFillTx/>
              </a:defRPr>
            </a:pPr>
            <a:r>
              <a:rPr sz="1600" b="0" dirty="0">
                <a:uFill>
                  <a:solidFill/>
                </a:uFill>
                <a:latin typeface="Gill Sans" charset="0"/>
                <a:ea typeface="Gill Sans" charset="0"/>
                <a:cs typeface="Gill Sans" charset="0"/>
              </a:rPr>
              <a:t>O</a:t>
            </a:r>
          </a:p>
        </p:txBody>
      </p:sp>
      <p:sp>
        <p:nvSpPr>
          <p:cNvPr id="233" name="Shape 233"/>
          <p:cNvSpPr/>
          <p:nvPr/>
        </p:nvSpPr>
        <p:spPr>
          <a:xfrm rot="5400000">
            <a:off x="148506" y="758052"/>
            <a:ext cx="469901" cy="307777"/>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1200"/>
              </a:spcBef>
              <a:buClr>
                <a:srgbClr val="000000"/>
              </a:buClr>
              <a:buFont typeface="Helvetica"/>
              <a:defRPr sz="2000" b="1">
                <a:latin typeface="Helvetica"/>
                <a:ea typeface="Helvetica"/>
                <a:cs typeface="Helvetica"/>
                <a:sym typeface="Helvetica"/>
              </a:defRPr>
            </a:lvl1pPr>
          </a:lstStyle>
          <a:p>
            <a:pPr lvl="0">
              <a:defRPr sz="1800" b="0">
                <a:uFillTx/>
              </a:defRPr>
            </a:pPr>
            <a:r>
              <a:rPr sz="2000" b="0" dirty="0">
                <a:uFill>
                  <a:solidFill/>
                </a:uFill>
                <a:latin typeface="Gill Sans" charset="0"/>
                <a:ea typeface="Gill Sans" charset="0"/>
                <a:cs typeface="Gill Sans" charset="0"/>
              </a:rPr>
              <a:t>=</a:t>
            </a:r>
          </a:p>
        </p:txBody>
      </p:sp>
      <p:sp>
        <p:nvSpPr>
          <p:cNvPr id="234" name="Shape 234"/>
          <p:cNvSpPr/>
          <p:nvPr/>
        </p:nvSpPr>
        <p:spPr>
          <a:xfrm>
            <a:off x="439737" y="398462"/>
            <a:ext cx="927101" cy="24622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lvl="0">
              <a:spcBef>
                <a:spcPts val="800"/>
              </a:spcBef>
              <a:buClr>
                <a:srgbClr val="000000"/>
              </a:buClr>
              <a:buFont typeface="Symbol"/>
              <a:defRPr sz="1800">
                <a:uFillTx/>
              </a:defRPr>
            </a:pPr>
            <a:r>
              <a:rPr sz="1600" b="0" dirty="0">
                <a:uFill>
                  <a:solidFill/>
                </a:uFill>
                <a:latin typeface="Gill Sans" charset="0"/>
                <a:ea typeface="Gill Sans" charset="0"/>
                <a:cs typeface="Gill Sans" charset="0"/>
                <a:sym typeface="Symbol"/>
              </a:rPr>
              <a:t>δ</a:t>
            </a:r>
            <a:r>
              <a:rPr sz="1600" b="0" baseline="23999" dirty="0">
                <a:uFill>
                  <a:solidFill/>
                </a:uFill>
                <a:latin typeface="Gill Sans" charset="0"/>
                <a:ea typeface="Gill Sans" charset="0"/>
                <a:cs typeface="Gill Sans" charset="0"/>
                <a:sym typeface="Helvetica"/>
              </a:rPr>
              <a:t>+</a:t>
            </a:r>
          </a:p>
        </p:txBody>
      </p:sp>
      <p:sp>
        <p:nvSpPr>
          <p:cNvPr id="235" name="Shape 235"/>
          <p:cNvSpPr/>
          <p:nvPr/>
        </p:nvSpPr>
        <p:spPr>
          <a:xfrm>
            <a:off x="409575" y="974725"/>
            <a:ext cx="546100" cy="24622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lvl="0">
              <a:spcBef>
                <a:spcPts val="800"/>
              </a:spcBef>
              <a:buClr>
                <a:srgbClr val="000000"/>
              </a:buClr>
              <a:buFont typeface="Symbol"/>
              <a:defRPr sz="1800">
                <a:uFillTx/>
              </a:defRPr>
            </a:pPr>
            <a:r>
              <a:rPr sz="1600" b="0">
                <a:uFill>
                  <a:solidFill/>
                </a:uFill>
                <a:latin typeface="Gill Sans" charset="0"/>
                <a:ea typeface="Gill Sans" charset="0"/>
                <a:cs typeface="Gill Sans" charset="0"/>
                <a:sym typeface="Symbol"/>
              </a:rPr>
              <a:t>δ</a:t>
            </a:r>
            <a:r>
              <a:rPr sz="1600" b="0" baseline="29999">
                <a:uFill>
                  <a:solidFill/>
                </a:uFill>
                <a:latin typeface="Gill Sans" charset="0"/>
                <a:ea typeface="Gill Sans" charset="0"/>
                <a:cs typeface="Gill Sans" charset="0"/>
                <a:sym typeface="Helvetica"/>
              </a:rPr>
              <a:t>-</a:t>
            </a:r>
          </a:p>
        </p:txBody>
      </p:sp>
      <p:sp>
        <p:nvSpPr>
          <p:cNvPr id="236" name="Shape 236"/>
          <p:cNvSpPr/>
          <p:nvPr/>
        </p:nvSpPr>
        <p:spPr>
          <a:xfrm>
            <a:off x="2298700" y="477837"/>
            <a:ext cx="227948" cy="246221"/>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buClr>
                <a:srgbClr val="000000"/>
              </a:buClr>
              <a:buFont typeface="Helvetica"/>
              <a:defRPr sz="1600" b="1">
                <a:latin typeface="Helvetica"/>
                <a:ea typeface="Helvetica"/>
                <a:cs typeface="Helvetica"/>
                <a:sym typeface="Helvetica"/>
              </a:defRPr>
            </a:lvl1pPr>
          </a:lstStyle>
          <a:p>
            <a:pPr lvl="0">
              <a:defRPr sz="1800" b="0">
                <a:uFillTx/>
              </a:defRPr>
            </a:pPr>
            <a:r>
              <a:rPr sz="1600" b="0" dirty="0">
                <a:uFill>
                  <a:solidFill/>
                </a:uFill>
                <a:latin typeface="Gill Sans" charset="0"/>
                <a:ea typeface="Gill Sans" charset="0"/>
                <a:cs typeface="Gill Sans" charset="0"/>
              </a:rPr>
              <a:t>C</a:t>
            </a:r>
          </a:p>
        </p:txBody>
      </p:sp>
      <p:sp>
        <p:nvSpPr>
          <p:cNvPr id="237" name="Shape 237"/>
          <p:cNvSpPr/>
          <p:nvPr/>
        </p:nvSpPr>
        <p:spPr>
          <a:xfrm>
            <a:off x="2290762" y="852487"/>
            <a:ext cx="469901" cy="24622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900"/>
              </a:spcBef>
              <a:buClr>
                <a:srgbClr val="000000"/>
              </a:buClr>
              <a:buFont typeface="Helvetica"/>
              <a:defRPr sz="1600" b="1">
                <a:latin typeface="Helvetica"/>
                <a:ea typeface="Helvetica"/>
                <a:cs typeface="Helvetica"/>
                <a:sym typeface="Helvetica"/>
              </a:defRPr>
            </a:lvl1pPr>
          </a:lstStyle>
          <a:p>
            <a:pPr lvl="0">
              <a:defRPr sz="1800" b="0">
                <a:uFillTx/>
              </a:defRPr>
            </a:pPr>
            <a:r>
              <a:rPr sz="1600" b="0" dirty="0">
                <a:uFill>
                  <a:solidFill/>
                </a:uFill>
                <a:latin typeface="Gill Sans" charset="0"/>
                <a:ea typeface="Gill Sans" charset="0"/>
                <a:cs typeface="Gill Sans" charset="0"/>
              </a:rPr>
              <a:t>O</a:t>
            </a:r>
          </a:p>
        </p:txBody>
      </p:sp>
      <p:sp>
        <p:nvSpPr>
          <p:cNvPr id="238" name="Shape 238"/>
          <p:cNvSpPr/>
          <p:nvPr/>
        </p:nvSpPr>
        <p:spPr>
          <a:xfrm rot="5378597">
            <a:off x="2183460" y="752342"/>
            <a:ext cx="457201" cy="307777"/>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1200"/>
              </a:spcBef>
              <a:buClr>
                <a:srgbClr val="000000"/>
              </a:buClr>
              <a:buFont typeface="Helvetica"/>
              <a:defRPr sz="2000" b="1">
                <a:latin typeface="Helvetica"/>
                <a:ea typeface="Helvetica"/>
                <a:cs typeface="Helvetica"/>
                <a:sym typeface="Helvetica"/>
              </a:defRPr>
            </a:lvl1pPr>
          </a:lstStyle>
          <a:p>
            <a:pPr lvl="0">
              <a:defRPr sz="1800" b="0">
                <a:uFillTx/>
              </a:defRPr>
            </a:pPr>
            <a:r>
              <a:rPr sz="2000" b="0" dirty="0">
                <a:uFill>
                  <a:solidFill/>
                </a:uFill>
                <a:latin typeface="Gill Sans" charset="0"/>
                <a:ea typeface="Gill Sans" charset="0"/>
                <a:cs typeface="Gill Sans" charset="0"/>
              </a:rPr>
              <a:t>=</a:t>
            </a:r>
          </a:p>
        </p:txBody>
      </p:sp>
      <p:sp>
        <p:nvSpPr>
          <p:cNvPr id="239" name="Shape 239"/>
          <p:cNvSpPr/>
          <p:nvPr/>
        </p:nvSpPr>
        <p:spPr>
          <a:xfrm>
            <a:off x="2501900" y="381000"/>
            <a:ext cx="927100" cy="24622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lvl="0">
              <a:spcBef>
                <a:spcPts val="800"/>
              </a:spcBef>
              <a:buClr>
                <a:srgbClr val="000000"/>
              </a:buClr>
              <a:buFont typeface="Symbol"/>
              <a:defRPr sz="1800">
                <a:uFillTx/>
              </a:defRPr>
            </a:pPr>
            <a:r>
              <a:rPr sz="1600" b="0" dirty="0">
                <a:uFill>
                  <a:solidFill/>
                </a:uFill>
                <a:latin typeface="Gill Sans" charset="0"/>
                <a:ea typeface="Gill Sans" charset="0"/>
                <a:cs typeface="Gill Sans" charset="0"/>
                <a:sym typeface="Symbol"/>
              </a:rPr>
              <a:t>δ</a:t>
            </a:r>
            <a:r>
              <a:rPr sz="1600" b="0" baseline="23999" dirty="0">
                <a:uFill>
                  <a:solidFill/>
                </a:uFill>
                <a:latin typeface="Gill Sans" charset="0"/>
                <a:ea typeface="Gill Sans" charset="0"/>
                <a:cs typeface="Gill Sans" charset="0"/>
                <a:sym typeface="Helvetica"/>
              </a:rPr>
              <a:t>+</a:t>
            </a:r>
          </a:p>
        </p:txBody>
      </p:sp>
      <p:sp>
        <p:nvSpPr>
          <p:cNvPr id="240" name="Shape 240"/>
          <p:cNvSpPr/>
          <p:nvPr/>
        </p:nvSpPr>
        <p:spPr>
          <a:xfrm>
            <a:off x="2489200" y="977900"/>
            <a:ext cx="546100" cy="24622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lvl="0">
              <a:spcBef>
                <a:spcPts val="800"/>
              </a:spcBef>
              <a:buClr>
                <a:srgbClr val="000000"/>
              </a:buClr>
              <a:buFont typeface="Symbol"/>
              <a:defRPr sz="1800">
                <a:uFillTx/>
              </a:defRPr>
            </a:pPr>
            <a:r>
              <a:rPr sz="1600" b="0">
                <a:uFill>
                  <a:solidFill/>
                </a:uFill>
                <a:latin typeface="Gill Sans" charset="0"/>
                <a:ea typeface="Gill Sans" charset="0"/>
                <a:cs typeface="Gill Sans" charset="0"/>
                <a:sym typeface="Symbol"/>
              </a:rPr>
              <a:t>δ</a:t>
            </a:r>
            <a:r>
              <a:rPr sz="1600" b="0" baseline="29999">
                <a:uFill>
                  <a:solidFill/>
                </a:uFill>
                <a:latin typeface="Gill Sans" charset="0"/>
                <a:ea typeface="Gill Sans" charset="0"/>
                <a:cs typeface="Gill Sans" charset="0"/>
                <a:sym typeface="Helvetica"/>
              </a:rPr>
              <a:t>-</a:t>
            </a:r>
          </a:p>
        </p:txBody>
      </p:sp>
      <p:sp>
        <p:nvSpPr>
          <p:cNvPr id="241" name="Shape 241"/>
          <p:cNvSpPr/>
          <p:nvPr/>
        </p:nvSpPr>
        <p:spPr>
          <a:xfrm>
            <a:off x="1927225" y="957262"/>
            <a:ext cx="774700" cy="24622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900"/>
              </a:spcBef>
              <a:buClr>
                <a:srgbClr val="000000"/>
              </a:buClr>
              <a:buFont typeface="Helvetica"/>
              <a:defRPr sz="1600" b="1">
                <a:latin typeface="Helvetica"/>
                <a:ea typeface="Helvetica"/>
                <a:cs typeface="Helvetica"/>
                <a:sym typeface="Helvetica"/>
              </a:defRPr>
            </a:lvl1pPr>
          </a:lstStyle>
          <a:p>
            <a:pPr lvl="0">
              <a:defRPr sz="1800" b="0">
                <a:uFillTx/>
              </a:defRPr>
            </a:pPr>
            <a:r>
              <a:rPr sz="1600" b="0" dirty="0">
                <a:uFill>
                  <a:solidFill/>
                </a:uFill>
                <a:latin typeface="Gill Sans" charset="0"/>
                <a:ea typeface="Gill Sans" charset="0"/>
                <a:cs typeface="Gill Sans" charset="0"/>
              </a:rPr>
              <a:t>Na</a:t>
            </a:r>
          </a:p>
        </p:txBody>
      </p:sp>
      <p:sp>
        <p:nvSpPr>
          <p:cNvPr id="242" name="Shape 242"/>
          <p:cNvSpPr/>
          <p:nvPr/>
        </p:nvSpPr>
        <p:spPr>
          <a:xfrm>
            <a:off x="830262" y="474662"/>
            <a:ext cx="546101" cy="24622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900"/>
              </a:spcBef>
              <a:buClr>
                <a:srgbClr val="000000"/>
              </a:buClr>
              <a:buFont typeface="Helvetica"/>
              <a:defRPr sz="1600" b="1">
                <a:latin typeface="Helvetica"/>
                <a:ea typeface="Helvetica"/>
                <a:cs typeface="Helvetica"/>
                <a:sym typeface="Helvetica"/>
              </a:defRPr>
            </a:lvl1pPr>
          </a:lstStyle>
          <a:p>
            <a:pPr lvl="0">
              <a:defRPr sz="1800" b="0">
                <a:uFillTx/>
              </a:defRPr>
            </a:pPr>
            <a:r>
              <a:rPr sz="1600" b="0">
                <a:uFill>
                  <a:solidFill/>
                </a:uFill>
                <a:latin typeface="Gill Sans" charset="0"/>
                <a:ea typeface="Gill Sans" charset="0"/>
                <a:cs typeface="Gill Sans" charset="0"/>
              </a:rPr>
              <a:t>O</a:t>
            </a:r>
          </a:p>
        </p:txBody>
      </p:sp>
      <p:sp>
        <p:nvSpPr>
          <p:cNvPr id="243" name="Shape 243"/>
          <p:cNvSpPr/>
          <p:nvPr/>
        </p:nvSpPr>
        <p:spPr>
          <a:xfrm>
            <a:off x="823912" y="860425"/>
            <a:ext cx="469901" cy="24622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900"/>
              </a:spcBef>
              <a:buClr>
                <a:srgbClr val="000000"/>
              </a:buClr>
              <a:buFont typeface="Helvetica"/>
              <a:defRPr sz="1600" b="1">
                <a:latin typeface="Helvetica"/>
                <a:ea typeface="Helvetica"/>
                <a:cs typeface="Helvetica"/>
                <a:sym typeface="Helvetica"/>
              </a:defRPr>
            </a:lvl1pPr>
          </a:lstStyle>
          <a:p>
            <a:pPr lvl="0">
              <a:defRPr sz="1800" b="0">
                <a:uFillTx/>
              </a:defRPr>
            </a:pPr>
            <a:r>
              <a:rPr sz="1600" b="0" dirty="0">
                <a:uFill>
                  <a:solidFill/>
                </a:uFill>
                <a:latin typeface="Gill Sans" charset="0"/>
                <a:ea typeface="Gill Sans" charset="0"/>
                <a:cs typeface="Gill Sans" charset="0"/>
              </a:rPr>
              <a:t>C</a:t>
            </a:r>
          </a:p>
        </p:txBody>
      </p:sp>
      <p:sp>
        <p:nvSpPr>
          <p:cNvPr id="244" name="Shape 244"/>
          <p:cNvSpPr/>
          <p:nvPr/>
        </p:nvSpPr>
        <p:spPr>
          <a:xfrm rot="5400000">
            <a:off x="748120" y="718108"/>
            <a:ext cx="393701" cy="307777"/>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1200"/>
              </a:spcBef>
              <a:buClr>
                <a:srgbClr val="000000"/>
              </a:buClr>
              <a:buFont typeface="Helvetica"/>
              <a:defRPr sz="2000" b="1">
                <a:latin typeface="Helvetica"/>
                <a:ea typeface="Helvetica"/>
                <a:cs typeface="Helvetica"/>
                <a:sym typeface="Helvetica"/>
              </a:defRPr>
            </a:lvl1pPr>
          </a:lstStyle>
          <a:p>
            <a:pPr lvl="0">
              <a:defRPr sz="1800" b="0">
                <a:uFillTx/>
              </a:defRPr>
            </a:pPr>
            <a:r>
              <a:rPr sz="2000" b="0" dirty="0">
                <a:uFill>
                  <a:solidFill/>
                </a:uFill>
                <a:latin typeface="Gill Sans" charset="0"/>
                <a:ea typeface="Gill Sans" charset="0"/>
                <a:cs typeface="Gill Sans" charset="0"/>
              </a:rPr>
              <a:t>=</a:t>
            </a:r>
          </a:p>
        </p:txBody>
      </p:sp>
      <p:sp>
        <p:nvSpPr>
          <p:cNvPr id="245" name="Shape 245"/>
          <p:cNvSpPr/>
          <p:nvPr/>
        </p:nvSpPr>
        <p:spPr>
          <a:xfrm>
            <a:off x="1003300" y="388937"/>
            <a:ext cx="698500" cy="24622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lvl="0">
              <a:spcBef>
                <a:spcPts val="800"/>
              </a:spcBef>
              <a:buClr>
                <a:srgbClr val="000000"/>
              </a:buClr>
              <a:buFont typeface="Symbol"/>
              <a:defRPr sz="1800">
                <a:uFillTx/>
              </a:defRPr>
            </a:pPr>
            <a:r>
              <a:rPr sz="1600" b="0" dirty="0">
                <a:uFill>
                  <a:solidFill/>
                </a:uFill>
                <a:latin typeface="Gill Sans" charset="0"/>
                <a:ea typeface="Gill Sans" charset="0"/>
                <a:cs typeface="Gill Sans" charset="0"/>
                <a:sym typeface="Symbol"/>
              </a:rPr>
              <a:t>δ</a:t>
            </a:r>
            <a:r>
              <a:rPr sz="1600" b="0" baseline="29999" dirty="0">
                <a:uFill>
                  <a:solidFill/>
                </a:uFill>
                <a:latin typeface="Gill Sans" charset="0"/>
                <a:ea typeface="Gill Sans" charset="0"/>
                <a:cs typeface="Gill Sans" charset="0"/>
                <a:sym typeface="Helvetica"/>
              </a:rPr>
              <a:t>-</a:t>
            </a:r>
          </a:p>
        </p:txBody>
      </p:sp>
      <p:sp>
        <p:nvSpPr>
          <p:cNvPr id="246" name="Shape 246"/>
          <p:cNvSpPr/>
          <p:nvPr/>
        </p:nvSpPr>
        <p:spPr>
          <a:xfrm>
            <a:off x="976312" y="969962"/>
            <a:ext cx="622301" cy="24622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lvl="0">
              <a:spcBef>
                <a:spcPts val="800"/>
              </a:spcBef>
              <a:buClr>
                <a:srgbClr val="000000"/>
              </a:buClr>
              <a:buFont typeface="Symbol"/>
              <a:defRPr sz="1800">
                <a:uFillTx/>
              </a:defRPr>
            </a:pPr>
            <a:r>
              <a:rPr sz="1600" b="0">
                <a:uFill>
                  <a:solidFill/>
                </a:uFill>
                <a:latin typeface="Gill Sans" charset="0"/>
                <a:ea typeface="Gill Sans" charset="0"/>
                <a:cs typeface="Gill Sans" charset="0"/>
                <a:sym typeface="Symbol"/>
              </a:rPr>
              <a:t>δ</a:t>
            </a:r>
            <a:r>
              <a:rPr sz="1600" b="0" baseline="29999">
                <a:uFill>
                  <a:solidFill/>
                </a:uFill>
                <a:latin typeface="Gill Sans" charset="0"/>
                <a:ea typeface="Gill Sans" charset="0"/>
                <a:cs typeface="Gill Sans" charset="0"/>
                <a:sym typeface="Helvetica"/>
              </a:rPr>
              <a:t>+</a:t>
            </a:r>
          </a:p>
        </p:txBody>
      </p:sp>
      <p:sp>
        <p:nvSpPr>
          <p:cNvPr id="247" name="Shape 247"/>
          <p:cNvSpPr/>
          <p:nvPr/>
        </p:nvSpPr>
        <p:spPr>
          <a:xfrm>
            <a:off x="276225" y="1237633"/>
            <a:ext cx="1841500" cy="215444"/>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700"/>
              </a:spcBef>
              <a:buClr>
                <a:srgbClr val="000000"/>
              </a:buClr>
              <a:buFont typeface="Helvetica"/>
              <a:defRPr sz="1200" b="1">
                <a:latin typeface="Helvetica"/>
                <a:ea typeface="Helvetica"/>
                <a:cs typeface="Helvetica"/>
                <a:sym typeface="Helvetica"/>
              </a:defRPr>
            </a:lvl1pPr>
          </a:lstStyle>
          <a:p>
            <a:pPr lvl="0">
              <a:defRPr sz="1800" b="0">
                <a:uFillTx/>
              </a:defRPr>
            </a:pPr>
            <a:r>
              <a:rPr lang="en-US" sz="1400" b="0" dirty="0">
                <a:uFill>
                  <a:solidFill/>
                </a:uFill>
                <a:latin typeface="Gill Sans" charset="0"/>
                <a:ea typeface="Gill Sans" charset="0"/>
                <a:cs typeface="Gill Sans" charset="0"/>
              </a:rPr>
              <a:t>dipole-dipole</a:t>
            </a:r>
          </a:p>
        </p:txBody>
      </p:sp>
      <p:sp>
        <p:nvSpPr>
          <p:cNvPr id="248" name="Shape 248"/>
          <p:cNvSpPr/>
          <p:nvPr/>
        </p:nvSpPr>
        <p:spPr>
          <a:xfrm>
            <a:off x="1922463" y="1238002"/>
            <a:ext cx="1993900" cy="215444"/>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700"/>
              </a:spcBef>
              <a:buClr>
                <a:srgbClr val="000000"/>
              </a:buClr>
              <a:buFont typeface="Helvetica"/>
              <a:defRPr sz="1200" b="1">
                <a:latin typeface="Helvetica"/>
                <a:ea typeface="Helvetica"/>
                <a:cs typeface="Helvetica"/>
                <a:sym typeface="Helvetica"/>
              </a:defRPr>
            </a:lvl1pPr>
          </a:lstStyle>
          <a:p>
            <a:pPr lvl="0">
              <a:defRPr sz="1800" b="0">
                <a:uFillTx/>
              </a:defRPr>
            </a:pPr>
            <a:r>
              <a:rPr lang="en-US" sz="1400" b="0" dirty="0">
                <a:uFill>
                  <a:solidFill/>
                </a:uFill>
                <a:latin typeface="Gill Sans" charset="0"/>
                <a:ea typeface="Gill Sans" charset="0"/>
                <a:cs typeface="Gill Sans" charset="0"/>
              </a:rPr>
              <a:t>ion-dipole</a:t>
            </a:r>
          </a:p>
        </p:txBody>
      </p:sp>
      <p:sp>
        <p:nvSpPr>
          <p:cNvPr id="249" name="Shape 249"/>
          <p:cNvSpPr/>
          <p:nvPr/>
        </p:nvSpPr>
        <p:spPr>
          <a:xfrm>
            <a:off x="228600" y="1905000"/>
            <a:ext cx="1689100" cy="184666"/>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700"/>
              </a:spcBef>
              <a:buClr>
                <a:srgbClr val="000000"/>
              </a:buClr>
              <a:buFont typeface="Helvetica"/>
              <a:defRPr sz="1200" b="1">
                <a:latin typeface="Helvetica"/>
                <a:ea typeface="Helvetica"/>
                <a:cs typeface="Helvetica"/>
                <a:sym typeface="Helvetica"/>
              </a:defRPr>
            </a:lvl1pPr>
          </a:lstStyle>
          <a:p>
            <a:pPr lvl="0">
              <a:defRPr sz="1800" b="0">
                <a:uFillTx/>
              </a:defRPr>
            </a:pPr>
            <a:r>
              <a:rPr sz="1200" b="0" dirty="0">
                <a:uFill>
                  <a:solidFill/>
                </a:uFill>
              </a:rPr>
              <a:t>10</a:t>
            </a:r>
            <a:r>
              <a:rPr sz="1200" b="1" dirty="0">
                <a:uFill>
                  <a:solidFill/>
                </a:uFill>
              </a:rPr>
              <a:t> - </a:t>
            </a:r>
            <a:r>
              <a:rPr sz="1200" b="0" dirty="0">
                <a:uFill>
                  <a:solidFill/>
                </a:uFill>
                <a:latin typeface="Gill Sans" charset="0"/>
                <a:ea typeface="Gill Sans" charset="0"/>
                <a:cs typeface="Gill Sans" charset="0"/>
              </a:rPr>
              <a:t>40kJ/</a:t>
            </a:r>
            <a:r>
              <a:rPr lang="en-US" sz="1200" b="0" dirty="0">
                <a:uFill>
                  <a:solidFill/>
                </a:uFill>
                <a:latin typeface="Gill Sans" charset="0"/>
                <a:ea typeface="Gill Sans" charset="0"/>
                <a:cs typeface="Gill Sans" charset="0"/>
              </a:rPr>
              <a:t>Mole</a:t>
            </a:r>
            <a:endParaRPr sz="1200" b="0" dirty="0">
              <a:uFill>
                <a:solidFill/>
              </a:uFill>
              <a:latin typeface="Gill Sans" charset="0"/>
              <a:ea typeface="Gill Sans" charset="0"/>
              <a:cs typeface="Gill Sans" charset="0"/>
            </a:endParaRPr>
          </a:p>
        </p:txBody>
      </p:sp>
      <p:sp>
        <p:nvSpPr>
          <p:cNvPr id="250" name="Shape 250"/>
          <p:cNvSpPr/>
          <p:nvPr/>
        </p:nvSpPr>
        <p:spPr>
          <a:xfrm>
            <a:off x="192741" y="3187700"/>
            <a:ext cx="2751074" cy="184666"/>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buClr>
                <a:srgbClr val="000000"/>
              </a:buClr>
              <a:buFont typeface="Helvetica"/>
              <a:defRPr sz="1200" b="1">
                <a:latin typeface="Helvetica"/>
                <a:ea typeface="Helvetica"/>
                <a:cs typeface="Helvetica"/>
                <a:sym typeface="Helvetica"/>
              </a:defRPr>
            </a:lvl1pPr>
          </a:lstStyle>
          <a:p>
            <a:pPr lvl="0">
              <a:defRPr sz="1800" b="0">
                <a:uFillTx/>
              </a:defRPr>
            </a:pPr>
            <a:r>
              <a:rPr lang="en-US" sz="1200" b="0" dirty="0">
                <a:uFill>
                  <a:solidFill/>
                </a:uFill>
              </a:rPr>
              <a:t>Scales directly with surface area buried</a:t>
            </a:r>
            <a:endParaRPr sz="1200" b="0" dirty="0">
              <a:uFill>
                <a:solidFill/>
              </a:uFill>
            </a:endParaRPr>
          </a:p>
        </p:txBody>
      </p:sp>
      <p:sp>
        <p:nvSpPr>
          <p:cNvPr id="251" name="Shape 251"/>
          <p:cNvSpPr/>
          <p:nvPr/>
        </p:nvSpPr>
        <p:spPr>
          <a:xfrm>
            <a:off x="2095500" y="863600"/>
            <a:ext cx="317500" cy="24622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900"/>
              </a:spcBef>
              <a:buClr>
                <a:srgbClr val="000000"/>
              </a:buClr>
              <a:buFont typeface="Helvetica"/>
              <a:defRPr sz="1600" b="1">
                <a:latin typeface="Helvetica"/>
                <a:ea typeface="Helvetica"/>
                <a:cs typeface="Helvetica"/>
                <a:sym typeface="Helvetica"/>
              </a:defRPr>
            </a:lvl1pPr>
          </a:lstStyle>
          <a:p>
            <a:pPr lvl="0">
              <a:defRPr sz="1800" b="0">
                <a:uFillTx/>
              </a:defRPr>
            </a:pPr>
            <a:r>
              <a:rPr sz="1600" b="0">
                <a:uFill>
                  <a:solidFill/>
                </a:uFill>
                <a:latin typeface="Gill Sans" charset="0"/>
                <a:ea typeface="Gill Sans" charset="0"/>
                <a:cs typeface="Gill Sans" charset="0"/>
              </a:rPr>
              <a:t>+</a:t>
            </a:r>
          </a:p>
        </p:txBody>
      </p:sp>
      <p:sp>
        <p:nvSpPr>
          <p:cNvPr id="252" name="Shape 252"/>
          <p:cNvSpPr/>
          <p:nvPr/>
        </p:nvSpPr>
        <p:spPr>
          <a:xfrm>
            <a:off x="5448863" y="979960"/>
            <a:ext cx="6108700" cy="184666"/>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700"/>
              </a:spcBef>
              <a:buClr>
                <a:srgbClr val="000000"/>
              </a:buClr>
              <a:buFont typeface="Helvetica"/>
              <a:defRPr sz="1200" b="1">
                <a:latin typeface="Helvetica"/>
                <a:ea typeface="Helvetica"/>
                <a:cs typeface="Helvetica"/>
                <a:sym typeface="Helvetica"/>
              </a:defRPr>
            </a:lvl1pPr>
          </a:lstStyle>
          <a:p>
            <a:pPr lvl="0">
              <a:defRPr sz="1800" b="0">
                <a:uFillTx/>
              </a:defRPr>
            </a:pPr>
            <a:r>
              <a:rPr sz="1200" b="0" dirty="0">
                <a:uFill>
                  <a:solidFill/>
                </a:uFill>
                <a:latin typeface="Gill Sans" charset="0"/>
                <a:ea typeface="Gill Sans" charset="0"/>
                <a:cs typeface="Gill Sans" charset="0"/>
              </a:rPr>
              <a:t>L</a:t>
            </a:r>
            <a:r>
              <a:rPr lang="en-US" sz="1200" b="0" dirty="0">
                <a:uFill>
                  <a:solidFill/>
                </a:uFill>
                <a:latin typeface="Gill Sans" charset="0"/>
                <a:ea typeface="Gill Sans" charset="0"/>
                <a:cs typeface="Gill Sans" charset="0"/>
              </a:rPr>
              <a:t>ondon dispersion force = transient dipoles</a:t>
            </a:r>
            <a:endParaRPr sz="1200" b="0" dirty="0">
              <a:uFill>
                <a:solidFill/>
              </a:uFill>
              <a:latin typeface="Gill Sans" charset="0"/>
              <a:ea typeface="Gill Sans" charset="0"/>
              <a:cs typeface="Gill Sans" charset="0"/>
            </a:endParaRPr>
          </a:p>
        </p:txBody>
      </p:sp>
      <p:grpSp>
        <p:nvGrpSpPr>
          <p:cNvPr id="273" name="Group 273"/>
          <p:cNvGrpSpPr/>
          <p:nvPr/>
        </p:nvGrpSpPr>
        <p:grpSpPr>
          <a:xfrm>
            <a:off x="3200400" y="233067"/>
            <a:ext cx="5804391" cy="682115"/>
            <a:chOff x="0" y="-73320"/>
            <a:chExt cx="5804390" cy="682114"/>
          </a:xfrm>
        </p:grpSpPr>
        <p:sp>
          <p:nvSpPr>
            <p:cNvPr id="258" name="Shape 258"/>
            <p:cNvSpPr/>
            <p:nvPr/>
          </p:nvSpPr>
          <p:spPr>
            <a:xfrm>
              <a:off x="0" y="271462"/>
              <a:ext cx="1689100" cy="33733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lvl="0">
                <a:spcBef>
                  <a:spcPts val="800"/>
                </a:spcBef>
                <a:buClr>
                  <a:srgbClr val="000000"/>
                </a:buClr>
                <a:buFont typeface="Helvetica"/>
                <a:defRPr sz="1800">
                  <a:uFillTx/>
                </a:defRPr>
              </a:pPr>
              <a:r>
                <a:rPr sz="1400" b="1" dirty="0">
                  <a:uFill>
                    <a:solidFill/>
                  </a:uFill>
                  <a:latin typeface="Helvetica"/>
                  <a:ea typeface="Helvetica"/>
                  <a:cs typeface="Helvetica"/>
                  <a:sym typeface="Helvetica"/>
                </a:rPr>
                <a:t>CH</a:t>
              </a:r>
              <a:r>
                <a:rPr sz="1400" b="1" baseline="-14999" dirty="0">
                  <a:uFill>
                    <a:solidFill/>
                  </a:uFill>
                  <a:latin typeface="Helvetica"/>
                  <a:ea typeface="Helvetica"/>
                  <a:cs typeface="Helvetica"/>
                  <a:sym typeface="Helvetica"/>
                </a:rPr>
                <a:t>3 </a:t>
              </a:r>
              <a:r>
                <a:rPr sz="1400" b="1" dirty="0">
                  <a:uFill>
                    <a:solidFill/>
                  </a:uFill>
                  <a:latin typeface="Helvetica"/>
                  <a:ea typeface="Helvetica"/>
                  <a:cs typeface="Helvetica"/>
                  <a:sym typeface="Helvetica"/>
                </a:rPr>
                <a:t>  CH</a:t>
              </a:r>
              <a:r>
                <a:rPr sz="1400" b="1" baseline="-14999" dirty="0">
                  <a:uFill>
                    <a:solidFill/>
                  </a:uFill>
                  <a:latin typeface="Helvetica"/>
                  <a:ea typeface="Helvetica"/>
                  <a:cs typeface="Helvetica"/>
                  <a:sym typeface="Helvetica"/>
                </a:rPr>
                <a:t>3</a:t>
              </a:r>
              <a:r>
                <a:rPr sz="1400" b="1" dirty="0">
                  <a:uFill>
                    <a:solidFill/>
                  </a:uFill>
                  <a:latin typeface="Helvetica"/>
                  <a:ea typeface="Helvetica"/>
                  <a:cs typeface="Helvetica"/>
                  <a:sym typeface="Helvetica"/>
                </a:rPr>
                <a:t>   CH</a:t>
              </a:r>
              <a:r>
                <a:rPr sz="1400" b="1" baseline="-14999" dirty="0">
                  <a:uFill>
                    <a:solidFill/>
                  </a:uFill>
                  <a:latin typeface="Helvetica"/>
                  <a:ea typeface="Helvetica"/>
                  <a:cs typeface="Helvetica"/>
                  <a:sym typeface="Helvetica"/>
                </a:rPr>
                <a:t>3</a:t>
              </a:r>
              <a:r>
                <a:rPr sz="1200" b="1" dirty="0">
                  <a:uFill>
                    <a:solidFill/>
                  </a:uFill>
                  <a:latin typeface="Helvetica"/>
                  <a:ea typeface="Helvetica"/>
                  <a:cs typeface="Helvetica"/>
                  <a:sym typeface="Helvetica"/>
                </a:rPr>
                <a:t>  </a:t>
              </a:r>
              <a:r>
                <a:rPr sz="1600" dirty="0">
                  <a:uFill>
                    <a:solidFill/>
                  </a:uFill>
                  <a:latin typeface="Symbol"/>
                  <a:ea typeface="Symbol"/>
                  <a:cs typeface="Symbol"/>
                  <a:sym typeface="Symbol"/>
                </a:rPr>
                <a:t>≡</a:t>
              </a:r>
            </a:p>
          </p:txBody>
        </p:sp>
        <p:sp>
          <p:nvSpPr>
            <p:cNvPr id="259" name="Shape 259"/>
            <p:cNvSpPr/>
            <p:nvPr/>
          </p:nvSpPr>
          <p:spPr>
            <a:xfrm flipV="1">
              <a:off x="2762250" y="419100"/>
              <a:ext cx="955675" cy="6350"/>
            </a:xfrm>
            <a:prstGeom prst="line">
              <a:avLst/>
            </a:prstGeom>
            <a:noFill/>
            <a:ln w="19050" cap="flat">
              <a:solidFill>
                <a:srgbClr val="000000"/>
              </a:solidFill>
              <a:prstDash val="solid"/>
              <a:round/>
              <a:tailEnd type="triangle" w="med" len="med"/>
            </a:ln>
            <a:effectLst/>
          </p:spPr>
          <p:txBody>
            <a:bodyPr wrap="square" lIns="0" tIns="0" rIns="0" bIns="0" numCol="1" anchor="t">
              <a:noAutofit/>
            </a:bodyPr>
            <a:lstStyle/>
            <a:p>
              <a:pPr marL="0" marR="0" lvl="0" defTabSz="457200">
                <a:defRPr sz="1200">
                  <a:uFillTx/>
                  <a:latin typeface="Helvetica"/>
                  <a:ea typeface="Helvetica"/>
                  <a:cs typeface="Helvetica"/>
                  <a:sym typeface="Helvetica"/>
                </a:defRPr>
              </a:pPr>
              <a:endParaRPr/>
            </a:p>
          </p:txBody>
        </p:sp>
        <p:sp>
          <p:nvSpPr>
            <p:cNvPr id="260" name="Shape 260"/>
            <p:cNvSpPr/>
            <p:nvPr/>
          </p:nvSpPr>
          <p:spPr>
            <a:xfrm>
              <a:off x="2697908" y="-73320"/>
              <a:ext cx="1541495" cy="40011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lvl="0">
                <a:spcBef>
                  <a:spcPts val="700"/>
                </a:spcBef>
                <a:buClr>
                  <a:srgbClr val="000000"/>
                </a:buClr>
                <a:buFont typeface="Helvetica"/>
                <a:defRPr sz="1800">
                  <a:uFillTx/>
                </a:defRPr>
              </a:pPr>
              <a:r>
                <a:rPr sz="1400" b="0" dirty="0">
                  <a:uFill>
                    <a:solidFill/>
                  </a:uFill>
                  <a:latin typeface="Gill Sans" charset="0"/>
                  <a:ea typeface="Gill Sans" charset="0"/>
                  <a:cs typeface="Gill Sans" charset="0"/>
                  <a:sym typeface="Helvetica"/>
                </a:rPr>
                <a:t>e</a:t>
              </a:r>
              <a:r>
                <a:rPr sz="1200" b="0" baseline="16666" dirty="0">
                  <a:uFill>
                    <a:solidFill/>
                  </a:uFill>
                  <a:latin typeface="Gill Sans" charset="0"/>
                  <a:ea typeface="Gill Sans" charset="0"/>
                  <a:cs typeface="Gill Sans" charset="0"/>
                  <a:sym typeface="Helvetica"/>
                </a:rPr>
                <a:t>-</a:t>
              </a:r>
              <a:r>
                <a:rPr sz="1200" b="0" dirty="0">
                  <a:uFill>
                    <a:solidFill/>
                  </a:uFill>
                  <a:latin typeface="Gill Sans" charset="0"/>
                  <a:ea typeface="Gill Sans" charset="0"/>
                  <a:cs typeface="Gill Sans" charset="0"/>
                  <a:sym typeface="Helvetica"/>
                </a:rPr>
                <a:t> </a:t>
              </a:r>
              <a:r>
                <a:rPr lang="en-US" sz="1200" b="0" dirty="0">
                  <a:uFill>
                    <a:solidFill/>
                  </a:uFill>
                  <a:latin typeface="Gill Sans" charset="0"/>
                  <a:ea typeface="Gill Sans" charset="0"/>
                  <a:cs typeface="Gill Sans" charset="0"/>
                  <a:sym typeface="Helvetica"/>
                </a:rPr>
                <a:t>clouds distort, giving  transient dipoles</a:t>
              </a:r>
            </a:p>
          </p:txBody>
        </p:sp>
        <p:grpSp>
          <p:nvGrpSpPr>
            <p:cNvPr id="268" name="Group 268"/>
            <p:cNvGrpSpPr/>
            <p:nvPr/>
          </p:nvGrpSpPr>
          <p:grpSpPr>
            <a:xfrm>
              <a:off x="3727150" y="263223"/>
              <a:ext cx="2077240" cy="331471"/>
              <a:chOff x="-6650" y="-28876"/>
              <a:chExt cx="2077239" cy="331469"/>
            </a:xfrm>
          </p:grpSpPr>
          <p:sp>
            <p:nvSpPr>
              <p:cNvPr id="261" name="Shape 261"/>
              <p:cNvSpPr/>
              <p:nvPr/>
            </p:nvSpPr>
            <p:spPr>
              <a:xfrm>
                <a:off x="1377650" y="-28876"/>
                <a:ext cx="574675" cy="26670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noFill/>
              <a:ln w="28575" cap="flat">
                <a:solidFill>
                  <a:srgbClr val="000000">
                    <a:alpha val="50999"/>
                  </a:srgbClr>
                </a:solidFill>
                <a:prstDash val="solid"/>
                <a:round/>
              </a:ln>
              <a:effectLst/>
            </p:spPr>
            <p:txBody>
              <a:bodyPr wrap="square" lIns="0" tIns="0" rIns="0" bIns="0" numCol="1" anchor="ctr">
                <a:noAutofit/>
              </a:bodyPr>
              <a:lstStyle/>
              <a:p>
                <a:pPr lvl="0"/>
                <a:endParaRPr/>
              </a:p>
            </p:txBody>
          </p:sp>
          <p:grpSp>
            <p:nvGrpSpPr>
              <p:cNvPr id="265" name="Group 265"/>
              <p:cNvGrpSpPr/>
              <p:nvPr/>
            </p:nvGrpSpPr>
            <p:grpSpPr>
              <a:xfrm>
                <a:off x="0" y="12700"/>
                <a:ext cx="2070589" cy="289893"/>
                <a:chOff x="0" y="0"/>
                <a:chExt cx="2070588" cy="289892"/>
              </a:xfrm>
            </p:grpSpPr>
            <p:sp>
              <p:nvSpPr>
                <p:cNvPr id="262" name="Shape 262"/>
                <p:cNvSpPr/>
                <p:nvPr/>
              </p:nvSpPr>
              <p:spPr>
                <a:xfrm>
                  <a:off x="0" y="0"/>
                  <a:ext cx="685800" cy="28989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lvl="0">
                    <a:spcBef>
                      <a:spcPts val="600"/>
                    </a:spcBef>
                    <a:buClr>
                      <a:srgbClr val="000000"/>
                    </a:buClr>
                    <a:buFont typeface="Symbol"/>
                    <a:defRPr sz="1800">
                      <a:uFillTx/>
                    </a:defRPr>
                  </a:pPr>
                  <a:r>
                    <a:rPr sz="1200">
                      <a:uFill>
                        <a:solidFill/>
                      </a:uFill>
                      <a:latin typeface="Symbol"/>
                      <a:ea typeface="Symbol"/>
                      <a:cs typeface="Symbol"/>
                      <a:sym typeface="Symbol"/>
                    </a:rPr>
                    <a:t>δ</a:t>
                  </a:r>
                  <a:r>
                    <a:rPr sz="1200" b="1" baseline="21999">
                      <a:uFill>
                        <a:solidFill/>
                      </a:uFill>
                      <a:latin typeface="Helvetica"/>
                      <a:ea typeface="Helvetica"/>
                      <a:cs typeface="Helvetica"/>
                      <a:sym typeface="Helvetica"/>
                    </a:rPr>
                    <a:t>+</a:t>
                  </a:r>
                  <a:r>
                    <a:rPr sz="1200" b="1">
                      <a:uFill>
                        <a:solidFill/>
                      </a:uFill>
                      <a:latin typeface="Helvetica"/>
                      <a:ea typeface="Helvetica"/>
                      <a:cs typeface="Helvetica"/>
                      <a:sym typeface="Helvetica"/>
                    </a:rPr>
                    <a:t>     </a:t>
                  </a:r>
                  <a:r>
                    <a:rPr sz="1200">
                      <a:uFill>
                        <a:solidFill/>
                      </a:uFill>
                      <a:latin typeface="Symbol"/>
                      <a:ea typeface="Symbol"/>
                      <a:cs typeface="Symbol"/>
                      <a:sym typeface="Symbol"/>
                    </a:rPr>
                    <a:t>δ</a:t>
                  </a:r>
                  <a:r>
                    <a:rPr sz="1200" b="1" baseline="21999">
                      <a:uFill>
                        <a:solidFill/>
                      </a:uFill>
                      <a:latin typeface="Helvetica"/>
                      <a:ea typeface="Helvetica"/>
                      <a:cs typeface="Helvetica"/>
                      <a:sym typeface="Helvetica"/>
                    </a:rPr>
                    <a:t>-</a:t>
                  </a:r>
                </a:p>
              </p:txBody>
            </p:sp>
            <p:sp>
              <p:nvSpPr>
                <p:cNvPr id="263" name="Shape 263"/>
                <p:cNvSpPr/>
                <p:nvPr/>
              </p:nvSpPr>
              <p:spPr>
                <a:xfrm>
                  <a:off x="680524" y="0"/>
                  <a:ext cx="685801" cy="28989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lvl="0">
                    <a:spcBef>
                      <a:spcPts val="600"/>
                    </a:spcBef>
                    <a:buClr>
                      <a:srgbClr val="000000"/>
                    </a:buClr>
                    <a:buFont typeface="Symbol"/>
                    <a:defRPr sz="1800">
                      <a:uFillTx/>
                    </a:defRPr>
                  </a:pPr>
                  <a:r>
                    <a:rPr sz="1200">
                      <a:uFill>
                        <a:solidFill/>
                      </a:uFill>
                      <a:latin typeface="Symbol"/>
                      <a:ea typeface="Symbol"/>
                      <a:cs typeface="Symbol"/>
                      <a:sym typeface="Symbol"/>
                    </a:rPr>
                    <a:t>δ</a:t>
                  </a:r>
                  <a:r>
                    <a:rPr sz="1200" b="1" baseline="21999">
                      <a:uFill>
                        <a:solidFill/>
                      </a:uFill>
                      <a:latin typeface="Helvetica"/>
                      <a:ea typeface="Helvetica"/>
                      <a:cs typeface="Helvetica"/>
                      <a:sym typeface="Helvetica"/>
                    </a:rPr>
                    <a:t>+</a:t>
                  </a:r>
                  <a:r>
                    <a:rPr sz="1200" b="1">
                      <a:uFill>
                        <a:solidFill/>
                      </a:uFill>
                      <a:latin typeface="Helvetica"/>
                      <a:ea typeface="Helvetica"/>
                      <a:cs typeface="Helvetica"/>
                      <a:sym typeface="Helvetica"/>
                    </a:rPr>
                    <a:t>     </a:t>
                  </a:r>
                  <a:r>
                    <a:rPr sz="1200">
                      <a:uFill>
                        <a:solidFill/>
                      </a:uFill>
                      <a:latin typeface="Symbol"/>
                      <a:ea typeface="Symbol"/>
                      <a:cs typeface="Symbol"/>
                      <a:sym typeface="Symbol"/>
                    </a:rPr>
                    <a:t>δ</a:t>
                  </a:r>
                  <a:r>
                    <a:rPr sz="1200" b="1" baseline="21999">
                      <a:uFill>
                        <a:solidFill/>
                      </a:uFill>
                      <a:latin typeface="Helvetica"/>
                      <a:ea typeface="Helvetica"/>
                      <a:cs typeface="Helvetica"/>
                      <a:sym typeface="Helvetica"/>
                    </a:rPr>
                    <a:t>-</a:t>
                  </a:r>
                </a:p>
              </p:txBody>
            </p:sp>
            <p:sp>
              <p:nvSpPr>
                <p:cNvPr id="264" name="Shape 264"/>
                <p:cNvSpPr/>
                <p:nvPr/>
              </p:nvSpPr>
              <p:spPr>
                <a:xfrm>
                  <a:off x="1384788" y="0"/>
                  <a:ext cx="685801" cy="28989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lvl="0">
                    <a:spcBef>
                      <a:spcPts val="600"/>
                    </a:spcBef>
                    <a:buClr>
                      <a:srgbClr val="000000"/>
                    </a:buClr>
                    <a:buFont typeface="Symbol"/>
                    <a:defRPr sz="1800">
                      <a:uFillTx/>
                    </a:defRPr>
                  </a:pPr>
                  <a:r>
                    <a:rPr sz="1200">
                      <a:uFill>
                        <a:solidFill/>
                      </a:uFill>
                      <a:latin typeface="Symbol"/>
                      <a:ea typeface="Symbol"/>
                      <a:cs typeface="Symbol"/>
                      <a:sym typeface="Symbol"/>
                    </a:rPr>
                    <a:t>δ</a:t>
                  </a:r>
                  <a:r>
                    <a:rPr sz="1200" b="1" baseline="21999">
                      <a:uFill>
                        <a:solidFill/>
                      </a:uFill>
                      <a:latin typeface="Helvetica"/>
                      <a:ea typeface="Helvetica"/>
                      <a:cs typeface="Helvetica"/>
                      <a:sym typeface="Helvetica"/>
                    </a:rPr>
                    <a:t>+</a:t>
                  </a:r>
                  <a:r>
                    <a:rPr sz="1200" b="1">
                      <a:uFill>
                        <a:solidFill/>
                      </a:uFill>
                      <a:latin typeface="Helvetica"/>
                      <a:ea typeface="Helvetica"/>
                      <a:cs typeface="Helvetica"/>
                      <a:sym typeface="Helvetica"/>
                    </a:rPr>
                    <a:t>     </a:t>
                  </a:r>
                  <a:r>
                    <a:rPr sz="1200">
                      <a:uFill>
                        <a:solidFill/>
                      </a:uFill>
                      <a:latin typeface="Symbol"/>
                      <a:ea typeface="Symbol"/>
                      <a:cs typeface="Symbol"/>
                      <a:sym typeface="Symbol"/>
                    </a:rPr>
                    <a:t>δ</a:t>
                  </a:r>
                  <a:r>
                    <a:rPr sz="1200" b="1" baseline="21999">
                      <a:uFill>
                        <a:solidFill/>
                      </a:uFill>
                      <a:latin typeface="Helvetica"/>
                      <a:ea typeface="Helvetica"/>
                      <a:cs typeface="Helvetica"/>
                      <a:sym typeface="Helvetica"/>
                    </a:rPr>
                    <a:t>-</a:t>
                  </a:r>
                </a:p>
              </p:txBody>
            </p:sp>
          </p:grpSp>
          <p:sp>
            <p:nvSpPr>
              <p:cNvPr id="266" name="Shape 266"/>
              <p:cNvSpPr/>
              <p:nvPr/>
            </p:nvSpPr>
            <p:spPr>
              <a:xfrm>
                <a:off x="672800" y="-28876"/>
                <a:ext cx="574675" cy="26670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noFill/>
              <a:ln w="28575" cap="flat">
                <a:solidFill>
                  <a:srgbClr val="000000">
                    <a:alpha val="50999"/>
                  </a:srgbClr>
                </a:solidFill>
                <a:prstDash val="solid"/>
                <a:round/>
              </a:ln>
              <a:effectLst/>
            </p:spPr>
            <p:txBody>
              <a:bodyPr wrap="square" lIns="0" tIns="0" rIns="0" bIns="0" numCol="1" anchor="ctr">
                <a:noAutofit/>
              </a:bodyPr>
              <a:lstStyle/>
              <a:p>
                <a:pPr lvl="0"/>
                <a:endParaRPr/>
              </a:p>
            </p:txBody>
          </p:sp>
          <p:sp>
            <p:nvSpPr>
              <p:cNvPr id="267" name="Shape 267"/>
              <p:cNvSpPr/>
              <p:nvPr/>
            </p:nvSpPr>
            <p:spPr>
              <a:xfrm>
                <a:off x="-6650" y="-28876"/>
                <a:ext cx="574675" cy="26670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noFill/>
              <a:ln w="28575" cap="flat">
                <a:solidFill>
                  <a:srgbClr val="000000">
                    <a:alpha val="50999"/>
                  </a:srgbClr>
                </a:solidFill>
                <a:prstDash val="solid"/>
                <a:round/>
              </a:ln>
              <a:effectLst/>
            </p:spPr>
            <p:txBody>
              <a:bodyPr wrap="square" lIns="0" tIns="0" rIns="0" bIns="0" numCol="1" anchor="ctr">
                <a:noAutofit/>
              </a:bodyPr>
              <a:lstStyle/>
              <a:p>
                <a:pPr lvl="0"/>
                <a:endParaRPr/>
              </a:p>
            </p:txBody>
          </p:sp>
        </p:grpSp>
        <p:grpSp>
          <p:nvGrpSpPr>
            <p:cNvPr id="272" name="Group 272"/>
            <p:cNvGrpSpPr/>
            <p:nvPr/>
          </p:nvGrpSpPr>
          <p:grpSpPr>
            <a:xfrm>
              <a:off x="1619249" y="279399"/>
              <a:ext cx="1098551" cy="320676"/>
              <a:chOff x="0" y="0"/>
              <a:chExt cx="1098550" cy="320675"/>
            </a:xfrm>
          </p:grpSpPr>
          <p:sp>
            <p:nvSpPr>
              <p:cNvPr id="269" name="Shape 269"/>
              <p:cNvSpPr/>
              <p:nvPr/>
            </p:nvSpPr>
            <p:spPr>
              <a:xfrm>
                <a:off x="0" y="-1"/>
                <a:ext cx="328613" cy="32067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noFill/>
              <a:ln w="28575" cap="flat">
                <a:solidFill>
                  <a:srgbClr val="000000">
                    <a:alpha val="50999"/>
                  </a:srgbClr>
                </a:solidFill>
                <a:prstDash val="solid"/>
                <a:round/>
              </a:ln>
              <a:effectLst/>
            </p:spPr>
            <p:txBody>
              <a:bodyPr wrap="square" lIns="0" tIns="0" rIns="0" bIns="0" numCol="1" anchor="ctr">
                <a:noAutofit/>
              </a:bodyPr>
              <a:lstStyle/>
              <a:p>
                <a:pPr lvl="0"/>
                <a:endParaRPr/>
              </a:p>
            </p:txBody>
          </p:sp>
          <p:sp>
            <p:nvSpPr>
              <p:cNvPr id="270" name="Shape 270"/>
              <p:cNvSpPr/>
              <p:nvPr/>
            </p:nvSpPr>
            <p:spPr>
              <a:xfrm>
                <a:off x="382587" y="-1"/>
                <a:ext cx="328613" cy="32067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noFill/>
              <a:ln w="28575" cap="flat">
                <a:solidFill>
                  <a:srgbClr val="000000">
                    <a:alpha val="50999"/>
                  </a:srgbClr>
                </a:solidFill>
                <a:prstDash val="solid"/>
                <a:round/>
              </a:ln>
              <a:effectLst/>
            </p:spPr>
            <p:txBody>
              <a:bodyPr wrap="square" lIns="0" tIns="0" rIns="0" bIns="0" numCol="1" anchor="ctr">
                <a:noAutofit/>
              </a:bodyPr>
              <a:lstStyle/>
              <a:p>
                <a:pPr lvl="0"/>
                <a:endParaRPr/>
              </a:p>
            </p:txBody>
          </p:sp>
          <p:sp>
            <p:nvSpPr>
              <p:cNvPr id="271" name="Shape 271"/>
              <p:cNvSpPr/>
              <p:nvPr/>
            </p:nvSpPr>
            <p:spPr>
              <a:xfrm>
                <a:off x="769937" y="-1"/>
                <a:ext cx="328613" cy="32067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noFill/>
              <a:ln w="28575" cap="flat">
                <a:solidFill>
                  <a:srgbClr val="000000">
                    <a:alpha val="50999"/>
                  </a:srgbClr>
                </a:solidFill>
                <a:prstDash val="solid"/>
                <a:round/>
              </a:ln>
              <a:effectLst/>
            </p:spPr>
            <p:txBody>
              <a:bodyPr wrap="square" lIns="0" tIns="0" rIns="0" bIns="0" numCol="1" anchor="ctr">
                <a:noAutofit/>
              </a:bodyPr>
              <a:lstStyle/>
              <a:p>
                <a:pPr lvl="0"/>
                <a:endParaRPr/>
              </a:p>
            </p:txBody>
          </p:sp>
        </p:grpSp>
      </p:grpSp>
      <p:sp>
        <p:nvSpPr>
          <p:cNvPr id="361" name="Shape 361"/>
          <p:cNvSpPr/>
          <p:nvPr/>
        </p:nvSpPr>
        <p:spPr>
          <a:xfrm>
            <a:off x="5062889" y="1186646"/>
            <a:ext cx="6108700" cy="184666"/>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700"/>
              </a:spcBef>
              <a:buClr>
                <a:srgbClr val="000000"/>
              </a:buClr>
              <a:buFont typeface="Helvetica"/>
              <a:defRPr sz="1200" b="1">
                <a:latin typeface="Helvetica"/>
                <a:ea typeface="Helvetica"/>
                <a:cs typeface="Helvetica"/>
                <a:sym typeface="Helvetica"/>
              </a:defRPr>
            </a:lvl1pPr>
          </a:lstStyle>
          <a:p>
            <a:pPr lvl="0">
              <a:defRPr sz="1800" b="0">
                <a:uFillTx/>
              </a:defRPr>
            </a:pPr>
            <a:r>
              <a:rPr sz="1200" b="0" dirty="0">
                <a:uFill>
                  <a:solidFill/>
                </a:uFill>
                <a:latin typeface="Gill Sans" charset="0"/>
                <a:ea typeface="Gill Sans" charset="0"/>
                <a:cs typeface="Gill Sans" charset="0"/>
              </a:rPr>
              <a:t>T</a:t>
            </a:r>
            <a:r>
              <a:rPr lang="en-US" sz="1200" b="0" dirty="0">
                <a:uFill>
                  <a:solidFill/>
                </a:uFill>
                <a:latin typeface="Gill Sans" charset="0"/>
                <a:ea typeface="Gill Sans" charset="0"/>
                <a:cs typeface="Gill Sans" charset="0"/>
              </a:rPr>
              <a:t>he only attractive force for non-aromatic hydrocarbon!</a:t>
            </a:r>
          </a:p>
        </p:txBody>
      </p:sp>
      <p:sp>
        <p:nvSpPr>
          <p:cNvPr id="3" name="Rectangle 2">
            <a:extLst>
              <a:ext uri="{FF2B5EF4-FFF2-40B4-BE49-F238E27FC236}">
                <a16:creationId xmlns:a16="http://schemas.microsoft.com/office/drawing/2014/main" id="{E429CF6A-38DF-264C-AEA2-0A40A47796A8}"/>
              </a:ext>
            </a:extLst>
          </p:cNvPr>
          <p:cNvSpPr/>
          <p:nvPr/>
        </p:nvSpPr>
        <p:spPr>
          <a:xfrm>
            <a:off x="3645320" y="-12681"/>
            <a:ext cx="5067734" cy="307777"/>
          </a:xfrm>
          <a:prstGeom prst="rect">
            <a:avLst/>
          </a:prstGeom>
        </p:spPr>
        <p:txBody>
          <a:bodyPr wrap="none">
            <a:spAutoFit/>
          </a:bodyPr>
          <a:lstStyle/>
          <a:p>
            <a:r>
              <a:rPr lang="en-US" sz="1400" b="0" dirty="0">
                <a:latin typeface="Gill Sans" charset="0"/>
                <a:ea typeface="Gill Sans" charset="0"/>
                <a:cs typeface="Gill Sans" charset="0"/>
              </a:rPr>
              <a:t>Electron shell repulsion + London dispersion = </a:t>
            </a:r>
            <a:r>
              <a:rPr lang="en-US" sz="1400" dirty="0">
                <a:latin typeface="Gill Sans" charset="0"/>
                <a:ea typeface="Gill Sans" charset="0"/>
                <a:cs typeface="Gill Sans" charset="0"/>
              </a:rPr>
              <a:t>Van der Waals</a:t>
            </a:r>
            <a:endParaRPr lang="en-US" sz="1400" dirty="0"/>
          </a:p>
        </p:txBody>
      </p:sp>
      <p:pic>
        <p:nvPicPr>
          <p:cNvPr id="145" name="image.pdf">
            <a:extLst>
              <a:ext uri="{FF2B5EF4-FFF2-40B4-BE49-F238E27FC236}">
                <a16:creationId xmlns:a16="http://schemas.microsoft.com/office/drawing/2014/main" id="{4802F469-1C97-4041-9AC1-CD47048E1E23}"/>
              </a:ext>
            </a:extLst>
          </p:cNvPr>
          <p:cNvPicPr/>
          <p:nvPr/>
        </p:nvPicPr>
        <p:blipFill>
          <a:blip r:embed="rId3"/>
          <a:stretch>
            <a:fillRect/>
          </a:stretch>
        </p:blipFill>
        <p:spPr>
          <a:xfrm>
            <a:off x="2418698" y="1527889"/>
            <a:ext cx="3048000" cy="1487488"/>
          </a:xfrm>
          <a:prstGeom prst="rect">
            <a:avLst/>
          </a:prstGeom>
          <a:ln w="12700">
            <a:miter lim="400000"/>
          </a:ln>
        </p:spPr>
      </p:pic>
      <p:sp>
        <p:nvSpPr>
          <p:cNvPr id="147" name="Shape 356">
            <a:extLst>
              <a:ext uri="{FF2B5EF4-FFF2-40B4-BE49-F238E27FC236}">
                <a16:creationId xmlns:a16="http://schemas.microsoft.com/office/drawing/2014/main" id="{C0D25268-F7B7-C64A-9927-84502F3ACDC9}"/>
              </a:ext>
            </a:extLst>
          </p:cNvPr>
          <p:cNvSpPr/>
          <p:nvPr/>
        </p:nvSpPr>
        <p:spPr>
          <a:xfrm>
            <a:off x="5424487" y="1919290"/>
            <a:ext cx="1993900" cy="73866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spcBef>
                <a:spcPts val="900"/>
              </a:spcBef>
              <a:buClr>
                <a:srgbClr val="062ACD"/>
              </a:buClr>
              <a:buFont typeface="Helvetica"/>
              <a:defRPr sz="1600" b="1">
                <a:solidFill>
                  <a:srgbClr val="062ACD"/>
                </a:solidFill>
                <a:uFill>
                  <a:solidFill>
                    <a:srgbClr val="062ACD"/>
                  </a:solidFill>
                </a:uFill>
                <a:latin typeface="Helvetica"/>
                <a:ea typeface="Helvetica"/>
                <a:cs typeface="Helvetica"/>
                <a:sym typeface="Helvetica"/>
              </a:defRPr>
            </a:lvl1pPr>
          </a:lstStyle>
          <a:p>
            <a:pPr lvl="0">
              <a:defRPr sz="1800" b="0">
                <a:solidFill>
                  <a:srgbClr val="000000"/>
                </a:solidFill>
                <a:uFillTx/>
              </a:defRPr>
            </a:pPr>
            <a:r>
              <a:rPr sz="1600" b="0" dirty="0">
                <a:solidFill>
                  <a:schemeClr val="tx1"/>
                </a:solidFill>
                <a:uFill>
                  <a:solidFill>
                    <a:srgbClr val="062ACD"/>
                  </a:solidFill>
                </a:uFill>
                <a:latin typeface="Gill Sans" charset="0"/>
                <a:ea typeface="Gill Sans" charset="0"/>
                <a:cs typeface="Gill Sans" charset="0"/>
              </a:rPr>
              <a:t>T</a:t>
            </a:r>
            <a:r>
              <a:rPr lang="en-US" sz="1600" b="0" dirty="0">
                <a:solidFill>
                  <a:schemeClr val="tx1"/>
                </a:solidFill>
                <a:uFill>
                  <a:solidFill>
                    <a:srgbClr val="062ACD"/>
                  </a:solidFill>
                </a:uFill>
                <a:latin typeface="Gill Sans" charset="0"/>
                <a:ea typeface="Gill Sans" charset="0"/>
                <a:cs typeface="Gill Sans" charset="0"/>
              </a:rPr>
              <a:t>wo specific geometries occur in proteins</a:t>
            </a:r>
          </a:p>
        </p:txBody>
      </p:sp>
      <p:sp>
        <p:nvSpPr>
          <p:cNvPr id="150" name="TextBox 149">
            <a:extLst>
              <a:ext uri="{FF2B5EF4-FFF2-40B4-BE49-F238E27FC236}">
                <a16:creationId xmlns:a16="http://schemas.microsoft.com/office/drawing/2014/main" id="{A7C872CE-7A83-264F-90D9-F2D5EACBEF57}"/>
              </a:ext>
            </a:extLst>
          </p:cNvPr>
          <p:cNvSpPr txBox="1"/>
          <p:nvPr/>
        </p:nvSpPr>
        <p:spPr>
          <a:xfrm>
            <a:off x="219075" y="2099511"/>
            <a:ext cx="1876425" cy="34881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l-GR" sz="1600" b="0" u="none" strike="noStrike" cap="none" spc="0" normalizeH="0" baseline="0" dirty="0">
                <a:ln>
                  <a:noFill/>
                </a:ln>
                <a:solidFill>
                  <a:srgbClr val="000000"/>
                </a:solidFill>
                <a:effectLst/>
                <a:uFill>
                  <a:solidFill>
                    <a:srgbClr val="000000"/>
                  </a:solidFill>
                </a:uFill>
                <a:latin typeface="Gill Sans" panose="020B0502020104020203" pitchFamily="34" charset="-79"/>
                <a:cs typeface="Gill Sans" panose="020B0502020104020203" pitchFamily="34" charset="-79"/>
                <a:sym typeface="Helvetica"/>
              </a:rPr>
              <a:t>π</a:t>
            </a:r>
            <a:r>
              <a:rPr kumimoji="0" lang="en-US" sz="1600" b="0" u="none" strike="noStrike" cap="none" spc="0" normalizeH="0" baseline="0" dirty="0">
                <a:ln>
                  <a:noFill/>
                </a:ln>
                <a:solidFill>
                  <a:srgbClr val="000000"/>
                </a:solidFill>
                <a:effectLst/>
                <a:uFill>
                  <a:solidFill>
                    <a:srgbClr val="000000"/>
                  </a:solidFill>
                </a:uFill>
                <a:latin typeface="Gill Sans" panose="020B0502020104020203" pitchFamily="34" charset="-79"/>
                <a:cs typeface="Gill Sans" panose="020B0502020104020203" pitchFamily="34" charset="-79"/>
                <a:sym typeface="Helvetica"/>
              </a:rPr>
              <a:t> electrons interact</a:t>
            </a:r>
          </a:p>
        </p:txBody>
      </p:sp>
      <p:sp>
        <p:nvSpPr>
          <p:cNvPr id="160" name="Shape 225">
            <a:extLst>
              <a:ext uri="{FF2B5EF4-FFF2-40B4-BE49-F238E27FC236}">
                <a16:creationId xmlns:a16="http://schemas.microsoft.com/office/drawing/2014/main" id="{EEE877A5-CF1D-1C47-84D8-592DFA921AB5}"/>
              </a:ext>
            </a:extLst>
          </p:cNvPr>
          <p:cNvSpPr/>
          <p:nvPr/>
        </p:nvSpPr>
        <p:spPr>
          <a:xfrm>
            <a:off x="4572000" y="3657600"/>
            <a:ext cx="2483318" cy="625812"/>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p>
            <a:pPr lvl="0">
              <a:spcBef>
                <a:spcPts val="800"/>
              </a:spcBef>
              <a:buClr>
                <a:srgbClr val="000000"/>
              </a:buClr>
              <a:buFont typeface="Helvetica"/>
              <a:defRPr sz="1800">
                <a:uFillTx/>
              </a:defRPr>
            </a:pPr>
            <a:r>
              <a:rPr sz="1400" b="0" dirty="0">
                <a:uFill>
                  <a:solidFill/>
                </a:uFill>
                <a:latin typeface="Gill Sans" charset="0"/>
                <a:ea typeface="Gill Sans" charset="0"/>
                <a:cs typeface="Gill Sans" charset="0"/>
                <a:sym typeface="Helvetica"/>
              </a:rPr>
              <a:t>C</a:t>
            </a:r>
            <a:r>
              <a:rPr lang="en-US" sz="1400" b="0" dirty="0">
                <a:uFill>
                  <a:solidFill/>
                </a:uFill>
                <a:latin typeface="Gill Sans" charset="0"/>
                <a:ea typeface="Gill Sans" charset="0"/>
                <a:cs typeface="Gill Sans" charset="0"/>
                <a:sym typeface="Helvetica"/>
              </a:rPr>
              <a:t>ys</a:t>
            </a:r>
            <a:r>
              <a:rPr sz="1400" b="0" dirty="0">
                <a:uFill>
                  <a:solidFill/>
                </a:uFill>
                <a:latin typeface="Gill Sans" charset="0"/>
                <a:ea typeface="Gill Sans" charset="0"/>
                <a:cs typeface="Gill Sans" charset="0"/>
                <a:sym typeface="Helvetica"/>
              </a:rPr>
              <a:t>-S-S-C</a:t>
            </a:r>
            <a:r>
              <a:rPr lang="en-US" sz="1400" b="0" dirty="0">
                <a:uFill>
                  <a:solidFill/>
                </a:uFill>
                <a:latin typeface="Gill Sans" charset="0"/>
                <a:ea typeface="Gill Sans" charset="0"/>
                <a:cs typeface="Gill Sans" charset="0"/>
                <a:sym typeface="Helvetica"/>
              </a:rPr>
              <a:t>ys</a:t>
            </a:r>
            <a:r>
              <a:rPr sz="1400" b="0" dirty="0">
                <a:uFill>
                  <a:solidFill/>
                </a:uFill>
                <a:latin typeface="Gill Sans" charset="0"/>
                <a:ea typeface="Gill Sans" charset="0"/>
                <a:cs typeface="Gill Sans" charset="0"/>
                <a:sym typeface="Helvetica"/>
              </a:rPr>
              <a:t>, P</a:t>
            </a:r>
            <a:r>
              <a:rPr lang="en-US" sz="1400" b="0" dirty="0">
                <a:uFill>
                  <a:solidFill/>
                </a:uFill>
                <a:latin typeface="Gill Sans" charset="0"/>
                <a:ea typeface="Gill Sans" charset="0"/>
                <a:cs typeface="Gill Sans" charset="0"/>
                <a:sym typeface="Helvetica"/>
              </a:rPr>
              <a:t>he</a:t>
            </a:r>
            <a:r>
              <a:rPr sz="1400" b="0" dirty="0">
                <a:uFill>
                  <a:solidFill/>
                </a:uFill>
                <a:latin typeface="Gill Sans" charset="0"/>
                <a:ea typeface="Gill Sans" charset="0"/>
                <a:cs typeface="Gill Sans" charset="0"/>
                <a:sym typeface="Helvetica"/>
              </a:rPr>
              <a:t>, M</a:t>
            </a:r>
            <a:r>
              <a:rPr lang="en-US" sz="1400" b="0" dirty="0">
                <a:uFill>
                  <a:solidFill/>
                </a:uFill>
                <a:latin typeface="Gill Sans" charset="0"/>
                <a:ea typeface="Gill Sans" charset="0"/>
                <a:cs typeface="Gill Sans" charset="0"/>
                <a:sym typeface="Helvetica"/>
              </a:rPr>
              <a:t>et</a:t>
            </a:r>
            <a:r>
              <a:rPr sz="1400" b="0" dirty="0">
                <a:uFill>
                  <a:solidFill/>
                </a:uFill>
                <a:latin typeface="Gill Sans" charset="0"/>
                <a:ea typeface="Gill Sans" charset="0"/>
                <a:cs typeface="Gill Sans" charset="0"/>
                <a:sym typeface="Helvetica"/>
              </a:rPr>
              <a:t>, I</a:t>
            </a:r>
            <a:r>
              <a:rPr lang="en-US" sz="1400" b="0" dirty="0">
                <a:uFill>
                  <a:solidFill/>
                </a:uFill>
                <a:latin typeface="Gill Sans" charset="0"/>
                <a:ea typeface="Gill Sans" charset="0"/>
                <a:cs typeface="Gill Sans" charset="0"/>
                <a:sym typeface="Helvetica"/>
              </a:rPr>
              <a:t>le</a:t>
            </a:r>
            <a:r>
              <a:rPr sz="1400" b="0" dirty="0">
                <a:uFill>
                  <a:solidFill/>
                </a:uFill>
                <a:latin typeface="Gill Sans" charset="0"/>
                <a:ea typeface="Gill Sans" charset="0"/>
                <a:cs typeface="Gill Sans" charset="0"/>
                <a:sym typeface="Helvetica"/>
              </a:rPr>
              <a:t>,</a:t>
            </a:r>
          </a:p>
          <a:p>
            <a:pPr lvl="0">
              <a:spcBef>
                <a:spcPts val="800"/>
              </a:spcBef>
              <a:buClr>
                <a:srgbClr val="000000"/>
              </a:buClr>
              <a:buFont typeface="Helvetica"/>
              <a:defRPr sz="1800">
                <a:uFillTx/>
              </a:defRPr>
            </a:pPr>
            <a:r>
              <a:rPr sz="1400" b="0" dirty="0">
                <a:uFill>
                  <a:solidFill/>
                </a:uFill>
                <a:latin typeface="Gill Sans" charset="0"/>
                <a:ea typeface="Gill Sans" charset="0"/>
                <a:cs typeface="Gill Sans" charset="0"/>
                <a:sym typeface="Helvetica"/>
              </a:rPr>
              <a:t>L</a:t>
            </a:r>
            <a:r>
              <a:rPr lang="en-US" sz="1400" b="0" dirty="0">
                <a:uFill>
                  <a:solidFill/>
                </a:uFill>
                <a:latin typeface="Gill Sans" charset="0"/>
                <a:ea typeface="Gill Sans" charset="0"/>
                <a:cs typeface="Gill Sans" charset="0"/>
                <a:sym typeface="Helvetica"/>
              </a:rPr>
              <a:t>eu</a:t>
            </a:r>
            <a:r>
              <a:rPr sz="1400" b="0" dirty="0">
                <a:uFill>
                  <a:solidFill/>
                </a:uFill>
                <a:latin typeface="Gill Sans" charset="0"/>
                <a:ea typeface="Gill Sans" charset="0"/>
                <a:cs typeface="Gill Sans" charset="0"/>
                <a:sym typeface="Helvetica"/>
              </a:rPr>
              <a:t>, V</a:t>
            </a:r>
            <a:r>
              <a:rPr lang="en-US" sz="1400" b="0" dirty="0">
                <a:uFill>
                  <a:solidFill/>
                </a:uFill>
                <a:latin typeface="Gill Sans" charset="0"/>
                <a:ea typeface="Gill Sans" charset="0"/>
                <a:cs typeface="Gill Sans" charset="0"/>
                <a:sym typeface="Helvetica"/>
              </a:rPr>
              <a:t>al</a:t>
            </a:r>
            <a:r>
              <a:rPr sz="1400" b="0" dirty="0">
                <a:uFill>
                  <a:solidFill/>
                </a:uFill>
                <a:latin typeface="Gill Sans" charset="0"/>
                <a:ea typeface="Gill Sans" charset="0"/>
                <a:cs typeface="Gill Sans" charset="0"/>
                <a:sym typeface="Helvetica"/>
              </a:rPr>
              <a:t>, </a:t>
            </a:r>
            <a:r>
              <a:rPr lang="en-US" sz="1400" b="0" dirty="0">
                <a:uFill>
                  <a:solidFill/>
                </a:uFill>
                <a:latin typeface="Gill Sans" charset="0"/>
                <a:ea typeface="Gill Sans" charset="0"/>
                <a:cs typeface="Gill Sans" charset="0"/>
                <a:sym typeface="Helvetica"/>
              </a:rPr>
              <a:t>Cys, Trp, </a:t>
            </a:r>
            <a:r>
              <a:rPr sz="1400" b="0" dirty="0">
                <a:uFill>
                  <a:solidFill/>
                </a:uFill>
                <a:latin typeface="Gill Sans" charset="0"/>
                <a:ea typeface="Gill Sans" charset="0"/>
                <a:cs typeface="Gill Sans" charset="0"/>
                <a:sym typeface="Helvetica"/>
              </a:rPr>
              <a:t>A</a:t>
            </a:r>
            <a:r>
              <a:rPr lang="en-US" sz="1400" b="0" dirty="0">
                <a:uFill>
                  <a:solidFill/>
                </a:uFill>
                <a:latin typeface="Gill Sans" charset="0"/>
                <a:ea typeface="Gill Sans" charset="0"/>
                <a:cs typeface="Gill Sans" charset="0"/>
                <a:sym typeface="Helvetica"/>
              </a:rPr>
              <a:t>la</a:t>
            </a:r>
            <a:r>
              <a:rPr sz="2000" b="0" dirty="0">
                <a:uFill>
                  <a:solidFill/>
                </a:uFill>
                <a:latin typeface="Gill Sans" charset="0"/>
                <a:ea typeface="Gill Sans" charset="0"/>
                <a:cs typeface="Gill Sans" charset="0"/>
                <a:sym typeface="Helvetica"/>
              </a:rPr>
              <a:t> </a:t>
            </a:r>
          </a:p>
        </p:txBody>
      </p:sp>
      <p:grpSp>
        <p:nvGrpSpPr>
          <p:cNvPr id="161" name="Group 229">
            <a:extLst>
              <a:ext uri="{FF2B5EF4-FFF2-40B4-BE49-F238E27FC236}">
                <a16:creationId xmlns:a16="http://schemas.microsoft.com/office/drawing/2014/main" id="{796D7BEB-F176-254F-904E-7C82C7658CB7}"/>
              </a:ext>
            </a:extLst>
          </p:cNvPr>
          <p:cNvGrpSpPr/>
          <p:nvPr/>
        </p:nvGrpSpPr>
        <p:grpSpPr>
          <a:xfrm>
            <a:off x="-43012" y="3389828"/>
            <a:ext cx="5270649" cy="1647826"/>
            <a:chOff x="-43012" y="-29647"/>
            <a:chExt cx="5270649" cy="1647825"/>
          </a:xfrm>
        </p:grpSpPr>
        <p:pic>
          <p:nvPicPr>
            <p:cNvPr id="162" name="image.pdf">
              <a:extLst>
                <a:ext uri="{FF2B5EF4-FFF2-40B4-BE49-F238E27FC236}">
                  <a16:creationId xmlns:a16="http://schemas.microsoft.com/office/drawing/2014/main" id="{4EDEB956-B601-A24E-8D27-48CA1D679BA2}"/>
                </a:ext>
              </a:extLst>
            </p:cNvPr>
            <p:cNvPicPr/>
            <p:nvPr/>
          </p:nvPicPr>
          <p:blipFill>
            <a:blip r:embed="rId4"/>
            <a:stretch>
              <a:fillRect/>
            </a:stretch>
          </p:blipFill>
          <p:spPr>
            <a:xfrm>
              <a:off x="-43012" y="-29647"/>
              <a:ext cx="4495800" cy="1647825"/>
            </a:xfrm>
            <a:prstGeom prst="rect">
              <a:avLst/>
            </a:prstGeom>
            <a:ln w="12700" cap="flat">
              <a:noFill/>
              <a:miter lim="400000"/>
            </a:ln>
            <a:effectLst/>
          </p:spPr>
        </p:pic>
        <p:sp>
          <p:nvSpPr>
            <p:cNvPr id="163" name="Shape 227">
              <a:extLst>
                <a:ext uri="{FF2B5EF4-FFF2-40B4-BE49-F238E27FC236}">
                  <a16:creationId xmlns:a16="http://schemas.microsoft.com/office/drawing/2014/main" id="{FFE01F28-3E10-5A4C-9BF5-5C9BCDE8BB41}"/>
                </a:ext>
              </a:extLst>
            </p:cNvPr>
            <p:cNvSpPr/>
            <p:nvPr/>
          </p:nvSpPr>
          <p:spPr>
            <a:xfrm>
              <a:off x="1208881" y="1389479"/>
              <a:ext cx="1460500" cy="18466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spcBef>
                  <a:spcPts val="700"/>
                </a:spcBef>
                <a:buClr>
                  <a:srgbClr val="000000"/>
                </a:buClr>
                <a:buFont typeface="Helvetica"/>
                <a:defRPr sz="1200" b="1">
                  <a:latin typeface="Helvetica"/>
                  <a:ea typeface="Helvetica"/>
                  <a:cs typeface="Helvetica"/>
                  <a:sym typeface="Helvetica"/>
                </a:defRPr>
              </a:lvl1pPr>
            </a:lstStyle>
            <a:p>
              <a:pPr lvl="0">
                <a:defRPr sz="1800" b="0">
                  <a:uFillTx/>
                </a:defRPr>
              </a:pPr>
              <a:r>
                <a:rPr sz="1200" b="0" dirty="0">
                  <a:uFill>
                    <a:solidFill/>
                  </a:uFill>
                  <a:latin typeface="Gill Sans" charset="0"/>
                  <a:ea typeface="Gill Sans" charset="0"/>
                  <a:cs typeface="Gill Sans" charset="0"/>
                </a:rPr>
                <a:t>S</a:t>
              </a:r>
              <a:r>
                <a:rPr lang="en-US" sz="1200" b="0" dirty="0">
                  <a:uFill>
                    <a:solidFill/>
                  </a:uFill>
                  <a:latin typeface="Gill Sans" charset="0"/>
                  <a:ea typeface="Gill Sans" charset="0"/>
                  <a:cs typeface="Gill Sans" charset="0"/>
                </a:rPr>
                <a:t>urface</a:t>
              </a:r>
            </a:p>
          </p:txBody>
        </p:sp>
        <p:sp>
          <p:nvSpPr>
            <p:cNvPr id="164" name="Shape 228">
              <a:extLst>
                <a:ext uri="{FF2B5EF4-FFF2-40B4-BE49-F238E27FC236}">
                  <a16:creationId xmlns:a16="http://schemas.microsoft.com/office/drawing/2014/main" id="{4D4F21A8-1871-5B4B-A7BF-64128AFE5C10}"/>
                </a:ext>
              </a:extLst>
            </p:cNvPr>
            <p:cNvSpPr/>
            <p:nvPr/>
          </p:nvSpPr>
          <p:spPr>
            <a:xfrm>
              <a:off x="3690937" y="1382712"/>
              <a:ext cx="1536700" cy="18466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spcBef>
                  <a:spcPts val="700"/>
                </a:spcBef>
                <a:buClr>
                  <a:srgbClr val="000000"/>
                </a:buClr>
                <a:buFont typeface="Helvetica"/>
                <a:defRPr sz="1200" b="1">
                  <a:latin typeface="Helvetica"/>
                  <a:ea typeface="Helvetica"/>
                  <a:cs typeface="Helvetica"/>
                  <a:sym typeface="Helvetica"/>
                </a:defRPr>
              </a:lvl1pPr>
            </a:lstStyle>
            <a:p>
              <a:pPr lvl="0">
                <a:defRPr sz="1800" b="0">
                  <a:uFillTx/>
                </a:defRPr>
              </a:pPr>
              <a:r>
                <a:rPr sz="1200" b="0" dirty="0">
                  <a:uFill>
                    <a:solidFill/>
                  </a:uFill>
                  <a:latin typeface="Gill Sans" charset="0"/>
                  <a:ea typeface="Gill Sans" charset="0"/>
                  <a:cs typeface="Gill Sans" charset="0"/>
                </a:rPr>
                <a:t>I</a:t>
              </a:r>
              <a:r>
                <a:rPr lang="en-US" sz="1200" b="0" dirty="0">
                  <a:uFill>
                    <a:solidFill/>
                  </a:uFill>
                  <a:latin typeface="Gill Sans" charset="0"/>
                  <a:ea typeface="Gill Sans" charset="0"/>
                  <a:cs typeface="Gill Sans" charset="0"/>
                </a:rPr>
                <a:t>nterior</a:t>
              </a:r>
            </a:p>
          </p:txBody>
        </p:sp>
      </p:grpSp>
      <p:grpSp>
        <p:nvGrpSpPr>
          <p:cNvPr id="165" name="Group 354">
            <a:extLst>
              <a:ext uri="{FF2B5EF4-FFF2-40B4-BE49-F238E27FC236}">
                <a16:creationId xmlns:a16="http://schemas.microsoft.com/office/drawing/2014/main" id="{2B4E7566-F645-4D48-91F7-9FD9665871D9}"/>
              </a:ext>
            </a:extLst>
          </p:cNvPr>
          <p:cNvGrpSpPr/>
          <p:nvPr/>
        </p:nvGrpSpPr>
        <p:grpSpPr>
          <a:xfrm>
            <a:off x="4535487" y="3131059"/>
            <a:ext cx="3088425" cy="845324"/>
            <a:chOff x="0" y="197359"/>
            <a:chExt cx="3088424" cy="845323"/>
          </a:xfrm>
        </p:grpSpPr>
        <p:sp>
          <p:nvSpPr>
            <p:cNvPr id="166" name="Shape 351">
              <a:extLst>
                <a:ext uri="{FF2B5EF4-FFF2-40B4-BE49-F238E27FC236}">
                  <a16:creationId xmlns:a16="http://schemas.microsoft.com/office/drawing/2014/main" id="{D1961F26-6BDF-E346-82A0-B2C5C668CEA2}"/>
                </a:ext>
              </a:extLst>
            </p:cNvPr>
            <p:cNvSpPr/>
            <p:nvPr/>
          </p:nvSpPr>
          <p:spPr>
            <a:xfrm>
              <a:off x="0" y="647700"/>
              <a:ext cx="1027113" cy="39498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noFill/>
            <a:ln w="19050" cap="flat">
              <a:solidFill>
                <a:srgbClr val="062ACD"/>
              </a:solidFill>
              <a:prstDash val="sysDot"/>
              <a:round/>
            </a:ln>
            <a:effectLst/>
          </p:spPr>
          <p:txBody>
            <a:bodyPr wrap="square" lIns="0" tIns="0" rIns="0" bIns="0" numCol="1" anchor="ctr">
              <a:noAutofit/>
            </a:bodyPr>
            <a:lstStyle/>
            <a:p>
              <a:pPr lvl="0"/>
              <a:endParaRPr b="0">
                <a:latin typeface="Gill Sans" charset="0"/>
                <a:ea typeface="Gill Sans" charset="0"/>
                <a:cs typeface="Gill Sans" charset="0"/>
              </a:endParaRPr>
            </a:p>
          </p:txBody>
        </p:sp>
        <p:sp>
          <p:nvSpPr>
            <p:cNvPr id="167" name="Shape 352">
              <a:extLst>
                <a:ext uri="{FF2B5EF4-FFF2-40B4-BE49-F238E27FC236}">
                  <a16:creationId xmlns:a16="http://schemas.microsoft.com/office/drawing/2014/main" id="{0287CDD6-BEF0-9C48-B7FC-33310B494E4B}"/>
                </a:ext>
              </a:extLst>
            </p:cNvPr>
            <p:cNvSpPr/>
            <p:nvPr/>
          </p:nvSpPr>
          <p:spPr>
            <a:xfrm>
              <a:off x="1404386" y="197359"/>
              <a:ext cx="1684038" cy="49244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lvl="0">
                <a:spcBef>
                  <a:spcPts val="900"/>
                </a:spcBef>
                <a:buClr>
                  <a:srgbClr val="062ACD"/>
                </a:buClr>
                <a:buFont typeface="Helvetica"/>
                <a:defRPr sz="1800">
                  <a:uFillTx/>
                </a:defRPr>
              </a:pPr>
              <a:r>
                <a:rPr sz="1600" b="0" dirty="0">
                  <a:solidFill>
                    <a:schemeClr val="tx1"/>
                  </a:solidFill>
                  <a:uFill>
                    <a:solidFill>
                      <a:srgbClr val="062ACD"/>
                    </a:solidFill>
                  </a:uFill>
                  <a:latin typeface="Gill Sans" charset="0"/>
                  <a:ea typeface="Gill Sans" charset="0"/>
                  <a:cs typeface="Gill Sans" charset="0"/>
                  <a:sym typeface="Helvetica"/>
                </a:rPr>
                <a:t>C</a:t>
              </a:r>
              <a:r>
                <a:rPr lang="en-US" sz="1600" b="0" dirty="0">
                  <a:solidFill>
                    <a:schemeClr val="tx1"/>
                  </a:solidFill>
                  <a:uFill>
                    <a:solidFill>
                      <a:srgbClr val="062ACD"/>
                    </a:solidFill>
                  </a:uFill>
                  <a:latin typeface="Gill Sans" charset="0"/>
                  <a:ea typeface="Gill Sans" charset="0"/>
                  <a:cs typeface="Gill Sans" charset="0"/>
                  <a:sym typeface="Helvetica"/>
                </a:rPr>
                <a:t>ys </a:t>
              </a:r>
              <a:r>
                <a:rPr lang="en-US" sz="1600" b="0" u="sng" dirty="0">
                  <a:solidFill>
                    <a:schemeClr val="tx1"/>
                  </a:solidFill>
                  <a:uFill>
                    <a:solidFill>
                      <a:srgbClr val="062ACD"/>
                    </a:solidFill>
                  </a:uFill>
                  <a:latin typeface="Gill Sans" charset="0"/>
                  <a:ea typeface="Gill Sans" charset="0"/>
                  <a:cs typeface="Gill Sans" charset="0"/>
                  <a:sym typeface="Helvetica"/>
                </a:rPr>
                <a:t>in disulfide</a:t>
              </a:r>
              <a:r>
                <a:rPr lang="en-US" sz="1600" b="0" dirty="0">
                  <a:solidFill>
                    <a:schemeClr val="tx1"/>
                  </a:solidFill>
                  <a:uFill>
                    <a:solidFill>
                      <a:srgbClr val="062ACD"/>
                    </a:solidFill>
                  </a:uFill>
                  <a:latin typeface="Gill Sans" charset="0"/>
                  <a:ea typeface="Gill Sans" charset="0"/>
                  <a:cs typeface="Gill Sans" charset="0"/>
                  <a:sym typeface="Helvetica"/>
                </a:rPr>
                <a:t> </a:t>
              </a:r>
              <a:r>
                <a:rPr lang="en-US" sz="1600" dirty="0">
                  <a:solidFill>
                    <a:schemeClr val="tx1"/>
                  </a:solidFill>
                  <a:uFill>
                    <a:solidFill>
                      <a:srgbClr val="062ACD"/>
                    </a:solidFill>
                  </a:uFill>
                  <a:latin typeface="Gill Sans SemiBold" charset="0"/>
                  <a:ea typeface="Gill Sans SemiBold" charset="0"/>
                  <a:cs typeface="Gill Sans SemiBold" charset="0"/>
                  <a:sym typeface="Helvetica"/>
                </a:rPr>
                <a:t>very</a:t>
              </a:r>
              <a:r>
                <a:rPr lang="en-US" sz="1600" b="0" dirty="0">
                  <a:solidFill>
                    <a:schemeClr val="tx1"/>
                  </a:solidFill>
                  <a:uFill>
                    <a:solidFill>
                      <a:srgbClr val="062ACD"/>
                    </a:solidFill>
                  </a:uFill>
                  <a:latin typeface="Gill Sans" charset="0"/>
                  <a:ea typeface="Gill Sans" charset="0"/>
                  <a:cs typeface="Gill Sans" charset="0"/>
                  <a:sym typeface="Helvetica"/>
                </a:rPr>
                <a:t> nonpolar, </a:t>
              </a:r>
              <a:endParaRPr sz="1600" b="0" dirty="0">
                <a:solidFill>
                  <a:schemeClr val="tx1"/>
                </a:solidFill>
                <a:uFill>
                  <a:solidFill>
                    <a:srgbClr val="062ACD"/>
                  </a:solidFill>
                </a:uFill>
                <a:latin typeface="Gill Sans" charset="0"/>
                <a:ea typeface="Gill Sans" charset="0"/>
                <a:cs typeface="Gill Sans" charset="0"/>
                <a:sym typeface="Helvetica"/>
              </a:endParaRPr>
            </a:p>
          </p:txBody>
        </p:sp>
        <p:sp>
          <p:nvSpPr>
            <p:cNvPr id="168" name="Shape 353">
              <a:extLst>
                <a:ext uri="{FF2B5EF4-FFF2-40B4-BE49-F238E27FC236}">
                  <a16:creationId xmlns:a16="http://schemas.microsoft.com/office/drawing/2014/main" id="{AD34178E-CADA-7D4D-8A85-146BD982A820}"/>
                </a:ext>
              </a:extLst>
            </p:cNvPr>
            <p:cNvSpPr/>
            <p:nvPr/>
          </p:nvSpPr>
          <p:spPr>
            <a:xfrm flipV="1">
              <a:off x="803509" y="386477"/>
              <a:ext cx="623654" cy="288826"/>
            </a:xfrm>
            <a:prstGeom prst="line">
              <a:avLst/>
            </a:prstGeom>
            <a:noFill/>
            <a:ln w="19050" cap="flat">
              <a:solidFill>
                <a:srgbClr val="142DC8"/>
              </a:solidFill>
              <a:prstDash val="solid"/>
              <a:round/>
              <a:tailEnd type="triangle" w="med" len="med"/>
            </a:ln>
            <a:effectLst/>
          </p:spPr>
          <p:txBody>
            <a:bodyPr wrap="square" lIns="0" tIns="0" rIns="0" bIns="0" numCol="1" anchor="t">
              <a:noAutofit/>
            </a:bodyPr>
            <a:lstStyle/>
            <a:p>
              <a:pPr marL="0" marR="0" lvl="0" defTabSz="457200">
                <a:defRPr sz="1200">
                  <a:uFillTx/>
                  <a:latin typeface="Helvetica"/>
                  <a:ea typeface="Helvetica"/>
                  <a:cs typeface="Helvetica"/>
                  <a:sym typeface="Helvetica"/>
                </a:defRPr>
              </a:pPr>
              <a:endParaRPr b="0">
                <a:latin typeface="Gill Sans" charset="0"/>
                <a:ea typeface="Gill Sans" charset="0"/>
                <a:cs typeface="Gill Sans" charset="0"/>
              </a:endParaRPr>
            </a:p>
          </p:txBody>
        </p:sp>
      </p:grpSp>
      <p:sp>
        <p:nvSpPr>
          <p:cNvPr id="169" name="Shape 362">
            <a:extLst>
              <a:ext uri="{FF2B5EF4-FFF2-40B4-BE49-F238E27FC236}">
                <a16:creationId xmlns:a16="http://schemas.microsoft.com/office/drawing/2014/main" id="{1992706B-BE6A-DB4A-B458-B8EFFA91DD90}"/>
              </a:ext>
            </a:extLst>
          </p:cNvPr>
          <p:cNvSpPr/>
          <p:nvPr/>
        </p:nvSpPr>
        <p:spPr>
          <a:xfrm>
            <a:off x="960625" y="3270251"/>
            <a:ext cx="3048001" cy="348813"/>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spcBef>
                <a:spcPts val="900"/>
              </a:spcBef>
              <a:buClr>
                <a:srgbClr val="062ACD"/>
              </a:buClr>
              <a:buFont typeface="Helvetica"/>
              <a:defRPr sz="1600" b="1">
                <a:solidFill>
                  <a:srgbClr val="062ACD"/>
                </a:solidFill>
                <a:uFill>
                  <a:solidFill>
                    <a:srgbClr val="062ACD"/>
                  </a:solidFill>
                </a:uFill>
                <a:latin typeface="Helvetica"/>
                <a:ea typeface="Helvetica"/>
                <a:cs typeface="Helvetica"/>
                <a:sym typeface="Helvetica"/>
              </a:defRPr>
            </a:lvl1pPr>
          </a:lstStyle>
          <a:p>
            <a:pPr lvl="0">
              <a:defRPr sz="1800" b="0">
                <a:solidFill>
                  <a:srgbClr val="000000"/>
                </a:solidFill>
                <a:uFillTx/>
              </a:defRPr>
            </a:pPr>
            <a:r>
              <a:rPr sz="1600" b="0" dirty="0">
                <a:solidFill>
                  <a:schemeClr val="tx1"/>
                </a:solidFill>
                <a:uFill>
                  <a:solidFill>
                    <a:srgbClr val="062ACD"/>
                  </a:solidFill>
                </a:uFill>
                <a:latin typeface="Gill Sans" charset="0"/>
                <a:ea typeface="Gill Sans" charset="0"/>
                <a:cs typeface="Gill Sans" charset="0"/>
              </a:rPr>
              <a:t>B</a:t>
            </a:r>
            <a:r>
              <a:rPr lang="en-US" sz="1600" b="0" dirty="0">
                <a:solidFill>
                  <a:schemeClr val="tx1"/>
                </a:solidFill>
                <a:uFill>
                  <a:solidFill>
                    <a:srgbClr val="062ACD"/>
                  </a:solidFill>
                </a:uFill>
                <a:latin typeface="Gill Sans" charset="0"/>
                <a:ea typeface="Gill Sans" charset="0"/>
                <a:cs typeface="Gill Sans" charset="0"/>
              </a:rPr>
              <a:t>ased on favorable water entropy!</a:t>
            </a:r>
          </a:p>
        </p:txBody>
      </p:sp>
      <p:sp>
        <p:nvSpPr>
          <p:cNvPr id="6" name="TextBox 5">
            <a:extLst>
              <a:ext uri="{FF2B5EF4-FFF2-40B4-BE49-F238E27FC236}">
                <a16:creationId xmlns:a16="http://schemas.microsoft.com/office/drawing/2014/main" id="{8DB55F56-74AB-1542-8166-6B7208F361CD}"/>
              </a:ext>
            </a:extLst>
          </p:cNvPr>
          <p:cNvSpPr txBox="1"/>
          <p:nvPr/>
        </p:nvSpPr>
        <p:spPr>
          <a:xfrm>
            <a:off x="1191491" y="-703948"/>
            <a:ext cx="184666" cy="41036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endParaRPr>
          </a:p>
        </p:txBody>
      </p:sp>
      <p:grpSp>
        <p:nvGrpSpPr>
          <p:cNvPr id="394" name="Group 393">
            <a:extLst>
              <a:ext uri="{FF2B5EF4-FFF2-40B4-BE49-F238E27FC236}">
                <a16:creationId xmlns:a16="http://schemas.microsoft.com/office/drawing/2014/main" id="{836145A6-DEFD-8C49-B295-9B0835386454}"/>
              </a:ext>
            </a:extLst>
          </p:cNvPr>
          <p:cNvGrpSpPr/>
          <p:nvPr/>
        </p:nvGrpSpPr>
        <p:grpSpPr>
          <a:xfrm>
            <a:off x="484354" y="5056187"/>
            <a:ext cx="7835873" cy="1801813"/>
            <a:chOff x="484354" y="5056187"/>
            <a:chExt cx="7835873" cy="1801813"/>
          </a:xfrm>
        </p:grpSpPr>
        <p:sp>
          <p:nvSpPr>
            <p:cNvPr id="395" name="Shape 348">
              <a:extLst>
                <a:ext uri="{FF2B5EF4-FFF2-40B4-BE49-F238E27FC236}">
                  <a16:creationId xmlns:a16="http://schemas.microsoft.com/office/drawing/2014/main" id="{EA20A36D-305C-D247-AD72-0F1E93BA54C5}"/>
                </a:ext>
              </a:extLst>
            </p:cNvPr>
            <p:cNvSpPr/>
            <p:nvPr/>
          </p:nvSpPr>
          <p:spPr>
            <a:xfrm>
              <a:off x="1785937" y="5638800"/>
              <a:ext cx="119063" cy="65246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5635" y="0"/>
                    <a:pt x="10800" y="806"/>
                    <a:pt x="10800" y="1800"/>
                  </a:cubicBezTo>
                  <a:lnTo>
                    <a:pt x="10800" y="9000"/>
                  </a:lnTo>
                  <a:cubicBezTo>
                    <a:pt x="10800" y="9994"/>
                    <a:pt x="5965" y="10800"/>
                    <a:pt x="0" y="10800"/>
                  </a:cubicBezTo>
                  <a:cubicBezTo>
                    <a:pt x="5965" y="10800"/>
                    <a:pt x="10800" y="11606"/>
                    <a:pt x="10800" y="12600"/>
                  </a:cubicBezTo>
                  <a:lnTo>
                    <a:pt x="10800" y="19800"/>
                  </a:lnTo>
                  <a:cubicBezTo>
                    <a:pt x="10800" y="20794"/>
                    <a:pt x="15635" y="21600"/>
                    <a:pt x="21600" y="21600"/>
                  </a:cubicBezTo>
                </a:path>
              </a:pathLst>
            </a:custGeom>
            <a:ln w="12700">
              <a:solidFill/>
              <a:round/>
            </a:ln>
          </p:spPr>
          <p:txBody>
            <a:bodyPr lIns="0" tIns="0" rIns="0" bIns="0" anchor="ctr"/>
            <a:lstStyle/>
            <a:p>
              <a:pPr lvl="0"/>
              <a:endParaRPr/>
            </a:p>
          </p:txBody>
        </p:sp>
        <p:sp>
          <p:nvSpPr>
            <p:cNvPr id="396" name="Shape 355">
              <a:extLst>
                <a:ext uri="{FF2B5EF4-FFF2-40B4-BE49-F238E27FC236}">
                  <a16:creationId xmlns:a16="http://schemas.microsoft.com/office/drawing/2014/main" id="{45358E24-BE0E-694C-A00A-C53A220B17B1}"/>
                </a:ext>
              </a:extLst>
            </p:cNvPr>
            <p:cNvSpPr/>
            <p:nvPr/>
          </p:nvSpPr>
          <p:spPr>
            <a:xfrm>
              <a:off x="576262" y="5122572"/>
              <a:ext cx="2014538" cy="457201"/>
            </a:xfrm>
            <a:prstGeom prst="rect">
              <a:avLst/>
            </a:prstGeom>
            <a:ln w="28575">
              <a:solidFill>
                <a:srgbClr val="FF9300"/>
              </a:solidFill>
              <a:miter lim="400000"/>
            </a:ln>
          </p:spPr>
          <p:txBody>
            <a:bodyPr lIns="0" tIns="0" rIns="0" bIns="0" anchor="ctr"/>
            <a:lstStyle/>
            <a:p>
              <a:pPr lvl="0"/>
              <a:endParaRPr/>
            </a:p>
          </p:txBody>
        </p:sp>
        <p:grpSp>
          <p:nvGrpSpPr>
            <p:cNvPr id="397" name="Group 396">
              <a:extLst>
                <a:ext uri="{FF2B5EF4-FFF2-40B4-BE49-F238E27FC236}">
                  <a16:creationId xmlns:a16="http://schemas.microsoft.com/office/drawing/2014/main" id="{072330B7-5771-B040-A408-8531F280F9B3}"/>
                </a:ext>
              </a:extLst>
            </p:cNvPr>
            <p:cNvGrpSpPr/>
            <p:nvPr/>
          </p:nvGrpSpPr>
          <p:grpSpPr>
            <a:xfrm>
              <a:off x="484354" y="5056187"/>
              <a:ext cx="7835873" cy="1801813"/>
              <a:chOff x="484354" y="5056187"/>
              <a:chExt cx="7835873" cy="1801813"/>
            </a:xfrm>
          </p:grpSpPr>
          <p:grpSp>
            <p:nvGrpSpPr>
              <p:cNvPr id="398" name="Group 255">
                <a:extLst>
                  <a:ext uri="{FF2B5EF4-FFF2-40B4-BE49-F238E27FC236}">
                    <a16:creationId xmlns:a16="http://schemas.microsoft.com/office/drawing/2014/main" id="{2185A69C-B68A-8943-81EE-EA1CDE73D38D}"/>
                  </a:ext>
                </a:extLst>
              </p:cNvPr>
              <p:cNvGrpSpPr/>
              <p:nvPr/>
            </p:nvGrpSpPr>
            <p:grpSpPr>
              <a:xfrm>
                <a:off x="3787775" y="5056187"/>
                <a:ext cx="1485901" cy="1801813"/>
                <a:chOff x="0" y="0"/>
                <a:chExt cx="1485900" cy="1801812"/>
              </a:xfrm>
            </p:grpSpPr>
            <p:sp>
              <p:nvSpPr>
                <p:cNvPr id="478" name="Shape 253">
                  <a:extLst>
                    <a:ext uri="{FF2B5EF4-FFF2-40B4-BE49-F238E27FC236}">
                      <a16:creationId xmlns:a16="http://schemas.microsoft.com/office/drawing/2014/main" id="{925C426A-AD3B-474C-9E3C-A453BF8D5ADD}"/>
                    </a:ext>
                  </a:extLst>
                </p:cNvPr>
                <p:cNvSpPr/>
                <p:nvPr/>
              </p:nvSpPr>
              <p:spPr>
                <a:xfrm>
                  <a:off x="0" y="0"/>
                  <a:ext cx="1485901" cy="1801813"/>
                </a:xfrm>
                <a:prstGeom prst="rect">
                  <a:avLst/>
                </a:prstGeom>
                <a:solidFill>
                  <a:srgbClr val="E18000"/>
                </a:solidFill>
                <a:ln w="12700" cap="flat">
                  <a:noFill/>
                  <a:miter lim="400000"/>
                </a:ln>
                <a:effectLst/>
              </p:spPr>
              <p:txBody>
                <a:bodyPr wrap="square" lIns="0" tIns="0" rIns="0" bIns="0" numCol="1" anchor="t">
                  <a:noAutofit/>
                </a:bodyPr>
                <a:lstStyle/>
                <a:p>
                  <a:pPr marL="0" marR="0" lvl="0" defTabSz="457200">
                    <a:defRPr sz="1200">
                      <a:uFillTx/>
                      <a:latin typeface="Helvetica"/>
                      <a:ea typeface="Helvetica"/>
                      <a:cs typeface="Helvetica"/>
                      <a:sym typeface="Helvetica"/>
                    </a:defRPr>
                  </a:pPr>
                  <a:endParaRPr/>
                </a:p>
              </p:txBody>
            </p:sp>
            <p:pic>
              <p:nvPicPr>
                <p:cNvPr id="479" name="image.pdf">
                  <a:extLst>
                    <a:ext uri="{FF2B5EF4-FFF2-40B4-BE49-F238E27FC236}">
                      <a16:creationId xmlns:a16="http://schemas.microsoft.com/office/drawing/2014/main" id="{7593D8B3-6738-DF4B-B2DF-9E0943C8122F}"/>
                    </a:ext>
                  </a:extLst>
                </p:cNvPr>
                <p:cNvPicPr/>
                <p:nvPr/>
              </p:nvPicPr>
              <p:blipFill>
                <a:blip r:embed="rId5"/>
                <a:stretch>
                  <a:fillRect/>
                </a:stretch>
              </p:blipFill>
              <p:spPr>
                <a:xfrm>
                  <a:off x="0" y="0"/>
                  <a:ext cx="1485900" cy="1801813"/>
                </a:xfrm>
                <a:prstGeom prst="rect">
                  <a:avLst/>
                </a:prstGeom>
                <a:ln w="12700" cap="flat">
                  <a:noFill/>
                  <a:miter lim="400000"/>
                </a:ln>
                <a:effectLst/>
              </p:spPr>
            </p:pic>
          </p:grpSp>
          <p:sp>
            <p:nvSpPr>
              <p:cNvPr id="399" name="Shape 256">
                <a:extLst>
                  <a:ext uri="{FF2B5EF4-FFF2-40B4-BE49-F238E27FC236}">
                    <a16:creationId xmlns:a16="http://schemas.microsoft.com/office/drawing/2014/main" id="{69013463-5EF5-E142-90EA-79C1CF3526AE}"/>
                  </a:ext>
                </a:extLst>
              </p:cNvPr>
              <p:cNvSpPr/>
              <p:nvPr/>
            </p:nvSpPr>
            <p:spPr>
              <a:xfrm>
                <a:off x="5257800" y="5562600"/>
                <a:ext cx="76200" cy="7620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5965" y="0"/>
                      <a:pt x="10800" y="806"/>
                      <a:pt x="10800" y="1800"/>
                    </a:cubicBezTo>
                    <a:lnTo>
                      <a:pt x="10800" y="9000"/>
                    </a:lnTo>
                    <a:cubicBezTo>
                      <a:pt x="10800" y="9994"/>
                      <a:pt x="15635" y="10800"/>
                      <a:pt x="21600" y="10800"/>
                    </a:cubicBezTo>
                    <a:cubicBezTo>
                      <a:pt x="15635" y="10800"/>
                      <a:pt x="10800" y="11606"/>
                      <a:pt x="10800" y="12600"/>
                    </a:cubicBezTo>
                    <a:lnTo>
                      <a:pt x="10800" y="19800"/>
                    </a:lnTo>
                    <a:cubicBezTo>
                      <a:pt x="10800" y="20794"/>
                      <a:pt x="5965" y="21600"/>
                      <a:pt x="0" y="21600"/>
                    </a:cubicBezTo>
                  </a:path>
                </a:pathLst>
              </a:custGeom>
              <a:ln>
                <a:solidFill/>
                <a:round/>
              </a:ln>
            </p:spPr>
            <p:txBody>
              <a:bodyPr lIns="0" tIns="0" rIns="0" bIns="0" anchor="ctr"/>
              <a:lstStyle/>
              <a:p>
                <a:pPr lvl="0"/>
                <a:endParaRPr/>
              </a:p>
            </p:txBody>
          </p:sp>
          <p:sp>
            <p:nvSpPr>
              <p:cNvPr id="400" name="Shape 257">
                <a:extLst>
                  <a:ext uri="{FF2B5EF4-FFF2-40B4-BE49-F238E27FC236}">
                    <a16:creationId xmlns:a16="http://schemas.microsoft.com/office/drawing/2014/main" id="{DD361504-956D-BD40-9A53-BB6736FCB66B}"/>
                  </a:ext>
                </a:extLst>
              </p:cNvPr>
              <p:cNvSpPr/>
              <p:nvPr/>
            </p:nvSpPr>
            <p:spPr>
              <a:xfrm>
                <a:off x="5333715" y="5756038"/>
                <a:ext cx="1363062" cy="369332"/>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spcBef>
                    <a:spcPts val="700"/>
                  </a:spcBef>
                  <a:buClr>
                    <a:srgbClr val="000000"/>
                  </a:buClr>
                  <a:buFont typeface="Helvetica"/>
                  <a:defRPr sz="1200" b="1">
                    <a:latin typeface="Helvetica"/>
                    <a:ea typeface="Helvetica"/>
                    <a:cs typeface="Helvetica"/>
                    <a:sym typeface="Helvetica"/>
                  </a:defRPr>
                </a:lvl1pPr>
              </a:lstStyle>
              <a:p>
                <a:pPr lvl="0">
                  <a:defRPr sz="1800" b="0">
                    <a:uFillTx/>
                  </a:defRPr>
                </a:pPr>
                <a:r>
                  <a:rPr sz="1200" b="0" dirty="0">
                    <a:uFill>
                      <a:solidFill/>
                    </a:uFill>
                    <a:latin typeface="Gill Sans" charset="0"/>
                    <a:ea typeface="Gill Sans" charset="0"/>
                    <a:cs typeface="Gill Sans" charset="0"/>
                  </a:rPr>
                  <a:t>N</a:t>
                </a:r>
                <a:r>
                  <a:rPr lang="en-US" sz="1200" b="0" dirty="0">
                    <a:uFill>
                      <a:solidFill/>
                    </a:uFill>
                    <a:latin typeface="Gill Sans" charset="0"/>
                    <a:ea typeface="Gill Sans" charset="0"/>
                    <a:cs typeface="Gill Sans" charset="0"/>
                  </a:rPr>
                  <a:t>onpolar membrane interior</a:t>
                </a:r>
              </a:p>
            </p:txBody>
          </p:sp>
          <p:grpSp>
            <p:nvGrpSpPr>
              <p:cNvPr id="401" name="Group 313">
                <a:extLst>
                  <a:ext uri="{FF2B5EF4-FFF2-40B4-BE49-F238E27FC236}">
                    <a16:creationId xmlns:a16="http://schemas.microsoft.com/office/drawing/2014/main" id="{C877AF8D-32BF-4641-9E83-F8F345446D01}"/>
                  </a:ext>
                </a:extLst>
              </p:cNvPr>
              <p:cNvGrpSpPr/>
              <p:nvPr/>
            </p:nvGrpSpPr>
            <p:grpSpPr>
              <a:xfrm>
                <a:off x="3975100" y="5091112"/>
                <a:ext cx="4345127" cy="1192214"/>
                <a:chOff x="0" y="0"/>
                <a:chExt cx="4345127" cy="1192213"/>
              </a:xfrm>
            </p:grpSpPr>
            <p:sp>
              <p:nvSpPr>
                <p:cNvPr id="439" name="Shape 274">
                  <a:extLst>
                    <a:ext uri="{FF2B5EF4-FFF2-40B4-BE49-F238E27FC236}">
                      <a16:creationId xmlns:a16="http://schemas.microsoft.com/office/drawing/2014/main" id="{3C513FAD-FDE3-AA41-855A-B26118157382}"/>
                    </a:ext>
                  </a:extLst>
                </p:cNvPr>
                <p:cNvSpPr/>
                <p:nvPr/>
              </p:nvSpPr>
              <p:spPr>
                <a:xfrm>
                  <a:off x="1599051" y="0"/>
                  <a:ext cx="2746076" cy="461665"/>
                </a:xfrm>
                <a:prstGeom prst="rect">
                  <a:avLst/>
                </a:prstGeom>
                <a:noFill/>
                <a:ln w="9525" cap="flat">
                  <a:solidFill>
                    <a:srgbClr val="FF9300"/>
                  </a:solidFill>
                  <a:prstDash val="solid"/>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spcBef>
                      <a:spcPts val="900"/>
                    </a:spcBef>
                    <a:buClr>
                      <a:srgbClr val="FF9300"/>
                    </a:buClr>
                    <a:buFont typeface="Helvetica"/>
                    <a:defRPr sz="1500" b="1">
                      <a:solidFill>
                        <a:srgbClr val="E88502"/>
                      </a:solidFill>
                      <a:uFill>
                        <a:solidFill>
                          <a:srgbClr val="FF9300"/>
                        </a:solidFill>
                      </a:uFill>
                      <a:latin typeface="Helvetica"/>
                      <a:ea typeface="Helvetica"/>
                      <a:cs typeface="Helvetica"/>
                      <a:sym typeface="Helvetica"/>
                    </a:defRPr>
                  </a:lvl1pPr>
                </a:lstStyle>
                <a:p>
                  <a:pPr lvl="0">
                    <a:defRPr sz="1800" b="0">
                      <a:solidFill>
                        <a:srgbClr val="000000"/>
                      </a:solidFill>
                      <a:uFillTx/>
                    </a:defRPr>
                  </a:pPr>
                  <a:r>
                    <a:rPr sz="1500" b="0" dirty="0">
                      <a:solidFill>
                        <a:srgbClr val="E88502"/>
                      </a:solidFill>
                      <a:uFill>
                        <a:solidFill>
                          <a:srgbClr val="FF9300"/>
                        </a:solidFill>
                      </a:uFill>
                      <a:latin typeface="Gill Sans" charset="0"/>
                      <a:ea typeface="Gill Sans" charset="0"/>
                      <a:cs typeface="Gill Sans" charset="0"/>
                    </a:rPr>
                    <a:t>N</a:t>
                  </a:r>
                  <a:r>
                    <a:rPr lang="en-US" sz="1500" b="0" dirty="0">
                      <a:solidFill>
                        <a:srgbClr val="E88502"/>
                      </a:solidFill>
                      <a:uFill>
                        <a:solidFill>
                          <a:srgbClr val="FF9300"/>
                        </a:solidFill>
                      </a:uFill>
                      <a:latin typeface="Gill Sans" charset="0"/>
                      <a:ea typeface="Gill Sans" charset="0"/>
                      <a:cs typeface="Gill Sans" charset="0"/>
                    </a:rPr>
                    <a:t>onpolar AA are in contact with membrane nonpolar interior</a:t>
                  </a:r>
                </a:p>
              </p:txBody>
            </p:sp>
            <p:grpSp>
              <p:nvGrpSpPr>
                <p:cNvPr id="440" name="Group 311">
                  <a:extLst>
                    <a:ext uri="{FF2B5EF4-FFF2-40B4-BE49-F238E27FC236}">
                      <a16:creationId xmlns:a16="http://schemas.microsoft.com/office/drawing/2014/main" id="{7F770FB9-AD1D-0442-B9C9-92F3EC32137B}"/>
                    </a:ext>
                  </a:extLst>
                </p:cNvPr>
                <p:cNvGrpSpPr/>
                <p:nvPr/>
              </p:nvGrpSpPr>
              <p:grpSpPr>
                <a:xfrm>
                  <a:off x="0" y="501650"/>
                  <a:ext cx="922338" cy="690563"/>
                  <a:chOff x="0" y="0"/>
                  <a:chExt cx="922337" cy="690562"/>
                </a:xfrm>
              </p:grpSpPr>
              <p:grpSp>
                <p:nvGrpSpPr>
                  <p:cNvPr id="442" name="Group 283">
                    <a:extLst>
                      <a:ext uri="{FF2B5EF4-FFF2-40B4-BE49-F238E27FC236}">
                        <a16:creationId xmlns:a16="http://schemas.microsoft.com/office/drawing/2014/main" id="{27C2D398-D414-5644-8C6D-465ABC6DCC62}"/>
                      </a:ext>
                    </a:extLst>
                  </p:cNvPr>
                  <p:cNvGrpSpPr/>
                  <p:nvPr/>
                </p:nvGrpSpPr>
                <p:grpSpPr>
                  <a:xfrm>
                    <a:off x="0" y="19050"/>
                    <a:ext cx="87313" cy="646113"/>
                    <a:chOff x="0" y="0"/>
                    <a:chExt cx="87312" cy="646112"/>
                  </a:xfrm>
                </p:grpSpPr>
                <p:sp>
                  <p:nvSpPr>
                    <p:cNvPr id="470" name="Shape 275">
                      <a:extLst>
                        <a:ext uri="{FF2B5EF4-FFF2-40B4-BE49-F238E27FC236}">
                          <a16:creationId xmlns:a16="http://schemas.microsoft.com/office/drawing/2014/main" id="{72E2CAE7-730B-C745-B1D0-0E6A4A8491BB}"/>
                        </a:ext>
                      </a:extLst>
                    </p:cNvPr>
                    <p:cNvSpPr/>
                    <p:nvPr/>
                  </p:nvSpPr>
                  <p:spPr>
                    <a:xfrm>
                      <a:off x="12700" y="0"/>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E18000"/>
                    </a:solidFill>
                    <a:ln w="9525" cap="flat">
                      <a:solidFill>
                        <a:srgbClr val="FF9300"/>
                      </a:solidFill>
                      <a:prstDash val="solid"/>
                      <a:round/>
                    </a:ln>
                    <a:effectLst/>
                  </p:spPr>
                  <p:txBody>
                    <a:bodyPr wrap="square" lIns="0" tIns="0" rIns="0" bIns="0" numCol="1" anchor="ctr">
                      <a:noAutofit/>
                    </a:bodyPr>
                    <a:lstStyle/>
                    <a:p>
                      <a:pPr lvl="0"/>
                      <a:endParaRPr/>
                    </a:p>
                  </p:txBody>
                </p:sp>
                <p:sp>
                  <p:nvSpPr>
                    <p:cNvPr id="471" name="Shape 276">
                      <a:extLst>
                        <a:ext uri="{FF2B5EF4-FFF2-40B4-BE49-F238E27FC236}">
                          <a16:creationId xmlns:a16="http://schemas.microsoft.com/office/drawing/2014/main" id="{22A7C3D9-3736-CE48-AD50-A0A6B21121CB}"/>
                        </a:ext>
                      </a:extLst>
                    </p:cNvPr>
                    <p:cNvSpPr/>
                    <p:nvPr/>
                  </p:nvSpPr>
                  <p:spPr>
                    <a:xfrm>
                      <a:off x="6350" y="85725"/>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E18000"/>
                    </a:solidFill>
                    <a:ln w="9525" cap="flat">
                      <a:solidFill>
                        <a:srgbClr val="FF9300"/>
                      </a:solidFill>
                      <a:prstDash val="solid"/>
                      <a:round/>
                    </a:ln>
                    <a:effectLst/>
                  </p:spPr>
                  <p:txBody>
                    <a:bodyPr wrap="square" lIns="0" tIns="0" rIns="0" bIns="0" numCol="1" anchor="ctr">
                      <a:noAutofit/>
                    </a:bodyPr>
                    <a:lstStyle/>
                    <a:p>
                      <a:pPr lvl="0"/>
                      <a:endParaRPr/>
                    </a:p>
                  </p:txBody>
                </p:sp>
                <p:sp>
                  <p:nvSpPr>
                    <p:cNvPr id="472" name="Shape 277">
                      <a:extLst>
                        <a:ext uri="{FF2B5EF4-FFF2-40B4-BE49-F238E27FC236}">
                          <a16:creationId xmlns:a16="http://schemas.microsoft.com/office/drawing/2014/main" id="{38D863FC-4F73-6A4C-BA4A-65860ADDC2C3}"/>
                        </a:ext>
                      </a:extLst>
                    </p:cNvPr>
                    <p:cNvSpPr/>
                    <p:nvPr/>
                  </p:nvSpPr>
                  <p:spPr>
                    <a:xfrm>
                      <a:off x="6350" y="174625"/>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E18000"/>
                    </a:solidFill>
                    <a:ln w="9525" cap="flat">
                      <a:solidFill>
                        <a:srgbClr val="FF9300"/>
                      </a:solidFill>
                      <a:prstDash val="solid"/>
                      <a:round/>
                    </a:ln>
                    <a:effectLst/>
                  </p:spPr>
                  <p:txBody>
                    <a:bodyPr wrap="square" lIns="0" tIns="0" rIns="0" bIns="0" numCol="1" anchor="ctr">
                      <a:noAutofit/>
                    </a:bodyPr>
                    <a:lstStyle/>
                    <a:p>
                      <a:pPr lvl="0"/>
                      <a:endParaRPr/>
                    </a:p>
                  </p:txBody>
                </p:sp>
                <p:sp>
                  <p:nvSpPr>
                    <p:cNvPr id="473" name="Shape 278">
                      <a:extLst>
                        <a:ext uri="{FF2B5EF4-FFF2-40B4-BE49-F238E27FC236}">
                          <a16:creationId xmlns:a16="http://schemas.microsoft.com/office/drawing/2014/main" id="{CDB54CD6-2E3A-AD46-8451-B67344A4953E}"/>
                        </a:ext>
                      </a:extLst>
                    </p:cNvPr>
                    <p:cNvSpPr/>
                    <p:nvPr/>
                  </p:nvSpPr>
                  <p:spPr>
                    <a:xfrm>
                      <a:off x="6350" y="254000"/>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E18000"/>
                    </a:solidFill>
                    <a:ln w="9525" cap="flat">
                      <a:solidFill>
                        <a:srgbClr val="FF9300"/>
                      </a:solidFill>
                      <a:prstDash val="solid"/>
                      <a:round/>
                    </a:ln>
                    <a:effectLst/>
                  </p:spPr>
                  <p:txBody>
                    <a:bodyPr wrap="square" lIns="0" tIns="0" rIns="0" bIns="0" numCol="1" anchor="ctr">
                      <a:noAutofit/>
                    </a:bodyPr>
                    <a:lstStyle/>
                    <a:p>
                      <a:pPr lvl="0"/>
                      <a:endParaRPr/>
                    </a:p>
                  </p:txBody>
                </p:sp>
                <p:sp>
                  <p:nvSpPr>
                    <p:cNvPr id="474" name="Shape 279">
                      <a:extLst>
                        <a:ext uri="{FF2B5EF4-FFF2-40B4-BE49-F238E27FC236}">
                          <a16:creationId xmlns:a16="http://schemas.microsoft.com/office/drawing/2014/main" id="{2BE950B7-768C-C040-86E9-9C5636537AFA}"/>
                        </a:ext>
                      </a:extLst>
                    </p:cNvPr>
                    <p:cNvSpPr/>
                    <p:nvPr/>
                  </p:nvSpPr>
                  <p:spPr>
                    <a:xfrm>
                      <a:off x="0" y="336550"/>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E18000"/>
                    </a:solidFill>
                    <a:ln w="9525" cap="flat">
                      <a:solidFill>
                        <a:srgbClr val="FF9300"/>
                      </a:solidFill>
                      <a:prstDash val="solid"/>
                      <a:round/>
                    </a:ln>
                    <a:effectLst/>
                  </p:spPr>
                  <p:txBody>
                    <a:bodyPr wrap="square" lIns="0" tIns="0" rIns="0" bIns="0" numCol="1" anchor="ctr">
                      <a:noAutofit/>
                    </a:bodyPr>
                    <a:lstStyle/>
                    <a:p>
                      <a:pPr lvl="0"/>
                      <a:endParaRPr/>
                    </a:p>
                  </p:txBody>
                </p:sp>
                <p:sp>
                  <p:nvSpPr>
                    <p:cNvPr id="475" name="Shape 280">
                      <a:extLst>
                        <a:ext uri="{FF2B5EF4-FFF2-40B4-BE49-F238E27FC236}">
                          <a16:creationId xmlns:a16="http://schemas.microsoft.com/office/drawing/2014/main" id="{60E92E9C-80D5-5945-8EE5-2E4AB6612CFB}"/>
                        </a:ext>
                      </a:extLst>
                    </p:cNvPr>
                    <p:cNvSpPr/>
                    <p:nvPr/>
                  </p:nvSpPr>
                  <p:spPr>
                    <a:xfrm>
                      <a:off x="9525" y="422275"/>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E18000"/>
                    </a:solidFill>
                    <a:ln w="9525" cap="flat">
                      <a:solidFill>
                        <a:srgbClr val="FF9300"/>
                      </a:solidFill>
                      <a:prstDash val="solid"/>
                      <a:round/>
                    </a:ln>
                    <a:effectLst/>
                  </p:spPr>
                  <p:txBody>
                    <a:bodyPr wrap="square" lIns="0" tIns="0" rIns="0" bIns="0" numCol="1" anchor="ctr">
                      <a:noAutofit/>
                    </a:bodyPr>
                    <a:lstStyle/>
                    <a:p>
                      <a:pPr lvl="0"/>
                      <a:endParaRPr/>
                    </a:p>
                  </p:txBody>
                </p:sp>
                <p:sp>
                  <p:nvSpPr>
                    <p:cNvPr id="476" name="Shape 281">
                      <a:extLst>
                        <a:ext uri="{FF2B5EF4-FFF2-40B4-BE49-F238E27FC236}">
                          <a16:creationId xmlns:a16="http://schemas.microsoft.com/office/drawing/2014/main" id="{AB7CD9FD-2006-3E4F-A7DC-DC8BD1213E6A}"/>
                        </a:ext>
                      </a:extLst>
                    </p:cNvPr>
                    <p:cNvSpPr/>
                    <p:nvPr/>
                  </p:nvSpPr>
                  <p:spPr>
                    <a:xfrm>
                      <a:off x="6350" y="495300"/>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E18000"/>
                    </a:solidFill>
                    <a:ln w="9525" cap="flat">
                      <a:solidFill>
                        <a:srgbClr val="FF9300"/>
                      </a:solidFill>
                      <a:prstDash val="solid"/>
                      <a:round/>
                    </a:ln>
                    <a:effectLst/>
                  </p:spPr>
                  <p:txBody>
                    <a:bodyPr wrap="square" lIns="0" tIns="0" rIns="0" bIns="0" numCol="1" anchor="ctr">
                      <a:noAutofit/>
                    </a:bodyPr>
                    <a:lstStyle/>
                    <a:p>
                      <a:pPr lvl="0"/>
                      <a:endParaRPr/>
                    </a:p>
                  </p:txBody>
                </p:sp>
                <p:sp>
                  <p:nvSpPr>
                    <p:cNvPr id="477" name="Shape 282">
                      <a:extLst>
                        <a:ext uri="{FF2B5EF4-FFF2-40B4-BE49-F238E27FC236}">
                          <a16:creationId xmlns:a16="http://schemas.microsoft.com/office/drawing/2014/main" id="{AAFFE89F-E321-7B4B-8922-A1BA69093F69}"/>
                        </a:ext>
                      </a:extLst>
                    </p:cNvPr>
                    <p:cNvSpPr/>
                    <p:nvPr/>
                  </p:nvSpPr>
                  <p:spPr>
                    <a:xfrm>
                      <a:off x="9525" y="571500"/>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E18000"/>
                    </a:solidFill>
                    <a:ln w="9525" cap="flat">
                      <a:solidFill>
                        <a:srgbClr val="FF9300"/>
                      </a:solidFill>
                      <a:prstDash val="solid"/>
                      <a:round/>
                    </a:ln>
                    <a:effectLst/>
                  </p:spPr>
                  <p:txBody>
                    <a:bodyPr wrap="square" lIns="0" tIns="0" rIns="0" bIns="0" numCol="1" anchor="ctr">
                      <a:noAutofit/>
                    </a:bodyPr>
                    <a:lstStyle/>
                    <a:p>
                      <a:pPr lvl="0"/>
                      <a:endParaRPr/>
                    </a:p>
                  </p:txBody>
                </p:sp>
              </p:grpSp>
              <p:grpSp>
                <p:nvGrpSpPr>
                  <p:cNvPr id="443" name="Group 292">
                    <a:extLst>
                      <a:ext uri="{FF2B5EF4-FFF2-40B4-BE49-F238E27FC236}">
                        <a16:creationId xmlns:a16="http://schemas.microsoft.com/office/drawing/2014/main" id="{7C4ABB6D-8F9F-6840-8445-85806715BC5C}"/>
                      </a:ext>
                    </a:extLst>
                  </p:cNvPr>
                  <p:cNvGrpSpPr/>
                  <p:nvPr/>
                </p:nvGrpSpPr>
                <p:grpSpPr>
                  <a:xfrm>
                    <a:off x="835025" y="3175"/>
                    <a:ext cx="87313" cy="646113"/>
                    <a:chOff x="0" y="0"/>
                    <a:chExt cx="87312" cy="646112"/>
                  </a:xfrm>
                </p:grpSpPr>
                <p:sp>
                  <p:nvSpPr>
                    <p:cNvPr id="462" name="Shape 284">
                      <a:extLst>
                        <a:ext uri="{FF2B5EF4-FFF2-40B4-BE49-F238E27FC236}">
                          <a16:creationId xmlns:a16="http://schemas.microsoft.com/office/drawing/2014/main" id="{689980B7-7E72-C54D-A599-7AD8E714F264}"/>
                        </a:ext>
                      </a:extLst>
                    </p:cNvPr>
                    <p:cNvSpPr/>
                    <p:nvPr/>
                  </p:nvSpPr>
                  <p:spPr>
                    <a:xfrm>
                      <a:off x="12700" y="0"/>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E18000"/>
                    </a:solidFill>
                    <a:ln w="9525" cap="flat">
                      <a:solidFill>
                        <a:srgbClr val="FF9300"/>
                      </a:solidFill>
                      <a:prstDash val="solid"/>
                      <a:round/>
                    </a:ln>
                    <a:effectLst/>
                  </p:spPr>
                  <p:txBody>
                    <a:bodyPr wrap="square" lIns="0" tIns="0" rIns="0" bIns="0" numCol="1" anchor="ctr">
                      <a:noAutofit/>
                    </a:bodyPr>
                    <a:lstStyle/>
                    <a:p>
                      <a:pPr lvl="0"/>
                      <a:endParaRPr/>
                    </a:p>
                  </p:txBody>
                </p:sp>
                <p:sp>
                  <p:nvSpPr>
                    <p:cNvPr id="463" name="Shape 285">
                      <a:extLst>
                        <a:ext uri="{FF2B5EF4-FFF2-40B4-BE49-F238E27FC236}">
                          <a16:creationId xmlns:a16="http://schemas.microsoft.com/office/drawing/2014/main" id="{8A292987-6F14-C748-9C9A-F03FD564ED10}"/>
                        </a:ext>
                      </a:extLst>
                    </p:cNvPr>
                    <p:cNvSpPr/>
                    <p:nvPr/>
                  </p:nvSpPr>
                  <p:spPr>
                    <a:xfrm>
                      <a:off x="6350" y="85725"/>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E18000"/>
                    </a:solidFill>
                    <a:ln w="9525" cap="flat">
                      <a:solidFill>
                        <a:srgbClr val="FF9300"/>
                      </a:solidFill>
                      <a:prstDash val="solid"/>
                      <a:round/>
                    </a:ln>
                    <a:effectLst/>
                  </p:spPr>
                  <p:txBody>
                    <a:bodyPr wrap="square" lIns="0" tIns="0" rIns="0" bIns="0" numCol="1" anchor="ctr">
                      <a:noAutofit/>
                    </a:bodyPr>
                    <a:lstStyle/>
                    <a:p>
                      <a:pPr lvl="0"/>
                      <a:endParaRPr/>
                    </a:p>
                  </p:txBody>
                </p:sp>
                <p:sp>
                  <p:nvSpPr>
                    <p:cNvPr id="464" name="Shape 286">
                      <a:extLst>
                        <a:ext uri="{FF2B5EF4-FFF2-40B4-BE49-F238E27FC236}">
                          <a16:creationId xmlns:a16="http://schemas.microsoft.com/office/drawing/2014/main" id="{038852CA-88B6-E241-9378-F502C5C07C27}"/>
                        </a:ext>
                      </a:extLst>
                    </p:cNvPr>
                    <p:cNvSpPr/>
                    <p:nvPr/>
                  </p:nvSpPr>
                  <p:spPr>
                    <a:xfrm>
                      <a:off x="6350" y="174625"/>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E18000"/>
                    </a:solidFill>
                    <a:ln w="9525" cap="flat">
                      <a:solidFill>
                        <a:srgbClr val="FF9300"/>
                      </a:solidFill>
                      <a:prstDash val="solid"/>
                      <a:round/>
                    </a:ln>
                    <a:effectLst/>
                  </p:spPr>
                  <p:txBody>
                    <a:bodyPr wrap="square" lIns="0" tIns="0" rIns="0" bIns="0" numCol="1" anchor="ctr">
                      <a:noAutofit/>
                    </a:bodyPr>
                    <a:lstStyle/>
                    <a:p>
                      <a:pPr lvl="0"/>
                      <a:endParaRPr/>
                    </a:p>
                  </p:txBody>
                </p:sp>
                <p:sp>
                  <p:nvSpPr>
                    <p:cNvPr id="465" name="Shape 287">
                      <a:extLst>
                        <a:ext uri="{FF2B5EF4-FFF2-40B4-BE49-F238E27FC236}">
                          <a16:creationId xmlns:a16="http://schemas.microsoft.com/office/drawing/2014/main" id="{D11FFAF0-D4AE-2043-AACF-61ECDD05CA8F}"/>
                        </a:ext>
                      </a:extLst>
                    </p:cNvPr>
                    <p:cNvSpPr/>
                    <p:nvPr/>
                  </p:nvSpPr>
                  <p:spPr>
                    <a:xfrm>
                      <a:off x="6350" y="254000"/>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E18000"/>
                    </a:solidFill>
                    <a:ln w="9525" cap="flat">
                      <a:solidFill>
                        <a:srgbClr val="FF9300"/>
                      </a:solidFill>
                      <a:prstDash val="solid"/>
                      <a:round/>
                    </a:ln>
                    <a:effectLst/>
                  </p:spPr>
                  <p:txBody>
                    <a:bodyPr wrap="square" lIns="0" tIns="0" rIns="0" bIns="0" numCol="1" anchor="ctr">
                      <a:noAutofit/>
                    </a:bodyPr>
                    <a:lstStyle/>
                    <a:p>
                      <a:pPr lvl="0"/>
                      <a:endParaRPr/>
                    </a:p>
                  </p:txBody>
                </p:sp>
                <p:sp>
                  <p:nvSpPr>
                    <p:cNvPr id="466" name="Shape 288">
                      <a:extLst>
                        <a:ext uri="{FF2B5EF4-FFF2-40B4-BE49-F238E27FC236}">
                          <a16:creationId xmlns:a16="http://schemas.microsoft.com/office/drawing/2014/main" id="{2CC67E6E-EF4D-1F4D-AB61-3E8D3AA5E344}"/>
                        </a:ext>
                      </a:extLst>
                    </p:cNvPr>
                    <p:cNvSpPr/>
                    <p:nvPr/>
                  </p:nvSpPr>
                  <p:spPr>
                    <a:xfrm>
                      <a:off x="0" y="336550"/>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E18000"/>
                    </a:solidFill>
                    <a:ln w="9525" cap="flat">
                      <a:solidFill>
                        <a:srgbClr val="FF9300"/>
                      </a:solidFill>
                      <a:prstDash val="solid"/>
                      <a:round/>
                    </a:ln>
                    <a:effectLst/>
                  </p:spPr>
                  <p:txBody>
                    <a:bodyPr wrap="square" lIns="0" tIns="0" rIns="0" bIns="0" numCol="1" anchor="ctr">
                      <a:noAutofit/>
                    </a:bodyPr>
                    <a:lstStyle/>
                    <a:p>
                      <a:pPr lvl="0"/>
                      <a:endParaRPr/>
                    </a:p>
                  </p:txBody>
                </p:sp>
                <p:sp>
                  <p:nvSpPr>
                    <p:cNvPr id="467" name="Shape 289">
                      <a:extLst>
                        <a:ext uri="{FF2B5EF4-FFF2-40B4-BE49-F238E27FC236}">
                          <a16:creationId xmlns:a16="http://schemas.microsoft.com/office/drawing/2014/main" id="{ABF0CD9F-0F46-954D-8319-4275971BA029}"/>
                        </a:ext>
                      </a:extLst>
                    </p:cNvPr>
                    <p:cNvSpPr/>
                    <p:nvPr/>
                  </p:nvSpPr>
                  <p:spPr>
                    <a:xfrm>
                      <a:off x="9525" y="422275"/>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E18000"/>
                    </a:solidFill>
                    <a:ln w="9525" cap="flat">
                      <a:solidFill>
                        <a:srgbClr val="FF9300"/>
                      </a:solidFill>
                      <a:prstDash val="solid"/>
                      <a:round/>
                    </a:ln>
                    <a:effectLst/>
                  </p:spPr>
                  <p:txBody>
                    <a:bodyPr wrap="square" lIns="0" tIns="0" rIns="0" bIns="0" numCol="1" anchor="ctr">
                      <a:noAutofit/>
                    </a:bodyPr>
                    <a:lstStyle/>
                    <a:p>
                      <a:pPr lvl="0"/>
                      <a:endParaRPr/>
                    </a:p>
                  </p:txBody>
                </p:sp>
                <p:sp>
                  <p:nvSpPr>
                    <p:cNvPr id="468" name="Shape 290">
                      <a:extLst>
                        <a:ext uri="{FF2B5EF4-FFF2-40B4-BE49-F238E27FC236}">
                          <a16:creationId xmlns:a16="http://schemas.microsoft.com/office/drawing/2014/main" id="{648C445E-B681-BD43-9224-30D739B5C9BD}"/>
                        </a:ext>
                      </a:extLst>
                    </p:cNvPr>
                    <p:cNvSpPr/>
                    <p:nvPr/>
                  </p:nvSpPr>
                  <p:spPr>
                    <a:xfrm>
                      <a:off x="6350" y="495300"/>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E18000"/>
                    </a:solidFill>
                    <a:ln w="9525" cap="flat">
                      <a:solidFill>
                        <a:srgbClr val="FF9300"/>
                      </a:solidFill>
                      <a:prstDash val="solid"/>
                      <a:round/>
                    </a:ln>
                    <a:effectLst/>
                  </p:spPr>
                  <p:txBody>
                    <a:bodyPr wrap="square" lIns="0" tIns="0" rIns="0" bIns="0" numCol="1" anchor="ctr">
                      <a:noAutofit/>
                    </a:bodyPr>
                    <a:lstStyle/>
                    <a:p>
                      <a:pPr lvl="0"/>
                      <a:endParaRPr/>
                    </a:p>
                  </p:txBody>
                </p:sp>
                <p:sp>
                  <p:nvSpPr>
                    <p:cNvPr id="469" name="Shape 291">
                      <a:extLst>
                        <a:ext uri="{FF2B5EF4-FFF2-40B4-BE49-F238E27FC236}">
                          <a16:creationId xmlns:a16="http://schemas.microsoft.com/office/drawing/2014/main" id="{47B4C6DC-897D-0544-AFD1-2FFFC4E6F6BD}"/>
                        </a:ext>
                      </a:extLst>
                    </p:cNvPr>
                    <p:cNvSpPr/>
                    <p:nvPr/>
                  </p:nvSpPr>
                  <p:spPr>
                    <a:xfrm>
                      <a:off x="9525" y="571500"/>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E18000"/>
                    </a:solidFill>
                    <a:ln w="9525" cap="flat">
                      <a:solidFill>
                        <a:srgbClr val="FF9300"/>
                      </a:solidFill>
                      <a:prstDash val="solid"/>
                      <a:round/>
                    </a:ln>
                    <a:effectLst/>
                  </p:spPr>
                  <p:txBody>
                    <a:bodyPr wrap="square" lIns="0" tIns="0" rIns="0" bIns="0" numCol="1" anchor="ctr">
                      <a:noAutofit/>
                    </a:bodyPr>
                    <a:lstStyle/>
                    <a:p>
                      <a:pPr lvl="0"/>
                      <a:endParaRPr/>
                    </a:p>
                  </p:txBody>
                </p:sp>
              </p:grpSp>
              <p:grpSp>
                <p:nvGrpSpPr>
                  <p:cNvPr id="444" name="Group 301">
                    <a:extLst>
                      <a:ext uri="{FF2B5EF4-FFF2-40B4-BE49-F238E27FC236}">
                        <a16:creationId xmlns:a16="http://schemas.microsoft.com/office/drawing/2014/main" id="{B3891D84-F15C-C74F-916D-26728F4D2FA0}"/>
                      </a:ext>
                    </a:extLst>
                  </p:cNvPr>
                  <p:cNvGrpSpPr/>
                  <p:nvPr/>
                </p:nvGrpSpPr>
                <p:grpSpPr>
                  <a:xfrm>
                    <a:off x="82550" y="0"/>
                    <a:ext cx="87313" cy="646113"/>
                    <a:chOff x="0" y="0"/>
                    <a:chExt cx="87312" cy="646112"/>
                  </a:xfrm>
                </p:grpSpPr>
                <p:sp>
                  <p:nvSpPr>
                    <p:cNvPr id="454" name="Shape 293">
                      <a:extLst>
                        <a:ext uri="{FF2B5EF4-FFF2-40B4-BE49-F238E27FC236}">
                          <a16:creationId xmlns:a16="http://schemas.microsoft.com/office/drawing/2014/main" id="{D444B575-9B07-3643-A9E1-C7DF87FFD5A7}"/>
                        </a:ext>
                      </a:extLst>
                    </p:cNvPr>
                    <p:cNvSpPr/>
                    <p:nvPr/>
                  </p:nvSpPr>
                  <p:spPr>
                    <a:xfrm>
                      <a:off x="12700" y="0"/>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E18000"/>
                    </a:solidFill>
                    <a:ln w="9525" cap="flat">
                      <a:solidFill>
                        <a:srgbClr val="FF9300"/>
                      </a:solidFill>
                      <a:prstDash val="solid"/>
                      <a:round/>
                    </a:ln>
                    <a:effectLst/>
                  </p:spPr>
                  <p:txBody>
                    <a:bodyPr wrap="square" lIns="0" tIns="0" rIns="0" bIns="0" numCol="1" anchor="ctr">
                      <a:noAutofit/>
                    </a:bodyPr>
                    <a:lstStyle/>
                    <a:p>
                      <a:pPr lvl="0"/>
                      <a:endParaRPr/>
                    </a:p>
                  </p:txBody>
                </p:sp>
                <p:sp>
                  <p:nvSpPr>
                    <p:cNvPr id="455" name="Shape 294">
                      <a:extLst>
                        <a:ext uri="{FF2B5EF4-FFF2-40B4-BE49-F238E27FC236}">
                          <a16:creationId xmlns:a16="http://schemas.microsoft.com/office/drawing/2014/main" id="{D46E8203-8451-A441-9524-7611C49CFEDB}"/>
                        </a:ext>
                      </a:extLst>
                    </p:cNvPr>
                    <p:cNvSpPr/>
                    <p:nvPr/>
                  </p:nvSpPr>
                  <p:spPr>
                    <a:xfrm>
                      <a:off x="6350" y="85725"/>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E18000"/>
                    </a:solidFill>
                    <a:ln w="9525" cap="flat">
                      <a:solidFill>
                        <a:srgbClr val="FF9300"/>
                      </a:solidFill>
                      <a:prstDash val="solid"/>
                      <a:round/>
                    </a:ln>
                    <a:effectLst/>
                  </p:spPr>
                  <p:txBody>
                    <a:bodyPr wrap="square" lIns="0" tIns="0" rIns="0" bIns="0" numCol="1" anchor="ctr">
                      <a:noAutofit/>
                    </a:bodyPr>
                    <a:lstStyle/>
                    <a:p>
                      <a:pPr lvl="0"/>
                      <a:endParaRPr/>
                    </a:p>
                  </p:txBody>
                </p:sp>
                <p:sp>
                  <p:nvSpPr>
                    <p:cNvPr id="456" name="Shape 295">
                      <a:extLst>
                        <a:ext uri="{FF2B5EF4-FFF2-40B4-BE49-F238E27FC236}">
                          <a16:creationId xmlns:a16="http://schemas.microsoft.com/office/drawing/2014/main" id="{CACD838C-E8DA-B34C-8462-E538F1105445}"/>
                        </a:ext>
                      </a:extLst>
                    </p:cNvPr>
                    <p:cNvSpPr/>
                    <p:nvPr/>
                  </p:nvSpPr>
                  <p:spPr>
                    <a:xfrm>
                      <a:off x="6350" y="174625"/>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E18000"/>
                    </a:solidFill>
                    <a:ln w="9525" cap="flat">
                      <a:solidFill>
                        <a:srgbClr val="FF9300"/>
                      </a:solidFill>
                      <a:prstDash val="solid"/>
                      <a:round/>
                    </a:ln>
                    <a:effectLst/>
                  </p:spPr>
                  <p:txBody>
                    <a:bodyPr wrap="square" lIns="0" tIns="0" rIns="0" bIns="0" numCol="1" anchor="ctr">
                      <a:noAutofit/>
                    </a:bodyPr>
                    <a:lstStyle/>
                    <a:p>
                      <a:pPr lvl="0"/>
                      <a:endParaRPr/>
                    </a:p>
                  </p:txBody>
                </p:sp>
                <p:sp>
                  <p:nvSpPr>
                    <p:cNvPr id="457" name="Shape 296">
                      <a:extLst>
                        <a:ext uri="{FF2B5EF4-FFF2-40B4-BE49-F238E27FC236}">
                          <a16:creationId xmlns:a16="http://schemas.microsoft.com/office/drawing/2014/main" id="{4F840516-F365-4749-9D00-3DCEF76C9F9A}"/>
                        </a:ext>
                      </a:extLst>
                    </p:cNvPr>
                    <p:cNvSpPr/>
                    <p:nvPr/>
                  </p:nvSpPr>
                  <p:spPr>
                    <a:xfrm>
                      <a:off x="6350" y="254000"/>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E18000"/>
                    </a:solidFill>
                    <a:ln w="9525" cap="flat">
                      <a:solidFill>
                        <a:srgbClr val="FF9300"/>
                      </a:solidFill>
                      <a:prstDash val="solid"/>
                      <a:round/>
                    </a:ln>
                    <a:effectLst/>
                  </p:spPr>
                  <p:txBody>
                    <a:bodyPr wrap="square" lIns="0" tIns="0" rIns="0" bIns="0" numCol="1" anchor="ctr">
                      <a:noAutofit/>
                    </a:bodyPr>
                    <a:lstStyle/>
                    <a:p>
                      <a:pPr lvl="0"/>
                      <a:endParaRPr/>
                    </a:p>
                  </p:txBody>
                </p:sp>
                <p:sp>
                  <p:nvSpPr>
                    <p:cNvPr id="458" name="Shape 297">
                      <a:extLst>
                        <a:ext uri="{FF2B5EF4-FFF2-40B4-BE49-F238E27FC236}">
                          <a16:creationId xmlns:a16="http://schemas.microsoft.com/office/drawing/2014/main" id="{75167108-869E-234E-89C8-8F2D9C28AEFF}"/>
                        </a:ext>
                      </a:extLst>
                    </p:cNvPr>
                    <p:cNvSpPr/>
                    <p:nvPr/>
                  </p:nvSpPr>
                  <p:spPr>
                    <a:xfrm>
                      <a:off x="0" y="336550"/>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E18000"/>
                    </a:solidFill>
                    <a:ln w="9525" cap="flat">
                      <a:solidFill>
                        <a:srgbClr val="FF9300"/>
                      </a:solidFill>
                      <a:prstDash val="solid"/>
                      <a:round/>
                    </a:ln>
                    <a:effectLst/>
                  </p:spPr>
                  <p:txBody>
                    <a:bodyPr wrap="square" lIns="0" tIns="0" rIns="0" bIns="0" numCol="1" anchor="ctr">
                      <a:noAutofit/>
                    </a:bodyPr>
                    <a:lstStyle/>
                    <a:p>
                      <a:pPr lvl="0"/>
                      <a:endParaRPr/>
                    </a:p>
                  </p:txBody>
                </p:sp>
                <p:sp>
                  <p:nvSpPr>
                    <p:cNvPr id="459" name="Shape 298">
                      <a:extLst>
                        <a:ext uri="{FF2B5EF4-FFF2-40B4-BE49-F238E27FC236}">
                          <a16:creationId xmlns:a16="http://schemas.microsoft.com/office/drawing/2014/main" id="{3381A1E8-4CA6-384F-AB1F-D12315B9D551}"/>
                        </a:ext>
                      </a:extLst>
                    </p:cNvPr>
                    <p:cNvSpPr/>
                    <p:nvPr/>
                  </p:nvSpPr>
                  <p:spPr>
                    <a:xfrm>
                      <a:off x="9525" y="422275"/>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E18000"/>
                    </a:solidFill>
                    <a:ln w="9525" cap="flat">
                      <a:solidFill>
                        <a:srgbClr val="FF9300"/>
                      </a:solidFill>
                      <a:prstDash val="solid"/>
                      <a:round/>
                    </a:ln>
                    <a:effectLst/>
                  </p:spPr>
                  <p:txBody>
                    <a:bodyPr wrap="square" lIns="0" tIns="0" rIns="0" bIns="0" numCol="1" anchor="ctr">
                      <a:noAutofit/>
                    </a:bodyPr>
                    <a:lstStyle/>
                    <a:p>
                      <a:pPr lvl="0"/>
                      <a:endParaRPr/>
                    </a:p>
                  </p:txBody>
                </p:sp>
                <p:sp>
                  <p:nvSpPr>
                    <p:cNvPr id="460" name="Shape 299">
                      <a:extLst>
                        <a:ext uri="{FF2B5EF4-FFF2-40B4-BE49-F238E27FC236}">
                          <a16:creationId xmlns:a16="http://schemas.microsoft.com/office/drawing/2014/main" id="{D56568DA-76E7-9C49-863A-F02720CFB872}"/>
                        </a:ext>
                      </a:extLst>
                    </p:cNvPr>
                    <p:cNvSpPr/>
                    <p:nvPr/>
                  </p:nvSpPr>
                  <p:spPr>
                    <a:xfrm>
                      <a:off x="6350" y="495300"/>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E18000"/>
                    </a:solidFill>
                    <a:ln w="9525" cap="flat">
                      <a:solidFill>
                        <a:srgbClr val="FF9300"/>
                      </a:solidFill>
                      <a:prstDash val="solid"/>
                      <a:round/>
                    </a:ln>
                    <a:effectLst/>
                  </p:spPr>
                  <p:txBody>
                    <a:bodyPr wrap="square" lIns="0" tIns="0" rIns="0" bIns="0" numCol="1" anchor="ctr">
                      <a:noAutofit/>
                    </a:bodyPr>
                    <a:lstStyle/>
                    <a:p>
                      <a:pPr lvl="0"/>
                      <a:endParaRPr/>
                    </a:p>
                  </p:txBody>
                </p:sp>
                <p:sp>
                  <p:nvSpPr>
                    <p:cNvPr id="461" name="Shape 300">
                      <a:extLst>
                        <a:ext uri="{FF2B5EF4-FFF2-40B4-BE49-F238E27FC236}">
                          <a16:creationId xmlns:a16="http://schemas.microsoft.com/office/drawing/2014/main" id="{977EEF88-DF66-CE4F-8AEC-B109F0A2E8F9}"/>
                        </a:ext>
                      </a:extLst>
                    </p:cNvPr>
                    <p:cNvSpPr/>
                    <p:nvPr/>
                  </p:nvSpPr>
                  <p:spPr>
                    <a:xfrm>
                      <a:off x="9525" y="571500"/>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E18000"/>
                    </a:solidFill>
                    <a:ln w="9525" cap="flat">
                      <a:solidFill>
                        <a:srgbClr val="FF9300"/>
                      </a:solidFill>
                      <a:prstDash val="solid"/>
                      <a:round/>
                    </a:ln>
                    <a:effectLst/>
                  </p:spPr>
                  <p:txBody>
                    <a:bodyPr wrap="square" lIns="0" tIns="0" rIns="0" bIns="0" numCol="1" anchor="ctr">
                      <a:noAutofit/>
                    </a:bodyPr>
                    <a:lstStyle/>
                    <a:p>
                      <a:pPr lvl="0"/>
                      <a:endParaRPr/>
                    </a:p>
                  </p:txBody>
                </p:sp>
              </p:grpSp>
              <p:grpSp>
                <p:nvGrpSpPr>
                  <p:cNvPr id="445" name="Group 310">
                    <a:extLst>
                      <a:ext uri="{FF2B5EF4-FFF2-40B4-BE49-F238E27FC236}">
                        <a16:creationId xmlns:a16="http://schemas.microsoft.com/office/drawing/2014/main" id="{49B9E6F1-218F-8948-A821-F1385CEF2F90}"/>
                      </a:ext>
                    </a:extLst>
                  </p:cNvPr>
                  <p:cNvGrpSpPr/>
                  <p:nvPr/>
                </p:nvGrpSpPr>
                <p:grpSpPr>
                  <a:xfrm>
                    <a:off x="749300" y="44450"/>
                    <a:ext cx="87313" cy="646113"/>
                    <a:chOff x="0" y="0"/>
                    <a:chExt cx="87312" cy="646112"/>
                  </a:xfrm>
                </p:grpSpPr>
                <p:sp>
                  <p:nvSpPr>
                    <p:cNvPr id="446" name="Shape 302">
                      <a:extLst>
                        <a:ext uri="{FF2B5EF4-FFF2-40B4-BE49-F238E27FC236}">
                          <a16:creationId xmlns:a16="http://schemas.microsoft.com/office/drawing/2014/main" id="{D980F5F4-9134-D843-A92E-88A8F25090E6}"/>
                        </a:ext>
                      </a:extLst>
                    </p:cNvPr>
                    <p:cNvSpPr/>
                    <p:nvPr/>
                  </p:nvSpPr>
                  <p:spPr>
                    <a:xfrm>
                      <a:off x="12700" y="0"/>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E18000"/>
                    </a:solidFill>
                    <a:ln w="9525" cap="flat">
                      <a:solidFill>
                        <a:srgbClr val="FF9300"/>
                      </a:solidFill>
                      <a:prstDash val="solid"/>
                      <a:round/>
                    </a:ln>
                    <a:effectLst/>
                  </p:spPr>
                  <p:txBody>
                    <a:bodyPr wrap="square" lIns="0" tIns="0" rIns="0" bIns="0" numCol="1" anchor="ctr">
                      <a:noAutofit/>
                    </a:bodyPr>
                    <a:lstStyle/>
                    <a:p>
                      <a:pPr lvl="0"/>
                      <a:endParaRPr/>
                    </a:p>
                  </p:txBody>
                </p:sp>
                <p:sp>
                  <p:nvSpPr>
                    <p:cNvPr id="447" name="Shape 303">
                      <a:extLst>
                        <a:ext uri="{FF2B5EF4-FFF2-40B4-BE49-F238E27FC236}">
                          <a16:creationId xmlns:a16="http://schemas.microsoft.com/office/drawing/2014/main" id="{A3D79C01-01CB-C04A-B40F-8C9E21D75526}"/>
                        </a:ext>
                      </a:extLst>
                    </p:cNvPr>
                    <p:cNvSpPr/>
                    <p:nvPr/>
                  </p:nvSpPr>
                  <p:spPr>
                    <a:xfrm>
                      <a:off x="6350" y="85725"/>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E18000"/>
                    </a:solidFill>
                    <a:ln w="9525" cap="flat">
                      <a:solidFill>
                        <a:srgbClr val="FF9300"/>
                      </a:solidFill>
                      <a:prstDash val="solid"/>
                      <a:round/>
                    </a:ln>
                    <a:effectLst/>
                  </p:spPr>
                  <p:txBody>
                    <a:bodyPr wrap="square" lIns="0" tIns="0" rIns="0" bIns="0" numCol="1" anchor="ctr">
                      <a:noAutofit/>
                    </a:bodyPr>
                    <a:lstStyle/>
                    <a:p>
                      <a:pPr lvl="0"/>
                      <a:endParaRPr/>
                    </a:p>
                  </p:txBody>
                </p:sp>
                <p:sp>
                  <p:nvSpPr>
                    <p:cNvPr id="448" name="Shape 304">
                      <a:extLst>
                        <a:ext uri="{FF2B5EF4-FFF2-40B4-BE49-F238E27FC236}">
                          <a16:creationId xmlns:a16="http://schemas.microsoft.com/office/drawing/2014/main" id="{02A5A934-CD64-1544-A952-C788A939E5B1}"/>
                        </a:ext>
                      </a:extLst>
                    </p:cNvPr>
                    <p:cNvSpPr/>
                    <p:nvPr/>
                  </p:nvSpPr>
                  <p:spPr>
                    <a:xfrm>
                      <a:off x="6350" y="174625"/>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E18000"/>
                    </a:solidFill>
                    <a:ln w="9525" cap="flat">
                      <a:solidFill>
                        <a:srgbClr val="FF9300"/>
                      </a:solidFill>
                      <a:prstDash val="solid"/>
                      <a:round/>
                    </a:ln>
                    <a:effectLst/>
                  </p:spPr>
                  <p:txBody>
                    <a:bodyPr wrap="square" lIns="0" tIns="0" rIns="0" bIns="0" numCol="1" anchor="ctr">
                      <a:noAutofit/>
                    </a:bodyPr>
                    <a:lstStyle/>
                    <a:p>
                      <a:pPr lvl="0"/>
                      <a:endParaRPr/>
                    </a:p>
                  </p:txBody>
                </p:sp>
                <p:sp>
                  <p:nvSpPr>
                    <p:cNvPr id="449" name="Shape 305">
                      <a:extLst>
                        <a:ext uri="{FF2B5EF4-FFF2-40B4-BE49-F238E27FC236}">
                          <a16:creationId xmlns:a16="http://schemas.microsoft.com/office/drawing/2014/main" id="{240B5424-F99B-A941-B286-9CCAC8F4AA29}"/>
                        </a:ext>
                      </a:extLst>
                    </p:cNvPr>
                    <p:cNvSpPr/>
                    <p:nvPr/>
                  </p:nvSpPr>
                  <p:spPr>
                    <a:xfrm>
                      <a:off x="6350" y="254000"/>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E18000"/>
                    </a:solidFill>
                    <a:ln w="9525" cap="flat">
                      <a:solidFill>
                        <a:srgbClr val="FF9300"/>
                      </a:solidFill>
                      <a:prstDash val="solid"/>
                      <a:round/>
                    </a:ln>
                    <a:effectLst/>
                  </p:spPr>
                  <p:txBody>
                    <a:bodyPr wrap="square" lIns="0" tIns="0" rIns="0" bIns="0" numCol="1" anchor="ctr">
                      <a:noAutofit/>
                    </a:bodyPr>
                    <a:lstStyle/>
                    <a:p>
                      <a:pPr lvl="0"/>
                      <a:endParaRPr/>
                    </a:p>
                  </p:txBody>
                </p:sp>
                <p:sp>
                  <p:nvSpPr>
                    <p:cNvPr id="450" name="Shape 306">
                      <a:extLst>
                        <a:ext uri="{FF2B5EF4-FFF2-40B4-BE49-F238E27FC236}">
                          <a16:creationId xmlns:a16="http://schemas.microsoft.com/office/drawing/2014/main" id="{CF0569A7-7EC4-1C47-959A-4AF644CDE3F3}"/>
                        </a:ext>
                      </a:extLst>
                    </p:cNvPr>
                    <p:cNvSpPr/>
                    <p:nvPr/>
                  </p:nvSpPr>
                  <p:spPr>
                    <a:xfrm>
                      <a:off x="0" y="336550"/>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E18000"/>
                    </a:solidFill>
                    <a:ln w="9525" cap="flat">
                      <a:solidFill>
                        <a:srgbClr val="FF9300"/>
                      </a:solidFill>
                      <a:prstDash val="solid"/>
                      <a:round/>
                    </a:ln>
                    <a:effectLst/>
                  </p:spPr>
                  <p:txBody>
                    <a:bodyPr wrap="square" lIns="0" tIns="0" rIns="0" bIns="0" numCol="1" anchor="ctr">
                      <a:noAutofit/>
                    </a:bodyPr>
                    <a:lstStyle/>
                    <a:p>
                      <a:pPr lvl="0"/>
                      <a:endParaRPr/>
                    </a:p>
                  </p:txBody>
                </p:sp>
                <p:sp>
                  <p:nvSpPr>
                    <p:cNvPr id="451" name="Shape 307">
                      <a:extLst>
                        <a:ext uri="{FF2B5EF4-FFF2-40B4-BE49-F238E27FC236}">
                          <a16:creationId xmlns:a16="http://schemas.microsoft.com/office/drawing/2014/main" id="{87F7316A-1310-704F-A894-A6BD5115D93F}"/>
                        </a:ext>
                      </a:extLst>
                    </p:cNvPr>
                    <p:cNvSpPr/>
                    <p:nvPr/>
                  </p:nvSpPr>
                  <p:spPr>
                    <a:xfrm>
                      <a:off x="9525" y="422275"/>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E18000"/>
                    </a:solidFill>
                    <a:ln w="9525" cap="flat">
                      <a:solidFill>
                        <a:srgbClr val="FF9300"/>
                      </a:solidFill>
                      <a:prstDash val="solid"/>
                      <a:round/>
                    </a:ln>
                    <a:effectLst/>
                  </p:spPr>
                  <p:txBody>
                    <a:bodyPr wrap="square" lIns="0" tIns="0" rIns="0" bIns="0" numCol="1" anchor="ctr">
                      <a:noAutofit/>
                    </a:bodyPr>
                    <a:lstStyle/>
                    <a:p>
                      <a:pPr lvl="0"/>
                      <a:endParaRPr/>
                    </a:p>
                  </p:txBody>
                </p:sp>
                <p:sp>
                  <p:nvSpPr>
                    <p:cNvPr id="452" name="Shape 308">
                      <a:extLst>
                        <a:ext uri="{FF2B5EF4-FFF2-40B4-BE49-F238E27FC236}">
                          <a16:creationId xmlns:a16="http://schemas.microsoft.com/office/drawing/2014/main" id="{052F75DD-75F8-8B47-AC0D-AE48CF69AA99}"/>
                        </a:ext>
                      </a:extLst>
                    </p:cNvPr>
                    <p:cNvSpPr/>
                    <p:nvPr/>
                  </p:nvSpPr>
                  <p:spPr>
                    <a:xfrm>
                      <a:off x="6350" y="495300"/>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E18000"/>
                    </a:solidFill>
                    <a:ln w="9525" cap="flat">
                      <a:solidFill>
                        <a:srgbClr val="FF9300"/>
                      </a:solidFill>
                      <a:prstDash val="solid"/>
                      <a:round/>
                    </a:ln>
                    <a:effectLst/>
                  </p:spPr>
                  <p:txBody>
                    <a:bodyPr wrap="square" lIns="0" tIns="0" rIns="0" bIns="0" numCol="1" anchor="ctr">
                      <a:noAutofit/>
                    </a:bodyPr>
                    <a:lstStyle/>
                    <a:p>
                      <a:pPr lvl="0"/>
                      <a:endParaRPr/>
                    </a:p>
                  </p:txBody>
                </p:sp>
                <p:sp>
                  <p:nvSpPr>
                    <p:cNvPr id="453" name="Shape 309">
                      <a:extLst>
                        <a:ext uri="{FF2B5EF4-FFF2-40B4-BE49-F238E27FC236}">
                          <a16:creationId xmlns:a16="http://schemas.microsoft.com/office/drawing/2014/main" id="{A3E84672-EEB6-3C49-8D2E-A4932250A1ED}"/>
                        </a:ext>
                      </a:extLst>
                    </p:cNvPr>
                    <p:cNvSpPr/>
                    <p:nvPr/>
                  </p:nvSpPr>
                  <p:spPr>
                    <a:xfrm>
                      <a:off x="9525" y="571500"/>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E18000"/>
                    </a:solidFill>
                    <a:ln w="9525" cap="flat">
                      <a:solidFill>
                        <a:srgbClr val="FF9300"/>
                      </a:solidFill>
                      <a:prstDash val="solid"/>
                      <a:round/>
                    </a:ln>
                    <a:effectLst/>
                  </p:spPr>
                  <p:txBody>
                    <a:bodyPr wrap="square" lIns="0" tIns="0" rIns="0" bIns="0" numCol="1" anchor="ctr">
                      <a:noAutofit/>
                    </a:bodyPr>
                    <a:lstStyle/>
                    <a:p>
                      <a:pPr lvl="0"/>
                      <a:endParaRPr/>
                    </a:p>
                  </p:txBody>
                </p:sp>
              </p:grpSp>
            </p:grpSp>
            <p:sp>
              <p:nvSpPr>
                <p:cNvPr id="441" name="Shape 312">
                  <a:extLst>
                    <a:ext uri="{FF2B5EF4-FFF2-40B4-BE49-F238E27FC236}">
                      <a16:creationId xmlns:a16="http://schemas.microsoft.com/office/drawing/2014/main" id="{A5B7BADE-E6D9-1B46-85DB-BACFF09D6F82}"/>
                    </a:ext>
                  </a:extLst>
                </p:cNvPr>
                <p:cNvSpPr/>
                <p:nvPr/>
              </p:nvSpPr>
              <p:spPr>
                <a:xfrm flipH="1">
                  <a:off x="927100" y="165100"/>
                  <a:ext cx="660400" cy="444500"/>
                </a:xfrm>
                <a:prstGeom prst="line">
                  <a:avLst/>
                </a:prstGeom>
                <a:noFill/>
                <a:ln w="19050" cap="flat">
                  <a:solidFill>
                    <a:srgbClr val="FF9300"/>
                  </a:solidFill>
                  <a:prstDash val="solid"/>
                  <a:round/>
                  <a:tailEnd type="triangle" w="med" len="med"/>
                </a:ln>
                <a:effectLst/>
              </p:spPr>
              <p:txBody>
                <a:bodyPr wrap="square" lIns="0" tIns="0" rIns="0" bIns="0" numCol="1" anchor="t">
                  <a:noAutofit/>
                </a:bodyPr>
                <a:lstStyle/>
                <a:p>
                  <a:pPr marL="0" marR="0" lvl="0" defTabSz="457200">
                    <a:defRPr sz="1200">
                      <a:uFillTx/>
                      <a:latin typeface="Helvetica"/>
                      <a:ea typeface="Helvetica"/>
                      <a:cs typeface="Helvetica"/>
                      <a:sym typeface="Helvetica"/>
                    </a:defRPr>
                  </a:pPr>
                  <a:endParaRPr/>
                </a:p>
              </p:txBody>
            </p:sp>
          </p:grpSp>
          <p:grpSp>
            <p:nvGrpSpPr>
              <p:cNvPr id="402" name="Group 345">
                <a:extLst>
                  <a:ext uri="{FF2B5EF4-FFF2-40B4-BE49-F238E27FC236}">
                    <a16:creationId xmlns:a16="http://schemas.microsoft.com/office/drawing/2014/main" id="{B09D7B62-50D8-B242-BC03-0E7751111AB2}"/>
                  </a:ext>
                </a:extLst>
              </p:cNvPr>
              <p:cNvGrpSpPr/>
              <p:nvPr/>
            </p:nvGrpSpPr>
            <p:grpSpPr>
              <a:xfrm>
                <a:off x="4191000" y="5616575"/>
                <a:ext cx="3535262" cy="1111309"/>
                <a:chOff x="0" y="0"/>
                <a:chExt cx="3535262" cy="1111309"/>
              </a:xfrm>
            </p:grpSpPr>
            <p:sp>
              <p:nvSpPr>
                <p:cNvPr id="408" name="Shape 314">
                  <a:extLst>
                    <a:ext uri="{FF2B5EF4-FFF2-40B4-BE49-F238E27FC236}">
                      <a16:creationId xmlns:a16="http://schemas.microsoft.com/office/drawing/2014/main" id="{FF0E51DC-2D98-B54D-B26A-A43187D43BE9}"/>
                    </a:ext>
                  </a:extLst>
                </p:cNvPr>
                <p:cNvSpPr/>
                <p:nvPr/>
              </p:nvSpPr>
              <p:spPr>
                <a:xfrm>
                  <a:off x="908052" y="649644"/>
                  <a:ext cx="2627210" cy="461665"/>
                </a:xfrm>
                <a:prstGeom prst="rect">
                  <a:avLst/>
                </a:prstGeom>
                <a:noFill/>
                <a:ln w="9525" cap="flat">
                  <a:solidFill>
                    <a:srgbClr val="0A39FF"/>
                  </a:solidFill>
                  <a:prstDash val="solid"/>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lvl="0">
                    <a:spcBef>
                      <a:spcPts val="900"/>
                    </a:spcBef>
                    <a:buClr>
                      <a:srgbClr val="062ACD"/>
                    </a:buClr>
                    <a:buFont typeface="Helvetica"/>
                    <a:defRPr sz="1800">
                      <a:uFillTx/>
                    </a:defRPr>
                  </a:pPr>
                  <a:r>
                    <a:rPr sz="1500" b="0" dirty="0">
                      <a:solidFill>
                        <a:srgbClr val="062ACD"/>
                      </a:solidFill>
                      <a:uFill>
                        <a:solidFill>
                          <a:srgbClr val="062ACD"/>
                        </a:solidFill>
                      </a:uFill>
                      <a:latin typeface="Gill Sans" charset="0"/>
                      <a:ea typeface="Gill Sans" charset="0"/>
                      <a:cs typeface="Gill Sans" charset="0"/>
                      <a:sym typeface="Helvetica"/>
                    </a:rPr>
                    <a:t>P</a:t>
                  </a:r>
                  <a:r>
                    <a:rPr lang="en-US" sz="1500" b="0" dirty="0">
                      <a:solidFill>
                        <a:srgbClr val="062ACD"/>
                      </a:solidFill>
                      <a:uFill>
                        <a:solidFill>
                          <a:srgbClr val="062ACD"/>
                        </a:solidFill>
                      </a:uFill>
                      <a:latin typeface="Gill Sans" charset="0"/>
                      <a:ea typeface="Gill Sans" charset="0"/>
                      <a:cs typeface="Gill Sans" charset="0"/>
                      <a:sym typeface="Helvetica"/>
                    </a:rPr>
                    <a:t>olar/charged AA mainly </a:t>
                  </a:r>
                  <a:r>
                    <a:rPr lang="en-US" sz="1500" b="0" u="sng" dirty="0">
                      <a:solidFill>
                        <a:srgbClr val="062ACD"/>
                      </a:solidFill>
                      <a:uFill>
                        <a:solidFill>
                          <a:srgbClr val="062ACD"/>
                        </a:solidFill>
                      </a:uFill>
                      <a:latin typeface="Gill Sans" charset="0"/>
                      <a:ea typeface="Gill Sans" charset="0"/>
                      <a:cs typeface="Gill Sans" charset="0"/>
                      <a:sym typeface="Helvetica"/>
                    </a:rPr>
                    <a:t>not</a:t>
                  </a:r>
                  <a:r>
                    <a:rPr lang="en-US" sz="1500" b="0" dirty="0">
                      <a:solidFill>
                        <a:srgbClr val="062ACD"/>
                      </a:solidFill>
                      <a:uFill>
                        <a:solidFill>
                          <a:srgbClr val="062ACD"/>
                        </a:solidFill>
                      </a:uFill>
                      <a:latin typeface="Gill Sans" charset="0"/>
                      <a:ea typeface="Gill Sans" charset="0"/>
                      <a:cs typeface="Gill Sans" charset="0"/>
                      <a:sym typeface="Helvetica"/>
                    </a:rPr>
                    <a:t> in contact with membrane interior</a:t>
                  </a:r>
                </a:p>
              </p:txBody>
            </p:sp>
            <p:grpSp>
              <p:nvGrpSpPr>
                <p:cNvPr id="409" name="Group 343">
                  <a:extLst>
                    <a:ext uri="{FF2B5EF4-FFF2-40B4-BE49-F238E27FC236}">
                      <a16:creationId xmlns:a16="http://schemas.microsoft.com/office/drawing/2014/main" id="{5B06276A-3FA7-AC43-A5D3-617A3B2A8EF8}"/>
                    </a:ext>
                  </a:extLst>
                </p:cNvPr>
                <p:cNvGrpSpPr/>
                <p:nvPr/>
              </p:nvGrpSpPr>
              <p:grpSpPr>
                <a:xfrm>
                  <a:off x="0" y="0"/>
                  <a:ext cx="452438" cy="623888"/>
                  <a:chOff x="0" y="0"/>
                  <a:chExt cx="452437" cy="623887"/>
                </a:xfrm>
              </p:grpSpPr>
              <p:grpSp>
                <p:nvGrpSpPr>
                  <p:cNvPr id="411" name="Group 329">
                    <a:extLst>
                      <a:ext uri="{FF2B5EF4-FFF2-40B4-BE49-F238E27FC236}">
                        <a16:creationId xmlns:a16="http://schemas.microsoft.com/office/drawing/2014/main" id="{1D9BF33E-ABD7-184A-904E-CD2E487D2AAE}"/>
                      </a:ext>
                    </a:extLst>
                  </p:cNvPr>
                  <p:cNvGrpSpPr/>
                  <p:nvPr/>
                </p:nvGrpSpPr>
                <p:grpSpPr>
                  <a:xfrm>
                    <a:off x="0" y="0"/>
                    <a:ext cx="163513" cy="623888"/>
                    <a:chOff x="0" y="0"/>
                    <a:chExt cx="163512" cy="623887"/>
                  </a:xfrm>
                </p:grpSpPr>
                <p:sp>
                  <p:nvSpPr>
                    <p:cNvPr id="425" name="Shape 315">
                      <a:extLst>
                        <a:ext uri="{FF2B5EF4-FFF2-40B4-BE49-F238E27FC236}">
                          <a16:creationId xmlns:a16="http://schemas.microsoft.com/office/drawing/2014/main" id="{102ED13D-21AB-F143-B6F6-9DB3CA0B4028}"/>
                        </a:ext>
                      </a:extLst>
                    </p:cNvPr>
                    <p:cNvSpPr/>
                    <p:nvPr/>
                  </p:nvSpPr>
                  <p:spPr>
                    <a:xfrm>
                      <a:off x="0" y="0"/>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062ACD"/>
                    </a:solidFill>
                    <a:ln w="9525" cap="flat">
                      <a:solidFill>
                        <a:srgbClr val="0A39FF"/>
                      </a:solidFill>
                      <a:prstDash val="solid"/>
                      <a:round/>
                    </a:ln>
                    <a:effectLst/>
                  </p:spPr>
                  <p:txBody>
                    <a:bodyPr wrap="square" lIns="0" tIns="0" rIns="0" bIns="0" numCol="1" anchor="ctr">
                      <a:noAutofit/>
                    </a:bodyPr>
                    <a:lstStyle/>
                    <a:p>
                      <a:pPr lvl="0"/>
                      <a:endParaRPr/>
                    </a:p>
                  </p:txBody>
                </p:sp>
                <p:sp>
                  <p:nvSpPr>
                    <p:cNvPr id="426" name="Shape 316">
                      <a:extLst>
                        <a:ext uri="{FF2B5EF4-FFF2-40B4-BE49-F238E27FC236}">
                          <a16:creationId xmlns:a16="http://schemas.microsoft.com/office/drawing/2014/main" id="{48B35736-909C-DA4D-9437-58A649322229}"/>
                        </a:ext>
                      </a:extLst>
                    </p:cNvPr>
                    <p:cNvSpPr/>
                    <p:nvPr/>
                  </p:nvSpPr>
                  <p:spPr>
                    <a:xfrm>
                      <a:off x="69850" y="25400"/>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062ACD"/>
                    </a:solidFill>
                    <a:ln w="9525" cap="flat">
                      <a:solidFill>
                        <a:srgbClr val="0A39FF"/>
                      </a:solidFill>
                      <a:prstDash val="solid"/>
                      <a:round/>
                    </a:ln>
                    <a:effectLst/>
                  </p:spPr>
                  <p:txBody>
                    <a:bodyPr wrap="square" lIns="0" tIns="0" rIns="0" bIns="0" numCol="1" anchor="ctr">
                      <a:noAutofit/>
                    </a:bodyPr>
                    <a:lstStyle/>
                    <a:p>
                      <a:pPr lvl="0"/>
                      <a:endParaRPr/>
                    </a:p>
                  </p:txBody>
                </p:sp>
                <p:sp>
                  <p:nvSpPr>
                    <p:cNvPr id="427" name="Shape 317">
                      <a:extLst>
                        <a:ext uri="{FF2B5EF4-FFF2-40B4-BE49-F238E27FC236}">
                          <a16:creationId xmlns:a16="http://schemas.microsoft.com/office/drawing/2014/main" id="{CE48B954-A175-5C47-8CEF-6864FBFBF6BB}"/>
                        </a:ext>
                      </a:extLst>
                    </p:cNvPr>
                    <p:cNvSpPr/>
                    <p:nvPr/>
                  </p:nvSpPr>
                  <p:spPr>
                    <a:xfrm>
                      <a:off x="12700" y="88900"/>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062ACD"/>
                    </a:solidFill>
                    <a:ln w="9525" cap="flat">
                      <a:solidFill>
                        <a:srgbClr val="0A39FF"/>
                      </a:solidFill>
                      <a:prstDash val="solid"/>
                      <a:round/>
                    </a:ln>
                    <a:effectLst/>
                  </p:spPr>
                  <p:txBody>
                    <a:bodyPr wrap="square" lIns="0" tIns="0" rIns="0" bIns="0" numCol="1" anchor="ctr">
                      <a:noAutofit/>
                    </a:bodyPr>
                    <a:lstStyle/>
                    <a:p>
                      <a:pPr lvl="0"/>
                      <a:endParaRPr/>
                    </a:p>
                  </p:txBody>
                </p:sp>
                <p:sp>
                  <p:nvSpPr>
                    <p:cNvPr id="428" name="Shape 318">
                      <a:extLst>
                        <a:ext uri="{FF2B5EF4-FFF2-40B4-BE49-F238E27FC236}">
                          <a16:creationId xmlns:a16="http://schemas.microsoft.com/office/drawing/2014/main" id="{47C2C3B0-CB78-6442-94B7-10ADCB40B505}"/>
                        </a:ext>
                      </a:extLst>
                    </p:cNvPr>
                    <p:cNvSpPr/>
                    <p:nvPr/>
                  </p:nvSpPr>
                  <p:spPr>
                    <a:xfrm>
                      <a:off x="76200" y="123825"/>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062ACD"/>
                    </a:solidFill>
                    <a:ln w="9525" cap="flat">
                      <a:solidFill>
                        <a:srgbClr val="0A39FF"/>
                      </a:solidFill>
                      <a:prstDash val="solid"/>
                      <a:round/>
                    </a:ln>
                    <a:effectLst/>
                  </p:spPr>
                  <p:txBody>
                    <a:bodyPr wrap="square" lIns="0" tIns="0" rIns="0" bIns="0" numCol="1" anchor="ctr">
                      <a:noAutofit/>
                    </a:bodyPr>
                    <a:lstStyle/>
                    <a:p>
                      <a:pPr lvl="0"/>
                      <a:endParaRPr/>
                    </a:p>
                  </p:txBody>
                </p:sp>
                <p:sp>
                  <p:nvSpPr>
                    <p:cNvPr id="429" name="Shape 319">
                      <a:extLst>
                        <a:ext uri="{FF2B5EF4-FFF2-40B4-BE49-F238E27FC236}">
                          <a16:creationId xmlns:a16="http://schemas.microsoft.com/office/drawing/2014/main" id="{193BFEEF-EE45-AE41-BE47-E7E92DDA8081}"/>
                        </a:ext>
                      </a:extLst>
                    </p:cNvPr>
                    <p:cNvSpPr/>
                    <p:nvPr/>
                  </p:nvSpPr>
                  <p:spPr>
                    <a:xfrm>
                      <a:off x="12700" y="180975"/>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062ACD"/>
                    </a:solidFill>
                    <a:ln w="9525" cap="flat">
                      <a:solidFill>
                        <a:srgbClr val="0A39FF"/>
                      </a:solidFill>
                      <a:prstDash val="solid"/>
                      <a:round/>
                    </a:ln>
                    <a:effectLst/>
                  </p:spPr>
                  <p:txBody>
                    <a:bodyPr wrap="square" lIns="0" tIns="0" rIns="0" bIns="0" numCol="1" anchor="ctr">
                      <a:noAutofit/>
                    </a:bodyPr>
                    <a:lstStyle/>
                    <a:p>
                      <a:pPr lvl="0"/>
                      <a:endParaRPr/>
                    </a:p>
                  </p:txBody>
                </p:sp>
                <p:sp>
                  <p:nvSpPr>
                    <p:cNvPr id="430" name="Shape 320">
                      <a:extLst>
                        <a:ext uri="{FF2B5EF4-FFF2-40B4-BE49-F238E27FC236}">
                          <a16:creationId xmlns:a16="http://schemas.microsoft.com/office/drawing/2014/main" id="{3AA2C288-0BB1-544B-9228-A59C56C9DB18}"/>
                        </a:ext>
                      </a:extLst>
                    </p:cNvPr>
                    <p:cNvSpPr/>
                    <p:nvPr/>
                  </p:nvSpPr>
                  <p:spPr>
                    <a:xfrm>
                      <a:off x="76200" y="206375"/>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062ACD"/>
                    </a:solidFill>
                    <a:ln w="9525" cap="flat">
                      <a:solidFill>
                        <a:srgbClr val="0A39FF"/>
                      </a:solidFill>
                      <a:prstDash val="solid"/>
                      <a:round/>
                    </a:ln>
                    <a:effectLst/>
                  </p:spPr>
                  <p:txBody>
                    <a:bodyPr wrap="square" lIns="0" tIns="0" rIns="0" bIns="0" numCol="1" anchor="ctr">
                      <a:noAutofit/>
                    </a:bodyPr>
                    <a:lstStyle/>
                    <a:p>
                      <a:pPr lvl="0"/>
                      <a:endParaRPr/>
                    </a:p>
                  </p:txBody>
                </p:sp>
                <p:sp>
                  <p:nvSpPr>
                    <p:cNvPr id="431" name="Shape 321">
                      <a:extLst>
                        <a:ext uri="{FF2B5EF4-FFF2-40B4-BE49-F238E27FC236}">
                          <a16:creationId xmlns:a16="http://schemas.microsoft.com/office/drawing/2014/main" id="{8539647B-988D-A644-9242-0F0A0030C0B0}"/>
                        </a:ext>
                      </a:extLst>
                    </p:cNvPr>
                    <p:cNvSpPr/>
                    <p:nvPr/>
                  </p:nvSpPr>
                  <p:spPr>
                    <a:xfrm>
                      <a:off x="15875" y="263525"/>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062ACD"/>
                    </a:solidFill>
                    <a:ln w="9525" cap="flat">
                      <a:solidFill>
                        <a:srgbClr val="0A39FF"/>
                      </a:solidFill>
                      <a:prstDash val="solid"/>
                      <a:round/>
                    </a:ln>
                    <a:effectLst/>
                  </p:spPr>
                  <p:txBody>
                    <a:bodyPr wrap="square" lIns="0" tIns="0" rIns="0" bIns="0" numCol="1" anchor="ctr">
                      <a:noAutofit/>
                    </a:bodyPr>
                    <a:lstStyle/>
                    <a:p>
                      <a:pPr lvl="0"/>
                      <a:endParaRPr/>
                    </a:p>
                  </p:txBody>
                </p:sp>
                <p:sp>
                  <p:nvSpPr>
                    <p:cNvPr id="432" name="Shape 322">
                      <a:extLst>
                        <a:ext uri="{FF2B5EF4-FFF2-40B4-BE49-F238E27FC236}">
                          <a16:creationId xmlns:a16="http://schemas.microsoft.com/office/drawing/2014/main" id="{ED73AF06-EFAB-8444-9262-61CC0783AC27}"/>
                        </a:ext>
                      </a:extLst>
                    </p:cNvPr>
                    <p:cNvSpPr/>
                    <p:nvPr/>
                  </p:nvSpPr>
                  <p:spPr>
                    <a:xfrm>
                      <a:off x="73025" y="311150"/>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062ACD"/>
                    </a:solidFill>
                    <a:ln w="9525" cap="flat">
                      <a:solidFill>
                        <a:srgbClr val="0A39FF"/>
                      </a:solidFill>
                      <a:prstDash val="solid"/>
                      <a:round/>
                    </a:ln>
                    <a:effectLst/>
                  </p:spPr>
                  <p:txBody>
                    <a:bodyPr wrap="square" lIns="0" tIns="0" rIns="0" bIns="0" numCol="1" anchor="ctr">
                      <a:noAutofit/>
                    </a:bodyPr>
                    <a:lstStyle/>
                    <a:p>
                      <a:pPr lvl="0"/>
                      <a:endParaRPr/>
                    </a:p>
                  </p:txBody>
                </p:sp>
                <p:sp>
                  <p:nvSpPr>
                    <p:cNvPr id="433" name="Shape 323">
                      <a:extLst>
                        <a:ext uri="{FF2B5EF4-FFF2-40B4-BE49-F238E27FC236}">
                          <a16:creationId xmlns:a16="http://schemas.microsoft.com/office/drawing/2014/main" id="{29B48C60-B91A-B34B-A931-35CD3FFDED76}"/>
                        </a:ext>
                      </a:extLst>
                    </p:cNvPr>
                    <p:cNvSpPr/>
                    <p:nvPr/>
                  </p:nvSpPr>
                  <p:spPr>
                    <a:xfrm>
                      <a:off x="0" y="339725"/>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062ACD"/>
                    </a:solidFill>
                    <a:ln w="9525" cap="flat">
                      <a:solidFill>
                        <a:srgbClr val="0A39FF"/>
                      </a:solidFill>
                      <a:prstDash val="solid"/>
                      <a:round/>
                    </a:ln>
                    <a:effectLst/>
                  </p:spPr>
                  <p:txBody>
                    <a:bodyPr wrap="square" lIns="0" tIns="0" rIns="0" bIns="0" numCol="1" anchor="ctr">
                      <a:noAutofit/>
                    </a:bodyPr>
                    <a:lstStyle/>
                    <a:p>
                      <a:pPr lvl="0"/>
                      <a:endParaRPr/>
                    </a:p>
                  </p:txBody>
                </p:sp>
                <p:sp>
                  <p:nvSpPr>
                    <p:cNvPr id="434" name="Shape 324">
                      <a:extLst>
                        <a:ext uri="{FF2B5EF4-FFF2-40B4-BE49-F238E27FC236}">
                          <a16:creationId xmlns:a16="http://schemas.microsoft.com/office/drawing/2014/main" id="{3887FA72-31A5-4649-BCDE-30902A342349}"/>
                        </a:ext>
                      </a:extLst>
                    </p:cNvPr>
                    <p:cNvSpPr/>
                    <p:nvPr/>
                  </p:nvSpPr>
                  <p:spPr>
                    <a:xfrm>
                      <a:off x="73025" y="396875"/>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062ACD"/>
                    </a:solidFill>
                    <a:ln w="9525" cap="flat">
                      <a:solidFill>
                        <a:srgbClr val="0A39FF"/>
                      </a:solidFill>
                      <a:prstDash val="solid"/>
                      <a:round/>
                    </a:ln>
                    <a:effectLst/>
                  </p:spPr>
                  <p:txBody>
                    <a:bodyPr wrap="square" lIns="0" tIns="0" rIns="0" bIns="0" numCol="1" anchor="ctr">
                      <a:noAutofit/>
                    </a:bodyPr>
                    <a:lstStyle/>
                    <a:p>
                      <a:pPr lvl="0"/>
                      <a:endParaRPr/>
                    </a:p>
                  </p:txBody>
                </p:sp>
                <p:sp>
                  <p:nvSpPr>
                    <p:cNvPr id="435" name="Shape 325">
                      <a:extLst>
                        <a:ext uri="{FF2B5EF4-FFF2-40B4-BE49-F238E27FC236}">
                          <a16:creationId xmlns:a16="http://schemas.microsoft.com/office/drawing/2014/main" id="{4598C468-B19C-D04F-B306-2E716DBFA101}"/>
                        </a:ext>
                      </a:extLst>
                    </p:cNvPr>
                    <p:cNvSpPr/>
                    <p:nvPr/>
                  </p:nvSpPr>
                  <p:spPr>
                    <a:xfrm>
                      <a:off x="3175" y="415925"/>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062ACD"/>
                    </a:solidFill>
                    <a:ln w="9525" cap="flat">
                      <a:solidFill>
                        <a:srgbClr val="0A39FF"/>
                      </a:solidFill>
                      <a:prstDash val="solid"/>
                      <a:round/>
                    </a:ln>
                    <a:effectLst/>
                  </p:spPr>
                  <p:txBody>
                    <a:bodyPr wrap="square" lIns="0" tIns="0" rIns="0" bIns="0" numCol="1" anchor="ctr">
                      <a:noAutofit/>
                    </a:bodyPr>
                    <a:lstStyle/>
                    <a:p>
                      <a:pPr lvl="0"/>
                      <a:endParaRPr/>
                    </a:p>
                  </p:txBody>
                </p:sp>
                <p:sp>
                  <p:nvSpPr>
                    <p:cNvPr id="436" name="Shape 326">
                      <a:extLst>
                        <a:ext uri="{FF2B5EF4-FFF2-40B4-BE49-F238E27FC236}">
                          <a16:creationId xmlns:a16="http://schemas.microsoft.com/office/drawing/2014/main" id="{54844175-6BDC-7E42-92F5-647916B63AE0}"/>
                        </a:ext>
                      </a:extLst>
                    </p:cNvPr>
                    <p:cNvSpPr/>
                    <p:nvPr/>
                  </p:nvSpPr>
                  <p:spPr>
                    <a:xfrm>
                      <a:off x="88900" y="469900"/>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062ACD"/>
                    </a:solidFill>
                    <a:ln w="9525" cap="flat">
                      <a:solidFill>
                        <a:srgbClr val="0A39FF"/>
                      </a:solidFill>
                      <a:prstDash val="solid"/>
                      <a:round/>
                    </a:ln>
                    <a:effectLst/>
                  </p:spPr>
                  <p:txBody>
                    <a:bodyPr wrap="square" lIns="0" tIns="0" rIns="0" bIns="0" numCol="1" anchor="ctr">
                      <a:noAutofit/>
                    </a:bodyPr>
                    <a:lstStyle/>
                    <a:p>
                      <a:pPr lvl="0"/>
                      <a:endParaRPr/>
                    </a:p>
                  </p:txBody>
                </p:sp>
                <p:sp>
                  <p:nvSpPr>
                    <p:cNvPr id="437" name="Shape 327">
                      <a:extLst>
                        <a:ext uri="{FF2B5EF4-FFF2-40B4-BE49-F238E27FC236}">
                          <a16:creationId xmlns:a16="http://schemas.microsoft.com/office/drawing/2014/main" id="{903CAEF5-C25E-7042-8E3A-D08D26B08E1E}"/>
                        </a:ext>
                      </a:extLst>
                    </p:cNvPr>
                    <p:cNvSpPr/>
                    <p:nvPr/>
                  </p:nvSpPr>
                  <p:spPr>
                    <a:xfrm>
                      <a:off x="19050" y="476250"/>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062ACD"/>
                    </a:solidFill>
                    <a:ln w="9525" cap="flat">
                      <a:solidFill>
                        <a:srgbClr val="0A39FF"/>
                      </a:solidFill>
                      <a:prstDash val="solid"/>
                      <a:round/>
                    </a:ln>
                    <a:effectLst/>
                  </p:spPr>
                  <p:txBody>
                    <a:bodyPr wrap="square" lIns="0" tIns="0" rIns="0" bIns="0" numCol="1" anchor="ctr">
                      <a:noAutofit/>
                    </a:bodyPr>
                    <a:lstStyle/>
                    <a:p>
                      <a:pPr lvl="0"/>
                      <a:endParaRPr/>
                    </a:p>
                  </p:txBody>
                </p:sp>
                <p:sp>
                  <p:nvSpPr>
                    <p:cNvPr id="438" name="Shape 328">
                      <a:extLst>
                        <a:ext uri="{FF2B5EF4-FFF2-40B4-BE49-F238E27FC236}">
                          <a16:creationId xmlns:a16="http://schemas.microsoft.com/office/drawing/2014/main" id="{450FCC60-B9DE-5D48-95D5-E5EEC06C269B}"/>
                        </a:ext>
                      </a:extLst>
                    </p:cNvPr>
                    <p:cNvSpPr/>
                    <p:nvPr/>
                  </p:nvSpPr>
                  <p:spPr>
                    <a:xfrm>
                      <a:off x="22225" y="549275"/>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062ACD"/>
                    </a:solidFill>
                    <a:ln w="9525" cap="flat">
                      <a:solidFill>
                        <a:srgbClr val="0A39FF"/>
                      </a:solidFill>
                      <a:prstDash val="solid"/>
                      <a:round/>
                    </a:ln>
                    <a:effectLst/>
                  </p:spPr>
                  <p:txBody>
                    <a:bodyPr wrap="square" lIns="0" tIns="0" rIns="0" bIns="0" numCol="1" anchor="ctr">
                      <a:noAutofit/>
                    </a:bodyPr>
                    <a:lstStyle/>
                    <a:p>
                      <a:pPr lvl="0"/>
                      <a:endParaRPr/>
                    </a:p>
                  </p:txBody>
                </p:sp>
              </p:grpSp>
              <p:sp>
                <p:nvSpPr>
                  <p:cNvPr id="412" name="Shape 330">
                    <a:extLst>
                      <a:ext uri="{FF2B5EF4-FFF2-40B4-BE49-F238E27FC236}">
                        <a16:creationId xmlns:a16="http://schemas.microsoft.com/office/drawing/2014/main" id="{B1FCA8D5-2FD3-3649-A124-C874E1452202}"/>
                      </a:ext>
                    </a:extLst>
                  </p:cNvPr>
                  <p:cNvSpPr/>
                  <p:nvPr/>
                </p:nvSpPr>
                <p:spPr>
                  <a:xfrm>
                    <a:off x="355600" y="492125"/>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062ACD"/>
                  </a:solidFill>
                  <a:ln w="9525" cap="flat">
                    <a:solidFill>
                      <a:srgbClr val="0A39FF"/>
                    </a:solidFill>
                    <a:prstDash val="solid"/>
                    <a:round/>
                  </a:ln>
                  <a:effectLst/>
                </p:spPr>
                <p:txBody>
                  <a:bodyPr wrap="square" lIns="0" tIns="0" rIns="0" bIns="0" numCol="1" anchor="ctr">
                    <a:noAutofit/>
                  </a:bodyPr>
                  <a:lstStyle/>
                  <a:p>
                    <a:pPr lvl="0"/>
                    <a:endParaRPr/>
                  </a:p>
                </p:txBody>
              </p:sp>
              <p:sp>
                <p:nvSpPr>
                  <p:cNvPr id="413" name="Shape 331">
                    <a:extLst>
                      <a:ext uri="{FF2B5EF4-FFF2-40B4-BE49-F238E27FC236}">
                        <a16:creationId xmlns:a16="http://schemas.microsoft.com/office/drawing/2014/main" id="{F66A46DE-5EAE-7147-B2B3-7749ED523245}"/>
                      </a:ext>
                    </a:extLst>
                  </p:cNvPr>
                  <p:cNvSpPr/>
                  <p:nvPr/>
                </p:nvSpPr>
                <p:spPr>
                  <a:xfrm>
                    <a:off x="298450" y="450850"/>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062ACD"/>
                  </a:solidFill>
                  <a:ln w="9525" cap="flat">
                    <a:solidFill>
                      <a:srgbClr val="0A39FF"/>
                    </a:solidFill>
                    <a:prstDash val="solid"/>
                    <a:round/>
                  </a:ln>
                  <a:effectLst/>
                </p:spPr>
                <p:txBody>
                  <a:bodyPr wrap="square" lIns="0" tIns="0" rIns="0" bIns="0" numCol="1" anchor="ctr">
                    <a:noAutofit/>
                  </a:bodyPr>
                  <a:lstStyle/>
                  <a:p>
                    <a:pPr lvl="0"/>
                    <a:endParaRPr/>
                  </a:p>
                </p:txBody>
              </p:sp>
              <p:sp>
                <p:nvSpPr>
                  <p:cNvPr id="414" name="Shape 332">
                    <a:extLst>
                      <a:ext uri="{FF2B5EF4-FFF2-40B4-BE49-F238E27FC236}">
                        <a16:creationId xmlns:a16="http://schemas.microsoft.com/office/drawing/2014/main" id="{98FA34B5-A00B-F549-9F57-61360FBA5FA8}"/>
                      </a:ext>
                    </a:extLst>
                  </p:cNvPr>
                  <p:cNvSpPr/>
                  <p:nvPr/>
                </p:nvSpPr>
                <p:spPr>
                  <a:xfrm>
                    <a:off x="358775" y="412750"/>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062ACD"/>
                  </a:solidFill>
                  <a:ln w="9525" cap="flat">
                    <a:solidFill>
                      <a:srgbClr val="0A39FF"/>
                    </a:solidFill>
                    <a:prstDash val="solid"/>
                    <a:round/>
                  </a:ln>
                  <a:effectLst/>
                </p:spPr>
                <p:txBody>
                  <a:bodyPr wrap="square" lIns="0" tIns="0" rIns="0" bIns="0" numCol="1" anchor="ctr">
                    <a:noAutofit/>
                  </a:bodyPr>
                  <a:lstStyle/>
                  <a:p>
                    <a:pPr lvl="0"/>
                    <a:endParaRPr/>
                  </a:p>
                </p:txBody>
              </p:sp>
              <p:sp>
                <p:nvSpPr>
                  <p:cNvPr id="415" name="Shape 333">
                    <a:extLst>
                      <a:ext uri="{FF2B5EF4-FFF2-40B4-BE49-F238E27FC236}">
                        <a16:creationId xmlns:a16="http://schemas.microsoft.com/office/drawing/2014/main" id="{7EA73E4A-CBE2-804F-ADE0-088498A24347}"/>
                      </a:ext>
                    </a:extLst>
                  </p:cNvPr>
                  <p:cNvSpPr/>
                  <p:nvPr/>
                </p:nvSpPr>
                <p:spPr>
                  <a:xfrm>
                    <a:off x="295275" y="361950"/>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062ACD"/>
                  </a:solidFill>
                  <a:ln w="9525" cap="flat">
                    <a:solidFill>
                      <a:srgbClr val="0A39FF"/>
                    </a:solidFill>
                    <a:prstDash val="solid"/>
                    <a:round/>
                  </a:ln>
                  <a:effectLst/>
                </p:spPr>
                <p:txBody>
                  <a:bodyPr wrap="square" lIns="0" tIns="0" rIns="0" bIns="0" numCol="1" anchor="ctr">
                    <a:noAutofit/>
                  </a:bodyPr>
                  <a:lstStyle/>
                  <a:p>
                    <a:pPr lvl="0"/>
                    <a:endParaRPr/>
                  </a:p>
                </p:txBody>
              </p:sp>
              <p:sp>
                <p:nvSpPr>
                  <p:cNvPr id="416" name="Shape 334">
                    <a:extLst>
                      <a:ext uri="{FF2B5EF4-FFF2-40B4-BE49-F238E27FC236}">
                        <a16:creationId xmlns:a16="http://schemas.microsoft.com/office/drawing/2014/main" id="{8512CA26-3011-584F-906E-9CEB907F4851}"/>
                      </a:ext>
                    </a:extLst>
                  </p:cNvPr>
                  <p:cNvSpPr/>
                  <p:nvPr/>
                </p:nvSpPr>
                <p:spPr>
                  <a:xfrm>
                    <a:off x="377825" y="346075"/>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062ACD"/>
                  </a:solidFill>
                  <a:ln w="9525" cap="flat">
                    <a:solidFill>
                      <a:srgbClr val="0A39FF"/>
                    </a:solidFill>
                    <a:prstDash val="solid"/>
                    <a:round/>
                  </a:ln>
                  <a:effectLst/>
                </p:spPr>
                <p:txBody>
                  <a:bodyPr wrap="square" lIns="0" tIns="0" rIns="0" bIns="0" numCol="1" anchor="ctr">
                    <a:noAutofit/>
                  </a:bodyPr>
                  <a:lstStyle/>
                  <a:p>
                    <a:pPr lvl="0"/>
                    <a:endParaRPr/>
                  </a:p>
                </p:txBody>
              </p:sp>
              <p:sp>
                <p:nvSpPr>
                  <p:cNvPr id="417" name="Shape 335">
                    <a:extLst>
                      <a:ext uri="{FF2B5EF4-FFF2-40B4-BE49-F238E27FC236}">
                        <a16:creationId xmlns:a16="http://schemas.microsoft.com/office/drawing/2014/main" id="{1AF1EAF6-E602-A24A-AE67-26EFF0127FA7}"/>
                      </a:ext>
                    </a:extLst>
                  </p:cNvPr>
                  <p:cNvSpPr/>
                  <p:nvPr/>
                </p:nvSpPr>
                <p:spPr>
                  <a:xfrm>
                    <a:off x="301625" y="298450"/>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062ACD"/>
                  </a:solidFill>
                  <a:ln w="9525" cap="flat">
                    <a:solidFill>
                      <a:srgbClr val="0A39FF"/>
                    </a:solidFill>
                    <a:prstDash val="solid"/>
                    <a:round/>
                  </a:ln>
                  <a:effectLst/>
                </p:spPr>
                <p:txBody>
                  <a:bodyPr wrap="square" lIns="0" tIns="0" rIns="0" bIns="0" numCol="1" anchor="ctr">
                    <a:noAutofit/>
                  </a:bodyPr>
                  <a:lstStyle/>
                  <a:p>
                    <a:pPr lvl="0"/>
                    <a:endParaRPr/>
                  </a:p>
                </p:txBody>
              </p:sp>
              <p:sp>
                <p:nvSpPr>
                  <p:cNvPr id="418" name="Shape 336">
                    <a:extLst>
                      <a:ext uri="{FF2B5EF4-FFF2-40B4-BE49-F238E27FC236}">
                        <a16:creationId xmlns:a16="http://schemas.microsoft.com/office/drawing/2014/main" id="{B5A26230-8FFB-7A47-AD16-C157C9DF1D38}"/>
                      </a:ext>
                    </a:extLst>
                  </p:cNvPr>
                  <p:cNvSpPr/>
                  <p:nvPr/>
                </p:nvSpPr>
                <p:spPr>
                  <a:xfrm>
                    <a:off x="361950" y="273050"/>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062ACD"/>
                  </a:solidFill>
                  <a:ln w="9525" cap="flat">
                    <a:solidFill>
                      <a:srgbClr val="0A39FF"/>
                    </a:solidFill>
                    <a:prstDash val="solid"/>
                    <a:round/>
                  </a:ln>
                  <a:effectLst/>
                </p:spPr>
                <p:txBody>
                  <a:bodyPr wrap="square" lIns="0" tIns="0" rIns="0" bIns="0" numCol="1" anchor="ctr">
                    <a:noAutofit/>
                  </a:bodyPr>
                  <a:lstStyle/>
                  <a:p>
                    <a:pPr lvl="0"/>
                    <a:endParaRPr/>
                  </a:p>
                </p:txBody>
              </p:sp>
              <p:sp>
                <p:nvSpPr>
                  <p:cNvPr id="419" name="Shape 337">
                    <a:extLst>
                      <a:ext uri="{FF2B5EF4-FFF2-40B4-BE49-F238E27FC236}">
                        <a16:creationId xmlns:a16="http://schemas.microsoft.com/office/drawing/2014/main" id="{5E0DAFE8-9AD4-0B4E-AAFE-950745B379D6}"/>
                      </a:ext>
                    </a:extLst>
                  </p:cNvPr>
                  <p:cNvSpPr/>
                  <p:nvPr/>
                </p:nvSpPr>
                <p:spPr>
                  <a:xfrm>
                    <a:off x="295275" y="225425"/>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062ACD"/>
                  </a:solidFill>
                  <a:ln w="9525" cap="flat">
                    <a:solidFill>
                      <a:srgbClr val="0A39FF"/>
                    </a:solidFill>
                    <a:prstDash val="solid"/>
                    <a:round/>
                  </a:ln>
                  <a:effectLst/>
                </p:spPr>
                <p:txBody>
                  <a:bodyPr wrap="square" lIns="0" tIns="0" rIns="0" bIns="0" numCol="1" anchor="ctr">
                    <a:noAutofit/>
                  </a:bodyPr>
                  <a:lstStyle/>
                  <a:p>
                    <a:pPr lvl="0"/>
                    <a:endParaRPr/>
                  </a:p>
                </p:txBody>
              </p:sp>
              <p:sp>
                <p:nvSpPr>
                  <p:cNvPr id="420" name="Shape 338">
                    <a:extLst>
                      <a:ext uri="{FF2B5EF4-FFF2-40B4-BE49-F238E27FC236}">
                        <a16:creationId xmlns:a16="http://schemas.microsoft.com/office/drawing/2014/main" id="{7C3E96F7-E5CB-6B43-8167-F392CFF08BE8}"/>
                      </a:ext>
                    </a:extLst>
                  </p:cNvPr>
                  <p:cNvSpPr/>
                  <p:nvPr/>
                </p:nvSpPr>
                <p:spPr>
                  <a:xfrm>
                    <a:off x="336550" y="171450"/>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062ACD"/>
                  </a:solidFill>
                  <a:ln w="9525" cap="flat">
                    <a:solidFill>
                      <a:srgbClr val="0A39FF"/>
                    </a:solidFill>
                    <a:prstDash val="solid"/>
                    <a:round/>
                  </a:ln>
                  <a:effectLst/>
                </p:spPr>
                <p:txBody>
                  <a:bodyPr wrap="square" lIns="0" tIns="0" rIns="0" bIns="0" numCol="1" anchor="ctr">
                    <a:noAutofit/>
                  </a:bodyPr>
                  <a:lstStyle/>
                  <a:p>
                    <a:pPr lvl="0"/>
                    <a:endParaRPr/>
                  </a:p>
                </p:txBody>
              </p:sp>
              <p:sp>
                <p:nvSpPr>
                  <p:cNvPr id="421" name="Shape 339">
                    <a:extLst>
                      <a:ext uri="{FF2B5EF4-FFF2-40B4-BE49-F238E27FC236}">
                        <a16:creationId xmlns:a16="http://schemas.microsoft.com/office/drawing/2014/main" id="{10D042B2-C266-EF42-A925-0908DDD2EB2B}"/>
                      </a:ext>
                    </a:extLst>
                  </p:cNvPr>
                  <p:cNvSpPr/>
                  <p:nvPr/>
                </p:nvSpPr>
                <p:spPr>
                  <a:xfrm>
                    <a:off x="282575" y="104775"/>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062ACD"/>
                  </a:solidFill>
                  <a:ln w="9525" cap="flat">
                    <a:solidFill>
                      <a:srgbClr val="0A39FF"/>
                    </a:solidFill>
                    <a:prstDash val="solid"/>
                    <a:round/>
                  </a:ln>
                  <a:effectLst/>
                </p:spPr>
                <p:txBody>
                  <a:bodyPr wrap="square" lIns="0" tIns="0" rIns="0" bIns="0" numCol="1" anchor="ctr">
                    <a:noAutofit/>
                  </a:bodyPr>
                  <a:lstStyle/>
                  <a:p>
                    <a:pPr lvl="0"/>
                    <a:endParaRPr/>
                  </a:p>
                </p:txBody>
              </p:sp>
              <p:sp>
                <p:nvSpPr>
                  <p:cNvPr id="422" name="Shape 340">
                    <a:extLst>
                      <a:ext uri="{FF2B5EF4-FFF2-40B4-BE49-F238E27FC236}">
                        <a16:creationId xmlns:a16="http://schemas.microsoft.com/office/drawing/2014/main" id="{4DAB9907-6F70-4646-B23B-A22FCB2E98C7}"/>
                      </a:ext>
                    </a:extLst>
                  </p:cNvPr>
                  <p:cNvSpPr/>
                  <p:nvPr/>
                </p:nvSpPr>
                <p:spPr>
                  <a:xfrm>
                    <a:off x="358775" y="104775"/>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062ACD"/>
                  </a:solidFill>
                  <a:ln w="9525" cap="flat">
                    <a:solidFill>
                      <a:srgbClr val="0A39FF"/>
                    </a:solidFill>
                    <a:prstDash val="solid"/>
                    <a:round/>
                  </a:ln>
                  <a:effectLst/>
                </p:spPr>
                <p:txBody>
                  <a:bodyPr wrap="square" lIns="0" tIns="0" rIns="0" bIns="0" numCol="1" anchor="ctr">
                    <a:noAutofit/>
                  </a:bodyPr>
                  <a:lstStyle/>
                  <a:p>
                    <a:pPr lvl="0"/>
                    <a:endParaRPr/>
                  </a:p>
                </p:txBody>
              </p:sp>
              <p:sp>
                <p:nvSpPr>
                  <p:cNvPr id="423" name="Shape 341">
                    <a:extLst>
                      <a:ext uri="{FF2B5EF4-FFF2-40B4-BE49-F238E27FC236}">
                        <a16:creationId xmlns:a16="http://schemas.microsoft.com/office/drawing/2014/main" id="{FCFB4CEB-AC9D-1F45-8D9F-37AF68D84F98}"/>
                      </a:ext>
                    </a:extLst>
                  </p:cNvPr>
                  <p:cNvSpPr/>
                  <p:nvPr/>
                </p:nvSpPr>
                <p:spPr>
                  <a:xfrm>
                    <a:off x="285750" y="41275"/>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062ACD"/>
                  </a:solidFill>
                  <a:ln w="9525" cap="flat">
                    <a:solidFill>
                      <a:srgbClr val="0A39FF"/>
                    </a:solidFill>
                    <a:prstDash val="solid"/>
                    <a:round/>
                  </a:ln>
                  <a:effectLst/>
                </p:spPr>
                <p:txBody>
                  <a:bodyPr wrap="square" lIns="0" tIns="0" rIns="0" bIns="0" numCol="1" anchor="ctr">
                    <a:noAutofit/>
                  </a:bodyPr>
                  <a:lstStyle/>
                  <a:p>
                    <a:pPr lvl="0"/>
                    <a:endParaRPr/>
                  </a:p>
                </p:txBody>
              </p:sp>
              <p:sp>
                <p:nvSpPr>
                  <p:cNvPr id="424" name="Shape 342">
                    <a:extLst>
                      <a:ext uri="{FF2B5EF4-FFF2-40B4-BE49-F238E27FC236}">
                        <a16:creationId xmlns:a16="http://schemas.microsoft.com/office/drawing/2014/main" id="{A0F2BD46-A8A3-A64E-AB93-82EF3B6BB5E8}"/>
                      </a:ext>
                    </a:extLst>
                  </p:cNvPr>
                  <p:cNvSpPr/>
                  <p:nvPr/>
                </p:nvSpPr>
                <p:spPr>
                  <a:xfrm>
                    <a:off x="352425" y="19050"/>
                    <a:ext cx="74613" cy="746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062ACD"/>
                  </a:solidFill>
                  <a:ln w="9525" cap="flat">
                    <a:solidFill>
                      <a:srgbClr val="0A39FF"/>
                    </a:solidFill>
                    <a:prstDash val="solid"/>
                    <a:round/>
                  </a:ln>
                  <a:effectLst/>
                </p:spPr>
                <p:txBody>
                  <a:bodyPr wrap="square" lIns="0" tIns="0" rIns="0" bIns="0" numCol="1" anchor="ctr">
                    <a:noAutofit/>
                  </a:bodyPr>
                  <a:lstStyle/>
                  <a:p>
                    <a:pPr lvl="0"/>
                    <a:endParaRPr/>
                  </a:p>
                </p:txBody>
              </p:sp>
            </p:grpSp>
            <p:sp>
              <p:nvSpPr>
                <p:cNvPr id="410" name="Shape 344">
                  <a:extLst>
                    <a:ext uri="{FF2B5EF4-FFF2-40B4-BE49-F238E27FC236}">
                      <a16:creationId xmlns:a16="http://schemas.microsoft.com/office/drawing/2014/main" id="{EBD67D20-D2BD-E44E-AE18-CE82B384E3C2}"/>
                    </a:ext>
                  </a:extLst>
                </p:cNvPr>
                <p:cNvSpPr/>
                <p:nvPr/>
              </p:nvSpPr>
              <p:spPr>
                <a:xfrm flipH="1" flipV="1">
                  <a:off x="434975" y="552450"/>
                  <a:ext cx="558800" cy="393700"/>
                </a:xfrm>
                <a:prstGeom prst="line">
                  <a:avLst/>
                </a:prstGeom>
                <a:noFill/>
                <a:ln w="19050" cap="flat">
                  <a:solidFill>
                    <a:srgbClr val="0A39FF"/>
                  </a:solidFill>
                  <a:prstDash val="solid"/>
                  <a:round/>
                  <a:tailEnd type="triangle" w="med" len="med"/>
                </a:ln>
                <a:effectLst/>
              </p:spPr>
              <p:txBody>
                <a:bodyPr wrap="square" lIns="0" tIns="0" rIns="0" bIns="0" numCol="1" anchor="t">
                  <a:noAutofit/>
                </a:bodyPr>
                <a:lstStyle/>
                <a:p>
                  <a:pPr marL="0" marR="0" lvl="0" defTabSz="457200">
                    <a:defRPr sz="1200">
                      <a:uFillTx/>
                      <a:latin typeface="Helvetica"/>
                      <a:ea typeface="Helvetica"/>
                      <a:cs typeface="Helvetica"/>
                      <a:sym typeface="Helvetica"/>
                    </a:defRPr>
                  </a:pPr>
                  <a:endParaRPr/>
                </a:p>
              </p:txBody>
            </p:sp>
          </p:grpSp>
          <p:sp>
            <p:nvSpPr>
              <p:cNvPr id="403" name="Shape 346">
                <a:extLst>
                  <a:ext uri="{FF2B5EF4-FFF2-40B4-BE49-F238E27FC236}">
                    <a16:creationId xmlns:a16="http://schemas.microsoft.com/office/drawing/2014/main" id="{CC427CCE-3461-7B4D-9C02-9AA7BD510C55}"/>
                  </a:ext>
                </a:extLst>
              </p:cNvPr>
              <p:cNvSpPr/>
              <p:nvPr/>
            </p:nvSpPr>
            <p:spPr>
              <a:xfrm>
                <a:off x="484354" y="5777985"/>
                <a:ext cx="1460500" cy="36933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700"/>
                  </a:spcBef>
                  <a:buClr>
                    <a:srgbClr val="000000"/>
                  </a:buClr>
                  <a:buFont typeface="Helvetica"/>
                  <a:defRPr sz="1200" b="1">
                    <a:latin typeface="Helvetica"/>
                    <a:ea typeface="Helvetica"/>
                    <a:cs typeface="Helvetica"/>
                    <a:sym typeface="Helvetica"/>
                  </a:defRPr>
                </a:lvl1pPr>
              </a:lstStyle>
              <a:p>
                <a:pPr lvl="0">
                  <a:defRPr sz="1800" b="0">
                    <a:uFillTx/>
                  </a:defRPr>
                </a:pPr>
                <a:r>
                  <a:rPr sz="1200" b="0" dirty="0">
                    <a:uFill>
                      <a:solidFill/>
                    </a:uFill>
                    <a:latin typeface="Gill Sans" charset="0"/>
                    <a:ea typeface="Gill Sans" charset="0"/>
                    <a:cs typeface="Gill Sans" charset="0"/>
                  </a:rPr>
                  <a:t>N</a:t>
                </a:r>
                <a:r>
                  <a:rPr lang="en-US" sz="1200" b="0" dirty="0">
                    <a:uFill>
                      <a:solidFill/>
                    </a:uFill>
                    <a:latin typeface="Gill Sans" charset="0"/>
                    <a:ea typeface="Gill Sans" charset="0"/>
                    <a:cs typeface="Gill Sans" charset="0"/>
                  </a:rPr>
                  <a:t>onpolar membrane interior</a:t>
                </a:r>
              </a:p>
            </p:txBody>
          </p:sp>
          <p:pic>
            <p:nvPicPr>
              <p:cNvPr id="404" name="image.png">
                <a:extLst>
                  <a:ext uri="{FF2B5EF4-FFF2-40B4-BE49-F238E27FC236}">
                    <a16:creationId xmlns:a16="http://schemas.microsoft.com/office/drawing/2014/main" id="{F3339EAF-355F-DE41-B6A8-82E206DC2A81}"/>
                  </a:ext>
                </a:extLst>
              </p:cNvPr>
              <p:cNvPicPr/>
              <p:nvPr/>
            </p:nvPicPr>
            <p:blipFill>
              <a:blip r:embed="rId6"/>
              <a:stretch>
                <a:fillRect/>
              </a:stretch>
            </p:blipFill>
            <p:spPr>
              <a:xfrm>
                <a:off x="1905000" y="5591175"/>
                <a:ext cx="1320800" cy="735013"/>
              </a:xfrm>
              <a:prstGeom prst="rect">
                <a:avLst/>
              </a:prstGeom>
              <a:ln w="12700">
                <a:miter lim="400000"/>
              </a:ln>
            </p:spPr>
          </p:pic>
          <p:sp>
            <p:nvSpPr>
              <p:cNvPr id="405" name="Shape 349">
                <a:extLst>
                  <a:ext uri="{FF2B5EF4-FFF2-40B4-BE49-F238E27FC236}">
                    <a16:creationId xmlns:a16="http://schemas.microsoft.com/office/drawing/2014/main" id="{7E058280-EB35-0844-9C72-8CA881C83081}"/>
                  </a:ext>
                </a:extLst>
              </p:cNvPr>
              <p:cNvSpPr/>
              <p:nvPr/>
            </p:nvSpPr>
            <p:spPr>
              <a:xfrm>
                <a:off x="3268662" y="5957887"/>
                <a:ext cx="523876" cy="1588"/>
              </a:xfrm>
              <a:prstGeom prst="line">
                <a:avLst/>
              </a:prstGeom>
              <a:ln w="19050">
                <a:solidFill/>
                <a:round/>
                <a:tailEnd type="triangle"/>
              </a:ln>
            </p:spPr>
            <p:txBody>
              <a:bodyPr lIns="0" tIns="0" rIns="0" bIns="0"/>
              <a:lstStyle/>
              <a:p>
                <a:pPr marL="0" marR="0" lvl="0" defTabSz="457200">
                  <a:defRPr sz="1200">
                    <a:uFillTx/>
                    <a:latin typeface="Helvetica"/>
                    <a:ea typeface="Helvetica"/>
                    <a:cs typeface="Helvetica"/>
                    <a:sym typeface="Helvetica"/>
                  </a:defRPr>
                </a:pPr>
                <a:endParaRPr/>
              </a:p>
            </p:txBody>
          </p:sp>
          <p:sp>
            <p:nvSpPr>
              <p:cNvPr id="406" name="Shape 350">
                <a:extLst>
                  <a:ext uri="{FF2B5EF4-FFF2-40B4-BE49-F238E27FC236}">
                    <a16:creationId xmlns:a16="http://schemas.microsoft.com/office/drawing/2014/main" id="{4A1D3F08-A5F3-9F42-B68C-3FDAE5A20A5F}"/>
                  </a:ext>
                </a:extLst>
              </p:cNvPr>
              <p:cNvSpPr/>
              <p:nvPr/>
            </p:nvSpPr>
            <p:spPr>
              <a:xfrm>
                <a:off x="3278188" y="5637395"/>
                <a:ext cx="723900" cy="307777"/>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500"/>
                  </a:spcBef>
                  <a:buClr>
                    <a:srgbClr val="000000"/>
                  </a:buClr>
                  <a:buFont typeface="Helvetica"/>
                  <a:defRPr sz="800" b="1">
                    <a:latin typeface="Helvetica"/>
                    <a:ea typeface="Helvetica"/>
                    <a:cs typeface="Helvetica"/>
                    <a:sym typeface="Helvetica"/>
                  </a:defRPr>
                </a:lvl1pPr>
              </a:lstStyle>
              <a:p>
                <a:pPr lvl="0">
                  <a:defRPr sz="1800" b="0">
                    <a:uFillTx/>
                  </a:defRPr>
                </a:pPr>
                <a:r>
                  <a:rPr sz="1000" b="0" dirty="0">
                    <a:uFill>
                      <a:solidFill/>
                    </a:uFill>
                    <a:latin typeface="Gill Sans" charset="0"/>
                    <a:ea typeface="Gill Sans" charset="0"/>
                    <a:cs typeface="Gill Sans" charset="0"/>
                  </a:rPr>
                  <a:t>W</a:t>
                </a:r>
                <a:r>
                  <a:rPr lang="en-US" sz="1000" b="0" dirty="0">
                    <a:uFill>
                      <a:solidFill/>
                    </a:uFill>
                    <a:latin typeface="Gill Sans" charset="0"/>
                    <a:ea typeface="Gill Sans" charset="0"/>
                    <a:cs typeface="Gill Sans" charset="0"/>
                  </a:rPr>
                  <a:t>ith protein</a:t>
                </a:r>
              </a:p>
            </p:txBody>
          </p:sp>
          <p:sp>
            <p:nvSpPr>
              <p:cNvPr id="407" name="Shape 360">
                <a:extLst>
                  <a:ext uri="{FF2B5EF4-FFF2-40B4-BE49-F238E27FC236}">
                    <a16:creationId xmlns:a16="http://schemas.microsoft.com/office/drawing/2014/main" id="{B2D8CAD2-7860-BF42-8ACE-F29DC5DE947D}"/>
                  </a:ext>
                </a:extLst>
              </p:cNvPr>
              <p:cNvSpPr/>
              <p:nvPr/>
            </p:nvSpPr>
            <p:spPr>
              <a:xfrm>
                <a:off x="620025" y="5116322"/>
                <a:ext cx="2402305" cy="430887"/>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spcBef>
                    <a:spcPts val="800"/>
                  </a:spcBef>
                  <a:buClr>
                    <a:srgbClr val="000000"/>
                  </a:buClr>
                  <a:buFont typeface="Helvetica"/>
                  <a:defRPr sz="1400" b="1">
                    <a:latin typeface="Helvetica"/>
                    <a:ea typeface="Helvetica"/>
                    <a:cs typeface="Helvetica"/>
                    <a:sym typeface="Helvetica"/>
                  </a:defRPr>
                </a:lvl1pPr>
              </a:lstStyle>
              <a:p>
                <a:pPr lvl="0">
                  <a:defRPr sz="1800" b="0">
                    <a:uFillTx/>
                  </a:defRPr>
                </a:pPr>
                <a:r>
                  <a:rPr sz="1400" b="0" dirty="0">
                    <a:uFill>
                      <a:solidFill/>
                    </a:uFill>
                    <a:latin typeface="Gill Sans" charset="0"/>
                    <a:ea typeface="Gill Sans" charset="0"/>
                    <a:cs typeface="Gill Sans" charset="0"/>
                  </a:rPr>
                  <a:t>N</a:t>
                </a:r>
                <a:r>
                  <a:rPr lang="en-US" sz="1400" b="0" dirty="0">
                    <a:uFill>
                      <a:solidFill/>
                    </a:uFill>
                    <a:latin typeface="Gill Sans" charset="0"/>
                    <a:ea typeface="Gill Sans" charset="0"/>
                    <a:cs typeface="Gill Sans" charset="0"/>
                  </a:rPr>
                  <a:t>ote: membrane proteins follow different rules!</a:t>
                </a:r>
              </a:p>
            </p:txBody>
          </p:sp>
        </p:grpSp>
      </p:grpSp>
    </p:spTree>
    <p:extLst>
      <p:ext uri="{BB962C8B-B14F-4D97-AF65-F5344CB8AC3E}">
        <p14:creationId xmlns:p14="http://schemas.microsoft.com/office/powerpoint/2010/main" val="1523066107"/>
      </p:ext>
    </p:extLst>
  </p:cSld>
  <p:clrMapOvr>
    <a:masterClrMapping/>
  </p:clrMapOvr>
  <p:transition spd="med"/>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5"/>
                                        </p:tgtEl>
                                        <p:attrNameLst>
                                          <p:attrName>style.visibility</p:attrName>
                                        </p:attrNameLst>
                                      </p:cBhvr>
                                      <p:to>
                                        <p:strVal val="visible"/>
                                      </p:to>
                                    </p:set>
                                    <p:animEffect transition="in" filter="dissolve">
                                      <p:cBhvr>
                                        <p:cTn id="7" dur="500"/>
                                        <p:tgtEl>
                                          <p:spTgt spid="14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50"/>
                                        </p:tgtEl>
                                        <p:attrNameLst>
                                          <p:attrName>style.visibility</p:attrName>
                                        </p:attrNameLst>
                                      </p:cBhvr>
                                      <p:to>
                                        <p:strVal val="visible"/>
                                      </p:to>
                                    </p:set>
                                    <p:animEffect transition="in" filter="dissolve">
                                      <p:cBhvr>
                                        <p:cTn id="10" dur="500"/>
                                        <p:tgtEl>
                                          <p:spTgt spid="150"/>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47"/>
                                        </p:tgtEl>
                                        <p:attrNameLst>
                                          <p:attrName>style.visibility</p:attrName>
                                        </p:attrNameLst>
                                      </p:cBhvr>
                                      <p:to>
                                        <p:strVal val="visible"/>
                                      </p:to>
                                    </p:set>
                                    <p:animEffect transition="in" filter="dissolve">
                                      <p:cBhvr>
                                        <p:cTn id="13" dur="500"/>
                                        <p:tgtEl>
                                          <p:spTgt spid="147"/>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60"/>
                                        </p:tgtEl>
                                        <p:attrNameLst>
                                          <p:attrName>style.visibility</p:attrName>
                                        </p:attrNameLst>
                                      </p:cBhvr>
                                      <p:to>
                                        <p:strVal val="visible"/>
                                      </p:to>
                                    </p:set>
                                    <p:animEffect transition="in" filter="dissolve">
                                      <p:cBhvr>
                                        <p:cTn id="18" dur="500"/>
                                        <p:tgtEl>
                                          <p:spTgt spid="160"/>
                                        </p:tgtEl>
                                      </p:cBhvr>
                                    </p:animEffect>
                                  </p:childTnLst>
                                </p:cTn>
                              </p:par>
                              <p:par>
                                <p:cTn id="19" presetID="9" presetClass="entr" presetSubtype="0" fill="hold" nodeType="withEffect">
                                  <p:stCondLst>
                                    <p:cond delay="0"/>
                                  </p:stCondLst>
                                  <p:childTnLst>
                                    <p:set>
                                      <p:cBhvr>
                                        <p:cTn id="20" dur="1" fill="hold">
                                          <p:stCondLst>
                                            <p:cond delay="0"/>
                                          </p:stCondLst>
                                        </p:cTn>
                                        <p:tgtEl>
                                          <p:spTgt spid="161"/>
                                        </p:tgtEl>
                                        <p:attrNameLst>
                                          <p:attrName>style.visibility</p:attrName>
                                        </p:attrNameLst>
                                      </p:cBhvr>
                                      <p:to>
                                        <p:strVal val="visible"/>
                                      </p:to>
                                    </p:set>
                                    <p:animEffect transition="in" filter="dissolve">
                                      <p:cBhvr>
                                        <p:cTn id="21" dur="500"/>
                                        <p:tgtEl>
                                          <p:spTgt spid="161"/>
                                        </p:tgtEl>
                                      </p:cBhvr>
                                    </p:animEffect>
                                  </p:childTnLst>
                                </p:cTn>
                              </p:par>
                              <p:par>
                                <p:cTn id="22" presetID="9" presetClass="entr" presetSubtype="0" fill="hold" nodeType="withEffect">
                                  <p:stCondLst>
                                    <p:cond delay="0"/>
                                  </p:stCondLst>
                                  <p:childTnLst>
                                    <p:set>
                                      <p:cBhvr>
                                        <p:cTn id="23" dur="1" fill="hold">
                                          <p:stCondLst>
                                            <p:cond delay="0"/>
                                          </p:stCondLst>
                                        </p:cTn>
                                        <p:tgtEl>
                                          <p:spTgt spid="165"/>
                                        </p:tgtEl>
                                        <p:attrNameLst>
                                          <p:attrName>style.visibility</p:attrName>
                                        </p:attrNameLst>
                                      </p:cBhvr>
                                      <p:to>
                                        <p:strVal val="visible"/>
                                      </p:to>
                                    </p:set>
                                    <p:animEffect transition="in" filter="dissolve">
                                      <p:cBhvr>
                                        <p:cTn id="24" dur="500"/>
                                        <p:tgtEl>
                                          <p:spTgt spid="165"/>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169"/>
                                        </p:tgtEl>
                                        <p:attrNameLst>
                                          <p:attrName>style.visibility</p:attrName>
                                        </p:attrNameLst>
                                      </p:cBhvr>
                                      <p:to>
                                        <p:strVal val="visible"/>
                                      </p:to>
                                    </p:set>
                                    <p:animEffect transition="in" filter="dissolve">
                                      <p:cBhvr>
                                        <p:cTn id="27" dur="500"/>
                                        <p:tgtEl>
                                          <p:spTgt spid="169"/>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94"/>
                                        </p:tgtEl>
                                        <p:attrNameLst>
                                          <p:attrName>style.visibility</p:attrName>
                                        </p:attrNameLst>
                                      </p:cBhvr>
                                      <p:to>
                                        <p:strVal val="visible"/>
                                      </p:to>
                                    </p:set>
                                    <p:animEffect transition="in" filter="dissolve">
                                      <p:cBhvr>
                                        <p:cTn id="32" dur="500"/>
                                        <p:tgtEl>
                                          <p:spTgt spid="3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 grpId="0"/>
      <p:bldP spid="150" grpId="0"/>
      <p:bldP spid="160" grpId="0" animBg="1"/>
      <p:bldP spid="16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C7083B6-A33F-244C-B045-CE0619F0A117}"/>
              </a:ext>
            </a:extLst>
          </p:cNvPr>
          <p:cNvSpPr txBox="1"/>
          <p:nvPr/>
        </p:nvSpPr>
        <p:spPr>
          <a:xfrm>
            <a:off x="0" y="555672"/>
            <a:ext cx="9144000" cy="47192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ctr" defTabSz="914400" rtl="0" fontAlgn="auto" latinLnBrk="1" hangingPunct="0">
              <a:lnSpc>
                <a:spcPct val="100000"/>
              </a:lnSpc>
              <a:spcBef>
                <a:spcPts val="0"/>
              </a:spcBef>
              <a:spcAft>
                <a:spcPts val="0"/>
              </a:spcAft>
              <a:buClrTx/>
              <a:buSzTx/>
              <a:buFontTx/>
              <a:buNone/>
              <a:tabLst/>
            </a:pPr>
            <a:r>
              <a:rPr kumimoji="0" lang="en-US" sz="2400" u="none" strike="noStrike" cap="none" spc="0" normalizeH="0" baseline="0" dirty="0">
                <a:ln>
                  <a:noFill/>
                </a:ln>
                <a:solidFill>
                  <a:srgbClr val="000000"/>
                </a:solidFill>
                <a:effectLst/>
                <a:uFill>
                  <a:solidFill>
                    <a:srgbClr val="000000"/>
                  </a:solidFill>
                </a:uFill>
                <a:latin typeface="Gill Sans SemiBold" panose="020B0502020104020203" pitchFamily="34" charset="-79"/>
                <a:cs typeface="Gill Sans SemiBold" panose="020B0502020104020203" pitchFamily="34" charset="-79"/>
                <a:sym typeface="Helvetica"/>
              </a:rPr>
              <a:t>Construction rules for protein folding into a 3D structure</a:t>
            </a:r>
          </a:p>
        </p:txBody>
      </p:sp>
      <p:sp>
        <p:nvSpPr>
          <p:cNvPr id="5" name="TextBox 4">
            <a:extLst>
              <a:ext uri="{FF2B5EF4-FFF2-40B4-BE49-F238E27FC236}">
                <a16:creationId xmlns:a16="http://schemas.microsoft.com/office/drawing/2014/main" id="{266B8646-EAEA-604F-B69D-2D3B3A9AFC9E}"/>
              </a:ext>
            </a:extLst>
          </p:cNvPr>
          <p:cNvSpPr txBox="1"/>
          <p:nvPr/>
        </p:nvSpPr>
        <p:spPr>
          <a:xfrm>
            <a:off x="0" y="1503594"/>
            <a:ext cx="9144000" cy="71814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97839" marR="40639" indent="-457200" algn="l" defTabSz="914400" rtl="0" fontAlgn="auto" latinLnBrk="1" hangingPunct="0">
              <a:lnSpc>
                <a:spcPct val="100000"/>
              </a:lnSpc>
              <a:spcBef>
                <a:spcPts val="0"/>
              </a:spcBef>
              <a:spcAft>
                <a:spcPts val="0"/>
              </a:spcAft>
              <a:buClrTx/>
              <a:buSzTx/>
              <a:buFontTx/>
              <a:buAutoNum type="arabicPeriod"/>
              <a:tabLst/>
            </a:pPr>
            <a:r>
              <a:rPr kumimoji="0" lang="en-US" sz="2000" b="0" u="none" strike="noStrike" cap="none" spc="0" normalizeH="0" baseline="0" dirty="0">
                <a:ln>
                  <a:noFill/>
                </a:ln>
                <a:solidFill>
                  <a:srgbClr val="000000"/>
                </a:solidFill>
                <a:effectLst/>
                <a:uFill>
                  <a:solidFill>
                    <a:srgbClr val="000000"/>
                  </a:solidFill>
                </a:uFill>
                <a:latin typeface="Gill Sans" panose="020B0502020104020203" pitchFamily="34" charset="-79"/>
                <a:cs typeface="Gill Sans" panose="020B0502020104020203" pitchFamily="34" charset="-79"/>
                <a:sym typeface="Helvetica"/>
              </a:rPr>
              <a:t>6 types </a:t>
            </a:r>
            <a:r>
              <a:rPr lang="en-US" b="0" dirty="0">
                <a:solidFill>
                  <a:srgbClr val="000000"/>
                </a:solidFill>
                <a:uFill>
                  <a:solidFill>
                    <a:srgbClr val="000000"/>
                  </a:solidFill>
                </a:uFill>
                <a:latin typeface="Gill Sans" panose="020B0502020104020203" pitchFamily="34" charset="-79"/>
                <a:cs typeface="Gill Sans" panose="020B0502020104020203" pitchFamily="34" charset="-79"/>
              </a:rPr>
              <a:t>of interactions</a:t>
            </a:r>
          </a:p>
          <a:p>
            <a:pPr marL="497839" marR="40639" indent="-457200" algn="l" defTabSz="914400" rtl="0" fontAlgn="auto" latinLnBrk="1" hangingPunct="0">
              <a:lnSpc>
                <a:spcPct val="100000"/>
              </a:lnSpc>
              <a:spcBef>
                <a:spcPts val="0"/>
              </a:spcBef>
              <a:spcAft>
                <a:spcPts val="0"/>
              </a:spcAft>
              <a:buClrTx/>
              <a:buSzTx/>
              <a:buFontTx/>
              <a:buAutoNum type="arabicPeriod"/>
              <a:tabLst/>
            </a:pPr>
            <a:r>
              <a:rPr kumimoji="0" lang="en-US" sz="2000" b="0" u="none" strike="noStrike" cap="none" spc="0" normalizeH="0" baseline="0" dirty="0">
                <a:ln>
                  <a:noFill/>
                </a:ln>
                <a:solidFill>
                  <a:srgbClr val="000000"/>
                </a:solidFill>
                <a:effectLst/>
                <a:uFill>
                  <a:solidFill>
                    <a:srgbClr val="000000"/>
                  </a:solidFill>
                </a:uFill>
                <a:latin typeface="Gill Sans" panose="020B0502020104020203" pitchFamily="34" charset="-79"/>
                <a:cs typeface="Gill Sans" panose="020B0502020104020203" pitchFamily="34" charset="-79"/>
                <a:sym typeface="Helvetica"/>
              </a:rPr>
              <a:t>Constraints created by the peptide bond together with the real size of atoms</a:t>
            </a:r>
          </a:p>
        </p:txBody>
      </p:sp>
      <p:sp>
        <p:nvSpPr>
          <p:cNvPr id="6" name="TextBox 5">
            <a:extLst>
              <a:ext uri="{FF2B5EF4-FFF2-40B4-BE49-F238E27FC236}">
                <a16:creationId xmlns:a16="http://schemas.microsoft.com/office/drawing/2014/main" id="{56908A18-8D5F-EB4C-9368-C9625CE313DB}"/>
              </a:ext>
            </a:extLst>
          </p:cNvPr>
          <p:cNvSpPr txBox="1"/>
          <p:nvPr/>
        </p:nvSpPr>
        <p:spPr>
          <a:xfrm>
            <a:off x="-2" y="2732749"/>
            <a:ext cx="9144000" cy="41036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R="40639" algn="ctr" defTabSz="914400" rtl="0" fontAlgn="auto" latinLnBrk="1" hangingPunct="0">
              <a:lnSpc>
                <a:spcPct val="100000"/>
              </a:lnSpc>
              <a:spcBef>
                <a:spcPts val="0"/>
              </a:spcBef>
              <a:spcAft>
                <a:spcPts val="0"/>
              </a:spcAft>
              <a:buClrTx/>
              <a:buSzTx/>
              <a:tabLst/>
            </a:pPr>
            <a:r>
              <a:rPr kumimoji="0" lang="en-US" sz="2000" b="0" u="none" strike="noStrike" cap="none" spc="0" normalizeH="0" baseline="0" dirty="0">
                <a:ln>
                  <a:noFill/>
                </a:ln>
                <a:solidFill>
                  <a:srgbClr val="000000"/>
                </a:solidFill>
                <a:effectLst/>
                <a:uFill>
                  <a:solidFill>
                    <a:srgbClr val="000000"/>
                  </a:solidFill>
                </a:uFill>
                <a:latin typeface="Gill Sans" panose="020B0502020104020203" pitchFamily="34" charset="-79"/>
                <a:cs typeface="Gill Sans" panose="020B0502020104020203" pitchFamily="34" charset="-79"/>
                <a:sym typeface="Helvetica"/>
              </a:rPr>
              <a:t>Result: </a:t>
            </a:r>
            <a:r>
              <a:rPr kumimoji="0" lang="el-GR" sz="2000" b="0" u="none" strike="noStrike" cap="none" spc="0" normalizeH="0" baseline="0" dirty="0">
                <a:ln>
                  <a:noFill/>
                </a:ln>
                <a:solidFill>
                  <a:srgbClr val="000000"/>
                </a:solidFill>
                <a:effectLst/>
                <a:uFill>
                  <a:solidFill>
                    <a:srgbClr val="000000"/>
                  </a:solidFill>
                </a:uFill>
                <a:latin typeface="Gill Sans" panose="020B0502020104020203" pitchFamily="34" charset="-79"/>
                <a:cs typeface="Gill Sans" panose="020B0502020104020203" pitchFamily="34" charset="-79"/>
                <a:sym typeface="Helvetica"/>
              </a:rPr>
              <a:t>α</a:t>
            </a:r>
            <a:r>
              <a:rPr kumimoji="0" lang="en-US" sz="2000" b="0" u="none" strike="noStrike" cap="none" spc="0" normalizeH="0" baseline="0" dirty="0">
                <a:ln>
                  <a:noFill/>
                </a:ln>
                <a:solidFill>
                  <a:srgbClr val="000000"/>
                </a:solidFill>
                <a:effectLst/>
                <a:uFill>
                  <a:solidFill>
                    <a:srgbClr val="000000"/>
                  </a:solidFill>
                </a:uFill>
                <a:latin typeface="Gill Sans" panose="020B0502020104020203" pitchFamily="34" charset="-79"/>
                <a:cs typeface="Gill Sans" panose="020B0502020104020203" pitchFamily="34" charset="-79"/>
                <a:sym typeface="Helvetica"/>
              </a:rPr>
              <a:t>-helix, </a:t>
            </a:r>
            <a:r>
              <a:rPr kumimoji="0" lang="el-GR" sz="2000" b="0" u="none" strike="noStrike" cap="none" spc="0" normalizeH="0" baseline="0" dirty="0">
                <a:ln>
                  <a:noFill/>
                </a:ln>
                <a:solidFill>
                  <a:srgbClr val="000000"/>
                </a:solidFill>
                <a:effectLst/>
                <a:uFill>
                  <a:solidFill>
                    <a:srgbClr val="000000"/>
                  </a:solidFill>
                </a:uFill>
                <a:latin typeface="Gill Sans" panose="020B0502020104020203" pitchFamily="34" charset="-79"/>
                <a:cs typeface="Gill Sans" panose="020B0502020104020203" pitchFamily="34" charset="-79"/>
                <a:sym typeface="Helvetica"/>
              </a:rPr>
              <a:t>β</a:t>
            </a:r>
            <a:r>
              <a:rPr kumimoji="0" lang="en-US" sz="2000" b="0" u="none" strike="noStrike" cap="none" spc="0" normalizeH="0" baseline="0" dirty="0">
                <a:ln>
                  <a:noFill/>
                </a:ln>
                <a:solidFill>
                  <a:srgbClr val="000000"/>
                </a:solidFill>
                <a:effectLst/>
                <a:uFill>
                  <a:solidFill>
                    <a:srgbClr val="000000"/>
                  </a:solidFill>
                </a:uFill>
                <a:latin typeface="Gill Sans" panose="020B0502020104020203" pitchFamily="34" charset="-79"/>
                <a:cs typeface="Gill Sans" panose="020B0502020104020203" pitchFamily="34" charset="-79"/>
                <a:sym typeface="Helvetica"/>
              </a:rPr>
              <a:t>-sheet, turns, collagen helix</a:t>
            </a:r>
          </a:p>
        </p:txBody>
      </p:sp>
    </p:spTree>
    <p:extLst>
      <p:ext uri="{BB962C8B-B14F-4D97-AF65-F5344CB8AC3E}">
        <p14:creationId xmlns:p14="http://schemas.microsoft.com/office/powerpoint/2010/main" val="44184391"/>
      </p:ext>
    </p:extLst>
  </p:cSld>
  <p:clrMapOvr>
    <a:masterClrMapping/>
  </p:clrMapOvr>
  <p:transition spd="med" advClick="0"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C6E6E9"/>
        </a:solidFill>
        <a:ln w="9525" cap="flat">
          <a:solidFill>
            <a:srgbClr val="000000"/>
          </a:solidFill>
          <a:prstDash val="solid"/>
          <a:round/>
        </a:ln>
        <a:effectLst/>
      </a:spPr>
      <a:bodyPr rot="0" spcFirstLastPara="1" vertOverflow="overflow" horzOverflow="overflow" vert="horz" wrap="square" lIns="50800" tIns="50800" rIns="50800" bIns="50800" numCol="1" spcCol="38100" rtlCol="0" anchor="ctr">
        <a:spAutoFit/>
      </a:bodyPr>
      <a:lstStyle>
        <a:defPPr marL="40639" marR="40639" indent="0" algn="l" defTabSz="914400" rtl="0" fontAlgn="auto" latinLnBrk="1" hangingPunct="0">
          <a:lnSpc>
            <a:spcPct val="100000"/>
          </a:lnSpc>
          <a:spcBef>
            <a:spcPts val="0"/>
          </a:spcBef>
          <a:spcAft>
            <a:spcPts val="0"/>
          </a:spcAft>
          <a:buClrTx/>
          <a:buSzTx/>
          <a:buFontTx/>
          <a:buNone/>
          <a:tabLst/>
          <a:defRPr kumimoji="0"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9525" cap="flat">
          <a:solidFill>
            <a:srgbClr val="000000"/>
          </a:solidFill>
          <a:prstDash val="solid"/>
          <a:round/>
        </a:ln>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50800" tIns="50800" rIns="50800" bIns="50800" numCol="1" spcCol="38100" rtlCol="0" anchor="ctr">
        <a:spAutoFit/>
      </a:bodyPr>
      <a:lstStyle>
        <a:defPPr marL="40639" marR="40639" indent="0" algn="l" defTabSz="914400" rtl="0" fontAlgn="auto" latinLnBrk="1" hangingPunct="0">
          <a:lnSpc>
            <a:spcPct val="100000"/>
          </a:lnSpc>
          <a:spcBef>
            <a:spcPts val="0"/>
          </a:spcBef>
          <a:spcAft>
            <a:spcPts val="0"/>
          </a:spcAft>
          <a:buClrTx/>
          <a:buSzTx/>
          <a:buFontTx/>
          <a:buNone/>
          <a:tabLst/>
          <a:defRPr kumimoji="0"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Times Roman"/>
        <a:ea typeface="Times Roman"/>
        <a:cs typeface="Times Roman"/>
      </a:majorFont>
      <a:minorFont>
        <a:latin typeface="Times Roman"/>
        <a:ea typeface="Times Roman"/>
        <a:cs typeface="Times Roman"/>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C6E6E9"/>
        </a:solidFill>
        <a:ln w="9525" cap="flat">
          <a:solidFill>
            <a:srgbClr val="000000"/>
          </a:solidFill>
          <a:prstDash val="solid"/>
          <a:round/>
        </a:ln>
        <a:effectLst/>
      </a:spPr>
      <a:bodyPr rot="0" spcFirstLastPara="1" vertOverflow="overflow" horzOverflow="overflow" vert="horz" wrap="square" lIns="50800" tIns="50800" rIns="50800" bIns="50800" numCol="1" spcCol="38100" rtlCol="0" anchor="ctr">
        <a:spAutoFit/>
      </a:bodyPr>
      <a:lstStyle>
        <a:defPPr marL="40639" marR="40639" indent="0" algn="l" defTabSz="914400" rtl="0" fontAlgn="auto" latinLnBrk="1" hangingPunct="0">
          <a:lnSpc>
            <a:spcPct val="100000"/>
          </a:lnSpc>
          <a:spcBef>
            <a:spcPts val="0"/>
          </a:spcBef>
          <a:spcAft>
            <a:spcPts val="0"/>
          </a:spcAft>
          <a:buClrTx/>
          <a:buSzTx/>
          <a:buFontTx/>
          <a:buNone/>
          <a:tabLst/>
          <a:defRPr kumimoji="0"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9525" cap="flat">
          <a:solidFill>
            <a:srgbClr val="000000"/>
          </a:solidFill>
          <a:prstDash val="solid"/>
          <a:round/>
        </a:ln>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50800" tIns="50800" rIns="50800" bIns="50800" numCol="1" spcCol="38100" rtlCol="0" anchor="ctr">
        <a:spAutoFit/>
      </a:bodyPr>
      <a:lstStyle>
        <a:defPPr marL="40639" marR="40639" indent="0" algn="l" defTabSz="914400" rtl="0" fontAlgn="auto" latinLnBrk="1" hangingPunct="0">
          <a:lnSpc>
            <a:spcPct val="100000"/>
          </a:lnSpc>
          <a:spcBef>
            <a:spcPts val="0"/>
          </a:spcBef>
          <a:spcAft>
            <a:spcPts val="0"/>
          </a:spcAft>
          <a:buClrTx/>
          <a:buSzTx/>
          <a:buFontTx/>
          <a:buNone/>
          <a:tabLst/>
          <a:defRPr kumimoji="0"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
  <TotalTime>35304</TotalTime>
  <Words>3598</Words>
  <Application>Microsoft Macintosh PowerPoint</Application>
  <PresentationFormat>On-screen Show (4:3)</PresentationFormat>
  <Paragraphs>294</Paragraphs>
  <Slides>7</Slides>
  <Notes>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vt:i4>
      </vt:variant>
    </vt:vector>
  </HeadingPairs>
  <TitlesOfParts>
    <vt:vector size="18" baseType="lpstr">
      <vt:lpstr>Arial</vt:lpstr>
      <vt:lpstr>Gill Sans</vt:lpstr>
      <vt:lpstr>Gill Sans MT</vt:lpstr>
      <vt:lpstr>Gill Sans Regular</vt:lpstr>
      <vt:lpstr>Gill Sans SemiBold</vt:lpstr>
      <vt:lpstr>Helvetica</vt:lpstr>
      <vt:lpstr>Lucida Grande</vt:lpstr>
      <vt:lpstr>Symbol</vt:lpstr>
      <vt:lpstr>Times Roman</vt:lpstr>
      <vt:lpstr>Wingdings 2</vt:lpstr>
      <vt:lpstr>White</vt:lpstr>
      <vt:lpstr>PowerPoint Presentation</vt:lpstr>
      <vt:lpstr>PowerPoint Presentation</vt:lpstr>
      <vt:lpstr>PowerPoint Presentation</vt:lpstr>
      <vt:lpstr>PowerPoint Presentation</vt:lpstr>
      <vt:lpstr>6 categories of interactions or, Why proteins have structure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Linda K. Nicholson</cp:lastModifiedBy>
  <cp:revision>193</cp:revision>
  <cp:lastPrinted>2020-06-15T05:10:43Z</cp:lastPrinted>
  <dcterms:modified xsi:type="dcterms:W3CDTF">2024-08-22T04:21:21Z</dcterms:modified>
</cp:coreProperties>
</file>