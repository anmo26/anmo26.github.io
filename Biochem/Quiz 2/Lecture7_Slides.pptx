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6" r:id="rId2"/>
    <p:sldId id="332" r:id="rId3"/>
    <p:sldId id="314" r:id="rId4"/>
    <p:sldId id="301" r:id="rId5"/>
    <p:sldId id="331" r:id="rId6"/>
    <p:sldId id="333" r:id="rId7"/>
    <p:sldId id="303" r:id="rId8"/>
    <p:sldId id="304" r:id="rId9"/>
    <p:sldId id="338" r:id="rId10"/>
    <p:sldId id="337" r:id="rId11"/>
    <p:sldId id="298" r:id="rId12"/>
    <p:sldId id="335" r:id="rId13"/>
    <p:sldId id="307" r:id="rId14"/>
  </p:sldIdLst>
  <p:sldSz cx="9144000" cy="6858000" type="screen4x3"/>
  <p:notesSz cx="6858000" cy="9144000"/>
  <p:defaultTextStyle>
    <a:lvl1pPr marL="40639" marR="40639">
      <a:defRPr sz="2000" b="1">
        <a:uFill>
          <a:solidFill/>
        </a:uFill>
        <a:latin typeface="Helvetica"/>
        <a:ea typeface="Helvetica"/>
        <a:cs typeface="Helvetica"/>
        <a:sym typeface="Helvetica"/>
      </a:defRPr>
    </a:lvl1pPr>
    <a:lvl2pPr marL="40639" marR="40639" indent="3429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2pPr>
    <a:lvl3pPr marL="40639" marR="40639" indent="6858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3pPr>
    <a:lvl4pPr marL="40639" marR="40639" indent="10287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4pPr>
    <a:lvl5pPr marL="40639" marR="40639" indent="13716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5pPr>
    <a:lvl6pPr marL="40639" marR="40639" indent="17145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6pPr>
    <a:lvl7pPr marL="40639" marR="40639" indent="20574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7pPr>
    <a:lvl8pPr marL="40639" marR="40639" indent="24003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8pPr>
    <a:lvl9pPr marL="40639" marR="40639" indent="27432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41E0"/>
    <a:srgbClr val="1855FF"/>
    <a:srgbClr val="E567EC"/>
    <a:srgbClr val="073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96"/>
    <p:restoredTop sz="86383" autoAdjust="0"/>
  </p:normalViewPr>
  <p:slideViewPr>
    <p:cSldViewPr snapToGrid="0" snapToObjects="1">
      <p:cViewPr varScale="1">
        <p:scale>
          <a:sx n="109" d="100"/>
          <a:sy n="109" d="100"/>
        </p:scale>
        <p:origin x="151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56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4" name="Shape 1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0058613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2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7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1pPr>
          </a:lstStyle>
          <a:p>
            <a:pPr lvl="0">
              <a:defRPr sz="1800">
                <a:uFillTx/>
              </a:defRPr>
            </a:pPr>
            <a:r>
              <a:rPr sz="4400" dirty="0">
                <a:uFill>
                  <a:solidFill/>
                </a:uFill>
              </a:rP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1pPr>
            <a:lvl2pPr marL="783590" indent="-285750">
              <a:spcBef>
                <a:spcPts val="600"/>
              </a:spcBef>
              <a:buChar char="–"/>
              <a:defRPr sz="28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2pPr>
            <a:lvl3pPr marL="1183639" indent="-228600">
              <a:spcBef>
                <a:spcPts val="500"/>
              </a:spcBef>
              <a:defRPr sz="24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3pPr>
            <a:lvl4pPr marL="1640839" indent="-228600">
              <a:spcBef>
                <a:spcPts val="400"/>
              </a:spcBef>
              <a:buChar char="–"/>
              <a:defRPr sz="20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4pPr>
            <a:lvl5pPr marL="2098039" indent="-228600">
              <a:spcBef>
                <a:spcPts val="400"/>
              </a:spcBef>
              <a:buChar char="»"/>
              <a:defRPr sz="20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5pPr>
          </a:lstStyle>
          <a:p>
            <a:pPr lvl="0">
              <a:defRPr sz="1800">
                <a:uFillTx/>
              </a:defRPr>
            </a:pPr>
            <a:r>
              <a:rPr sz="3200" dirty="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800" dirty="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400" dirty="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Five</a:t>
            </a:r>
          </a:p>
        </p:txBody>
      </p:sp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xfrm>
            <a:off x="7397497" y="6248400"/>
            <a:ext cx="216406" cy="21544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 dirty="0"/>
          </a:p>
        </p:txBody>
      </p:sp>
    </p:spTree>
  </p:cSld>
  <p:clrMapOvr>
    <a:masterClrMapping/>
  </p:clrMapOvr>
  <p:transition spd="med" advClick="0" advTm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60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0">
              <a:defRPr sz="1800">
                <a:uFillTx/>
              </a:defRPr>
            </a:pPr>
            <a:r>
              <a:rPr sz="4400">
                <a:uFill>
                  <a:solidFill/>
                </a:uFill>
              </a:rP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87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2pPr marL="783590" indent="-285750">
              <a:spcBef>
                <a:spcPts val="600"/>
              </a:spcBef>
              <a:buChar char="–"/>
              <a:defRPr sz="2800"/>
            </a:lvl2pPr>
            <a:lvl3pPr marL="1183639" indent="-228600">
              <a:spcBef>
                <a:spcPts val="500"/>
              </a:spcBef>
              <a:defRPr sz="2400"/>
            </a:lvl3pPr>
            <a:lvl4pPr marL="1640839" indent="-228600">
              <a:spcBef>
                <a:spcPts val="400"/>
              </a:spcBef>
              <a:buChar char="–"/>
              <a:defRPr sz="2000"/>
            </a:lvl4pPr>
            <a:lvl5pPr marL="2098039" indent="-228600">
              <a:spcBef>
                <a:spcPts val="400"/>
              </a:spcBef>
              <a:buChar char="»"/>
              <a:defRPr sz="2000"/>
            </a:lvl5pPr>
          </a:lstStyle>
          <a:p>
            <a:pPr lvl="0">
              <a:defRPr sz="1800">
                <a:uFillTx/>
              </a:defRPr>
            </a:pPr>
            <a:r>
              <a:rPr sz="320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80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40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7359650" y="6248400"/>
            <a:ext cx="292100" cy="3302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marL="0" marR="0" algn="ctr" defTabSz="584200">
              <a:defRPr sz="1400" b="0">
                <a:latin typeface="+mn-lt"/>
                <a:ea typeface="+mn-ea"/>
                <a:cs typeface="+mn-cs"/>
                <a:sym typeface="Times Roman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med"/>
  <p:txStyles>
    <p:titleStyle>
      <a:lvl1pPr marL="40639" marR="40639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1pPr>
      <a:lvl2pPr marL="40639" marR="40639" indent="2286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2pPr>
      <a:lvl3pPr marL="40639" marR="40639" indent="4572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3pPr>
      <a:lvl4pPr marL="40639" marR="40639" indent="6858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4pPr>
      <a:lvl5pPr marL="40639" marR="40639" indent="9144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5pPr>
      <a:lvl6pPr marL="40639" marR="40639" indent="11430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6pPr>
      <a:lvl7pPr marL="40639" marR="40639" indent="13716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7pPr>
      <a:lvl8pPr marL="40639" marR="40639" indent="16002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8pPr>
      <a:lvl9pPr marL="40639" marR="40639" indent="18288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9pPr>
    </p:titleStyle>
    <p:bodyStyle>
      <a:lvl1pPr marL="383540" marR="40639" indent="-34290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1pPr>
      <a:lvl2pPr marL="824411" marR="40639" indent="-326571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2pPr>
      <a:lvl3pPr marL="1259839" marR="40639" indent="-30480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3pPr>
      <a:lvl4pPr marL="17780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4pPr>
      <a:lvl5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5pPr>
      <a:lvl6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6pPr>
      <a:lvl7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7pPr>
      <a:lvl8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8pPr>
      <a:lvl9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9pPr>
    </p:bodyStyle>
    <p:otherStyle>
      <a:lvl1pPr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1pPr>
      <a:lvl2pPr indent="2286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2pPr>
      <a:lvl3pPr indent="4572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3pPr>
      <a:lvl4pPr indent="6858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4pPr>
      <a:lvl5pPr indent="9144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5pPr>
      <a:lvl6pPr indent="11430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6pPr>
      <a:lvl7pPr indent="13716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7pPr>
      <a:lvl8pPr indent="16002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8pPr>
      <a:lvl9pPr indent="18288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emf"/><Relationship Id="rId4" Type="http://schemas.openxmlformats.org/officeDocument/2006/relationships/image" Target="../media/image8.tif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38.tif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17" Type="http://schemas.openxmlformats.org/officeDocument/2006/relationships/image" Target="../media/image40.jpeg"/><Relationship Id="rId2" Type="http://schemas.openxmlformats.org/officeDocument/2006/relationships/image" Target="../media/image24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5" Type="http://schemas.openxmlformats.org/officeDocument/2006/relationships/image" Target="../media/image36.png"/><Relationship Id="rId10" Type="http://schemas.openxmlformats.org/officeDocument/2006/relationships/image" Target="../media/image39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60287"/>
            <a:ext cx="914400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Lecture 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66333-6A0A-454D-96D3-F751A008AC9D}"/>
              </a:ext>
            </a:extLst>
          </p:cNvPr>
          <p:cNvSpPr txBox="1"/>
          <p:nvPr/>
        </p:nvSpPr>
        <p:spPr>
          <a:xfrm>
            <a:off x="2806013" y="1186099"/>
            <a:ext cx="3201517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Turns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Collagen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Stability of Protein Folds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16C9E5-25A4-7DE8-7DBE-C08F6BC86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56" y="2365909"/>
            <a:ext cx="8930244" cy="43704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GillSans" panose="020B0A02020104020203" pitchFamily="34" charset="77"/>
              </a:rPr>
              <a:t>Lecture 7 Learning Outcomes:</a:t>
            </a:r>
          </a:p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0" dirty="0">
              <a:solidFill>
                <a:schemeClr val="tx1"/>
              </a:solidFill>
              <a:latin typeface="GillSans" panose="020B0A02020104020203" pitchFamily="34" charset="77"/>
            </a:endParaRPr>
          </a:p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0" dirty="0">
                <a:solidFill>
                  <a:schemeClr val="tx1"/>
                </a:solidFill>
                <a:latin typeface="GillSans" panose="020B0A02020104020203" pitchFamily="34" charset="77"/>
              </a:rPr>
              <a:t>Beta turns</a:t>
            </a:r>
          </a:p>
          <a:p>
            <a:pPr marL="285750" marR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0" dirty="0">
                <a:solidFill>
                  <a:srgbClr val="000000"/>
                </a:solidFill>
                <a:latin typeface="GillSans" panose="020B0A02020104020203" pitchFamily="34" charset="77"/>
              </a:rPr>
              <a:t>Describe how beta turns are defined (4 amino acid residues, i+1 and i+2 </a:t>
            </a:r>
            <a:r>
              <a:rPr lang="en-US" altLang="en-US" sz="1600" b="0" dirty="0" err="1">
                <a:solidFill>
                  <a:srgbClr val="000000"/>
                </a:solidFill>
                <a:latin typeface="GillSans" panose="020B0A02020104020203" pitchFamily="34" charset="77"/>
              </a:rPr>
              <a:t>phi,psi</a:t>
            </a:r>
            <a:r>
              <a:rPr lang="en-US" altLang="en-US" sz="1600" b="0" dirty="0">
                <a:solidFill>
                  <a:srgbClr val="000000"/>
                </a:solidFill>
                <a:latin typeface="GillSans" panose="020B0A02020104020203" pitchFamily="34" charset="77"/>
              </a:rPr>
              <a:t> torsion angles)</a:t>
            </a:r>
          </a:p>
          <a:p>
            <a:pPr marL="285750" marR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0" dirty="0">
                <a:solidFill>
                  <a:srgbClr val="000000"/>
                </a:solidFill>
                <a:latin typeface="GillSans" panose="020B0A02020104020203" pitchFamily="34" charset="77"/>
              </a:rPr>
              <a:t>Identify beta turn positions where Pro is favored or where </a:t>
            </a:r>
            <a:r>
              <a:rPr lang="en-US" altLang="en-US" sz="1600" b="0" dirty="0" err="1">
                <a:solidFill>
                  <a:srgbClr val="000000"/>
                </a:solidFill>
                <a:latin typeface="GillSans" panose="020B0A02020104020203" pitchFamily="34" charset="77"/>
              </a:rPr>
              <a:t>Gly</a:t>
            </a:r>
            <a:r>
              <a:rPr lang="en-US" altLang="en-US" sz="1600" b="0" dirty="0">
                <a:solidFill>
                  <a:srgbClr val="000000"/>
                </a:solidFill>
                <a:latin typeface="GillSans" panose="020B0A02020104020203" pitchFamily="34" charset="77"/>
              </a:rPr>
              <a:t> is required</a:t>
            </a:r>
            <a:r>
              <a:rPr lang="en-US" altLang="en-US" sz="1800" b="0" dirty="0">
                <a:solidFill>
                  <a:srgbClr val="000000"/>
                </a:solidFill>
                <a:latin typeface="GillSans" panose="020B0A02020104020203" pitchFamily="34" charset="77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0" dirty="0">
              <a:solidFill>
                <a:schemeClr val="tx1"/>
              </a:solidFill>
              <a:latin typeface="GillSans" panose="020B0A02020104020203" pitchFamily="34" charset="77"/>
            </a:endParaRPr>
          </a:p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0" dirty="0">
                <a:solidFill>
                  <a:schemeClr val="tx1"/>
                </a:solidFill>
                <a:latin typeface="GillSans" panose="020B0A02020104020203" pitchFamily="34" charset="77"/>
              </a:rPr>
              <a:t>Collagen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Sans" panose="020B0A02020104020203" pitchFamily="34" charset="77"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3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Sans" panose="020B0A02020104020203" pitchFamily="34" charset="77"/>
              </a:rPr>
              <a:t>Describe the structure of Collagen (primary, secondary, tertiary, quaternary)</a:t>
            </a:r>
          </a:p>
          <a:p>
            <a:pPr marL="285750" marR="0" lvl="3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0" dirty="0">
                <a:solidFill>
                  <a:schemeClr val="tx1"/>
                </a:solidFill>
                <a:latin typeface="GillSans" panose="020B0A02020104020203" pitchFamily="34" charset="77"/>
              </a:rPr>
              <a:t>Describe collagen synthesis (what occurs inside vs. outside the cell)</a:t>
            </a:r>
          </a:p>
          <a:p>
            <a:pPr marL="285750" marR="0" lvl="3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Sans" panose="020B0A02020104020203" pitchFamily="34" charset="77"/>
              </a:rPr>
              <a:t>Explain link between Vitamin C deficiency and Scurvy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MT"/>
            </a:endParaRPr>
          </a:p>
          <a:p>
            <a:pPr marL="285750" marR="0" lvl="3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Sans" panose="020B0A02020104020203" pitchFamily="34" charset="77"/>
              </a:rPr>
              <a:t>Identify what amino acid sidechains undergo post-translational modification (hydroxylation, crosslinking) and where (inside vs. outside the </a:t>
            </a:r>
            <a:r>
              <a:rPr lang="en-US" altLang="en-US" sz="1600" b="0" dirty="0">
                <a:solidFill>
                  <a:schemeClr val="tx1"/>
                </a:solidFill>
                <a:latin typeface="GillSans" panose="020B0A02020104020203" pitchFamily="34" charset="77"/>
              </a:rPr>
              <a:t>cell)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Sans" panose="020B0A02020104020203" pitchFamily="34" charset="77"/>
              </a:rPr>
              <a:t>these modifications happen.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600" b="0" dirty="0">
              <a:solidFill>
                <a:srgbClr val="000000"/>
              </a:solidFill>
              <a:latin typeface="GillSans" panose="020B0A02020104020203" pitchFamily="34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/>
                </a:uFill>
                <a:latin typeface="GillSans" panose="020B0A02020104020203" pitchFamily="34" charset="77"/>
                <a:sym typeface="Helvetica"/>
              </a:rPr>
              <a:t>Protein Folds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/>
                </a:uFill>
                <a:latin typeface="GillSans" panose="020B0A02020104020203" pitchFamily="34" charset="77"/>
                <a:sym typeface="Helvetica"/>
              </a:rPr>
              <a:t>List the main categories of folds (e.g., all alpha, all beta, etc.)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/>
                </a:uFill>
                <a:latin typeface="GillSans" panose="020B0A02020104020203" pitchFamily="34" charset="77"/>
                <a:sym typeface="Helvetica"/>
              </a:rPr>
              <a:t>Give reasons for the limited number of unique protein folds.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/>
                </a:uFill>
                <a:latin typeface="GillSans" panose="020B0A02020104020203" pitchFamily="34" charset="77"/>
                <a:sym typeface="Helvetica"/>
              </a:rPr>
              <a:t>Describe what a topology diagram shows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640462"/>
      </p:ext>
    </p:extLst>
  </p:cSld>
  <p:clrMapOvr>
    <a:masterClrMapping/>
  </p:clrMapOvr>
  <p:transition spd="med" advClick="0" advTm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3095625" y="2387600"/>
            <a:ext cx="3076575" cy="3252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Shape 185"/>
          <p:cNvSpPr/>
          <p:nvPr/>
        </p:nvSpPr>
        <p:spPr>
          <a:xfrm>
            <a:off x="381000" y="533400"/>
            <a:ext cx="1905000" cy="7620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86" name="Shape 186"/>
          <p:cNvSpPr/>
          <p:nvPr/>
        </p:nvSpPr>
        <p:spPr>
          <a:xfrm>
            <a:off x="381000" y="1143000"/>
            <a:ext cx="1600200" cy="6858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87" name="Shape 187"/>
          <p:cNvSpPr/>
          <p:nvPr/>
        </p:nvSpPr>
        <p:spPr>
          <a:xfrm>
            <a:off x="1524000" y="6172200"/>
            <a:ext cx="3886200" cy="4572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88" name="Shape 188"/>
          <p:cNvSpPr/>
          <p:nvPr/>
        </p:nvSpPr>
        <p:spPr>
          <a:xfrm>
            <a:off x="1003300" y="5473700"/>
            <a:ext cx="58801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100"/>
              </a:spcBef>
              <a:buClr>
                <a:srgbClr val="000000"/>
              </a:buClr>
              <a:buFont typeface="Helvetica"/>
              <a:defRPr sz="1800"/>
            </a:lvl1pPr>
          </a:lstStyle>
          <a:p>
            <a:pPr lvl="0">
              <a:defRPr b="0">
                <a:uFillTx/>
              </a:defRPr>
            </a:pPr>
            <a:r>
              <a:rPr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ype</a:t>
            </a:r>
            <a:r>
              <a:rPr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I			     T</a:t>
            </a:r>
            <a:r>
              <a:rPr lang="en-US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ype</a:t>
            </a:r>
            <a:r>
              <a:rPr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II</a:t>
            </a:r>
          </a:p>
        </p:txBody>
      </p:sp>
      <p:sp>
        <p:nvSpPr>
          <p:cNvPr id="189" name="Shape 189"/>
          <p:cNvSpPr/>
          <p:nvPr/>
        </p:nvSpPr>
        <p:spPr>
          <a:xfrm>
            <a:off x="3174" y="661416"/>
            <a:ext cx="91567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D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efinition: &lt; 7 angstrom between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C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sz="14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(i)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and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C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sz="14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(i+3)</a:t>
            </a:r>
          </a:p>
        </p:txBody>
      </p:sp>
      <p:sp>
        <p:nvSpPr>
          <p:cNvPr id="190" name="Shape 190"/>
          <p:cNvSpPr/>
          <p:nvPr/>
        </p:nvSpPr>
        <p:spPr>
          <a:xfrm>
            <a:off x="3174" y="1620266"/>
            <a:ext cx="915670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M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ost turns at protein surface.  Small proteins ~ 1/4 of all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AA 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in turns.</a:t>
            </a:r>
          </a:p>
        </p:txBody>
      </p:sp>
      <p:sp>
        <p:nvSpPr>
          <p:cNvPr id="191" name="Shape 191"/>
          <p:cNvSpPr/>
          <p:nvPr/>
        </p:nvSpPr>
        <p:spPr>
          <a:xfrm>
            <a:off x="3174" y="1315466"/>
            <a:ext cx="91567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N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ames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-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turn, tight turn, reverse turn</a:t>
            </a:r>
          </a:p>
        </p:txBody>
      </p:sp>
      <p:sp>
        <p:nvSpPr>
          <p:cNvPr id="192" name="Shape 192"/>
          <p:cNvSpPr/>
          <p:nvPr/>
        </p:nvSpPr>
        <p:spPr>
          <a:xfrm>
            <a:off x="3174" y="1939353"/>
            <a:ext cx="915670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V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arious “rules” have been found:</a:t>
            </a:r>
          </a:p>
        </p:txBody>
      </p:sp>
      <p:sp>
        <p:nvSpPr>
          <p:cNvPr id="193" name="Shape 193"/>
          <p:cNvSpPr/>
          <p:nvPr/>
        </p:nvSpPr>
        <p:spPr>
          <a:xfrm>
            <a:off x="1219199" y="513714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4" name="Shape 194"/>
          <p:cNvSpPr/>
          <p:nvPr/>
        </p:nvSpPr>
        <p:spPr>
          <a:xfrm>
            <a:off x="939799" y="321309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5" name="Shape 195"/>
          <p:cNvSpPr/>
          <p:nvPr/>
        </p:nvSpPr>
        <p:spPr>
          <a:xfrm>
            <a:off x="2698749" y="290829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4286249" y="512444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8" name="Shape 198"/>
          <p:cNvSpPr/>
          <p:nvPr/>
        </p:nvSpPr>
        <p:spPr>
          <a:xfrm>
            <a:off x="5721349" y="559434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9" name="Shape 199"/>
          <p:cNvSpPr/>
          <p:nvPr/>
        </p:nvSpPr>
        <p:spPr>
          <a:xfrm>
            <a:off x="5778499" y="271779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0" name="Shape 200"/>
          <p:cNvSpPr/>
          <p:nvPr/>
        </p:nvSpPr>
        <p:spPr>
          <a:xfrm>
            <a:off x="6096127" y="1886712"/>
            <a:ext cx="31369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E31E3"/>
              </a:buClr>
              <a:buFont typeface="Helvetica"/>
              <a:defRPr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re there other secondary structures?!</a:t>
            </a:r>
          </a:p>
        </p:txBody>
      </p:sp>
      <p:pic>
        <p:nvPicPr>
          <p:cNvPr id="201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2362200"/>
            <a:ext cx="3081338" cy="31527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4" name="Group 204"/>
          <p:cNvGrpSpPr/>
          <p:nvPr/>
        </p:nvGrpSpPr>
        <p:grpSpPr>
          <a:xfrm>
            <a:off x="2628900" y="2197100"/>
            <a:ext cx="1841500" cy="1270000"/>
            <a:chOff x="0" y="0"/>
            <a:chExt cx="1841500" cy="1270000"/>
          </a:xfrm>
        </p:grpSpPr>
        <p:sp>
          <p:nvSpPr>
            <p:cNvPr id="202" name="Shape 202"/>
            <p:cNvSpPr/>
            <p:nvPr/>
          </p:nvSpPr>
          <p:spPr>
            <a:xfrm>
              <a:off x="0" y="0"/>
              <a:ext cx="18415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E33FF"/>
                </a:buClr>
                <a:buFont typeface="Helvetica"/>
                <a:defRPr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lang="en-US" sz="1600" b="0" dirty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nly</a:t>
              </a:r>
              <a:r>
                <a:rPr sz="1600" b="0" dirty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G</a:t>
              </a:r>
              <a:r>
                <a:rPr lang="en-US" sz="1600" b="0" dirty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ly</a:t>
              </a:r>
              <a:endParaRPr sz="1600" b="0" dirty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03" name="Shape 203"/>
            <p:cNvSpPr/>
            <p:nvPr/>
          </p:nvSpPr>
          <p:spPr>
            <a:xfrm>
              <a:off x="571500" y="279400"/>
              <a:ext cx="292100" cy="990600"/>
            </a:xfrm>
            <a:prstGeom prst="line">
              <a:avLst/>
            </a:prstGeom>
            <a:noFill/>
            <a:ln w="28575" cap="flat">
              <a:solidFill>
                <a:srgbClr val="1E31E3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 b="0">
                  <a:uFillTx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209" name="Group 209"/>
          <p:cNvGrpSpPr/>
          <p:nvPr/>
        </p:nvGrpSpPr>
        <p:grpSpPr>
          <a:xfrm>
            <a:off x="1701800" y="4089400"/>
            <a:ext cx="2921000" cy="385921"/>
            <a:chOff x="0" y="0"/>
            <a:chExt cx="2921000" cy="385921"/>
          </a:xfrm>
        </p:grpSpPr>
        <p:grpSp>
          <p:nvGrpSpPr>
            <p:cNvPr id="207" name="Group 207"/>
            <p:cNvGrpSpPr/>
            <p:nvPr/>
          </p:nvGrpSpPr>
          <p:grpSpPr>
            <a:xfrm>
              <a:off x="0" y="0"/>
              <a:ext cx="2476500" cy="385921"/>
              <a:chOff x="0" y="0"/>
              <a:chExt cx="2476500" cy="385921"/>
            </a:xfrm>
          </p:grpSpPr>
          <p:sp>
            <p:nvSpPr>
              <p:cNvPr id="205" name="Shape 205"/>
              <p:cNvSpPr/>
              <p:nvPr/>
            </p:nvSpPr>
            <p:spPr>
              <a:xfrm>
                <a:off x="787400" y="139700"/>
                <a:ext cx="1689100" cy="246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900"/>
                  </a:spcBef>
                  <a:buClr>
                    <a:srgbClr val="0E33FF"/>
                  </a:buClr>
                  <a:buFont typeface="Helvetica"/>
                  <a:defRPr>
                    <a:solidFill>
                      <a:srgbClr val="0E33FF"/>
                    </a:solidFill>
                    <a:uFill>
                      <a:solidFill>
                        <a:srgbClr val="0E33FF"/>
                      </a:solidFill>
                    </a:u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  <a:uFillTx/>
                  </a:defRPr>
                </a:pPr>
                <a:r>
                  <a:rPr sz="1600" b="0" dirty="0">
                    <a:solidFill>
                      <a:srgbClr val="0E33FF"/>
                    </a:solidFill>
                    <a:uFill>
                      <a:solidFill>
                        <a:srgbClr val="0E33FF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H-</a:t>
                </a:r>
                <a:r>
                  <a:rPr lang="en-US" sz="1600" b="0" dirty="0">
                    <a:solidFill>
                      <a:srgbClr val="0E33FF"/>
                    </a:solidFill>
                    <a:uFill>
                      <a:solidFill>
                        <a:srgbClr val="0E33FF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bond</a:t>
                </a:r>
              </a:p>
            </p:txBody>
          </p:sp>
          <p:sp>
            <p:nvSpPr>
              <p:cNvPr id="206" name="Shape 206"/>
              <p:cNvSpPr/>
              <p:nvPr/>
            </p:nvSpPr>
            <p:spPr>
              <a:xfrm flipH="1" flipV="1">
                <a:off x="0" y="0"/>
                <a:ext cx="850900" cy="215900"/>
              </a:xfrm>
              <a:prstGeom prst="line">
                <a:avLst/>
              </a:prstGeom>
              <a:noFill/>
              <a:ln w="28575" cap="flat">
                <a:solidFill>
                  <a:srgbClr val="1E31E3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sp>
          <p:nvSpPr>
            <p:cNvPr id="208" name="Shape 208"/>
            <p:cNvSpPr/>
            <p:nvPr/>
          </p:nvSpPr>
          <p:spPr>
            <a:xfrm flipV="1">
              <a:off x="1676400" y="127000"/>
              <a:ext cx="1244600" cy="101600"/>
            </a:xfrm>
            <a:prstGeom prst="line">
              <a:avLst/>
            </a:prstGeom>
            <a:noFill/>
            <a:ln w="28575" cap="flat">
              <a:solidFill>
                <a:srgbClr val="1E31E3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 b="0">
                  <a:uFillTx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213" name="Group 213"/>
          <p:cNvGrpSpPr/>
          <p:nvPr/>
        </p:nvGrpSpPr>
        <p:grpSpPr>
          <a:xfrm>
            <a:off x="635000" y="4762500"/>
            <a:ext cx="3225800" cy="1076484"/>
            <a:chOff x="0" y="0"/>
            <a:chExt cx="3225800" cy="1076483"/>
          </a:xfrm>
        </p:grpSpPr>
        <p:sp>
          <p:nvSpPr>
            <p:cNvPr id="210" name="Shape 210"/>
            <p:cNvSpPr/>
            <p:nvPr/>
          </p:nvSpPr>
          <p:spPr>
            <a:xfrm>
              <a:off x="1460500" y="830262"/>
              <a:ext cx="17653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182BCF"/>
                </a:buClr>
                <a:buFont typeface="Helvetica"/>
                <a:defRPr>
                  <a:solidFill>
                    <a:srgbClr val="182BCF"/>
                  </a:solidFill>
                  <a:uFill>
                    <a:solidFill>
                      <a:srgbClr val="182BCF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rgbClr val="182BCF"/>
                  </a:solidFill>
                  <a:uFill>
                    <a:solidFill>
                      <a:srgbClr val="182BC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P</a:t>
              </a:r>
              <a:r>
                <a:rPr lang="en-US" sz="1600" b="0" dirty="0">
                  <a:solidFill>
                    <a:srgbClr val="182BCF"/>
                  </a:solidFill>
                  <a:uFill>
                    <a:solidFill>
                      <a:srgbClr val="182BC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ro common</a:t>
              </a:r>
            </a:p>
          </p:txBody>
        </p:sp>
        <p:sp>
          <p:nvSpPr>
            <p:cNvPr id="211" name="Shape 211"/>
            <p:cNvSpPr/>
            <p:nvPr/>
          </p:nvSpPr>
          <p:spPr>
            <a:xfrm flipV="1">
              <a:off x="1943100" y="139700"/>
              <a:ext cx="1155700" cy="723900"/>
            </a:xfrm>
            <a:prstGeom prst="line">
              <a:avLst/>
            </a:prstGeom>
            <a:noFill/>
            <a:ln w="28575" cap="flat">
              <a:solidFill>
                <a:srgbClr val="1E31E3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 b="0">
                  <a:uFillTx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12" name="Shape 212"/>
            <p:cNvSpPr/>
            <p:nvPr/>
          </p:nvSpPr>
          <p:spPr>
            <a:xfrm flipH="1" flipV="1">
              <a:off x="0" y="0"/>
              <a:ext cx="1828800" cy="876300"/>
            </a:xfrm>
            <a:prstGeom prst="line">
              <a:avLst/>
            </a:prstGeom>
            <a:noFill/>
            <a:ln w="28575" cap="flat">
              <a:solidFill>
                <a:srgbClr val="1E31E3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 b="0">
                  <a:uFillTx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14" name="Shape 214"/>
          <p:cNvSpPr/>
          <p:nvPr/>
        </p:nvSpPr>
        <p:spPr>
          <a:xfrm>
            <a:off x="155575" y="5943600"/>
            <a:ext cx="3934287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182BCF"/>
              </a:buClr>
              <a:buFont typeface="Helvetica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AA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in turns often polar/charged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                 W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hy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?!  A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surface, in contact with water</a:t>
            </a:r>
          </a:p>
        </p:txBody>
      </p:sp>
      <p:sp>
        <p:nvSpPr>
          <p:cNvPr id="215" name="Shape 215"/>
          <p:cNvSpPr/>
          <p:nvPr/>
        </p:nvSpPr>
        <p:spPr>
          <a:xfrm>
            <a:off x="3175" y="986853"/>
            <a:ext cx="9004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hese four AA do </a:t>
            </a:r>
            <a:r>
              <a:rPr lang="en-US" sz="1600" i="1" u="sng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not have repeating</a:t>
            </a:r>
            <a:r>
              <a:rPr lang="en-US" sz="1600" i="1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Φ,Ψ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values! </a:t>
            </a:r>
            <a:endParaRPr sz="1600" b="0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16" name="Shape 216"/>
          <p:cNvSpPr/>
          <p:nvPr/>
        </p:nvSpPr>
        <p:spPr>
          <a:xfrm>
            <a:off x="155575" y="6477000"/>
            <a:ext cx="61468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82BCF"/>
              </a:buClr>
              <a:buFont typeface="Helvetica"/>
              <a:defRPr>
                <a:solidFill>
                  <a:srgbClr val="182BCF"/>
                </a:solidFill>
                <a:uFill>
                  <a:solidFill>
                    <a:srgbClr val="182BCF"/>
                  </a:solidFill>
                </a:u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ypes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I &amp; II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most common.  Ten types now identified</a:t>
            </a:r>
          </a:p>
        </p:txBody>
      </p:sp>
      <p:sp>
        <p:nvSpPr>
          <p:cNvPr id="217" name="Shape 217"/>
          <p:cNvSpPr/>
          <p:nvPr/>
        </p:nvSpPr>
        <p:spPr>
          <a:xfrm>
            <a:off x="5998911" y="3431762"/>
            <a:ext cx="3136900" cy="902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DD33C5"/>
              </a:buClr>
              <a:buFont typeface="Helvetica"/>
              <a:defRPr sz="1800" b="0">
                <a:uFillTx/>
              </a:defRPr>
            </a:pPr>
            <a:r>
              <a:rPr lang="en-US" sz="4000" b="0" baseline="-11000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Wingdings 2" pitchFamily="2" charset="2"/>
                <a:ea typeface="Gill Sans" charset="0"/>
                <a:cs typeface="Gill Sans" charset="0"/>
              </a:rPr>
              <a:t>j</a:t>
            </a:r>
            <a:r>
              <a:rPr lang="en-US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Wingdings 2" pitchFamily="2" charset="2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Other ~</a:t>
            </a:r>
            <a:r>
              <a:rPr lang="en-US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Chalkboard"/>
              </a:rPr>
              <a:t>40%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not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random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Φ,Ψ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values! 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nstead, simply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not repeating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φ,ψ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values.         </a:t>
            </a:r>
            <a:endParaRPr sz="1600" b="0" dirty="0">
              <a:solidFill>
                <a:schemeClr val="tx1"/>
              </a:solidFill>
              <a:uFill>
                <a:solidFill>
                  <a:srgbClr val="1E31E3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18" name="Shape 218"/>
          <p:cNvSpPr/>
          <p:nvPr/>
        </p:nvSpPr>
        <p:spPr>
          <a:xfrm>
            <a:off x="6269252" y="4346232"/>
            <a:ext cx="2917399" cy="1261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DD33C5"/>
              </a:buClr>
              <a:buFont typeface="Helvetica"/>
              <a:defRPr sz="1800" b="0">
                <a:uFillTx/>
              </a:defRPr>
            </a:pPr>
            <a:r>
              <a:rPr sz="1600" b="0" u="sng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J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argon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non repeating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Φ,Ψ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parts of proteins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, i.e.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not turns or helices or sheets, are called</a:t>
            </a:r>
            <a:r>
              <a:rPr lang="en-US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“coil” or “loop”. 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hese "coils/loops" also make all possible H-bonds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.</a:t>
            </a:r>
          </a:p>
        </p:txBody>
      </p:sp>
      <p:grpSp>
        <p:nvGrpSpPr>
          <p:cNvPr id="222" name="Group 222"/>
          <p:cNvGrpSpPr/>
          <p:nvPr/>
        </p:nvGrpSpPr>
        <p:grpSpPr>
          <a:xfrm>
            <a:off x="3786207" y="3073400"/>
            <a:ext cx="5489557" cy="1964486"/>
            <a:chOff x="-127747" y="0"/>
            <a:chExt cx="5489555" cy="1964485"/>
          </a:xfrm>
        </p:grpSpPr>
        <p:sp>
          <p:nvSpPr>
            <p:cNvPr id="219" name="Shape 219"/>
            <p:cNvSpPr/>
            <p:nvPr/>
          </p:nvSpPr>
          <p:spPr>
            <a:xfrm>
              <a:off x="-127747" y="348409"/>
              <a:ext cx="5120508" cy="1616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579" extrusionOk="0">
                  <a:moveTo>
                    <a:pt x="21583" y="0"/>
                  </a:moveTo>
                  <a:cubicBezTo>
                    <a:pt x="21068" y="212"/>
                    <a:pt x="20553" y="339"/>
                    <a:pt x="20044" y="445"/>
                  </a:cubicBezTo>
                  <a:cubicBezTo>
                    <a:pt x="19395" y="763"/>
                    <a:pt x="18759" y="1124"/>
                    <a:pt x="18117" y="1357"/>
                  </a:cubicBezTo>
                  <a:cubicBezTo>
                    <a:pt x="17675" y="1675"/>
                    <a:pt x="17247" y="1802"/>
                    <a:pt x="16799" y="1908"/>
                  </a:cubicBezTo>
                  <a:cubicBezTo>
                    <a:pt x="15976" y="2650"/>
                    <a:pt x="14945" y="3010"/>
                    <a:pt x="14089" y="3159"/>
                  </a:cubicBezTo>
                  <a:cubicBezTo>
                    <a:pt x="13118" y="3498"/>
                    <a:pt x="12282" y="4070"/>
                    <a:pt x="11305" y="4176"/>
                  </a:cubicBezTo>
                  <a:cubicBezTo>
                    <a:pt x="9699" y="4091"/>
                    <a:pt x="8180" y="3795"/>
                    <a:pt x="6594" y="3498"/>
                  </a:cubicBezTo>
                  <a:cubicBezTo>
                    <a:pt x="6326" y="3307"/>
                    <a:pt x="6072" y="3222"/>
                    <a:pt x="5805" y="3159"/>
                  </a:cubicBezTo>
                  <a:cubicBezTo>
                    <a:pt x="4808" y="2395"/>
                    <a:pt x="3804" y="1823"/>
                    <a:pt x="2807" y="1230"/>
                  </a:cubicBezTo>
                  <a:cubicBezTo>
                    <a:pt x="2579" y="784"/>
                    <a:pt x="2312" y="636"/>
                    <a:pt x="2057" y="551"/>
                  </a:cubicBezTo>
                  <a:cubicBezTo>
                    <a:pt x="1489" y="-21"/>
                    <a:pt x="1917" y="318"/>
                    <a:pt x="739" y="551"/>
                  </a:cubicBezTo>
                  <a:cubicBezTo>
                    <a:pt x="652" y="615"/>
                    <a:pt x="518" y="509"/>
                    <a:pt x="492" y="784"/>
                  </a:cubicBezTo>
                  <a:cubicBezTo>
                    <a:pt x="411" y="1442"/>
                    <a:pt x="378" y="2120"/>
                    <a:pt x="311" y="2819"/>
                  </a:cubicBezTo>
                  <a:cubicBezTo>
                    <a:pt x="284" y="4176"/>
                    <a:pt x="284" y="5999"/>
                    <a:pt x="130" y="7334"/>
                  </a:cubicBezTo>
                  <a:cubicBezTo>
                    <a:pt x="117" y="7780"/>
                    <a:pt x="117" y="8225"/>
                    <a:pt x="97" y="8691"/>
                  </a:cubicBezTo>
                  <a:cubicBezTo>
                    <a:pt x="77" y="9030"/>
                    <a:pt x="23" y="9709"/>
                    <a:pt x="23" y="9709"/>
                  </a:cubicBezTo>
                  <a:cubicBezTo>
                    <a:pt x="-10" y="10832"/>
                    <a:pt x="-17" y="11871"/>
                    <a:pt x="63" y="12994"/>
                  </a:cubicBezTo>
                  <a:cubicBezTo>
                    <a:pt x="83" y="13800"/>
                    <a:pt x="103" y="14478"/>
                    <a:pt x="170" y="15262"/>
                  </a:cubicBezTo>
                  <a:cubicBezTo>
                    <a:pt x="177" y="15750"/>
                    <a:pt x="177" y="16237"/>
                    <a:pt x="204" y="16725"/>
                  </a:cubicBezTo>
                  <a:cubicBezTo>
                    <a:pt x="237" y="17467"/>
                    <a:pt x="384" y="19184"/>
                    <a:pt x="632" y="19438"/>
                  </a:cubicBezTo>
                  <a:cubicBezTo>
                    <a:pt x="813" y="20286"/>
                    <a:pt x="926" y="20350"/>
                    <a:pt x="1201" y="20795"/>
                  </a:cubicBezTo>
                  <a:cubicBezTo>
                    <a:pt x="1274" y="20901"/>
                    <a:pt x="1328" y="21176"/>
                    <a:pt x="1415" y="21240"/>
                  </a:cubicBezTo>
                  <a:cubicBezTo>
                    <a:pt x="1790" y="21515"/>
                    <a:pt x="1622" y="21409"/>
                    <a:pt x="1917" y="21579"/>
                  </a:cubicBezTo>
                  <a:cubicBezTo>
                    <a:pt x="4138" y="21346"/>
                    <a:pt x="6360" y="21240"/>
                    <a:pt x="8588" y="21134"/>
                  </a:cubicBezTo>
                  <a:cubicBezTo>
                    <a:pt x="9277" y="20985"/>
                    <a:pt x="9987" y="21176"/>
                    <a:pt x="10663" y="20689"/>
                  </a:cubicBezTo>
                  <a:cubicBezTo>
                    <a:pt x="10890" y="20498"/>
                    <a:pt x="11071" y="19862"/>
                    <a:pt x="11305" y="19777"/>
                  </a:cubicBezTo>
                  <a:cubicBezTo>
                    <a:pt x="11994" y="19502"/>
                    <a:pt x="12703" y="19692"/>
                    <a:pt x="13406" y="19671"/>
                  </a:cubicBezTo>
                  <a:cubicBezTo>
                    <a:pt x="14952" y="19268"/>
                    <a:pt x="16029" y="19374"/>
                    <a:pt x="17869" y="19332"/>
                  </a:cubicBezTo>
                  <a:cubicBezTo>
                    <a:pt x="19087" y="19226"/>
                    <a:pt x="20285" y="19205"/>
                    <a:pt x="21509" y="19205"/>
                  </a:cubicBezTo>
                </a:path>
              </a:pathLst>
            </a:custGeom>
            <a:noFill/>
            <a:ln w="76200" cap="flat">
              <a:solidFill>
                <a:srgbClr val="0E33FF">
                  <a:alpha val="50196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20" name="Shape 220"/>
            <p:cNvSpPr/>
            <p:nvPr/>
          </p:nvSpPr>
          <p:spPr>
            <a:xfrm>
              <a:off x="4772845" y="1409700"/>
              <a:ext cx="322524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buClr>
                  <a:srgbClr val="0E33FF"/>
                </a:buClr>
                <a:buFont typeface="Helvetica"/>
                <a:defRPr sz="240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2400" b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N</a:t>
              </a:r>
            </a:p>
          </p:txBody>
        </p:sp>
        <p:sp>
          <p:nvSpPr>
            <p:cNvPr id="221" name="Shape 221"/>
            <p:cNvSpPr/>
            <p:nvPr/>
          </p:nvSpPr>
          <p:spPr>
            <a:xfrm>
              <a:off x="4815707" y="0"/>
              <a:ext cx="546101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400"/>
                </a:spcBef>
                <a:buClr>
                  <a:srgbClr val="0E33FF"/>
                </a:buClr>
                <a:buFont typeface="Helvetica"/>
                <a:defRPr sz="240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2400" b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C</a:t>
              </a:r>
            </a:p>
          </p:txBody>
        </p:sp>
      </p:grpSp>
      <p:grpSp>
        <p:nvGrpSpPr>
          <p:cNvPr id="225" name="Group 225"/>
          <p:cNvGrpSpPr/>
          <p:nvPr/>
        </p:nvGrpSpPr>
        <p:grpSpPr>
          <a:xfrm>
            <a:off x="6094233" y="2404535"/>
            <a:ext cx="3049767" cy="720270"/>
            <a:chOff x="0" y="55334"/>
            <a:chExt cx="3373617" cy="720269"/>
          </a:xfrm>
        </p:grpSpPr>
        <p:sp>
          <p:nvSpPr>
            <p:cNvPr id="223" name="Shape 223"/>
            <p:cNvSpPr/>
            <p:nvPr/>
          </p:nvSpPr>
          <p:spPr>
            <a:xfrm>
              <a:off x="20816" y="252384"/>
              <a:ext cx="3352801" cy="5232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defRPr sz="1800" b="0">
                  <a:uFillTx/>
                </a:defRPr>
              </a:pP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account for 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Chalkboard"/>
                </a:rPr>
                <a:t>only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~ </a:t>
              </a:r>
              <a:r>
                <a:rPr lang="en-US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Chalkboard"/>
                </a:rPr>
                <a:t>60%</a:t>
              </a:r>
              <a:r>
                <a:rPr lang="en-US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of all 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AA 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in proteins! </a:t>
              </a:r>
              <a:endPara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24" name="Shape 224"/>
            <p:cNvSpPr/>
            <p:nvPr/>
          </p:nvSpPr>
          <p:spPr>
            <a:xfrm>
              <a:off x="0" y="55334"/>
              <a:ext cx="2404831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/>
            <a:p>
              <a:pPr lvl="0">
                <a:defRPr sz="1800" b="0"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α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-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helix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, 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β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-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sheet, and turns </a:t>
              </a:r>
              <a:endPara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-109728" y="-28312"/>
            <a:ext cx="9358060" cy="44114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Turns:</a:t>
            </a:r>
            <a:r>
              <a:rPr kumimoji="0" lang="en-US" sz="2200" b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4 AA are the minimum for a chain to turn 180</a:t>
            </a:r>
            <a:r>
              <a:rPr kumimoji="0" lang="en-US" sz="2200" b="0" u="none" strike="noStrike" cap="none" spc="0" normalizeH="0" baseline="3000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</a:t>
            </a:r>
            <a:r>
              <a:rPr kumimoji="0" lang="en-US" sz="2200" b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and a type of II structure</a:t>
            </a:r>
            <a:endParaRPr kumimoji="0" lang="en-US" sz="2200" b="0" u="none" strike="noStrike" cap="none" spc="0" normalizeH="0" baseline="3000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Gill Sans" charset="0"/>
              <a:ea typeface="Gill Sans" charset="0"/>
              <a:cs typeface="Gill Sans" charset="0"/>
              <a:sym typeface="Helvetic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D2A78-4BE7-724C-91C9-C9B047C7DF17}"/>
              </a:ext>
            </a:extLst>
          </p:cNvPr>
          <p:cNvSpPr txBox="1"/>
          <p:nvPr/>
        </p:nvSpPr>
        <p:spPr>
          <a:xfrm>
            <a:off x="6473117" y="3149917"/>
            <a:ext cx="1767587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2 different cases:</a:t>
            </a:r>
          </a:p>
        </p:txBody>
      </p:sp>
      <p:sp>
        <p:nvSpPr>
          <p:cNvPr id="46" name="Shape 217">
            <a:extLst>
              <a:ext uri="{FF2B5EF4-FFF2-40B4-BE49-F238E27FC236}">
                <a16:creationId xmlns:a16="http://schemas.microsoft.com/office/drawing/2014/main" id="{0274EFB1-AE6B-6A43-8101-34370DCE6A34}"/>
              </a:ext>
            </a:extLst>
          </p:cNvPr>
          <p:cNvSpPr/>
          <p:nvPr/>
        </p:nvSpPr>
        <p:spPr>
          <a:xfrm>
            <a:off x="6041866" y="5534673"/>
            <a:ext cx="3060700" cy="114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DD33C5"/>
              </a:buClr>
              <a:buFont typeface="Helvetica"/>
              <a:defRPr sz="1800" b="0">
                <a:uFillTx/>
              </a:defRPr>
            </a:pPr>
            <a:r>
              <a:rPr lang="en-US" sz="4000" b="0" baseline="-11000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Wingdings 2" pitchFamily="2" charset="2"/>
                <a:ea typeface="Gill Sans" charset="0"/>
                <a:cs typeface="Gill Sans" charset="0"/>
              </a:rPr>
              <a:t>k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    Some proteins are “intrinsically disordered”, with parts or even the entire protein not having fixed structure.</a:t>
            </a:r>
            <a:endParaRPr sz="1600" b="0" dirty="0">
              <a:solidFill>
                <a:schemeClr val="tx1"/>
              </a:solidFill>
              <a:uFill>
                <a:solidFill>
                  <a:srgbClr val="1E31E3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E8659-C655-C943-A3FB-91F6F8A37BA6}"/>
              </a:ext>
            </a:extLst>
          </p:cNvPr>
          <p:cNvSpPr txBox="1"/>
          <p:nvPr/>
        </p:nvSpPr>
        <p:spPr>
          <a:xfrm>
            <a:off x="-71249" y="325466"/>
            <a:ext cx="5011386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“Turns” allow the polypeptide chain to reverse direction.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6B10E7-AD1D-964C-B9BA-CC46CD7088A0}"/>
              </a:ext>
            </a:extLst>
          </p:cNvPr>
          <p:cNvSpPr txBox="1"/>
          <p:nvPr/>
        </p:nvSpPr>
        <p:spPr>
          <a:xfrm>
            <a:off x="4856806" y="322418"/>
            <a:ext cx="4773167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rtl="0" latinLnBrk="1" hangingPunct="0"/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</a:rPr>
              <a:t>T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hey are 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defined by the (</a:t>
            </a:r>
            <a:r>
              <a:rPr kumimoji="0" lang="en-US" sz="1600" b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i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 + 1) and (</a:t>
            </a:r>
            <a:r>
              <a:rPr kumimoji="0" lang="en-US" sz="1600" b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i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 + 2) </a:t>
            </a:r>
            <a:r>
              <a:rPr lang="el-GR" sz="1600" b="0" dirty="0">
                <a:solidFill>
                  <a:srgbClr val="FF0000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Φ,Ψ</a:t>
            </a:r>
            <a:endParaRPr kumimoji="0" lang="en-US" sz="1600" b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>
                <a:solidFill>
                  <a:srgbClr val="000000"/>
                </a:solidFill>
              </a:uFill>
              <a:latin typeface="Gill Sans" panose="020B0502020104020203" pitchFamily="34" charset="-79"/>
              <a:cs typeface="Gill Sans" panose="020B0502020104020203" pitchFamily="34" charset="-79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30796815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animBg="1" advAuto="0"/>
      <p:bldP spid="190" grpId="0" animBg="1" advAuto="0"/>
      <p:bldP spid="191" grpId="0" animBg="1" advAuto="0"/>
      <p:bldP spid="192" grpId="0" animBg="1" advAuto="0"/>
      <p:bldP spid="200" grpId="0" animBg="1" advAuto="0"/>
      <p:bldP spid="204" grpId="0" animBg="1" advAuto="0"/>
      <p:bldP spid="209" grpId="0" animBg="1" advAuto="0"/>
      <p:bldP spid="213" grpId="0" animBg="1" advAuto="0"/>
      <p:bldP spid="214" grpId="0" animBg="1" advAuto="0"/>
      <p:bldP spid="215" grpId="0" animBg="1" advAuto="0"/>
      <p:bldP spid="216" grpId="0" animBg="1" advAuto="0"/>
      <p:bldP spid="217" grpId="0" animBg="1" advAuto="0"/>
      <p:bldP spid="218" grpId="0" animBg="1" advAuto="0"/>
      <p:bldP spid="222" grpId="0" animBg="1" advAuto="0"/>
      <p:bldP spid="222" grpId="1" animBg="1" advAuto="0"/>
      <p:bldP spid="225" grpId="0" advAuto="0"/>
      <p:bldP spid="3" grpId="0"/>
      <p:bldP spid="46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/>
        </p:nvSpPr>
        <p:spPr>
          <a:xfrm>
            <a:off x="10583" y="-27043"/>
            <a:ext cx="91567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200"/>
              </a:spcBef>
              <a:buClr>
                <a:srgbClr val="000000"/>
              </a:buClr>
              <a:buFont typeface="Helvetica"/>
              <a:defRPr sz="2000"/>
            </a:lvl1pPr>
          </a:lstStyle>
          <a:p>
            <a:pPr lvl="0">
              <a:defRPr sz="1800" b="0">
                <a:uFillTx/>
              </a:defRPr>
            </a:pPr>
            <a:r>
              <a:rPr sz="2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sz="2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ore on turns</a:t>
            </a:r>
          </a:p>
        </p:txBody>
      </p:sp>
      <p:sp>
        <p:nvSpPr>
          <p:cNvPr id="228" name="Shape 228"/>
          <p:cNvSpPr/>
          <p:nvPr/>
        </p:nvSpPr>
        <p:spPr>
          <a:xfrm>
            <a:off x="39920" y="366917"/>
            <a:ext cx="93091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~ 25%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of turns have no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H-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bond to stabilize the turn!  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any turns are at protein surface where  H-bonds are made to water, instead of within the turn.</a:t>
            </a:r>
          </a:p>
        </p:txBody>
      </p:sp>
      <p:pic>
        <p:nvPicPr>
          <p:cNvPr id="229" name="image.png"/>
          <p:cNvPicPr/>
          <p:nvPr/>
        </p:nvPicPr>
        <p:blipFill>
          <a:blip r:embed="rId2"/>
          <a:stretch>
            <a:fillRect/>
          </a:stretch>
        </p:blipFill>
        <p:spPr>
          <a:xfrm rot="21583854">
            <a:off x="254000" y="2012950"/>
            <a:ext cx="4648201" cy="4406901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Shape 230"/>
          <p:cNvSpPr/>
          <p:nvPr/>
        </p:nvSpPr>
        <p:spPr>
          <a:xfrm>
            <a:off x="73786" y="1128029"/>
            <a:ext cx="8928101" cy="607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AA  i + 1 </a:t>
            </a:r>
            <a:r>
              <a:rPr lang="en-US"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and</a:t>
            </a: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i + 2 </a:t>
            </a:r>
            <a:r>
              <a:rPr lang="en-US"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define, or “make the turn”, and have particular </a:t>
            </a: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</a:t>
            </a: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, </a:t>
            </a: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Ψ</a:t>
            </a: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values;</a:t>
            </a:r>
          </a:p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ow to read where these turns show up on a Ramachandran map:</a:t>
            </a:r>
          </a:p>
        </p:txBody>
      </p:sp>
      <p:sp>
        <p:nvSpPr>
          <p:cNvPr id="231" name="Shape 231"/>
          <p:cNvSpPr/>
          <p:nvPr/>
        </p:nvSpPr>
        <p:spPr>
          <a:xfrm>
            <a:off x="1558925" y="2573337"/>
            <a:ext cx="3937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E33FF"/>
              </a:buClr>
              <a:buFont typeface="Helvetica"/>
              <a:defRPr sz="20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Wingdings 2"/>
                <a:ea typeface="Wingdings 2"/>
                <a:cs typeface="Wingdings 2"/>
                <a:sym typeface="Wingdings 2"/>
              </a:defRPr>
            </a:lvl1pPr>
          </a:lstStyle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200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</a:t>
            </a:r>
          </a:p>
        </p:txBody>
      </p:sp>
      <p:sp>
        <p:nvSpPr>
          <p:cNvPr id="232" name="Shape 232"/>
          <p:cNvSpPr/>
          <p:nvPr/>
        </p:nvSpPr>
        <p:spPr>
          <a:xfrm>
            <a:off x="3038475" y="3987800"/>
            <a:ext cx="3937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E33FF"/>
              </a:buClr>
              <a:buFont typeface="Helvetica"/>
              <a:defRPr sz="20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Wingdings 2"/>
                <a:ea typeface="Wingdings 2"/>
                <a:cs typeface="Wingdings 2"/>
                <a:sym typeface="Wingdings 2"/>
              </a:defRPr>
            </a:lvl1pPr>
          </a:lstStyle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200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</a:t>
            </a:r>
          </a:p>
        </p:txBody>
      </p:sp>
      <p:sp>
        <p:nvSpPr>
          <p:cNvPr id="233" name="Shape 233"/>
          <p:cNvSpPr/>
          <p:nvPr/>
        </p:nvSpPr>
        <p:spPr>
          <a:xfrm>
            <a:off x="1651000" y="4427537"/>
            <a:ext cx="3937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E33FF"/>
              </a:buClr>
              <a:buFont typeface="Helvetica"/>
              <a:defRPr sz="20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Wingdings 2"/>
                <a:ea typeface="Wingdings 2"/>
                <a:cs typeface="Wingdings 2"/>
                <a:sym typeface="Wingdings 2"/>
              </a:defRPr>
            </a:lvl1pPr>
          </a:lstStyle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200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</a:t>
            </a:r>
          </a:p>
        </p:txBody>
      </p:sp>
      <p:sp>
        <p:nvSpPr>
          <p:cNvPr id="234" name="Shape 234"/>
          <p:cNvSpPr/>
          <p:nvPr/>
        </p:nvSpPr>
        <p:spPr>
          <a:xfrm>
            <a:off x="1370012" y="3978275"/>
            <a:ext cx="39370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E33FF"/>
              </a:buClr>
              <a:buFont typeface="Helvetica"/>
              <a:defRPr sz="20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Wingdings 2"/>
                <a:ea typeface="Wingdings 2"/>
                <a:cs typeface="Wingdings 2"/>
                <a:sym typeface="Wingdings 2"/>
              </a:defRPr>
            </a:lvl1pPr>
          </a:lstStyle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200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</a:t>
            </a:r>
          </a:p>
        </p:txBody>
      </p:sp>
      <p:sp>
        <p:nvSpPr>
          <p:cNvPr id="235" name="Shape 235"/>
          <p:cNvSpPr/>
          <p:nvPr/>
        </p:nvSpPr>
        <p:spPr>
          <a:xfrm>
            <a:off x="4588933" y="2926950"/>
            <a:ext cx="3462991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ote that the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,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Ψ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values do not repeat for the consecutive i + 1 and i + 2     turn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AAs</a:t>
            </a:r>
          </a:p>
        </p:txBody>
      </p:sp>
      <p:grpSp>
        <p:nvGrpSpPr>
          <p:cNvPr id="240" name="Group 240"/>
          <p:cNvGrpSpPr/>
          <p:nvPr/>
        </p:nvGrpSpPr>
        <p:grpSpPr>
          <a:xfrm>
            <a:off x="4588933" y="3895581"/>
            <a:ext cx="3804856" cy="1008656"/>
            <a:chOff x="0" y="4039"/>
            <a:chExt cx="3804855" cy="1008654"/>
          </a:xfrm>
        </p:grpSpPr>
        <p:sp>
          <p:nvSpPr>
            <p:cNvPr id="236" name="Shape 236"/>
            <p:cNvSpPr/>
            <p:nvPr/>
          </p:nvSpPr>
          <p:spPr>
            <a:xfrm>
              <a:off x="0" y="4039"/>
              <a:ext cx="3438761" cy="3488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000000"/>
                </a:buClr>
                <a:buFont typeface="Helvetica"/>
                <a:defRPr sz="1800" b="0">
                  <a:uFillTx/>
                </a:defRPr>
              </a:pP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Φ</a:t>
              </a: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</a:t>
              </a: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Ψ</a:t>
              </a: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</a:t>
              </a:r>
              <a:r>
                <a:rPr lang="en-US"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values for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         </a:t>
              </a:r>
              <a:r>
                <a:rPr lang="en-US"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</a:t>
              </a: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i + 1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         </a:t>
              </a: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i + 2</a:t>
              </a:r>
            </a:p>
          </p:txBody>
        </p:sp>
        <p:sp>
          <p:nvSpPr>
            <p:cNvPr id="237" name="Shape 237"/>
            <p:cNvSpPr/>
            <p:nvPr/>
          </p:nvSpPr>
          <p:spPr>
            <a:xfrm>
              <a:off x="98673" y="339300"/>
              <a:ext cx="3456394" cy="3488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000000"/>
                </a:buClr>
                <a:buFont typeface="Helvetica"/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ype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I                  -60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-30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    -90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</a:p>
          </p:txBody>
        </p:sp>
        <p:sp>
          <p:nvSpPr>
            <p:cNvPr id="238" name="Shape 238"/>
            <p:cNvSpPr/>
            <p:nvPr/>
          </p:nvSpPr>
          <p:spPr>
            <a:xfrm>
              <a:off x="98673" y="631399"/>
              <a:ext cx="3478836" cy="3488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000000"/>
                </a:buClr>
                <a:buFont typeface="Helvetica"/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ype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II       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         -60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120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    80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</a:p>
          </p:txBody>
        </p:sp>
        <p:sp>
          <p:nvSpPr>
            <p:cNvPr id="239" name="Shape 239"/>
            <p:cNvSpPr/>
            <p:nvPr/>
          </p:nvSpPr>
          <p:spPr>
            <a:xfrm>
              <a:off x="18104" y="4762"/>
              <a:ext cx="3786751" cy="100793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841487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 advAuto="0"/>
      <p:bldP spid="230" grpId="0" animBg="1" advAuto="0"/>
      <p:bldP spid="235" grpId="0" animBg="1" advAuto="0"/>
      <p:bldP spid="240" grpId="0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/>
          </p:cNvSpPr>
          <p:nvPr>
            <p:ph type="title"/>
          </p:nvPr>
        </p:nvSpPr>
        <p:spPr>
          <a:xfrm>
            <a:off x="2324100" y="-41190"/>
            <a:ext cx="6562130" cy="358776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>
              <a:defRPr sz="1800" b="0">
                <a:uFillTx/>
              </a:defRPr>
            </a:pP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“S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pecial” secondary structure</a:t>
            </a: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: C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ollagen</a:t>
            </a:r>
          </a:p>
        </p:txBody>
      </p:sp>
      <p:grpSp>
        <p:nvGrpSpPr>
          <p:cNvPr id="248" name="Group 248"/>
          <p:cNvGrpSpPr/>
          <p:nvPr/>
        </p:nvGrpSpPr>
        <p:grpSpPr>
          <a:xfrm>
            <a:off x="4712146" y="5631134"/>
            <a:ext cx="4584700" cy="492443"/>
            <a:chOff x="0" y="0"/>
            <a:chExt cx="4584700" cy="492442"/>
          </a:xfrm>
        </p:grpSpPr>
        <p:sp>
          <p:nvSpPr>
            <p:cNvPr id="246" name="Shape 246"/>
            <p:cNvSpPr/>
            <p:nvPr/>
          </p:nvSpPr>
          <p:spPr>
            <a:xfrm>
              <a:off x="0" y="0"/>
              <a:ext cx="4584700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40640" lvl="0">
                <a:spcBef>
                  <a:spcPts val="900"/>
                </a:spcBef>
                <a:buClr>
                  <a:schemeClr val="tx1"/>
                </a:buClr>
                <a:buSzPct val="100000"/>
                <a:buFont typeface="Helvetica"/>
                <a:buChar char="•"/>
                <a:defRPr sz="1800" b="0"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H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eat collagen dry to 63</a:t>
              </a:r>
              <a:r>
                <a:rPr lang="en-US" sz="1600" b="0" baseline="35999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C, chains come apart              	1st degree burn (sunburn)</a:t>
              </a:r>
            </a:p>
          </p:txBody>
        </p:sp>
        <p:sp>
          <p:nvSpPr>
            <p:cNvPr id="247" name="Shape 247"/>
            <p:cNvSpPr/>
            <p:nvPr/>
          </p:nvSpPr>
          <p:spPr>
            <a:xfrm flipV="1">
              <a:off x="375241" y="387280"/>
              <a:ext cx="417067" cy="1726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buClr>
                  <a:schemeClr val="tx1"/>
                </a:buClr>
                <a:defRPr sz="1200" b="0">
                  <a:uFillTx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50" name="Shape 250"/>
          <p:cNvSpPr/>
          <p:nvPr/>
        </p:nvSpPr>
        <p:spPr>
          <a:xfrm>
            <a:off x="-12700" y="0"/>
            <a:ext cx="1498601" cy="2921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54" name="Group 254"/>
          <p:cNvGrpSpPr/>
          <p:nvPr/>
        </p:nvGrpSpPr>
        <p:grpSpPr>
          <a:xfrm>
            <a:off x="0" y="473075"/>
            <a:ext cx="1562100" cy="3870325"/>
            <a:chOff x="0" y="0"/>
            <a:chExt cx="1562100" cy="3870325"/>
          </a:xfrm>
        </p:grpSpPr>
        <p:pic>
          <p:nvPicPr>
            <p:cNvPr id="251" name="image.pdf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08025" y="0"/>
              <a:ext cx="854075" cy="38703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2" name="image.pdf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84137"/>
              <a:ext cx="584200" cy="37163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3" name="Shape 253"/>
            <p:cNvSpPr/>
            <p:nvPr/>
          </p:nvSpPr>
          <p:spPr>
            <a:xfrm>
              <a:off x="409575" y="1295400"/>
              <a:ext cx="546100" cy="492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900"/>
                </a:spcBef>
                <a:buClr>
                  <a:srgbClr val="000000"/>
                </a:buClr>
                <a:buFont typeface="Helvetica"/>
                <a:defRPr sz="3200"/>
              </a:lvl1pPr>
            </a:lstStyle>
            <a:p>
              <a:pPr lvl="0">
                <a:defRPr sz="1800" b="0">
                  <a:uFillTx/>
                </a:defRPr>
              </a:pPr>
              <a:r>
                <a:rPr sz="32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=</a:t>
              </a:r>
            </a:p>
          </p:txBody>
        </p:sp>
      </p:grpSp>
      <p:sp>
        <p:nvSpPr>
          <p:cNvPr id="255" name="Shape 255"/>
          <p:cNvSpPr/>
          <p:nvPr/>
        </p:nvSpPr>
        <p:spPr>
          <a:xfrm>
            <a:off x="-36037" y="-10880"/>
            <a:ext cx="302612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8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(G</a:t>
            </a:r>
            <a:r>
              <a:rPr lang="en-US"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ly</a:t>
            </a:r>
            <a:r>
              <a:rPr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-P</a:t>
            </a:r>
            <a:r>
              <a:rPr lang="en-US"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</a:t>
            </a:r>
            <a:r>
              <a:rPr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-P</a:t>
            </a:r>
            <a:r>
              <a:rPr lang="en-US"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ro)</a:t>
            </a:r>
            <a:r>
              <a:rPr lang="en-US" sz="1600" b="0" baseline="-14999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</a:t>
            </a:r>
            <a:r>
              <a:rPr lang="en-US"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= artificial collagen </a:t>
            </a:r>
            <a:endParaRPr sz="1600" b="0" dirty="0">
              <a:solidFill>
                <a:srgbClr val="1855FF"/>
              </a:solidFill>
              <a:uFill>
                <a:solidFill/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58" name="Group 258"/>
          <p:cNvGrpSpPr/>
          <p:nvPr/>
        </p:nvGrpSpPr>
        <p:grpSpPr>
          <a:xfrm>
            <a:off x="0" y="4902200"/>
            <a:ext cx="2163763" cy="1651000"/>
            <a:chOff x="0" y="0"/>
            <a:chExt cx="2163762" cy="1651000"/>
          </a:xfrm>
        </p:grpSpPr>
        <p:pic>
          <p:nvPicPr>
            <p:cNvPr id="256" name="image.pdf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2163763" cy="1651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7" name="Shape 257"/>
            <p:cNvSpPr/>
            <p:nvPr/>
          </p:nvSpPr>
          <p:spPr>
            <a:xfrm>
              <a:off x="1127125" y="890587"/>
              <a:ext cx="296863" cy="58738"/>
            </a:xfrm>
            <a:prstGeom prst="line">
              <a:avLst/>
            </a:prstGeom>
            <a:noFill/>
            <a:ln w="57150" cap="flat">
              <a:solidFill>
                <a:srgbClr val="000000"/>
              </a:solidFill>
              <a:prstDash val="sysDot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 b="0">
                  <a:uFillTx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59" name="Shape 259"/>
          <p:cNvSpPr/>
          <p:nvPr/>
        </p:nvSpPr>
        <p:spPr>
          <a:xfrm>
            <a:off x="1981200" y="5410200"/>
            <a:ext cx="11557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E31E3"/>
              </a:buClr>
              <a:buFont typeface="Helvetica"/>
              <a:defRPr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G</a:t>
            </a:r>
            <a:r>
              <a:rPr lang="en-US" sz="1600" b="0" dirty="0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ly</a:t>
            </a:r>
            <a:r>
              <a:rPr sz="1600" b="0" dirty="0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NH</a:t>
            </a:r>
          </a:p>
        </p:txBody>
      </p:sp>
      <p:sp>
        <p:nvSpPr>
          <p:cNvPr id="260" name="Shape 260"/>
          <p:cNvSpPr/>
          <p:nvPr/>
        </p:nvSpPr>
        <p:spPr>
          <a:xfrm flipH="1">
            <a:off x="1660525" y="5591175"/>
            <a:ext cx="390525" cy="184150"/>
          </a:xfrm>
          <a:prstGeom prst="line">
            <a:avLst/>
          </a:prstGeom>
          <a:ln w="19050">
            <a:solidFill>
              <a:srgbClr val="1E31E3"/>
            </a:solidFill>
            <a:round/>
            <a:tailEnd type="triangle"/>
          </a:ln>
        </p:spPr>
        <p:txBody>
          <a:bodyPr lIns="0" tIns="0" rIns="0" bIns="0"/>
          <a:lstStyle/>
          <a:p>
            <a:pPr marL="0" marR="0" lvl="0" defTabSz="457200">
              <a:defRPr sz="1200" b="0">
                <a:uFillTx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61" name="Shape 261"/>
          <p:cNvSpPr/>
          <p:nvPr/>
        </p:nvSpPr>
        <p:spPr>
          <a:xfrm>
            <a:off x="1562100" y="3693494"/>
            <a:ext cx="683895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M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any chem. </a:t>
            </a:r>
            <a:r>
              <a:rPr lang="en-US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odifications</a:t>
            </a:r>
            <a:r>
              <a:rPr lang="el-GR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connected to later cross-linking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                  </a:t>
            </a:r>
            <a:r>
              <a:rPr lang="en-US" sz="1600" b="0" dirty="0" err="1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hydroxy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-Pro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and hydroxy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-L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ys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;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glucose and galactose then added to hydroxy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-L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ys</a:t>
            </a:r>
          </a:p>
        </p:txBody>
      </p:sp>
      <p:grpSp>
        <p:nvGrpSpPr>
          <p:cNvPr id="284" name="Group 284"/>
          <p:cNvGrpSpPr/>
          <p:nvPr/>
        </p:nvGrpSpPr>
        <p:grpSpPr>
          <a:xfrm>
            <a:off x="5616575" y="2726963"/>
            <a:ext cx="3352065" cy="923470"/>
            <a:chOff x="0" y="0"/>
            <a:chExt cx="3352064" cy="923469"/>
          </a:xfrm>
        </p:grpSpPr>
        <p:grpSp>
          <p:nvGrpSpPr>
            <p:cNvPr id="274" name="Group 274"/>
            <p:cNvGrpSpPr/>
            <p:nvPr/>
          </p:nvGrpSpPr>
          <p:grpSpPr>
            <a:xfrm>
              <a:off x="0" y="0"/>
              <a:ext cx="1185864" cy="923469"/>
              <a:chOff x="0" y="0"/>
              <a:chExt cx="1185863" cy="923469"/>
            </a:xfrm>
          </p:grpSpPr>
          <p:sp>
            <p:nvSpPr>
              <p:cNvPr id="262" name="Shape 262"/>
              <p:cNvSpPr/>
              <p:nvPr/>
            </p:nvSpPr>
            <p:spPr>
              <a:xfrm>
                <a:off x="247650" y="0"/>
                <a:ext cx="622300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700"/>
                  </a:spcBef>
                  <a:buClr>
                    <a:srgbClr val="FF28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solidFill>
                      <a:srgbClr val="FF2800"/>
                    </a:solidFill>
                    <a:uFill>
                      <a:solidFill>
                        <a:srgbClr val="FF2800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O</a:t>
                </a: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H</a:t>
                </a:r>
              </a:p>
            </p:txBody>
          </p:sp>
          <p:sp>
            <p:nvSpPr>
              <p:cNvPr id="263" name="Shape 263"/>
              <p:cNvSpPr/>
              <p:nvPr/>
            </p:nvSpPr>
            <p:spPr>
              <a:xfrm>
                <a:off x="250825" y="228600"/>
                <a:ext cx="546100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Font typeface="Helvetica"/>
                  <a:defRPr sz="1200"/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</a:p>
            </p:txBody>
          </p:sp>
          <p:sp>
            <p:nvSpPr>
              <p:cNvPr id="264" name="Shape 264"/>
              <p:cNvSpPr/>
              <p:nvPr/>
            </p:nvSpPr>
            <p:spPr>
              <a:xfrm>
                <a:off x="563562" y="422275"/>
                <a:ext cx="622301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700"/>
                  </a:spcBef>
                  <a:buClr>
                    <a:srgbClr val="0000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2</a:t>
                </a:r>
              </a:p>
            </p:txBody>
          </p:sp>
          <p:sp>
            <p:nvSpPr>
              <p:cNvPr id="265" name="Shape 265"/>
              <p:cNvSpPr/>
              <p:nvPr/>
            </p:nvSpPr>
            <p:spPr>
              <a:xfrm>
                <a:off x="0" y="444500"/>
                <a:ext cx="372218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/>
              <a:p>
                <a:pPr lvl="0">
                  <a:buClr>
                    <a:srgbClr val="0000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2</a:t>
                </a:r>
              </a:p>
            </p:txBody>
          </p:sp>
          <p:sp>
            <p:nvSpPr>
              <p:cNvPr id="266" name="Shape 266"/>
              <p:cNvSpPr/>
              <p:nvPr/>
            </p:nvSpPr>
            <p:spPr>
              <a:xfrm>
                <a:off x="465137" y="708025"/>
                <a:ext cx="546101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Font typeface="Helvetica"/>
                  <a:defRPr sz="1200"/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200" b="0" dirty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</a:p>
            </p:txBody>
          </p:sp>
          <p:sp>
            <p:nvSpPr>
              <p:cNvPr id="267" name="Shape 267"/>
              <p:cNvSpPr/>
              <p:nvPr/>
            </p:nvSpPr>
            <p:spPr>
              <a:xfrm>
                <a:off x="138112" y="708025"/>
                <a:ext cx="546101" cy="21544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800"/>
                  </a:spcBef>
                  <a:buClr>
                    <a:srgbClr val="1E31E3"/>
                  </a:buClr>
                  <a:buFont typeface="Helvetica"/>
                  <a:defRPr sz="1400">
                    <a:solidFill>
                      <a:srgbClr val="1E31E3"/>
                    </a:solidFill>
                    <a:uFill>
                      <a:solidFill>
                        <a:srgbClr val="1E31E3"/>
                      </a:solidFill>
                    </a:u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  <a:uFillTx/>
                  </a:defRPr>
                </a:pPr>
                <a:r>
                  <a:rPr sz="1400" b="0">
                    <a:solidFill>
                      <a:srgbClr val="1E31E3"/>
                    </a:solidFill>
                    <a:uFill>
                      <a:solidFill>
                        <a:srgbClr val="1E31E3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N</a:t>
                </a:r>
              </a:p>
            </p:txBody>
          </p:sp>
          <p:sp>
            <p:nvSpPr>
              <p:cNvPr id="268" name="Shape 268"/>
              <p:cNvSpPr/>
              <p:nvPr/>
            </p:nvSpPr>
            <p:spPr>
              <a:xfrm flipH="1">
                <a:off x="600075" y="588962"/>
                <a:ext cx="50800" cy="13652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69" name="Shape 269"/>
              <p:cNvSpPr/>
              <p:nvPr/>
            </p:nvSpPr>
            <p:spPr>
              <a:xfrm flipV="1">
                <a:off x="321519" y="816489"/>
                <a:ext cx="184150" cy="635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70" name="Shape 270"/>
              <p:cNvSpPr/>
              <p:nvPr/>
            </p:nvSpPr>
            <p:spPr>
              <a:xfrm>
                <a:off x="117475" y="611187"/>
                <a:ext cx="88900" cy="12700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71" name="Shape 271"/>
              <p:cNvSpPr/>
              <p:nvPr/>
            </p:nvSpPr>
            <p:spPr>
              <a:xfrm flipV="1">
                <a:off x="146050" y="366712"/>
                <a:ext cx="155575" cy="10160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72" name="Shape 272"/>
              <p:cNvSpPr/>
              <p:nvPr/>
            </p:nvSpPr>
            <p:spPr>
              <a:xfrm>
                <a:off x="511175" y="373062"/>
                <a:ext cx="111125" cy="9525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73" name="Shape 273"/>
              <p:cNvSpPr/>
              <p:nvPr/>
            </p:nvSpPr>
            <p:spPr>
              <a:xfrm>
                <a:off x="393700" y="204787"/>
                <a:ext cx="1588" cy="8890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283" name="Group 283"/>
            <p:cNvGrpSpPr/>
            <p:nvPr/>
          </p:nvGrpSpPr>
          <p:grpSpPr>
            <a:xfrm>
              <a:off x="1838325" y="447675"/>
              <a:ext cx="1513739" cy="375166"/>
              <a:chOff x="0" y="0"/>
              <a:chExt cx="1513738" cy="375165"/>
            </a:xfrm>
          </p:grpSpPr>
          <p:sp>
            <p:nvSpPr>
              <p:cNvPr id="275" name="Shape 275"/>
              <p:cNvSpPr/>
              <p:nvPr/>
            </p:nvSpPr>
            <p:spPr>
              <a:xfrm>
                <a:off x="0" y="190500"/>
                <a:ext cx="372218" cy="18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/>
              <a:p>
                <a:pPr lvl="0">
                  <a:buClr>
                    <a:srgbClr val="0000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2</a:t>
                </a:r>
              </a:p>
            </p:txBody>
          </p:sp>
          <p:sp>
            <p:nvSpPr>
              <p:cNvPr id="276" name="Shape 276"/>
              <p:cNvSpPr/>
              <p:nvPr/>
            </p:nvSpPr>
            <p:spPr>
              <a:xfrm>
                <a:off x="304800" y="190500"/>
                <a:ext cx="372218" cy="18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/>
              <a:p>
                <a:pPr lvl="0">
                  <a:buClr>
                    <a:srgbClr val="0000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2</a:t>
                </a:r>
              </a:p>
            </p:txBody>
          </p:sp>
          <p:sp>
            <p:nvSpPr>
              <p:cNvPr id="277" name="Shape 277"/>
              <p:cNvSpPr/>
              <p:nvPr/>
            </p:nvSpPr>
            <p:spPr>
              <a:xfrm>
                <a:off x="609600" y="190500"/>
                <a:ext cx="303288" cy="18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buClr>
                    <a:srgbClr val="000000"/>
                  </a:buClr>
                  <a:buFont typeface="Helvetica"/>
                  <a:defRPr sz="1200"/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</a:p>
            </p:txBody>
          </p:sp>
          <p:sp>
            <p:nvSpPr>
              <p:cNvPr id="278" name="Shape 278"/>
              <p:cNvSpPr/>
              <p:nvPr/>
            </p:nvSpPr>
            <p:spPr>
              <a:xfrm>
                <a:off x="831850" y="190500"/>
                <a:ext cx="372218" cy="18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/>
              <a:p>
                <a:pPr lvl="0">
                  <a:buClr>
                    <a:srgbClr val="0000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2</a:t>
                </a:r>
              </a:p>
            </p:txBody>
          </p:sp>
          <p:sp>
            <p:nvSpPr>
              <p:cNvPr id="279" name="Shape 279"/>
              <p:cNvSpPr/>
              <p:nvPr/>
            </p:nvSpPr>
            <p:spPr>
              <a:xfrm>
                <a:off x="1130300" y="184150"/>
                <a:ext cx="383438" cy="18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/>
              <a:p>
                <a:pPr lvl="0">
                  <a:buClr>
                    <a:srgbClr val="1E31E3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solidFill>
                      <a:srgbClr val="1E31E3"/>
                    </a:solidFill>
                    <a:uFill>
                      <a:solidFill>
                        <a:srgbClr val="1E31E3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N</a:t>
                </a: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3</a:t>
                </a:r>
              </a:p>
            </p:txBody>
          </p:sp>
          <p:sp>
            <p:nvSpPr>
              <p:cNvPr id="280" name="Shape 280"/>
              <p:cNvSpPr/>
              <p:nvPr/>
            </p:nvSpPr>
            <p:spPr>
              <a:xfrm>
                <a:off x="603250" y="0"/>
                <a:ext cx="546100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700"/>
                  </a:spcBef>
                  <a:buClr>
                    <a:srgbClr val="FF28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solidFill>
                      <a:srgbClr val="FF2800"/>
                    </a:solidFill>
                    <a:uFill>
                      <a:solidFill>
                        <a:srgbClr val="FF2800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O</a:t>
                </a: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H</a:t>
                </a:r>
              </a:p>
            </p:txBody>
          </p:sp>
          <p:sp>
            <p:nvSpPr>
              <p:cNvPr id="281" name="Shape 281"/>
              <p:cNvSpPr/>
              <p:nvPr/>
            </p:nvSpPr>
            <p:spPr>
              <a:xfrm>
                <a:off x="711200" y="161926"/>
                <a:ext cx="1588" cy="603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82" name="Shape 282"/>
              <p:cNvSpPr/>
              <p:nvPr/>
            </p:nvSpPr>
            <p:spPr>
              <a:xfrm>
                <a:off x="1209675" y="42180"/>
                <a:ext cx="241300" cy="215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800"/>
                  </a:spcBef>
                  <a:buClr>
                    <a:srgbClr val="1E31E3"/>
                  </a:buClr>
                  <a:buFont typeface="Helvetica"/>
                  <a:defRPr sz="1400">
                    <a:solidFill>
                      <a:srgbClr val="1E31E3"/>
                    </a:solidFill>
                    <a:uFill>
                      <a:solidFill>
                        <a:srgbClr val="1E31E3"/>
                      </a:solidFill>
                    </a:u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  <a:uFillTx/>
                  </a:defRPr>
                </a:pPr>
                <a:r>
                  <a:rPr sz="1400" b="0" dirty="0">
                    <a:solidFill>
                      <a:srgbClr val="1E31E3"/>
                    </a:solidFill>
                    <a:uFill>
                      <a:solidFill>
                        <a:srgbClr val="1E31E3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+</a:t>
                </a:r>
              </a:p>
            </p:txBody>
          </p:sp>
        </p:grpSp>
      </p:grpSp>
      <p:sp>
        <p:nvSpPr>
          <p:cNvPr id="285" name="Shape 285"/>
          <p:cNvSpPr/>
          <p:nvPr/>
        </p:nvSpPr>
        <p:spPr>
          <a:xfrm>
            <a:off x="1533520" y="467175"/>
            <a:ext cx="1367622" cy="256032"/>
          </a:xfrm>
          <a:prstGeom prst="rect">
            <a:avLst/>
          </a:prstGeom>
          <a:ln w="19050">
            <a:solidFill>
              <a:srgbClr val="1E31E3"/>
            </a:solidFill>
            <a:prstDash val="sysDot"/>
            <a:miter lim="400000"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86" name="Shape 286"/>
          <p:cNvSpPr/>
          <p:nvPr/>
        </p:nvSpPr>
        <p:spPr>
          <a:xfrm>
            <a:off x="1518224" y="2372951"/>
            <a:ext cx="254301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riple helix: tropocollagen</a:t>
            </a:r>
            <a:endParaRPr sz="1600" b="0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87" name="Shape 287"/>
          <p:cNvSpPr/>
          <p:nvPr/>
        </p:nvSpPr>
        <p:spPr>
          <a:xfrm>
            <a:off x="1458850" y="1760380"/>
            <a:ext cx="76962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M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ost abundant protein in mammals!  30% total body protein; found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outside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of cells: skin, tendon, bone, blood vessels, cornea; a main component of extracellular matrix </a:t>
            </a:r>
          </a:p>
        </p:txBody>
      </p:sp>
      <p:sp>
        <p:nvSpPr>
          <p:cNvPr id="288" name="Shape 288"/>
          <p:cNvSpPr/>
          <p:nvPr/>
        </p:nvSpPr>
        <p:spPr>
          <a:xfrm>
            <a:off x="1422400" y="790575"/>
            <a:ext cx="4432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I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 fish scales, animal hides (skin)</a:t>
            </a:r>
          </a:p>
        </p:txBody>
      </p:sp>
      <p:sp>
        <p:nvSpPr>
          <p:cNvPr id="289" name="Shape 289"/>
          <p:cNvSpPr/>
          <p:nvPr/>
        </p:nvSpPr>
        <p:spPr>
          <a:xfrm>
            <a:off x="1413933" y="469899"/>
            <a:ext cx="583001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R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epeating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 Φ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,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Ψ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= -60</a:t>
            </a:r>
            <a:r>
              <a:rPr sz="1600" b="0" baseline="35999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, +140</a:t>
            </a:r>
            <a:r>
              <a:rPr sz="1600" b="0" baseline="35999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(similar to </a:t>
            </a:r>
            <a:r>
              <a:rPr lang="en-US" sz="160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polyproline type 2  helix!)</a:t>
            </a:r>
            <a:endParaRPr sz="1600" baseline="35999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90" name="Shape 290"/>
          <p:cNvSpPr/>
          <p:nvPr/>
        </p:nvSpPr>
        <p:spPr>
          <a:xfrm>
            <a:off x="1530925" y="2677751"/>
            <a:ext cx="45085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O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nly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G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ly can fit in center of triple helix!  </a:t>
            </a:r>
            <a:endParaRPr sz="1600" b="0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91" name="Shape 291"/>
          <p:cNvSpPr/>
          <p:nvPr/>
        </p:nvSpPr>
        <p:spPr>
          <a:xfrm>
            <a:off x="1447800" y="3189379"/>
            <a:ext cx="4432300" cy="607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P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ro fits well with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,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Ψ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= -60</a:t>
            </a:r>
            <a:r>
              <a:rPr sz="1600" b="0" baseline="35999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, +140</a:t>
            </a:r>
            <a:r>
              <a:rPr sz="1600" b="0" baseline="35999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</a:t>
            </a:r>
          </a:p>
          <a:p>
            <a:pPr lvl="0">
              <a:spcBef>
                <a:spcPts val="900"/>
              </a:spcBef>
              <a:buClr>
                <a:schemeClr val="tx1"/>
              </a:buClr>
              <a:buFont typeface="Helvetica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</a:p>
        </p:txBody>
      </p:sp>
      <p:grpSp>
        <p:nvGrpSpPr>
          <p:cNvPr id="294" name="Group 294"/>
          <p:cNvGrpSpPr/>
          <p:nvPr/>
        </p:nvGrpSpPr>
        <p:grpSpPr>
          <a:xfrm>
            <a:off x="1447800" y="4354151"/>
            <a:ext cx="5499100" cy="492443"/>
            <a:chOff x="0" y="0"/>
            <a:chExt cx="5499100" cy="492443"/>
          </a:xfrm>
        </p:grpSpPr>
        <p:sp>
          <p:nvSpPr>
            <p:cNvPr id="292" name="Shape 292"/>
            <p:cNvSpPr/>
            <p:nvPr/>
          </p:nvSpPr>
          <p:spPr>
            <a:xfrm>
              <a:off x="0" y="0"/>
              <a:ext cx="5499100" cy="492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40640">
                <a:spcBef>
                  <a:spcPts val="900"/>
                </a:spcBef>
                <a:buClr>
                  <a:srgbClr val="DD33C5"/>
                </a:buClr>
                <a:buSzPct val="100000"/>
                <a:buFont typeface="Helvetica"/>
                <a:buChar char="•"/>
                <a:defRPr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pPr lvl="0">
                <a:buClr>
                  <a:schemeClr val="tx1"/>
                </a:buClr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“I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mmature” form of collagen secreted from cells.  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utside cell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, L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ys is oxidized and cross-linked                  insoluble fiber </a:t>
              </a:r>
              <a:endPara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93" name="Shape 293"/>
            <p:cNvSpPr/>
            <p:nvPr/>
          </p:nvSpPr>
          <p:spPr>
            <a:xfrm>
              <a:off x="2728937" y="372611"/>
              <a:ext cx="838200" cy="1588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buClr>
                  <a:schemeClr val="tx1"/>
                </a:buClr>
                <a:defRPr sz="1200" b="0">
                  <a:uFillTx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49" name="Shape 249"/>
          <p:cNvSpPr/>
          <p:nvPr/>
        </p:nvSpPr>
        <p:spPr>
          <a:xfrm>
            <a:off x="264582" y="6143685"/>
            <a:ext cx="2298702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700"/>
              </a:spcBef>
              <a:buClr>
                <a:srgbClr val="000000"/>
              </a:buClr>
              <a:buFont typeface="Helvetica"/>
              <a:defRPr sz="1200"/>
            </a:lvl1pPr>
          </a:lstStyle>
          <a:p>
            <a:pPr lvl="0">
              <a:defRPr sz="1800" b="0">
                <a:uFillTx/>
              </a:defRPr>
            </a:pPr>
            <a:r>
              <a:rPr sz="1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sz="1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nside the triple helix</a:t>
            </a:r>
          </a:p>
        </p:txBody>
      </p:sp>
      <p:sp>
        <p:nvSpPr>
          <p:cNvPr id="55" name="Shape 286"/>
          <p:cNvSpPr/>
          <p:nvPr/>
        </p:nvSpPr>
        <p:spPr>
          <a:xfrm>
            <a:off x="4096431" y="2377721"/>
            <a:ext cx="254301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buNone/>
              <a:defRPr sz="1800" b="0">
                <a:solidFill>
                  <a:srgbClr val="000000"/>
                </a:solidFill>
                <a:uFillTx/>
              </a:defRPr>
            </a:pPr>
            <a:r>
              <a:rPr lang="en-US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NOT an </a:t>
            </a:r>
            <a:r>
              <a:rPr lang="el-GR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α</a:t>
            </a:r>
            <a:r>
              <a:rPr lang="en-US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-helix!</a:t>
            </a:r>
            <a:endParaRPr sz="1600" b="0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45" name="Group 245"/>
          <p:cNvGrpSpPr/>
          <p:nvPr/>
        </p:nvGrpSpPr>
        <p:grpSpPr>
          <a:xfrm>
            <a:off x="1413933" y="1042631"/>
            <a:ext cx="7696200" cy="880801"/>
            <a:chOff x="567606" y="-24198"/>
            <a:chExt cx="4444555" cy="880799"/>
          </a:xfrm>
        </p:grpSpPr>
        <p:sp>
          <p:nvSpPr>
            <p:cNvPr id="243" name="Shape 243"/>
            <p:cNvSpPr/>
            <p:nvPr/>
          </p:nvSpPr>
          <p:spPr>
            <a:xfrm>
              <a:off x="567606" y="-24198"/>
              <a:ext cx="4444555" cy="8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40640">
                <a:spcBef>
                  <a:spcPts val="900"/>
                </a:spcBef>
                <a:buClr>
                  <a:srgbClr val="DD33C5"/>
                </a:buClr>
                <a:buSzPct val="100000"/>
                <a:buFont typeface="Helvetica"/>
                <a:buChar char="•"/>
                <a:defRPr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pPr lvl="0">
                <a:buClr>
                  <a:schemeClr val="tx1"/>
                </a:buClr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H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eat collagen in water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: </a:t>
              </a:r>
              <a:endPara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  <a:p>
              <a:pPr lvl="1">
                <a:buClr>
                  <a:schemeClr val="tx1"/>
                </a:buClr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C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hains come apart and make lots of 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H-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bonds with water             gelatin</a:t>
              </a:r>
            </a:p>
          </p:txBody>
        </p:sp>
        <p:sp>
          <p:nvSpPr>
            <p:cNvPr id="244" name="Shape 244"/>
            <p:cNvSpPr/>
            <p:nvPr/>
          </p:nvSpPr>
          <p:spPr>
            <a:xfrm flipV="1">
              <a:off x="3523247" y="363510"/>
              <a:ext cx="333429" cy="7274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buClr>
                  <a:schemeClr val="tx1"/>
                </a:buClr>
                <a:defRPr sz="1200" b="0">
                  <a:uFillTx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961050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" grpId="0" advAuto="0"/>
      <p:bldP spid="261" grpId="0" animBg="1" advAuto="0"/>
      <p:bldP spid="284" grpId="0" animBg="1" advAuto="0"/>
      <p:bldP spid="285" grpId="0" animBg="1" advAuto="0"/>
      <p:bldP spid="286" grpId="0" animBg="1" advAuto="0"/>
      <p:bldP spid="287" grpId="0" animBg="1" advAuto="0"/>
      <p:bldP spid="288" grpId="0" animBg="1" advAuto="0"/>
      <p:bldP spid="289" grpId="0" animBg="1" advAuto="0"/>
      <p:bldP spid="290" grpId="0" animBg="1" advAuto="0"/>
      <p:bldP spid="291" grpId="0" animBg="1" advAuto="0"/>
      <p:bldP spid="294" grpId="0" advAuto="0"/>
      <p:bldP spid="55" grpId="1" animBg="1"/>
      <p:bldP spid="245" grpId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/>
          <p:nvPr/>
        </p:nvSpPr>
        <p:spPr>
          <a:xfrm>
            <a:off x="6257817" y="4616764"/>
            <a:ext cx="374650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800"/>
              </a:spcBef>
              <a:buClr>
                <a:srgbClr val="DD33C5"/>
              </a:buClr>
              <a:buFont typeface="Helvetica"/>
              <a:defRPr sz="1400"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r>
              <a: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ost simple collagen crosslink</a:t>
            </a:r>
            <a:r>
              <a:rPr lang="en-US" b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98" name="Shape 398"/>
          <p:cNvSpPr/>
          <p:nvPr/>
        </p:nvSpPr>
        <p:spPr>
          <a:xfrm>
            <a:off x="5552016" y="121246"/>
            <a:ext cx="363855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>
              <a:defRPr sz="1400"/>
            </a:lvl1pPr>
          </a:lstStyle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056" y="4988258"/>
            <a:ext cx="2744470" cy="1220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3678" y="0"/>
            <a:ext cx="2526889" cy="62581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Collagen synthesis      </a:t>
            </a:r>
            <a:r>
              <a:rPr kumimoji="0" lang="en-US" sz="14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and how it gets outside the cell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580882-0C81-704F-916E-0E6E53076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31" y="0"/>
            <a:ext cx="6309360" cy="4927414"/>
          </a:xfrm>
          <a:prstGeom prst="rect">
            <a:avLst/>
          </a:prstGeom>
        </p:spPr>
      </p:pic>
      <p:sp>
        <p:nvSpPr>
          <p:cNvPr id="390" name="Shape 390"/>
          <p:cNvSpPr/>
          <p:nvPr/>
        </p:nvSpPr>
        <p:spPr>
          <a:xfrm>
            <a:off x="2758133" y="662523"/>
            <a:ext cx="1155700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LUMEN OF SMOOTH ER</a:t>
            </a:r>
          </a:p>
        </p:txBody>
      </p:sp>
      <p:sp>
        <p:nvSpPr>
          <p:cNvPr id="391" name="Shape 391"/>
          <p:cNvSpPr/>
          <p:nvPr/>
        </p:nvSpPr>
        <p:spPr>
          <a:xfrm>
            <a:off x="4329450" y="916388"/>
            <a:ext cx="6985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SUGAR</a:t>
            </a:r>
            <a:r>
              <a:rPr lang="en-US"/>
              <a:t>S</a:t>
            </a:r>
            <a:endParaRPr/>
          </a:p>
        </p:txBody>
      </p:sp>
      <p:sp>
        <p:nvSpPr>
          <p:cNvPr id="392" name="Shape 392"/>
          <p:cNvSpPr/>
          <p:nvPr/>
        </p:nvSpPr>
        <p:spPr>
          <a:xfrm>
            <a:off x="2312771" y="1351045"/>
            <a:ext cx="774700" cy="355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TRANSFER VESICLE</a:t>
            </a:r>
          </a:p>
        </p:txBody>
      </p:sp>
      <p:sp>
        <p:nvSpPr>
          <p:cNvPr id="393" name="Shape 393"/>
          <p:cNvSpPr/>
          <p:nvPr/>
        </p:nvSpPr>
        <p:spPr>
          <a:xfrm>
            <a:off x="2706667" y="1732305"/>
            <a:ext cx="10795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LUMEN OF GOLGI</a:t>
            </a:r>
          </a:p>
        </p:txBody>
      </p:sp>
      <p:sp>
        <p:nvSpPr>
          <p:cNvPr id="394" name="Shape 394"/>
          <p:cNvSpPr/>
          <p:nvPr/>
        </p:nvSpPr>
        <p:spPr>
          <a:xfrm>
            <a:off x="3061252" y="2881473"/>
            <a:ext cx="1079500" cy="355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SECRETORY VESICLES</a:t>
            </a:r>
          </a:p>
        </p:txBody>
      </p:sp>
      <p:sp>
        <p:nvSpPr>
          <p:cNvPr id="395" name="Shape 395"/>
          <p:cNvSpPr/>
          <p:nvPr/>
        </p:nvSpPr>
        <p:spPr>
          <a:xfrm>
            <a:off x="3903106" y="2041824"/>
            <a:ext cx="12319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PROCOLLAGEN</a:t>
            </a:r>
          </a:p>
        </p:txBody>
      </p:sp>
      <p:sp>
        <p:nvSpPr>
          <p:cNvPr id="396" name="Shape 396"/>
          <p:cNvSpPr/>
          <p:nvPr/>
        </p:nvSpPr>
        <p:spPr>
          <a:xfrm>
            <a:off x="2470305" y="3261820"/>
            <a:ext cx="19177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PLASMA MEMBRANE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90CEA2-5AFF-1D4B-AD5F-C74B4437F963}"/>
              </a:ext>
            </a:extLst>
          </p:cNvPr>
          <p:cNvSpPr/>
          <p:nvPr/>
        </p:nvSpPr>
        <p:spPr>
          <a:xfrm>
            <a:off x="3061252" y="1018124"/>
            <a:ext cx="166978" cy="126864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E87122-9431-E84B-B403-3BEA197553DE}"/>
              </a:ext>
            </a:extLst>
          </p:cNvPr>
          <p:cNvCxnSpPr>
            <a:cxnSpLocks/>
          </p:cNvCxnSpPr>
          <p:nvPr/>
        </p:nvCxnSpPr>
        <p:spPr>
          <a:xfrm flipH="1">
            <a:off x="4237463" y="1023700"/>
            <a:ext cx="150542" cy="102573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DF029B3-34A6-7C4C-B3FB-F49757F59A39}"/>
              </a:ext>
            </a:extLst>
          </p:cNvPr>
          <p:cNvCxnSpPr>
            <a:cxnSpLocks/>
          </p:cNvCxnSpPr>
          <p:nvPr/>
        </p:nvCxnSpPr>
        <p:spPr>
          <a:xfrm flipH="1">
            <a:off x="4438185" y="1071126"/>
            <a:ext cx="172430" cy="188962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A99A52B-D76B-044E-8D50-55FA27F66636}"/>
              </a:ext>
            </a:extLst>
          </p:cNvPr>
          <p:cNvCxnSpPr>
            <a:cxnSpLocks/>
          </p:cNvCxnSpPr>
          <p:nvPr/>
        </p:nvCxnSpPr>
        <p:spPr>
          <a:xfrm flipH="1">
            <a:off x="2041597" y="1434364"/>
            <a:ext cx="357389" cy="94481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9CBE09E-90B0-434A-966C-796839D0DD55}"/>
              </a:ext>
            </a:extLst>
          </p:cNvPr>
          <p:cNvCxnSpPr>
            <a:cxnSpLocks/>
          </p:cNvCxnSpPr>
          <p:nvPr/>
        </p:nvCxnSpPr>
        <p:spPr>
          <a:xfrm flipH="1">
            <a:off x="2296766" y="1481604"/>
            <a:ext cx="102220" cy="127519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648F8A7-00C0-714E-B050-E6E44E1C66FC}"/>
              </a:ext>
            </a:extLst>
          </p:cNvPr>
          <p:cNvCxnSpPr>
            <a:cxnSpLocks/>
          </p:cNvCxnSpPr>
          <p:nvPr/>
        </p:nvCxnSpPr>
        <p:spPr>
          <a:xfrm>
            <a:off x="3289610" y="2737624"/>
            <a:ext cx="33453" cy="17842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654C2EC-1E7D-CA46-AA06-04467C094D31}"/>
              </a:ext>
            </a:extLst>
          </p:cNvPr>
          <p:cNvCxnSpPr>
            <a:cxnSpLocks/>
          </p:cNvCxnSpPr>
          <p:nvPr/>
        </p:nvCxnSpPr>
        <p:spPr>
          <a:xfrm>
            <a:off x="2984380" y="2965308"/>
            <a:ext cx="199293" cy="78975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" name="TextBox 107"/>
          <p:cNvSpPr txBox="1"/>
          <p:nvPr/>
        </p:nvSpPr>
        <p:spPr>
          <a:xfrm>
            <a:off x="3228230" y="3558676"/>
            <a:ext cx="1473199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Outside cell, collagen “trimmed”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5551" y="1760762"/>
            <a:ext cx="1271215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Inside cell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320" y="2410389"/>
            <a:ext cx="1271215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Outside cell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4C57C-1B6D-5A4A-83A3-B08B4BCD63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5" name="Shape 373">
            <a:extLst>
              <a:ext uri="{FF2B5EF4-FFF2-40B4-BE49-F238E27FC236}">
                <a16:creationId xmlns:a16="http://schemas.microsoft.com/office/drawing/2014/main" id="{8212BFEB-6D2A-B14B-B6DD-1287C7D45A66}"/>
              </a:ext>
            </a:extLst>
          </p:cNvPr>
          <p:cNvSpPr/>
          <p:nvPr/>
        </p:nvSpPr>
        <p:spPr>
          <a:xfrm>
            <a:off x="5031603" y="3873220"/>
            <a:ext cx="259709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>
              <a:spcBef>
                <a:spcPts val="800"/>
              </a:spcBef>
              <a:buClr>
                <a:srgbClr val="DD33C5"/>
              </a:buClr>
              <a:buFont typeface="Helvetica"/>
              <a:defRPr sz="2400" b="0">
                <a:latin typeface="+mn-lt"/>
                <a:ea typeface="+mn-ea"/>
                <a:cs typeface="+mn-cs"/>
                <a:sym typeface="Times"/>
              </a:defRPr>
            </a:pPr>
            <a:r>
              <a:rPr sz="1600" b="0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600" b="0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inal, crosslinked form of collagen </a:t>
            </a:r>
            <a:r>
              <a:rPr lang="en-US" sz="1600" b="0" u="sng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outside</a:t>
            </a:r>
            <a:r>
              <a:rPr lang="en-US" sz="1600" b="0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the cell</a:t>
            </a:r>
            <a:endParaRPr sz="1600" b="0" dirty="0">
              <a:solidFill>
                <a:srgbClr val="0541E0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  <a:sym typeface="Helvetica"/>
            </a:endParaRPr>
          </a:p>
        </p:txBody>
      </p:sp>
      <p:sp>
        <p:nvSpPr>
          <p:cNvPr id="26" name="Shape 374">
            <a:extLst>
              <a:ext uri="{FF2B5EF4-FFF2-40B4-BE49-F238E27FC236}">
                <a16:creationId xmlns:a16="http://schemas.microsoft.com/office/drawing/2014/main" id="{D2D0CC10-6E49-A441-B0D4-17F1ABBF930C}"/>
              </a:ext>
            </a:extLst>
          </p:cNvPr>
          <p:cNvSpPr/>
          <p:nvPr/>
        </p:nvSpPr>
        <p:spPr>
          <a:xfrm>
            <a:off x="12323922" y="5268670"/>
            <a:ext cx="374650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800"/>
              </a:spcBef>
              <a:buClr>
                <a:srgbClr val="DD33C5"/>
              </a:buClr>
              <a:buFont typeface="Helvetica"/>
              <a:defRPr sz="1400"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r>
              <a:rPr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ost simple collagen crosslink</a:t>
            </a:r>
            <a:r>
              <a:rPr lang="en-US" b="0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7E34F59-9AC6-7945-8198-B3179AD9F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8414" y="5589392"/>
            <a:ext cx="2744470" cy="1220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22389D8-860D-D644-A9AA-16827874023E}"/>
              </a:ext>
            </a:extLst>
          </p:cNvPr>
          <p:cNvGrpSpPr/>
          <p:nvPr/>
        </p:nvGrpSpPr>
        <p:grpSpPr>
          <a:xfrm>
            <a:off x="4184298" y="349699"/>
            <a:ext cx="4912186" cy="671352"/>
            <a:chOff x="4184298" y="349699"/>
            <a:chExt cx="4912186" cy="671352"/>
          </a:xfrm>
        </p:grpSpPr>
        <p:sp>
          <p:nvSpPr>
            <p:cNvPr id="35" name="Shape 384">
              <a:extLst>
                <a:ext uri="{FF2B5EF4-FFF2-40B4-BE49-F238E27FC236}">
                  <a16:creationId xmlns:a16="http://schemas.microsoft.com/office/drawing/2014/main" id="{C3FBEADB-F29A-1F4D-9EB5-EAC1CF20076E}"/>
                </a:ext>
              </a:extLst>
            </p:cNvPr>
            <p:cNvSpPr/>
            <p:nvPr/>
          </p:nvSpPr>
          <p:spPr>
            <a:xfrm>
              <a:off x="6416784" y="672238"/>
              <a:ext cx="2679700" cy="3488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spcBef>
                  <a:spcPts val="800"/>
                </a:spcBef>
                <a:buClr>
                  <a:srgbClr val="DD33C5"/>
                </a:buClr>
                <a:buFont typeface="Helvetica"/>
                <a:defRPr sz="1400"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r>
                <a:rPr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S</a:t>
              </a:r>
              <a:r>
                <a:rPr lang="en-US"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ynthesis on ribosomes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143E0CB-FC96-4343-923C-F6C4BA9BBB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4298" y="349699"/>
              <a:ext cx="2322825" cy="479641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EA344-7B53-4949-8ED4-AE75BD622A0A}"/>
              </a:ext>
            </a:extLst>
          </p:cNvPr>
          <p:cNvGrpSpPr/>
          <p:nvPr/>
        </p:nvGrpSpPr>
        <p:grpSpPr>
          <a:xfrm>
            <a:off x="4438185" y="820363"/>
            <a:ext cx="4859471" cy="892721"/>
            <a:chOff x="4438185" y="820363"/>
            <a:chExt cx="4859471" cy="892721"/>
          </a:xfrm>
        </p:grpSpPr>
        <p:grpSp>
          <p:nvGrpSpPr>
            <p:cNvPr id="27" name="Group 377">
              <a:extLst>
                <a:ext uri="{FF2B5EF4-FFF2-40B4-BE49-F238E27FC236}">
                  <a16:creationId xmlns:a16="http://schemas.microsoft.com/office/drawing/2014/main" id="{AF1A8815-266C-8E41-8590-5D2FCD2AB83C}"/>
                </a:ext>
              </a:extLst>
            </p:cNvPr>
            <p:cNvGrpSpPr/>
            <p:nvPr/>
          </p:nvGrpSpPr>
          <p:grpSpPr>
            <a:xfrm>
              <a:off x="6292426" y="1118049"/>
              <a:ext cx="3005230" cy="595035"/>
              <a:chOff x="28145" y="8287"/>
              <a:chExt cx="3670300" cy="595035"/>
            </a:xfrm>
          </p:grpSpPr>
          <p:sp>
            <p:nvSpPr>
              <p:cNvPr id="28" name="Shape 375">
                <a:extLst>
                  <a:ext uri="{FF2B5EF4-FFF2-40B4-BE49-F238E27FC236}">
                    <a16:creationId xmlns:a16="http://schemas.microsoft.com/office/drawing/2014/main" id="{C0118748-BEA4-DA4A-8654-877E0E676B91}"/>
                  </a:ext>
                </a:extLst>
              </p:cNvPr>
              <p:cNvSpPr/>
              <p:nvPr/>
            </p:nvSpPr>
            <p:spPr>
              <a:xfrm>
                <a:off x="28145" y="8287"/>
                <a:ext cx="3670300" cy="5950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spcBef>
                    <a:spcPts val="800"/>
                  </a:spcBef>
                  <a:buClr>
                    <a:srgbClr val="DD33C5"/>
                  </a:buClr>
                  <a:buFont typeface="Helvetica"/>
                  <a:defRPr sz="1400">
                    <a:solidFill>
                      <a:srgbClr val="DD33C5"/>
                    </a:solidFill>
                    <a:uFill>
                      <a:solidFill>
                        <a:srgbClr val="DD33C5"/>
                      </a:solidFill>
                    </a:uFill>
                  </a:defRPr>
                </a:lvl1pPr>
              </a:lstStyle>
              <a:p>
                <a:r>
                  <a:rPr sz="1600" b="0" dirty="0">
                    <a:solidFill>
                      <a:srgbClr val="0541E0"/>
                    </a:solidFill>
                    <a:latin typeface="Gill Sans" charset="0"/>
                    <a:ea typeface="Gill Sans" charset="0"/>
                    <a:cs typeface="Gill Sans" charset="0"/>
                  </a:rPr>
                  <a:t>H</a:t>
                </a:r>
                <a:r>
                  <a:rPr lang="en-US" sz="1600" b="0" dirty="0">
                    <a:solidFill>
                      <a:srgbClr val="0541E0"/>
                    </a:solidFill>
                    <a:latin typeface="Gill Sans" charset="0"/>
                    <a:ea typeface="Gill Sans" charset="0"/>
                    <a:cs typeface="Gill Sans" charset="0"/>
                  </a:rPr>
                  <a:t>ydroxylation requires ascorbic acid (</a:t>
                </a:r>
                <a:r>
                  <a:rPr lang="en-US" sz="1600" dirty="0">
                    <a:solidFill>
                      <a:srgbClr val="FF0000"/>
                    </a:solidFill>
                    <a:latin typeface="Gill Sans" charset="0"/>
                    <a:ea typeface="Gill Sans" charset="0"/>
                    <a:cs typeface="Gill Sans" charset="0"/>
                  </a:rPr>
                  <a:t>Vit C</a:t>
                </a:r>
                <a:r>
                  <a:rPr lang="en-US" sz="1600" b="0" dirty="0">
                    <a:solidFill>
                      <a:srgbClr val="0541E0"/>
                    </a:solidFill>
                    <a:latin typeface="Gill Sans" charset="0"/>
                    <a:ea typeface="Gill Sans" charset="0"/>
                    <a:cs typeface="Gill Sans" charset="0"/>
                  </a:rPr>
                  <a:t>). If not        </a:t>
                </a:r>
                <a:r>
                  <a:rPr sz="1600" b="0" dirty="0">
                    <a:solidFill>
                      <a:srgbClr val="0541E0"/>
                    </a:solidFill>
                    <a:latin typeface="Gill Sans" charset="0"/>
                    <a:ea typeface="Gill Sans" charset="0"/>
                    <a:cs typeface="Gill Sans" charset="0"/>
                  </a:rPr>
                  <a:t>S</a:t>
                </a:r>
                <a:r>
                  <a:rPr lang="en-US" sz="1600" b="0" dirty="0">
                    <a:solidFill>
                      <a:srgbClr val="0541E0"/>
                    </a:solidFill>
                    <a:latin typeface="Gill Sans" charset="0"/>
                    <a:ea typeface="Gill Sans" charset="0"/>
                    <a:cs typeface="Gill Sans" charset="0"/>
                  </a:rPr>
                  <a:t>curvy</a:t>
                </a:r>
                <a:r>
                  <a:rPr lang="en-US" sz="1600" b="0" dirty="0">
                    <a:solidFill>
                      <a:srgbClr val="FF0000"/>
                    </a:solidFill>
                    <a:latin typeface="Gill Sans" charset="0"/>
                    <a:ea typeface="Gill Sans" charset="0"/>
                    <a:cs typeface="Gill Sans" charset="0"/>
                  </a:rPr>
                  <a:t>*</a:t>
                </a:r>
              </a:p>
            </p:txBody>
          </p:sp>
          <p:sp>
            <p:nvSpPr>
              <p:cNvPr id="29" name="Shape 376">
                <a:extLst>
                  <a:ext uri="{FF2B5EF4-FFF2-40B4-BE49-F238E27FC236}">
                    <a16:creationId xmlns:a16="http://schemas.microsoft.com/office/drawing/2014/main" id="{3933625F-4A65-2841-A868-F6FFE3D4A84C}"/>
                  </a:ext>
                </a:extLst>
              </p:cNvPr>
              <p:cNvSpPr/>
              <p:nvPr/>
            </p:nvSpPr>
            <p:spPr>
              <a:xfrm>
                <a:off x="2207953" y="438545"/>
                <a:ext cx="304800" cy="1588"/>
              </a:xfrm>
              <a:prstGeom prst="line">
                <a:avLst/>
              </a:prstGeom>
              <a:noFill/>
              <a:ln w="25400" cap="flat">
                <a:solidFill>
                  <a:srgbClr val="0737F8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defTabSz="457200">
                  <a:defRPr sz="1200" b="0">
                    <a:uFillTx/>
                  </a:defRPr>
                </a:pPr>
                <a:endParaRPr/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DDBC186-DDAD-104B-B7D7-D7C4529820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38185" y="820363"/>
              <a:ext cx="1831196" cy="447731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7C65C2-FD5A-7545-A72E-A72CCFC77C9E}"/>
              </a:ext>
            </a:extLst>
          </p:cNvPr>
          <p:cNvGrpSpPr/>
          <p:nvPr/>
        </p:nvGrpSpPr>
        <p:grpSpPr>
          <a:xfrm>
            <a:off x="4519056" y="1357610"/>
            <a:ext cx="5330587" cy="732599"/>
            <a:chOff x="4519056" y="1357610"/>
            <a:chExt cx="5330587" cy="732599"/>
          </a:xfrm>
        </p:grpSpPr>
        <p:sp>
          <p:nvSpPr>
            <p:cNvPr id="30" name="Shape 378">
              <a:extLst>
                <a:ext uri="{FF2B5EF4-FFF2-40B4-BE49-F238E27FC236}">
                  <a16:creationId xmlns:a16="http://schemas.microsoft.com/office/drawing/2014/main" id="{C07AC780-4E2D-C44D-ABFA-4773C66328DC}"/>
                </a:ext>
              </a:extLst>
            </p:cNvPr>
            <p:cNvSpPr/>
            <p:nvPr/>
          </p:nvSpPr>
          <p:spPr>
            <a:xfrm>
              <a:off x="6103143" y="1741396"/>
              <a:ext cx="3746500" cy="3488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spcBef>
                  <a:spcPts val="800"/>
                </a:spcBef>
                <a:buClr>
                  <a:srgbClr val="DD33C5"/>
                </a:buClr>
                <a:buFont typeface="Helvetica"/>
                <a:defRPr sz="1400"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r>
                <a:rPr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S</a:t>
              </a:r>
              <a:r>
                <a:rPr lang="en-US"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ugars added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49BDFAC-28A3-1D40-8EF7-9B178AE82D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19056" y="1357610"/>
              <a:ext cx="1597267" cy="541907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1903A58-171E-8442-A60D-3B0D5764B7AE}"/>
              </a:ext>
            </a:extLst>
          </p:cNvPr>
          <p:cNvGrpSpPr/>
          <p:nvPr/>
        </p:nvGrpSpPr>
        <p:grpSpPr>
          <a:xfrm>
            <a:off x="2977576" y="1543521"/>
            <a:ext cx="6651057" cy="1029944"/>
            <a:chOff x="2977576" y="1543521"/>
            <a:chExt cx="6651057" cy="1029944"/>
          </a:xfrm>
        </p:grpSpPr>
        <p:sp>
          <p:nvSpPr>
            <p:cNvPr id="32" name="Shape 379">
              <a:extLst>
                <a:ext uri="{FF2B5EF4-FFF2-40B4-BE49-F238E27FC236}">
                  <a16:creationId xmlns:a16="http://schemas.microsoft.com/office/drawing/2014/main" id="{8FC7DC93-5980-D84E-866E-E694347EFEB9}"/>
                </a:ext>
              </a:extLst>
            </p:cNvPr>
            <p:cNvSpPr/>
            <p:nvPr/>
          </p:nvSpPr>
          <p:spPr>
            <a:xfrm>
              <a:off x="5828369" y="2038981"/>
              <a:ext cx="3800264" cy="5344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>
                <a:spcBef>
                  <a:spcPts val="800"/>
                </a:spcBef>
                <a:buClr>
                  <a:srgbClr val="DD33C5"/>
                </a:buClr>
                <a:buFont typeface="Helvetica"/>
                <a:defRPr sz="1400"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r>
                <a:rPr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V</a:t>
              </a:r>
              <a:r>
                <a:rPr lang="en-US"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esicles of endoplasmic reticulum               containing collagen pinch off, fuse with Golgi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1F895F6-D967-0C44-8EB3-04CE597E75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7576" y="1543521"/>
              <a:ext cx="2938141" cy="770272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CE21B3-BE4A-A946-948F-131511528F03}"/>
              </a:ext>
            </a:extLst>
          </p:cNvPr>
          <p:cNvGrpSpPr/>
          <p:nvPr/>
        </p:nvGrpSpPr>
        <p:grpSpPr>
          <a:xfrm>
            <a:off x="4184300" y="2412732"/>
            <a:ext cx="5026254" cy="715459"/>
            <a:chOff x="4184300" y="2412732"/>
            <a:chExt cx="5026254" cy="715459"/>
          </a:xfrm>
        </p:grpSpPr>
        <p:sp>
          <p:nvSpPr>
            <p:cNvPr id="34" name="Shape 382">
              <a:extLst>
                <a:ext uri="{FF2B5EF4-FFF2-40B4-BE49-F238E27FC236}">
                  <a16:creationId xmlns:a16="http://schemas.microsoft.com/office/drawing/2014/main" id="{A5B0B80B-1291-0F41-B782-FD989BCF3FC3}"/>
                </a:ext>
              </a:extLst>
            </p:cNvPr>
            <p:cNvSpPr/>
            <p:nvPr/>
          </p:nvSpPr>
          <p:spPr>
            <a:xfrm>
              <a:off x="5230990" y="2779378"/>
              <a:ext cx="3979564" cy="3488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>
              <a:spAutoFit/>
            </a:bodyPr>
            <a:lstStyle>
              <a:lvl1pPr>
                <a:spcBef>
                  <a:spcPts val="800"/>
                </a:spcBef>
                <a:buClr>
                  <a:srgbClr val="DD33C5"/>
                </a:buClr>
                <a:buFont typeface="Helvetica"/>
                <a:defRPr sz="1400"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r>
                <a:rPr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T</a:t>
              </a:r>
              <a:r>
                <a:rPr lang="en-US"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riple helix </a:t>
              </a:r>
              <a:r>
                <a:rPr lang="en-US" sz="1600" dirty="0">
                  <a:solidFill>
                    <a:srgbClr val="FF0000"/>
                  </a:solidFill>
                  <a:latin typeface="Gill Sans" charset="0"/>
                  <a:ea typeface="Gill Sans" charset="0"/>
                  <a:cs typeface="Gill Sans" charset="0"/>
                </a:rPr>
                <a:t>tropocollagen</a:t>
              </a:r>
              <a:r>
                <a:rPr lang="en-US"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 forms in Golgi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BAFBDCD-77CB-F347-9E49-ACD1B1000C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4300" y="2412732"/>
              <a:ext cx="1071803" cy="468741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B575B79-4799-9940-8F3D-B7E1293FCB04}"/>
              </a:ext>
            </a:extLst>
          </p:cNvPr>
          <p:cNvSpPr/>
          <p:nvPr/>
        </p:nvSpPr>
        <p:spPr>
          <a:xfrm>
            <a:off x="5862743" y="4616764"/>
            <a:ext cx="2983545" cy="1741506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973FA3-AAB4-6E41-95D9-F49D0A26C7FE}"/>
              </a:ext>
            </a:extLst>
          </p:cNvPr>
          <p:cNvGrpSpPr/>
          <p:nvPr/>
        </p:nvGrpSpPr>
        <p:grpSpPr>
          <a:xfrm>
            <a:off x="3745351" y="3069446"/>
            <a:ext cx="4464497" cy="635303"/>
            <a:chOff x="3745351" y="3069446"/>
            <a:chExt cx="4464497" cy="63530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6A0AC1A-5757-AD44-8386-7EE78B95C04F}"/>
                </a:ext>
              </a:extLst>
            </p:cNvPr>
            <p:cNvSpPr txBox="1"/>
            <p:nvPr/>
          </p:nvSpPr>
          <p:spPr>
            <a:xfrm>
              <a:off x="4739355" y="3109714"/>
              <a:ext cx="3470493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u="none" strike="noStrike" cap="none" spc="0" normalizeH="0" baseline="0" dirty="0">
                  <a:ln>
                    <a:noFill/>
                  </a:ln>
                  <a:solidFill>
                    <a:srgbClr val="0541E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panose="020B0502020104020203" pitchFamily="34" charset="-79"/>
                  <a:cs typeface="Gill Sans" panose="020B0502020104020203" pitchFamily="34" charset="-79"/>
                  <a:sym typeface="Helvetica"/>
                </a:rPr>
                <a:t>Vesicles of </a:t>
              </a:r>
              <a:r>
                <a:rPr lang="en-US" sz="1600" b="0" dirty="0">
                  <a:solidFill>
                    <a:srgbClr val="0541E0"/>
                  </a:solidFill>
                  <a:uFill>
                    <a:solidFill>
                      <a:srgbClr val="000000"/>
                    </a:solidFill>
                  </a:uFill>
                  <a:latin typeface="Gill Sans" panose="020B0502020104020203" pitchFamily="34" charset="-79"/>
                  <a:cs typeface="Gill Sans" panose="020B0502020104020203" pitchFamily="34" charset="-79"/>
                </a:rPr>
                <a:t>G</a:t>
              </a:r>
              <a:r>
                <a:rPr kumimoji="0" lang="en-US" sz="1600" b="0" u="none" strike="noStrike" cap="none" spc="0" normalizeH="0" baseline="0" dirty="0">
                  <a:ln>
                    <a:noFill/>
                  </a:ln>
                  <a:solidFill>
                    <a:srgbClr val="0541E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panose="020B0502020104020203" pitchFamily="34" charset="-79"/>
                  <a:cs typeface="Gill Sans" panose="020B0502020104020203" pitchFamily="34" charset="-79"/>
                  <a:sym typeface="Helvetica"/>
                </a:rPr>
                <a:t>olgi containing triple helix  pinch off, fuse with plasma membrane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39B8E05-301E-FD46-84C2-6603724BC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5351" y="3069446"/>
              <a:ext cx="1051499" cy="203566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BB26C38-649F-0043-80BC-0B715EAF644B}"/>
              </a:ext>
            </a:extLst>
          </p:cNvPr>
          <p:cNvSpPr txBox="1"/>
          <p:nvPr/>
        </p:nvSpPr>
        <p:spPr>
          <a:xfrm>
            <a:off x="1645652" y="4617623"/>
            <a:ext cx="2140515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</a:rPr>
              <a:t>Outside cell, collagen is “trimmed” b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0541E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y enzyme -catalyzed hydrolysis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59D3DC-5EFE-D647-9010-CF8E3BCDAA1B}"/>
              </a:ext>
            </a:extLst>
          </p:cNvPr>
          <p:cNvSpPr/>
          <p:nvPr/>
        </p:nvSpPr>
        <p:spPr>
          <a:xfrm>
            <a:off x="3144741" y="3558676"/>
            <a:ext cx="1243264" cy="684140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DB106A-3551-D445-9BDD-D7B9F5023282}"/>
              </a:ext>
            </a:extLst>
          </p:cNvPr>
          <p:cNvSpPr/>
          <p:nvPr/>
        </p:nvSpPr>
        <p:spPr>
          <a:xfrm>
            <a:off x="329518" y="5666475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1" dirty="0">
                <a:solidFill>
                  <a:srgbClr val="FF0000"/>
                </a:solidFill>
                <a:latin typeface="Gill Sans" charset="0"/>
                <a:ea typeface="Gill Sans" charset="0"/>
                <a:cs typeface="Gill Sans" charset="0"/>
              </a:rPr>
              <a:t>*</a:t>
            </a:r>
            <a:r>
              <a:rPr lang="en-US" b="0" i="1" dirty="0">
                <a:solidFill>
                  <a:srgbClr val="0541E0"/>
                </a:solidFill>
                <a:latin typeface="Gill Sans" charset="0"/>
                <a:ea typeface="Gill Sans" charset="0"/>
                <a:cs typeface="Gill Sans" charset="0"/>
              </a:rPr>
              <a:t> Box 4-2 in eBook (Nelson &amp; Cox), “Why Sailors, Explorers and College Students Should Eat Their Fresh Fruits and Vegetables</a:t>
            </a:r>
          </a:p>
        </p:txBody>
      </p:sp>
    </p:spTree>
    <p:extLst>
      <p:ext uri="{BB962C8B-B14F-4D97-AF65-F5344CB8AC3E}">
        <p14:creationId xmlns:p14="http://schemas.microsoft.com/office/powerpoint/2010/main" val="2375900107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7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36B4-D665-6443-B656-B21A952C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200891"/>
            <a:ext cx="7772400" cy="1600200"/>
          </a:xfrm>
        </p:spPr>
        <p:txBody>
          <a:bodyPr/>
          <a:lstStyle/>
          <a:p>
            <a:r>
              <a:rPr lang="en-US" dirty="0"/>
              <a:t>How does this crosslink form?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D2A2C252-5AC6-3144-A6BA-7C52661F6D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2704" y="1044000"/>
            <a:ext cx="2835577" cy="51693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3D34F8D-28CA-FD47-A0B4-9594FAF4301B}"/>
              </a:ext>
            </a:extLst>
          </p:cNvPr>
          <p:cNvSpPr/>
          <p:nvPr/>
        </p:nvSpPr>
        <p:spPr>
          <a:xfrm>
            <a:off x="1751610" y="6456703"/>
            <a:ext cx="65729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en.wikipedia.org</a:t>
            </a:r>
            <a:r>
              <a:rPr lang="en-US" sz="1600" dirty="0"/>
              <a:t>/wiki/</a:t>
            </a:r>
            <a:r>
              <a:rPr lang="en-US" sz="1600" dirty="0" err="1"/>
              <a:t>Collagen#Chemistry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13D67-11DF-8A48-866B-5AEBF68D7883}"/>
              </a:ext>
            </a:extLst>
          </p:cNvPr>
          <p:cNvSpPr txBox="1"/>
          <p:nvPr/>
        </p:nvSpPr>
        <p:spPr>
          <a:xfrm>
            <a:off x="685800" y="2650830"/>
            <a:ext cx="162416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i="1" u="none" strike="noStrike" cap="none" spc="0" normalizeH="0" baseline="0" dirty="0">
                <a:ln>
                  <a:noFill/>
                </a:ln>
                <a:solidFill>
                  <a:srgbClr val="1855FF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An enzyme!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28A45218-6829-9C4E-AFCB-201E9432E903}"/>
              </a:ext>
            </a:extLst>
          </p:cNvPr>
          <p:cNvSpPr/>
          <p:nvPr/>
        </p:nvSpPr>
        <p:spPr>
          <a:xfrm>
            <a:off x="2409285" y="2796637"/>
            <a:ext cx="903932" cy="124693"/>
          </a:xfrm>
          <a:prstGeom prst="rightArrow">
            <a:avLst/>
          </a:prstGeom>
          <a:solidFill>
            <a:srgbClr val="FF0000"/>
          </a:solidFill>
          <a:ln w="952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86DA5-7CB9-044A-986A-F6F7DA90C62E}"/>
              </a:ext>
            </a:extLst>
          </p:cNvPr>
          <p:cNvSpPr txBox="1"/>
          <p:nvPr/>
        </p:nvSpPr>
        <p:spPr>
          <a:xfrm>
            <a:off x="5191590" y="2639772"/>
            <a:ext cx="3730508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→ Hydrogen Peroxide and Ammonium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56219C-4959-134E-AF80-41A9C170AB8E}"/>
              </a:ext>
            </a:extLst>
          </p:cNvPr>
          <p:cNvSpPr txBox="1"/>
          <p:nvPr/>
        </p:nvSpPr>
        <p:spPr>
          <a:xfrm>
            <a:off x="5263736" y="4548237"/>
            <a:ext cx="2714205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 rtl="0" latinLnBrk="1" hangingPunct="0"/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aldol condensation → water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640182550"/>
      </p:ext>
    </p:extLst>
  </p:cSld>
  <p:clrMapOvr>
    <a:masterClrMapping/>
  </p:clrMapOvr>
  <p:transition spd="med" advClick="0" advTm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-76200" y="228600"/>
            <a:ext cx="8991600" cy="5356225"/>
          </a:xfrm>
          <a:prstGeom prst="rect">
            <a:avLst/>
          </a:prstGeom>
          <a:ln w="12700">
            <a:miter lim="400000"/>
          </a:ln>
        </p:spPr>
      </p:pic>
      <p:sp>
        <p:nvSpPr>
          <p:cNvPr id="392" name="Shape 392"/>
          <p:cNvSpPr/>
          <p:nvPr/>
        </p:nvSpPr>
        <p:spPr>
          <a:xfrm rot="3300000">
            <a:off x="5575992" y="2607145"/>
            <a:ext cx="1498601" cy="2438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ln w="63500">
            <a:solidFill>
              <a:srgbClr val="00C200"/>
            </a:solidFill>
            <a:custDash>
              <a:ds d="200000" sp="200000"/>
            </a:custDash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395" name="Group 395"/>
          <p:cNvGrpSpPr/>
          <p:nvPr/>
        </p:nvGrpSpPr>
        <p:grpSpPr>
          <a:xfrm>
            <a:off x="4089399" y="419100"/>
            <a:ext cx="5207001" cy="4432300"/>
            <a:chOff x="-1" y="0"/>
            <a:chExt cx="5207001" cy="4432300"/>
          </a:xfrm>
        </p:grpSpPr>
        <p:sp>
          <p:nvSpPr>
            <p:cNvPr id="393" name="Shape 393"/>
            <p:cNvSpPr/>
            <p:nvPr/>
          </p:nvSpPr>
          <p:spPr>
            <a:xfrm>
              <a:off x="3594100" y="4089400"/>
              <a:ext cx="16129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DD33C5"/>
                </a:buClr>
                <a:buFont typeface="Helvetica"/>
                <a:defRPr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A 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stable fold</a:t>
              </a:r>
            </a:p>
          </p:txBody>
        </p:sp>
        <p:sp>
          <p:nvSpPr>
            <p:cNvPr id="394" name="Shape 394"/>
            <p:cNvSpPr/>
            <p:nvPr/>
          </p:nvSpPr>
          <p:spPr>
            <a:xfrm>
              <a:off x="-1" y="0"/>
              <a:ext cx="4965702" cy="44323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noFill/>
            <a:ln w="38100" cap="rnd">
              <a:solidFill>
                <a:srgbClr val="DD33C5"/>
              </a:solidFill>
              <a:prstDash val="sysDot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398" name="Group 398"/>
          <p:cNvGrpSpPr/>
          <p:nvPr/>
        </p:nvGrpSpPr>
        <p:grpSpPr>
          <a:xfrm>
            <a:off x="-76201" y="3378199"/>
            <a:ext cx="4343402" cy="1562102"/>
            <a:chOff x="221852" y="520902"/>
            <a:chExt cx="4343400" cy="1562101"/>
          </a:xfrm>
        </p:grpSpPr>
        <p:sp>
          <p:nvSpPr>
            <p:cNvPr id="396" name="Shape 396"/>
            <p:cNvSpPr/>
            <p:nvPr/>
          </p:nvSpPr>
          <p:spPr>
            <a:xfrm rot="19815231">
              <a:off x="221852" y="520902"/>
              <a:ext cx="2514601" cy="1562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noFill/>
            <a:ln w="63500" cap="flat">
              <a:solidFill>
                <a:srgbClr val="00BA00"/>
              </a:solidFill>
              <a:custDash>
                <a:ds d="200000" sp="200000"/>
              </a:custDash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97" name="Shape 397"/>
            <p:cNvSpPr/>
            <p:nvPr/>
          </p:nvSpPr>
          <p:spPr>
            <a:xfrm>
              <a:off x="2418951" y="1486103"/>
              <a:ext cx="2146301" cy="492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DD33C5"/>
                </a:buClr>
                <a:buFont typeface="Helvetica"/>
                <a:defRPr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N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ot very stable by itself; 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C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an unfold in water</a:t>
              </a:r>
            </a:p>
          </p:txBody>
        </p:sp>
      </p:grpSp>
      <p:sp>
        <p:nvSpPr>
          <p:cNvPr id="399" name="Shape 399"/>
          <p:cNvSpPr/>
          <p:nvPr/>
        </p:nvSpPr>
        <p:spPr>
          <a:xfrm>
            <a:off x="38100" y="5956300"/>
            <a:ext cx="91059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he word “domain” is used in different ways! Domain can also mean a part of a protein having special binding or function.</a:t>
            </a:r>
          </a:p>
        </p:txBody>
      </p:sp>
      <p:sp>
        <p:nvSpPr>
          <p:cNvPr id="400" name="Shape 400"/>
          <p:cNvSpPr/>
          <p:nvPr/>
        </p:nvSpPr>
        <p:spPr>
          <a:xfrm>
            <a:off x="914400" y="5486400"/>
            <a:ext cx="67945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table folds are also known as: structural domains or motifs or folding units</a:t>
            </a:r>
          </a:p>
        </p:txBody>
      </p:sp>
      <p:sp>
        <p:nvSpPr>
          <p:cNvPr id="402" name="Shape 402"/>
          <p:cNvSpPr/>
          <p:nvPr/>
        </p:nvSpPr>
        <p:spPr>
          <a:xfrm>
            <a:off x="241808" y="1293301"/>
            <a:ext cx="3529584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 sz="1800" b="0">
                <a:uFillTx/>
              </a:defRPr>
            </a:pPr>
            <a:r>
              <a:rPr sz="18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W</a:t>
            </a:r>
            <a:r>
              <a:rPr lang="en-US" sz="18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e will mainly use the term “fold” to describe the stable pattern of the protein’s structure</a:t>
            </a:r>
          </a:p>
        </p:txBody>
      </p:sp>
      <p:sp>
        <p:nvSpPr>
          <p:cNvPr id="390" name="Shape 390"/>
          <p:cNvSpPr>
            <a:spLocks noGrp="1"/>
          </p:cNvSpPr>
          <p:nvPr>
            <p:ph type="title"/>
          </p:nvPr>
        </p:nvSpPr>
        <p:spPr>
          <a:xfrm>
            <a:off x="685800" y="-88900"/>
            <a:ext cx="7772400" cy="4572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>
              <a:defRPr sz="1800" b="0">
                <a:uFillTx/>
              </a:defRPr>
            </a:pP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ew topic: what is a stable protein fold</a:t>
            </a: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?</a:t>
            </a:r>
          </a:p>
        </p:txBody>
      </p:sp>
      <p:grpSp>
        <p:nvGrpSpPr>
          <p:cNvPr id="405" name="Group 405"/>
          <p:cNvGrpSpPr/>
          <p:nvPr/>
        </p:nvGrpSpPr>
        <p:grpSpPr>
          <a:xfrm>
            <a:off x="0" y="21178"/>
            <a:ext cx="9131302" cy="6515101"/>
            <a:chOff x="0" y="0"/>
            <a:chExt cx="9131301" cy="6515100"/>
          </a:xfrm>
        </p:grpSpPr>
        <p:sp>
          <p:nvSpPr>
            <p:cNvPr id="403" name="Shape 403"/>
            <p:cNvSpPr/>
            <p:nvPr/>
          </p:nvSpPr>
          <p:spPr>
            <a:xfrm>
              <a:off x="0" y="0"/>
              <a:ext cx="9131301" cy="6515100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04" name="Shape 404"/>
            <p:cNvSpPr/>
            <p:nvPr/>
          </p:nvSpPr>
          <p:spPr>
            <a:xfrm>
              <a:off x="457201" y="312184"/>
              <a:ext cx="8013699" cy="7386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 algn="ctr">
                <a:spcBef>
                  <a:spcPts val="1100"/>
                </a:spcBef>
                <a:buClr>
                  <a:srgbClr val="000000"/>
                </a:buClr>
                <a:buFont typeface="Helvetica"/>
                <a:defRPr sz="1800" b="0">
                  <a:uFillTx/>
                </a:defRPr>
              </a:pP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H</a:t>
              </a:r>
              <a:r>
                <a:rPr lang="en-US"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ow do </a:t>
              </a: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α</a:t>
              </a: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-</a:t>
              </a:r>
              <a:r>
                <a:rPr lang="en-US"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helices</a:t>
              </a: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</a:t>
              </a: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β</a:t>
              </a: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-</a:t>
              </a:r>
              <a:r>
                <a:rPr lang="en-US"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sheets, and turns fit together to form stable structure?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459552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" grpId="0" animBg="1" advAuto="0"/>
      <p:bldP spid="395" grpId="0" advAuto="0"/>
      <p:bldP spid="398" grpId="0" advAuto="0"/>
      <p:bldP spid="399" grpId="0" animBg="1" advAuto="0"/>
      <p:bldP spid="400" grpId="0" animBg="1" advAuto="0"/>
      <p:bldP spid="402" grpId="0" animBg="1" advAuto="0"/>
      <p:bldP spid="405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23857" cy="24018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08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2359025"/>
            <a:ext cx="5867400" cy="4498975"/>
          </a:xfrm>
          <a:prstGeom prst="rect">
            <a:avLst/>
          </a:prstGeom>
          <a:ln w="12700">
            <a:miter lim="400000"/>
          </a:ln>
        </p:spPr>
      </p:pic>
      <p:sp>
        <p:nvSpPr>
          <p:cNvPr id="409" name="Shape 409"/>
          <p:cNvSpPr/>
          <p:nvPr/>
        </p:nvSpPr>
        <p:spPr>
          <a:xfrm>
            <a:off x="6540500" y="28615"/>
            <a:ext cx="33655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00000"/>
              </a:buClr>
              <a:buFont typeface="Helvetica"/>
              <a:defRPr sz="2000"/>
            </a:lvl1pPr>
          </a:lstStyle>
          <a:p>
            <a:pPr lvl="0">
              <a:defRPr sz="1800" b="0">
                <a:uFillTx/>
              </a:defRPr>
            </a:pPr>
            <a:r>
              <a:rPr sz="2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2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rotein folds</a:t>
            </a:r>
          </a:p>
        </p:txBody>
      </p:sp>
      <p:sp>
        <p:nvSpPr>
          <p:cNvPr id="410" name="Shape 410"/>
          <p:cNvSpPr/>
          <p:nvPr/>
        </p:nvSpPr>
        <p:spPr>
          <a:xfrm>
            <a:off x="0" y="2311400"/>
            <a:ext cx="8509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ll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</a:p>
        </p:txBody>
      </p:sp>
      <p:pic>
        <p:nvPicPr>
          <p:cNvPr id="411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76200" y="228600"/>
            <a:ext cx="1343025" cy="1371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" name="image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1524000" y="76200"/>
            <a:ext cx="1042988" cy="144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" name="image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2743200" y="152400"/>
            <a:ext cx="1524000" cy="15097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14" name="image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4419600" y="609600"/>
            <a:ext cx="1144588" cy="927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5" name="image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152400" y="2667000"/>
            <a:ext cx="984250" cy="114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6" name="image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1981200" y="2411412"/>
            <a:ext cx="1430338" cy="139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17" name="image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3886200" y="2435225"/>
            <a:ext cx="1524001" cy="1428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8" name="image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92075" y="4648200"/>
            <a:ext cx="1355726" cy="1384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9" name="image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1981200" y="4730750"/>
            <a:ext cx="1906588" cy="1289050"/>
          </a:xfrm>
          <a:prstGeom prst="rect">
            <a:avLst/>
          </a:prstGeom>
          <a:ln w="12700">
            <a:miter lim="400000"/>
          </a:ln>
        </p:spPr>
      </p:pic>
      <p:sp>
        <p:nvSpPr>
          <p:cNvPr id="420" name="Shape 420"/>
          <p:cNvSpPr/>
          <p:nvPr/>
        </p:nvSpPr>
        <p:spPr>
          <a:xfrm>
            <a:off x="5771242" y="685800"/>
            <a:ext cx="35179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</a:lvl1pPr>
          </a:lstStyle>
          <a:p>
            <a:pPr lvl="0">
              <a:defRPr sz="1800" b="0">
                <a:uFillTx/>
              </a:defRPr>
            </a:pP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Approx. 1400 identified so far; only “the 20”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AA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are needed to form all 1400</a:t>
            </a:r>
          </a:p>
        </p:txBody>
      </p:sp>
      <p:sp>
        <p:nvSpPr>
          <p:cNvPr id="429" name="Shape 429"/>
          <p:cNvSpPr/>
          <p:nvPr/>
        </p:nvSpPr>
        <p:spPr>
          <a:xfrm>
            <a:off x="76200" y="1130300"/>
            <a:ext cx="1104900" cy="1104900"/>
          </a:xfrm>
          <a:prstGeom prst="rect">
            <a:avLst/>
          </a:prstGeom>
          <a:solidFill>
            <a:srgbClr val="FFFFFF"/>
          </a:solidFill>
          <a:ln>
            <a:solidFill>
              <a:srgbClr val="000000">
                <a:alpha val="0"/>
              </a:srgbClr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430" name="droppedImage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72268" y="177628"/>
            <a:ext cx="1244601" cy="2057572"/>
          </a:xfrm>
          <a:prstGeom prst="rect">
            <a:avLst/>
          </a:prstGeom>
          <a:ln>
            <a:round/>
          </a:ln>
        </p:spPr>
      </p:pic>
      <p:sp>
        <p:nvSpPr>
          <p:cNvPr id="431" name="Shape 431"/>
          <p:cNvSpPr/>
          <p:nvPr/>
        </p:nvSpPr>
        <p:spPr>
          <a:xfrm>
            <a:off x="0" y="-38100"/>
            <a:ext cx="8509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ll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</a:p>
        </p:txBody>
      </p:sp>
    </p:spTree>
    <p:extLst>
      <p:ext uri="{BB962C8B-B14F-4D97-AF65-F5344CB8AC3E}">
        <p14:creationId xmlns:p14="http://schemas.microsoft.com/office/powerpoint/2010/main" val="175762213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141413" cy="1600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2368021" y="254000"/>
            <a:ext cx="1085851" cy="1600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4419600" y="134937"/>
            <a:ext cx="1092200" cy="1922463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Shape 63"/>
          <p:cNvSpPr/>
          <p:nvPr/>
        </p:nvSpPr>
        <p:spPr>
          <a:xfrm>
            <a:off x="5334000" y="1600200"/>
            <a:ext cx="76200" cy="1524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4" name="Shape 64"/>
          <p:cNvSpPr/>
          <p:nvPr/>
        </p:nvSpPr>
        <p:spPr>
          <a:xfrm>
            <a:off x="5334000" y="1752600"/>
            <a:ext cx="76200" cy="1524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65" name="image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3124200"/>
            <a:ext cx="2133600" cy="895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image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2133600" y="2852737"/>
            <a:ext cx="1524000" cy="1236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image.pdf"/>
          <p:cNvPicPr/>
          <p:nvPr/>
        </p:nvPicPr>
        <p:blipFill>
          <a:blip r:embed="rId7"/>
          <a:stretch>
            <a:fillRect/>
          </a:stretch>
        </p:blipFill>
        <p:spPr>
          <a:xfrm>
            <a:off x="4267200" y="2590800"/>
            <a:ext cx="1141413" cy="1714500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Shape 68"/>
          <p:cNvSpPr/>
          <p:nvPr/>
        </p:nvSpPr>
        <p:spPr>
          <a:xfrm>
            <a:off x="5410200" y="32004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9" name="Shape 69"/>
          <p:cNvSpPr/>
          <p:nvPr/>
        </p:nvSpPr>
        <p:spPr>
          <a:xfrm>
            <a:off x="5334000" y="38862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0" name="Shape 70"/>
          <p:cNvSpPr/>
          <p:nvPr/>
        </p:nvSpPr>
        <p:spPr>
          <a:xfrm>
            <a:off x="5257800" y="41148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1" name="Shape 71"/>
          <p:cNvSpPr/>
          <p:nvPr/>
        </p:nvSpPr>
        <p:spPr>
          <a:xfrm>
            <a:off x="5384800" y="3995737"/>
            <a:ext cx="254000" cy="238126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2" name="Shape 72"/>
          <p:cNvSpPr/>
          <p:nvPr/>
        </p:nvSpPr>
        <p:spPr>
          <a:xfrm>
            <a:off x="5367337" y="1633537"/>
            <a:ext cx="111126" cy="279401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3" name="Shape 73"/>
          <p:cNvSpPr/>
          <p:nvPr/>
        </p:nvSpPr>
        <p:spPr>
          <a:xfrm>
            <a:off x="5521325" y="3206750"/>
            <a:ext cx="88900" cy="174625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54432" y="152400"/>
            <a:ext cx="21463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</a:t>
            </a:r>
            <a:r>
              <a:rPr lang="en-US"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ixed</a:t>
            </a: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AND </a:t>
            </a:r>
            <a:r>
              <a:rPr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</a:p>
        </p:txBody>
      </p:sp>
      <p:sp>
        <p:nvSpPr>
          <p:cNvPr id="79" name="Shape 79"/>
          <p:cNvSpPr/>
          <p:nvPr/>
        </p:nvSpPr>
        <p:spPr>
          <a:xfrm>
            <a:off x="5418137" y="1270000"/>
            <a:ext cx="288926" cy="6778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0" name="Shape 80"/>
          <p:cNvSpPr/>
          <p:nvPr/>
        </p:nvSpPr>
        <p:spPr>
          <a:xfrm>
            <a:off x="703262" y="109537"/>
            <a:ext cx="177801" cy="1444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1" name="Shape 81"/>
          <p:cNvSpPr/>
          <p:nvPr/>
        </p:nvSpPr>
        <p:spPr>
          <a:xfrm>
            <a:off x="1109662" y="5969000"/>
            <a:ext cx="523876" cy="2460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2" name="Shape 82"/>
          <p:cNvSpPr/>
          <p:nvPr/>
        </p:nvSpPr>
        <p:spPr>
          <a:xfrm>
            <a:off x="3716337" y="3970337"/>
            <a:ext cx="212726" cy="288926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83" name="image.pdf"/>
          <p:cNvPicPr/>
          <p:nvPr/>
        </p:nvPicPr>
        <p:blipFill>
          <a:blip r:embed="rId8"/>
          <a:stretch>
            <a:fillRect/>
          </a:stretch>
        </p:blipFill>
        <p:spPr>
          <a:xfrm>
            <a:off x="0" y="1897062"/>
            <a:ext cx="5638800" cy="8461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image.pdf"/>
          <p:cNvPicPr/>
          <p:nvPr/>
        </p:nvPicPr>
        <p:blipFill>
          <a:blip r:embed="rId9"/>
          <a:stretch>
            <a:fillRect/>
          </a:stretch>
        </p:blipFill>
        <p:spPr>
          <a:xfrm>
            <a:off x="0" y="4094162"/>
            <a:ext cx="5562600" cy="706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image.pdf"/>
          <p:cNvPicPr/>
          <p:nvPr/>
        </p:nvPicPr>
        <p:blipFill>
          <a:blip r:embed="rId10"/>
          <a:stretch>
            <a:fillRect/>
          </a:stretch>
        </p:blipFill>
        <p:spPr>
          <a:xfrm>
            <a:off x="0" y="6149975"/>
            <a:ext cx="1633538" cy="7318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image.pdf"/>
          <p:cNvPicPr/>
          <p:nvPr/>
        </p:nvPicPr>
        <p:blipFill>
          <a:blip r:embed="rId11"/>
          <a:stretch>
            <a:fillRect/>
          </a:stretch>
        </p:blipFill>
        <p:spPr>
          <a:xfrm>
            <a:off x="320675" y="4927600"/>
            <a:ext cx="1200150" cy="1219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droppedImage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172617" y="424469"/>
            <a:ext cx="1043182" cy="1475185"/>
          </a:xfrm>
          <a:prstGeom prst="rect">
            <a:avLst/>
          </a:prstGeom>
          <a:ln>
            <a:round/>
          </a:ln>
        </p:spPr>
      </p:pic>
      <p:pic>
        <p:nvPicPr>
          <p:cNvPr id="90" name="droppedImage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4445793" y="221032"/>
            <a:ext cx="1002507" cy="1758581"/>
          </a:xfrm>
          <a:prstGeom prst="rect">
            <a:avLst/>
          </a:prstGeom>
          <a:ln>
            <a:round/>
          </a:ln>
        </p:spPr>
      </p:pic>
      <p:pic>
        <p:nvPicPr>
          <p:cNvPr id="91" name="droppedImage.png"/>
          <p:cNvPicPr/>
          <p:nvPr/>
        </p:nvPicPr>
        <p:blipFill>
          <a:blip r:embed="rId14"/>
          <a:stretch>
            <a:fillRect/>
          </a:stretch>
        </p:blipFill>
        <p:spPr>
          <a:xfrm>
            <a:off x="4308475" y="2666984"/>
            <a:ext cx="1028801" cy="1502982"/>
          </a:xfrm>
          <a:prstGeom prst="rect">
            <a:avLst/>
          </a:prstGeom>
          <a:ln>
            <a:round/>
          </a:ln>
        </p:spPr>
      </p:pic>
      <p:pic>
        <p:nvPicPr>
          <p:cNvPr id="92" name="droppedImage.png"/>
          <p:cNvPicPr/>
          <p:nvPr/>
        </p:nvPicPr>
        <p:blipFill>
          <a:blip r:embed="rId15"/>
          <a:stretch>
            <a:fillRect/>
          </a:stretch>
        </p:blipFill>
        <p:spPr>
          <a:xfrm>
            <a:off x="110704" y="4789884"/>
            <a:ext cx="1827237" cy="1450182"/>
          </a:xfrm>
          <a:prstGeom prst="rect">
            <a:avLst/>
          </a:prstGeom>
          <a:ln>
            <a:round/>
          </a:ln>
        </p:spPr>
      </p:pic>
    </p:spTree>
    <p:extLst>
      <p:ext uri="{BB962C8B-B14F-4D97-AF65-F5344CB8AC3E}">
        <p14:creationId xmlns:p14="http://schemas.microsoft.com/office/powerpoint/2010/main" val="317582515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23857" cy="24018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08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2359025"/>
            <a:ext cx="5867400" cy="4498975"/>
          </a:xfrm>
          <a:prstGeom prst="rect">
            <a:avLst/>
          </a:prstGeom>
          <a:ln w="12700">
            <a:miter lim="400000"/>
          </a:ln>
        </p:spPr>
      </p:pic>
      <p:sp>
        <p:nvSpPr>
          <p:cNvPr id="409" name="Shape 409"/>
          <p:cNvSpPr/>
          <p:nvPr/>
        </p:nvSpPr>
        <p:spPr>
          <a:xfrm>
            <a:off x="6540500" y="28615"/>
            <a:ext cx="33655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00000"/>
              </a:buClr>
              <a:buFont typeface="Helvetica"/>
              <a:defRPr sz="2000"/>
            </a:lvl1pPr>
          </a:lstStyle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rotein folds</a:t>
            </a:r>
          </a:p>
        </p:txBody>
      </p:sp>
      <p:sp>
        <p:nvSpPr>
          <p:cNvPr id="410" name="Shape 410"/>
          <p:cNvSpPr/>
          <p:nvPr/>
        </p:nvSpPr>
        <p:spPr>
          <a:xfrm>
            <a:off x="0" y="2311400"/>
            <a:ext cx="8509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ll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</a:p>
        </p:txBody>
      </p:sp>
      <p:pic>
        <p:nvPicPr>
          <p:cNvPr id="411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76200" y="228600"/>
            <a:ext cx="1343025" cy="1371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" name="image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1524000" y="76200"/>
            <a:ext cx="1042988" cy="144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" name="image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2743200" y="152400"/>
            <a:ext cx="1524000" cy="15097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14" name="image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4419600" y="609600"/>
            <a:ext cx="1144588" cy="927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5" name="image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152400" y="2667000"/>
            <a:ext cx="984250" cy="114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6" name="image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1981200" y="2411412"/>
            <a:ext cx="1430338" cy="139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17" name="image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3886200" y="2435225"/>
            <a:ext cx="1524001" cy="1428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8" name="image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92075" y="4648200"/>
            <a:ext cx="1355726" cy="1384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9" name="image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1981200" y="4730750"/>
            <a:ext cx="1906588" cy="1289050"/>
          </a:xfrm>
          <a:prstGeom prst="rect">
            <a:avLst/>
          </a:prstGeom>
          <a:ln w="12700">
            <a:miter lim="400000"/>
          </a:ln>
        </p:spPr>
      </p:pic>
      <p:sp>
        <p:nvSpPr>
          <p:cNvPr id="420" name="Shape 420"/>
          <p:cNvSpPr/>
          <p:nvPr/>
        </p:nvSpPr>
        <p:spPr>
          <a:xfrm>
            <a:off x="5771242" y="685800"/>
            <a:ext cx="35179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</a:lvl1pPr>
          </a:lstStyle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Approx. 1400 identified so far; only “the 20”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AA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are needed to form all 1400</a:t>
            </a:r>
          </a:p>
        </p:txBody>
      </p:sp>
      <p:sp>
        <p:nvSpPr>
          <p:cNvPr id="421" name="Shape 421"/>
          <p:cNvSpPr/>
          <p:nvPr/>
        </p:nvSpPr>
        <p:spPr>
          <a:xfrm>
            <a:off x="6134560" y="1353978"/>
            <a:ext cx="3078841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</a:lvl1pPr>
          </a:lstStyle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aybe not many more different folds exist?!</a:t>
            </a:r>
          </a:p>
        </p:txBody>
      </p:sp>
      <p:sp>
        <p:nvSpPr>
          <p:cNvPr id="422" name="Shape 422"/>
          <p:cNvSpPr/>
          <p:nvPr/>
        </p:nvSpPr>
        <p:spPr>
          <a:xfrm>
            <a:off x="6019800" y="2649862"/>
            <a:ext cx="2906487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1. L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imited ways to get stable combination of helices,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-sheets, turns, coils </a:t>
            </a:r>
          </a:p>
        </p:txBody>
      </p:sp>
      <p:sp>
        <p:nvSpPr>
          <p:cNvPr id="423" name="Shape 423"/>
          <p:cNvSpPr/>
          <p:nvPr/>
        </p:nvSpPr>
        <p:spPr>
          <a:xfrm>
            <a:off x="6176148" y="2099818"/>
            <a:ext cx="239681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2000"/>
            </a:lvl1pPr>
          </a:lstStyle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hy only these 1400?</a:t>
            </a:r>
          </a:p>
        </p:txBody>
      </p:sp>
      <p:sp>
        <p:nvSpPr>
          <p:cNvPr id="424" name="Shape 424"/>
          <p:cNvSpPr/>
          <p:nvPr/>
        </p:nvSpPr>
        <p:spPr>
          <a:xfrm>
            <a:off x="6019800" y="4376315"/>
            <a:ext cx="3136900" cy="607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3.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nother category:</a:t>
            </a:r>
          </a:p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ntrinsically disordered proteins!</a:t>
            </a:r>
          </a:p>
        </p:txBody>
      </p:sp>
      <p:grpSp>
        <p:nvGrpSpPr>
          <p:cNvPr id="428" name="Group 428"/>
          <p:cNvGrpSpPr/>
          <p:nvPr/>
        </p:nvGrpSpPr>
        <p:grpSpPr>
          <a:xfrm>
            <a:off x="5988959" y="4741504"/>
            <a:ext cx="2906486" cy="593767"/>
            <a:chOff x="152401" y="-435768"/>
            <a:chExt cx="2906486" cy="593766"/>
          </a:xfrm>
        </p:grpSpPr>
        <p:sp>
          <p:nvSpPr>
            <p:cNvPr id="426" name="Shape 426"/>
            <p:cNvSpPr/>
            <p:nvPr/>
          </p:nvSpPr>
          <p:spPr>
            <a:xfrm flipH="1" flipV="1">
              <a:off x="1278553" y="-150072"/>
              <a:ext cx="167816" cy="308070"/>
            </a:xfrm>
            <a:prstGeom prst="line">
              <a:avLst/>
            </a:prstGeom>
            <a:noFill/>
            <a:ln w="28575" cap="flat">
              <a:solidFill>
                <a:srgbClr val="1855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>
                  <a:uFillTx/>
                </a:defRPr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ill Sans" charset="0"/>
                <a:ea typeface="Gill Sans" charset="0"/>
                <a:cs typeface="Gill Sans" charset="0"/>
                <a:sym typeface="Helvetica"/>
              </a:endParaRPr>
            </a:p>
          </p:txBody>
        </p:sp>
        <p:sp>
          <p:nvSpPr>
            <p:cNvPr id="427" name="Shape 427"/>
            <p:cNvSpPr/>
            <p:nvPr/>
          </p:nvSpPr>
          <p:spPr>
            <a:xfrm>
              <a:off x="152401" y="-435768"/>
              <a:ext cx="2906486" cy="287564"/>
            </a:xfrm>
            <a:prstGeom prst="roundRect">
              <a:avLst>
                <a:gd name="adj" fmla="val 16827"/>
              </a:avLst>
            </a:prstGeom>
            <a:noFill/>
            <a:ln w="28575" cap="rnd">
              <a:solidFill>
                <a:schemeClr val="bg1">
                  <a:lumMod val="65000"/>
                </a:schemeClr>
              </a:solidFill>
              <a:prstDash val="sysDot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40639" marR="40639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Times Roman"/>
              </a:endParaRPr>
            </a:p>
          </p:txBody>
        </p:sp>
      </p:grpSp>
      <p:sp>
        <p:nvSpPr>
          <p:cNvPr id="429" name="Shape 429"/>
          <p:cNvSpPr/>
          <p:nvPr/>
        </p:nvSpPr>
        <p:spPr>
          <a:xfrm>
            <a:off x="76200" y="1130300"/>
            <a:ext cx="1104900" cy="1104900"/>
          </a:xfrm>
          <a:prstGeom prst="rect">
            <a:avLst/>
          </a:prstGeom>
          <a:solidFill>
            <a:srgbClr val="FFFFFF"/>
          </a:solidFill>
          <a:ln>
            <a:solidFill>
              <a:srgbClr val="000000">
                <a:alpha val="0"/>
              </a:srgbClr>
            </a:solidFill>
            <a:round/>
          </a:ln>
        </p:spPr>
        <p:txBody>
          <a:bodyPr lIns="0" tIns="0" rIns="0" bIns="0" anchor="ctr"/>
          <a:lstStyle/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>
                <a:solidFill/>
              </a:uFill>
              <a:latin typeface="Gill Sans" charset="0"/>
              <a:ea typeface="Gill Sans" charset="0"/>
              <a:cs typeface="Gill Sans" charset="0"/>
              <a:sym typeface="Times Roman"/>
            </a:endParaRPr>
          </a:p>
        </p:txBody>
      </p:sp>
      <p:pic>
        <p:nvPicPr>
          <p:cNvPr id="430" name="droppedImage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72268" y="177628"/>
            <a:ext cx="1244601" cy="2057572"/>
          </a:xfrm>
          <a:prstGeom prst="rect">
            <a:avLst/>
          </a:prstGeom>
          <a:ln>
            <a:round/>
          </a:ln>
        </p:spPr>
      </p:pic>
      <p:sp>
        <p:nvSpPr>
          <p:cNvPr id="431" name="Shape 431"/>
          <p:cNvSpPr/>
          <p:nvPr/>
        </p:nvSpPr>
        <p:spPr>
          <a:xfrm>
            <a:off x="0" y="-38100"/>
            <a:ext cx="8509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ll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</a:p>
        </p:txBody>
      </p:sp>
      <p:sp>
        <p:nvSpPr>
          <p:cNvPr id="432" name="Shape 432"/>
          <p:cNvSpPr/>
          <p:nvPr/>
        </p:nvSpPr>
        <p:spPr>
          <a:xfrm>
            <a:off x="6019800" y="3548390"/>
            <a:ext cx="3308799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700" u="sng"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 u="none">
                <a:uFillTx/>
              </a:defRPr>
            </a:pPr>
            <a:r>
              <a:rPr kumimoji="0" sz="17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Chalkboard"/>
              </a:rPr>
              <a:t>2. T</a:t>
            </a:r>
            <a:r>
              <a:rPr kumimoji="0" lang="en-US" sz="17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Chalkboard"/>
              </a:rPr>
              <a:t>hat can fold quickly, in millisec to sec or min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3775657-D13D-794A-B04B-D6202E3845B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71867" y="4755105"/>
            <a:ext cx="2743200" cy="20655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A05DC3-961E-0741-8F41-7B263BBE17F1}"/>
              </a:ext>
            </a:extLst>
          </p:cNvPr>
          <p:cNvSpPr txBox="1"/>
          <p:nvPr/>
        </p:nvSpPr>
        <p:spPr>
          <a:xfrm>
            <a:off x="6019800" y="5288879"/>
            <a:ext cx="3155041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lvl="0" indent="0" algn="l" defTabSz="914400" rtl="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Most have large fraction of            polar/charged residues, which tend  to stay in water rather than to fold </a:t>
            </a:r>
          </a:p>
        </p:txBody>
      </p:sp>
    </p:spTree>
    <p:extLst>
      <p:ext uri="{BB962C8B-B14F-4D97-AF65-F5344CB8AC3E}">
        <p14:creationId xmlns:p14="http://schemas.microsoft.com/office/powerpoint/2010/main" val="368219799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" grpId="0" animBg="1" advAuto="0"/>
      <p:bldP spid="422" grpId="0" animBg="1" advAuto="0"/>
      <p:bldP spid="423" grpId="0" animBg="1" advAuto="0"/>
      <p:bldP spid="424" grpId="0" animBg="1" advAuto="0"/>
      <p:bldP spid="428" grpId="0" advAuto="0"/>
      <p:bldP spid="432" grpId="0" animBg="1" advAuto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/>
        </p:nvSpPr>
        <p:spPr>
          <a:xfrm>
            <a:off x="6781800" y="-33868"/>
            <a:ext cx="16891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00000"/>
              </a:buClr>
              <a:buFont typeface="Helvetica"/>
              <a:defRPr sz="2000" b="1" u="sng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 u="none">
                <a:uFillTx/>
              </a:defRPr>
            </a:pPr>
            <a:r>
              <a:rPr lang="en-US" sz="24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Folds</a:t>
            </a:r>
          </a:p>
        </p:txBody>
      </p:sp>
      <p:pic>
        <p:nvPicPr>
          <p:cNvPr id="60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141413" cy="1600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2368021" y="254000"/>
            <a:ext cx="1085851" cy="1600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4419600" y="134937"/>
            <a:ext cx="1092200" cy="1922463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Shape 63"/>
          <p:cNvSpPr/>
          <p:nvPr/>
        </p:nvSpPr>
        <p:spPr>
          <a:xfrm>
            <a:off x="5334000" y="1600200"/>
            <a:ext cx="76200" cy="1524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4" name="Shape 64"/>
          <p:cNvSpPr/>
          <p:nvPr/>
        </p:nvSpPr>
        <p:spPr>
          <a:xfrm>
            <a:off x="5334000" y="1752600"/>
            <a:ext cx="76200" cy="1524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65" name="image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3124200"/>
            <a:ext cx="2133600" cy="895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image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2133600" y="2852737"/>
            <a:ext cx="1524000" cy="1236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image.pdf"/>
          <p:cNvPicPr/>
          <p:nvPr/>
        </p:nvPicPr>
        <p:blipFill>
          <a:blip r:embed="rId7"/>
          <a:stretch>
            <a:fillRect/>
          </a:stretch>
        </p:blipFill>
        <p:spPr>
          <a:xfrm>
            <a:off x="4267200" y="2590800"/>
            <a:ext cx="1141413" cy="1714500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Shape 68"/>
          <p:cNvSpPr/>
          <p:nvPr/>
        </p:nvSpPr>
        <p:spPr>
          <a:xfrm>
            <a:off x="5410200" y="32004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9" name="Shape 69"/>
          <p:cNvSpPr/>
          <p:nvPr/>
        </p:nvSpPr>
        <p:spPr>
          <a:xfrm>
            <a:off x="5334000" y="38862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0" name="Shape 70"/>
          <p:cNvSpPr/>
          <p:nvPr/>
        </p:nvSpPr>
        <p:spPr>
          <a:xfrm>
            <a:off x="5257800" y="41148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1" name="Shape 71"/>
          <p:cNvSpPr/>
          <p:nvPr/>
        </p:nvSpPr>
        <p:spPr>
          <a:xfrm>
            <a:off x="5384800" y="3995737"/>
            <a:ext cx="254000" cy="238126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2" name="Shape 72"/>
          <p:cNvSpPr/>
          <p:nvPr/>
        </p:nvSpPr>
        <p:spPr>
          <a:xfrm>
            <a:off x="5367337" y="1633537"/>
            <a:ext cx="111126" cy="279401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3" name="Shape 73"/>
          <p:cNvSpPr/>
          <p:nvPr/>
        </p:nvSpPr>
        <p:spPr>
          <a:xfrm>
            <a:off x="5521325" y="3206750"/>
            <a:ext cx="88900" cy="174625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54432" y="152400"/>
            <a:ext cx="21463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</a:t>
            </a:r>
            <a:r>
              <a:rPr lang="en-US"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ixed</a:t>
            </a: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AND </a:t>
            </a:r>
            <a:r>
              <a:rPr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</a:p>
        </p:txBody>
      </p:sp>
      <p:sp>
        <p:nvSpPr>
          <p:cNvPr id="79" name="Shape 79"/>
          <p:cNvSpPr/>
          <p:nvPr/>
        </p:nvSpPr>
        <p:spPr>
          <a:xfrm>
            <a:off x="5418137" y="1270000"/>
            <a:ext cx="288926" cy="6778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0" name="Shape 80"/>
          <p:cNvSpPr/>
          <p:nvPr/>
        </p:nvSpPr>
        <p:spPr>
          <a:xfrm>
            <a:off x="703262" y="109537"/>
            <a:ext cx="177801" cy="1444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1" name="Shape 81"/>
          <p:cNvSpPr/>
          <p:nvPr/>
        </p:nvSpPr>
        <p:spPr>
          <a:xfrm>
            <a:off x="1109662" y="5969000"/>
            <a:ext cx="523876" cy="2460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2" name="Shape 82"/>
          <p:cNvSpPr/>
          <p:nvPr/>
        </p:nvSpPr>
        <p:spPr>
          <a:xfrm>
            <a:off x="3716337" y="3970337"/>
            <a:ext cx="212726" cy="288926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83" name="image.pdf"/>
          <p:cNvPicPr/>
          <p:nvPr/>
        </p:nvPicPr>
        <p:blipFill>
          <a:blip r:embed="rId8"/>
          <a:stretch>
            <a:fillRect/>
          </a:stretch>
        </p:blipFill>
        <p:spPr>
          <a:xfrm>
            <a:off x="0" y="1897062"/>
            <a:ext cx="5638800" cy="8461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image.pdf"/>
          <p:cNvPicPr/>
          <p:nvPr/>
        </p:nvPicPr>
        <p:blipFill>
          <a:blip r:embed="rId9"/>
          <a:stretch>
            <a:fillRect/>
          </a:stretch>
        </p:blipFill>
        <p:spPr>
          <a:xfrm>
            <a:off x="0" y="4094162"/>
            <a:ext cx="5562600" cy="706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image.pdf"/>
          <p:cNvPicPr/>
          <p:nvPr/>
        </p:nvPicPr>
        <p:blipFill>
          <a:blip r:embed="rId10"/>
          <a:stretch>
            <a:fillRect/>
          </a:stretch>
        </p:blipFill>
        <p:spPr>
          <a:xfrm>
            <a:off x="4495800" y="5943600"/>
            <a:ext cx="914400" cy="8032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image.pdf"/>
          <p:cNvPicPr/>
          <p:nvPr/>
        </p:nvPicPr>
        <p:blipFill>
          <a:blip r:embed="rId11"/>
          <a:stretch>
            <a:fillRect/>
          </a:stretch>
        </p:blipFill>
        <p:spPr>
          <a:xfrm>
            <a:off x="0" y="6149975"/>
            <a:ext cx="1633538" cy="7318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image.pdf"/>
          <p:cNvPicPr/>
          <p:nvPr/>
        </p:nvPicPr>
        <p:blipFill>
          <a:blip r:embed="rId12"/>
          <a:stretch>
            <a:fillRect/>
          </a:stretch>
        </p:blipFill>
        <p:spPr>
          <a:xfrm>
            <a:off x="320675" y="4927600"/>
            <a:ext cx="1200150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Shape 88"/>
          <p:cNvSpPr/>
          <p:nvPr/>
        </p:nvSpPr>
        <p:spPr>
          <a:xfrm>
            <a:off x="5867400" y="381000"/>
            <a:ext cx="3289300" cy="2316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everal different research groups publish "fold databases"</a:t>
            </a:r>
          </a:p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PDB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-- M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ost up-to-date protein structures, links to SCOP, CATH, etc.</a:t>
            </a:r>
          </a:p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SCOP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–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Structural Classification of Proteins</a:t>
            </a:r>
          </a:p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CATH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–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Class, Architecture, Topology, Homology</a:t>
            </a:r>
          </a:p>
        </p:txBody>
      </p:sp>
      <p:pic>
        <p:nvPicPr>
          <p:cNvPr id="89" name="droppedImage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172617" y="424469"/>
            <a:ext cx="1043182" cy="1475185"/>
          </a:xfrm>
          <a:prstGeom prst="rect">
            <a:avLst/>
          </a:prstGeom>
          <a:ln>
            <a:round/>
          </a:ln>
        </p:spPr>
      </p:pic>
      <p:pic>
        <p:nvPicPr>
          <p:cNvPr id="90" name="droppedImage.png"/>
          <p:cNvPicPr/>
          <p:nvPr/>
        </p:nvPicPr>
        <p:blipFill>
          <a:blip r:embed="rId14"/>
          <a:stretch>
            <a:fillRect/>
          </a:stretch>
        </p:blipFill>
        <p:spPr>
          <a:xfrm>
            <a:off x="4445793" y="221032"/>
            <a:ext cx="1002507" cy="1758581"/>
          </a:xfrm>
          <a:prstGeom prst="rect">
            <a:avLst/>
          </a:prstGeom>
          <a:ln>
            <a:round/>
          </a:ln>
        </p:spPr>
      </p:pic>
      <p:pic>
        <p:nvPicPr>
          <p:cNvPr id="91" name="droppedImage.png"/>
          <p:cNvPicPr/>
          <p:nvPr/>
        </p:nvPicPr>
        <p:blipFill>
          <a:blip r:embed="rId15"/>
          <a:stretch>
            <a:fillRect/>
          </a:stretch>
        </p:blipFill>
        <p:spPr>
          <a:xfrm>
            <a:off x="4308475" y="2666984"/>
            <a:ext cx="1028801" cy="1502982"/>
          </a:xfrm>
          <a:prstGeom prst="rect">
            <a:avLst/>
          </a:prstGeom>
          <a:ln>
            <a:round/>
          </a:ln>
        </p:spPr>
      </p:pic>
      <p:pic>
        <p:nvPicPr>
          <p:cNvPr id="92" name="droppedImage.png"/>
          <p:cNvPicPr/>
          <p:nvPr/>
        </p:nvPicPr>
        <p:blipFill>
          <a:blip r:embed="rId16"/>
          <a:stretch>
            <a:fillRect/>
          </a:stretch>
        </p:blipFill>
        <p:spPr>
          <a:xfrm>
            <a:off x="110704" y="4789884"/>
            <a:ext cx="1827237" cy="1450182"/>
          </a:xfrm>
          <a:prstGeom prst="rect">
            <a:avLst/>
          </a:prstGeom>
          <a:ln>
            <a:round/>
          </a:ln>
        </p:spPr>
      </p:pic>
      <p:grpSp>
        <p:nvGrpSpPr>
          <p:cNvPr id="5" name="Group 4"/>
          <p:cNvGrpSpPr/>
          <p:nvPr/>
        </p:nvGrpSpPr>
        <p:grpSpPr>
          <a:xfrm>
            <a:off x="4445793" y="3179339"/>
            <a:ext cx="4922894" cy="3624264"/>
            <a:chOff x="4445793" y="3179339"/>
            <a:chExt cx="4922894" cy="3624264"/>
          </a:xfrm>
        </p:grpSpPr>
        <p:grpSp>
          <p:nvGrpSpPr>
            <p:cNvPr id="4" name="Group 3"/>
            <p:cNvGrpSpPr/>
            <p:nvPr/>
          </p:nvGrpSpPr>
          <p:grpSpPr>
            <a:xfrm>
              <a:off x="4445793" y="3179339"/>
              <a:ext cx="4754889" cy="3624264"/>
              <a:chOff x="4419600" y="3192463"/>
              <a:chExt cx="4754889" cy="3624264"/>
            </a:xfrm>
          </p:grpSpPr>
          <p:grpSp>
            <p:nvGrpSpPr>
              <p:cNvPr id="78" name="Group 78"/>
              <p:cNvGrpSpPr/>
              <p:nvPr/>
            </p:nvGrpSpPr>
            <p:grpSpPr>
              <a:xfrm>
                <a:off x="4419600" y="3192463"/>
                <a:ext cx="4754889" cy="3624264"/>
                <a:chOff x="0" y="0"/>
                <a:chExt cx="4754888" cy="3624263"/>
              </a:xfrm>
            </p:grpSpPr>
            <p:pic>
              <p:nvPicPr>
                <p:cNvPr id="75" name="Protein descrip icon.jpg"/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5700" y="0"/>
                  <a:ext cx="2389188" cy="219075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76" name="Shape 76"/>
                <p:cNvSpPr/>
                <p:nvPr/>
              </p:nvSpPr>
              <p:spPr>
                <a:xfrm>
                  <a:off x="0" y="2609850"/>
                  <a:ext cx="1041400" cy="1014413"/>
                </a:xfrm>
                <a:prstGeom prst="rect">
                  <a:avLst/>
                </a:prstGeom>
                <a:noFill/>
                <a:ln w="76200" cap="rnd">
                  <a:solidFill>
                    <a:srgbClr val="000000"/>
                  </a:solidFill>
                  <a:prstDash val="sysDot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/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77" name="Shape 77"/>
                <p:cNvSpPr/>
                <p:nvPr/>
              </p:nvSpPr>
              <p:spPr>
                <a:xfrm rot="19980000">
                  <a:off x="1057267" y="1854097"/>
                  <a:ext cx="1219201" cy="685801"/>
                </a:xfrm>
                <a:prstGeom prst="rightArrow">
                  <a:avLst>
                    <a:gd name="adj1" fmla="val 50000"/>
                    <a:gd name="adj2" fmla="val 44444"/>
                  </a:avLst>
                </a:prstGeom>
                <a:noFill/>
                <a:ln w="28575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/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sp>
            <p:nvSpPr>
              <p:cNvPr id="3" name="Rectangle 2"/>
              <p:cNvSpPr/>
              <p:nvPr/>
            </p:nvSpPr>
            <p:spPr>
              <a:xfrm>
                <a:off x="6830712" y="3607957"/>
                <a:ext cx="198422" cy="47192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noFill/>
                <a:prstDash val="solid"/>
                <a:round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40639" marR="40639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Times Roman"/>
                </a:endParaRP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7133487" y="3314700"/>
              <a:ext cx="2235200" cy="2010807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Times Roman"/>
                </a:rPr>
                <a:t>PDB identifier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Fold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Times Roman"/>
                </a:rPr>
                <a:t>Superfamily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Family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Times Roman"/>
                </a:rPr>
                <a:t>Protein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Species</a:t>
              </a:r>
              <a:endParaRPr kumimoji="0" lang="en-US" sz="2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Times Roman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BAC9557-BBC6-D410-1C45-D78C761B4F1E}"/>
              </a:ext>
            </a:extLst>
          </p:cNvPr>
          <p:cNvSpPr txBox="1"/>
          <p:nvPr/>
        </p:nvSpPr>
        <p:spPr>
          <a:xfrm>
            <a:off x="6018213" y="2848091"/>
            <a:ext cx="2690160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SCOP classification:</a:t>
            </a:r>
          </a:p>
        </p:txBody>
      </p:sp>
    </p:spTree>
    <p:extLst>
      <p:ext uri="{BB962C8B-B14F-4D97-AF65-F5344CB8AC3E}">
        <p14:creationId xmlns:p14="http://schemas.microsoft.com/office/powerpoint/2010/main" val="102369913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54E5-CD76-8447-8203-3463F4765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29" y="69359"/>
            <a:ext cx="7772400" cy="1600200"/>
          </a:xfrm>
        </p:spPr>
        <p:txBody>
          <a:bodyPr/>
          <a:lstStyle/>
          <a:p>
            <a:r>
              <a:rPr lang="en-US" dirty="0"/>
              <a:t>Fold Patterns Drawn in 2D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D73DE-4FFB-2543-BA46-E518A1775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06286"/>
            <a:ext cx="8680863" cy="5180610"/>
          </a:xfrm>
        </p:spPr>
        <p:txBody>
          <a:bodyPr/>
          <a:lstStyle/>
          <a:p>
            <a:r>
              <a:rPr lang="en-US" dirty="0"/>
              <a:t>Topology diagram shows beta-sheet connections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36464-7975-7E42-94DC-5F980A755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271" y="4613068"/>
            <a:ext cx="2921000" cy="1295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C38ADD-2C16-E54A-AEA7-7A929C487087}"/>
              </a:ext>
            </a:extLst>
          </p:cNvPr>
          <p:cNvSpPr/>
          <p:nvPr/>
        </p:nvSpPr>
        <p:spPr>
          <a:xfrm>
            <a:off x="587828" y="6302286"/>
            <a:ext cx="85561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/>
              <a:t>https://</a:t>
            </a:r>
            <a:r>
              <a:rPr lang="en-US" b="0" dirty="0" err="1"/>
              <a:t>proteinstructures.com</a:t>
            </a:r>
            <a:r>
              <a:rPr lang="en-US" b="0" dirty="0"/>
              <a:t>/Structure/Structure/protein-</a:t>
            </a:r>
            <a:r>
              <a:rPr lang="en-US" b="0" dirty="0" err="1"/>
              <a:t>motifs.html</a:t>
            </a:r>
            <a:endParaRPr lang="en-US" b="0" dirty="0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39678D13-1522-B94A-9069-4A720EF0D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87" y="2139877"/>
            <a:ext cx="4616043" cy="349564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71EF50A-451B-3F43-9CB3-FAFA398060D1}"/>
              </a:ext>
            </a:extLst>
          </p:cNvPr>
          <p:cNvGrpSpPr/>
          <p:nvPr/>
        </p:nvGrpSpPr>
        <p:grpSpPr>
          <a:xfrm>
            <a:off x="786496" y="3871201"/>
            <a:ext cx="4474302" cy="2137217"/>
            <a:chOff x="789708" y="4512623"/>
            <a:chExt cx="4474302" cy="213721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95F4DA-8688-DB49-A9AE-ACD2BB559256}"/>
                </a:ext>
              </a:extLst>
            </p:cNvPr>
            <p:cNvSpPr/>
            <p:nvPr/>
          </p:nvSpPr>
          <p:spPr>
            <a:xfrm>
              <a:off x="2968833" y="4512623"/>
              <a:ext cx="1401288" cy="1496291"/>
            </a:xfrm>
            <a:prstGeom prst="rect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5E24F0-A66A-0547-829E-4C40D1EC2758}"/>
                </a:ext>
              </a:extLst>
            </p:cNvPr>
            <p:cNvSpPr txBox="1"/>
            <p:nvPr/>
          </p:nvSpPr>
          <p:spPr>
            <a:xfrm>
              <a:off x="789708" y="6301027"/>
              <a:ext cx="4474302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rPr>
                <a:t>Greek Key Motif (Jane Richardson, Duke U.)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889E4A4-6431-9944-9E44-3ED5B03BA4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2" t="7713" r="63357" b="72118"/>
          <a:stretch/>
        </p:blipFill>
        <p:spPr>
          <a:xfrm>
            <a:off x="5860744" y="1922745"/>
            <a:ext cx="2380731" cy="2408097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0B2D84A-B718-8947-B604-D9DA6C86945B}"/>
              </a:ext>
            </a:extLst>
          </p:cNvPr>
          <p:cNvGrpSpPr/>
          <p:nvPr/>
        </p:nvGrpSpPr>
        <p:grpSpPr>
          <a:xfrm>
            <a:off x="5941899" y="2251827"/>
            <a:ext cx="2142787" cy="1634373"/>
            <a:chOff x="5941899" y="2251827"/>
            <a:chExt cx="2142787" cy="1634373"/>
          </a:xfrm>
        </p:grpSpPr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ABA960CE-1A56-A34D-98BB-F61E3E05D312}"/>
                </a:ext>
              </a:extLst>
            </p:cNvPr>
            <p:cNvSpPr/>
            <p:nvPr/>
          </p:nvSpPr>
          <p:spPr>
            <a:xfrm>
              <a:off x="6499728" y="2618366"/>
              <a:ext cx="529233" cy="1045894"/>
            </a:xfrm>
            <a:prstGeom prst="downArrow">
              <a:avLst/>
            </a:prstGeom>
            <a:solidFill>
              <a:srgbClr val="C6E6E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15" name="Up Arrow 14">
              <a:extLst>
                <a:ext uri="{FF2B5EF4-FFF2-40B4-BE49-F238E27FC236}">
                  <a16:creationId xmlns:a16="http://schemas.microsoft.com/office/drawing/2014/main" id="{EE8F32D1-C88C-914D-99DB-E74176D569AF}"/>
                </a:ext>
              </a:extLst>
            </p:cNvPr>
            <p:cNvSpPr/>
            <p:nvPr/>
          </p:nvSpPr>
          <p:spPr>
            <a:xfrm>
              <a:off x="7011041" y="2618366"/>
              <a:ext cx="503750" cy="810634"/>
            </a:xfrm>
            <a:prstGeom prst="up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16" name="Up Arrow 15">
              <a:extLst>
                <a:ext uri="{FF2B5EF4-FFF2-40B4-BE49-F238E27FC236}">
                  <a16:creationId xmlns:a16="http://schemas.microsoft.com/office/drawing/2014/main" id="{B38EE463-6512-214A-8ED2-0CD7385C2CA4}"/>
                </a:ext>
              </a:extLst>
            </p:cNvPr>
            <p:cNvSpPr/>
            <p:nvPr/>
          </p:nvSpPr>
          <p:spPr>
            <a:xfrm>
              <a:off x="5941899" y="2524716"/>
              <a:ext cx="503750" cy="933092"/>
            </a:xfrm>
            <a:prstGeom prst="up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17868B3-98E0-224C-867E-E956D57E80DC}"/>
                </a:ext>
              </a:extLst>
            </p:cNvPr>
            <p:cNvSpPr/>
            <p:nvPr/>
          </p:nvSpPr>
          <p:spPr>
            <a:xfrm>
              <a:off x="7255042" y="3453063"/>
              <a:ext cx="541421" cy="204537"/>
            </a:xfrm>
            <a:custGeom>
              <a:avLst/>
              <a:gdLst>
                <a:gd name="connsiteX0" fmla="*/ 0 w 541421"/>
                <a:gd name="connsiteY0" fmla="*/ 0 h 204537"/>
                <a:gd name="connsiteX1" fmla="*/ 12032 w 541421"/>
                <a:gd name="connsiteY1" fmla="*/ 108284 h 204537"/>
                <a:gd name="connsiteX2" fmla="*/ 24063 w 541421"/>
                <a:gd name="connsiteY2" fmla="*/ 144379 h 204537"/>
                <a:gd name="connsiteX3" fmla="*/ 132347 w 541421"/>
                <a:gd name="connsiteY3" fmla="*/ 204537 h 204537"/>
                <a:gd name="connsiteX4" fmla="*/ 336884 w 541421"/>
                <a:gd name="connsiteY4" fmla="*/ 192505 h 204537"/>
                <a:gd name="connsiteX5" fmla="*/ 481263 w 541421"/>
                <a:gd name="connsiteY5" fmla="*/ 180474 h 204537"/>
                <a:gd name="connsiteX6" fmla="*/ 517358 w 541421"/>
                <a:gd name="connsiteY6" fmla="*/ 144379 h 204537"/>
                <a:gd name="connsiteX7" fmla="*/ 541421 w 541421"/>
                <a:gd name="connsiteY7" fmla="*/ 48126 h 204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1421" h="204537">
                  <a:moveTo>
                    <a:pt x="0" y="0"/>
                  </a:moveTo>
                  <a:cubicBezTo>
                    <a:pt x="4011" y="36095"/>
                    <a:pt x="6062" y="72461"/>
                    <a:pt x="12032" y="108284"/>
                  </a:cubicBezTo>
                  <a:cubicBezTo>
                    <a:pt x="14117" y="120794"/>
                    <a:pt x="15095" y="135411"/>
                    <a:pt x="24063" y="144379"/>
                  </a:cubicBezTo>
                  <a:cubicBezTo>
                    <a:pt x="65432" y="185748"/>
                    <a:pt x="86960" y="189407"/>
                    <a:pt x="132347" y="204537"/>
                  </a:cubicBezTo>
                  <a:lnTo>
                    <a:pt x="336884" y="192505"/>
                  </a:lnTo>
                  <a:cubicBezTo>
                    <a:pt x="385063" y="189182"/>
                    <a:pt x="434600" y="192917"/>
                    <a:pt x="481263" y="180474"/>
                  </a:cubicBezTo>
                  <a:cubicBezTo>
                    <a:pt x="497704" y="176090"/>
                    <a:pt x="505326" y="156411"/>
                    <a:pt x="517358" y="144379"/>
                  </a:cubicBezTo>
                  <a:lnTo>
                    <a:pt x="541421" y="48126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C0C6B9B-A2D2-A940-8D56-A7233383BE44}"/>
                </a:ext>
              </a:extLst>
            </p:cNvPr>
            <p:cNvSpPr/>
            <p:nvPr/>
          </p:nvSpPr>
          <p:spPr>
            <a:xfrm rot="10800000">
              <a:off x="6728060" y="2414349"/>
              <a:ext cx="541421" cy="204537"/>
            </a:xfrm>
            <a:custGeom>
              <a:avLst/>
              <a:gdLst>
                <a:gd name="connsiteX0" fmla="*/ 0 w 541421"/>
                <a:gd name="connsiteY0" fmla="*/ 0 h 204537"/>
                <a:gd name="connsiteX1" fmla="*/ 12032 w 541421"/>
                <a:gd name="connsiteY1" fmla="*/ 108284 h 204537"/>
                <a:gd name="connsiteX2" fmla="*/ 24063 w 541421"/>
                <a:gd name="connsiteY2" fmla="*/ 144379 h 204537"/>
                <a:gd name="connsiteX3" fmla="*/ 132347 w 541421"/>
                <a:gd name="connsiteY3" fmla="*/ 204537 h 204537"/>
                <a:gd name="connsiteX4" fmla="*/ 336884 w 541421"/>
                <a:gd name="connsiteY4" fmla="*/ 192505 h 204537"/>
                <a:gd name="connsiteX5" fmla="*/ 481263 w 541421"/>
                <a:gd name="connsiteY5" fmla="*/ 180474 h 204537"/>
                <a:gd name="connsiteX6" fmla="*/ 517358 w 541421"/>
                <a:gd name="connsiteY6" fmla="*/ 144379 h 204537"/>
                <a:gd name="connsiteX7" fmla="*/ 541421 w 541421"/>
                <a:gd name="connsiteY7" fmla="*/ 48126 h 204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1421" h="204537">
                  <a:moveTo>
                    <a:pt x="0" y="0"/>
                  </a:moveTo>
                  <a:cubicBezTo>
                    <a:pt x="4011" y="36095"/>
                    <a:pt x="6062" y="72461"/>
                    <a:pt x="12032" y="108284"/>
                  </a:cubicBezTo>
                  <a:cubicBezTo>
                    <a:pt x="14117" y="120794"/>
                    <a:pt x="15095" y="135411"/>
                    <a:pt x="24063" y="144379"/>
                  </a:cubicBezTo>
                  <a:cubicBezTo>
                    <a:pt x="65432" y="185748"/>
                    <a:pt x="86960" y="189407"/>
                    <a:pt x="132347" y="204537"/>
                  </a:cubicBezTo>
                  <a:lnTo>
                    <a:pt x="336884" y="192505"/>
                  </a:lnTo>
                  <a:cubicBezTo>
                    <a:pt x="385063" y="189182"/>
                    <a:pt x="434600" y="192917"/>
                    <a:pt x="481263" y="180474"/>
                  </a:cubicBezTo>
                  <a:cubicBezTo>
                    <a:pt x="497704" y="176090"/>
                    <a:pt x="505326" y="156411"/>
                    <a:pt x="517358" y="144379"/>
                  </a:cubicBezTo>
                  <a:lnTo>
                    <a:pt x="541421" y="48126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B0B0BE2-6867-6A4C-AD26-3EA70EB3DD80}"/>
                </a:ext>
              </a:extLst>
            </p:cNvPr>
            <p:cNvSpPr/>
            <p:nvPr/>
          </p:nvSpPr>
          <p:spPr>
            <a:xfrm rot="10800000">
              <a:off x="6196262" y="2251827"/>
              <a:ext cx="1600199" cy="342476"/>
            </a:xfrm>
            <a:custGeom>
              <a:avLst/>
              <a:gdLst>
                <a:gd name="connsiteX0" fmla="*/ 0 w 541421"/>
                <a:gd name="connsiteY0" fmla="*/ 0 h 204537"/>
                <a:gd name="connsiteX1" fmla="*/ 12032 w 541421"/>
                <a:gd name="connsiteY1" fmla="*/ 108284 h 204537"/>
                <a:gd name="connsiteX2" fmla="*/ 24063 w 541421"/>
                <a:gd name="connsiteY2" fmla="*/ 144379 h 204537"/>
                <a:gd name="connsiteX3" fmla="*/ 132347 w 541421"/>
                <a:gd name="connsiteY3" fmla="*/ 204537 h 204537"/>
                <a:gd name="connsiteX4" fmla="*/ 336884 w 541421"/>
                <a:gd name="connsiteY4" fmla="*/ 192505 h 204537"/>
                <a:gd name="connsiteX5" fmla="*/ 481263 w 541421"/>
                <a:gd name="connsiteY5" fmla="*/ 180474 h 204537"/>
                <a:gd name="connsiteX6" fmla="*/ 517358 w 541421"/>
                <a:gd name="connsiteY6" fmla="*/ 144379 h 204537"/>
                <a:gd name="connsiteX7" fmla="*/ 541421 w 541421"/>
                <a:gd name="connsiteY7" fmla="*/ 48126 h 204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1421" h="204537">
                  <a:moveTo>
                    <a:pt x="0" y="0"/>
                  </a:moveTo>
                  <a:cubicBezTo>
                    <a:pt x="4011" y="36095"/>
                    <a:pt x="6062" y="72461"/>
                    <a:pt x="12032" y="108284"/>
                  </a:cubicBezTo>
                  <a:cubicBezTo>
                    <a:pt x="14117" y="120794"/>
                    <a:pt x="15095" y="135411"/>
                    <a:pt x="24063" y="144379"/>
                  </a:cubicBezTo>
                  <a:cubicBezTo>
                    <a:pt x="65432" y="185748"/>
                    <a:pt x="86960" y="189407"/>
                    <a:pt x="132347" y="204537"/>
                  </a:cubicBezTo>
                  <a:lnTo>
                    <a:pt x="336884" y="192505"/>
                  </a:lnTo>
                  <a:cubicBezTo>
                    <a:pt x="385063" y="189182"/>
                    <a:pt x="434600" y="192917"/>
                    <a:pt x="481263" y="180474"/>
                  </a:cubicBezTo>
                  <a:cubicBezTo>
                    <a:pt x="497704" y="176090"/>
                    <a:pt x="505326" y="156411"/>
                    <a:pt x="517358" y="144379"/>
                  </a:cubicBezTo>
                  <a:lnTo>
                    <a:pt x="541421" y="48126"/>
                  </a:lnTo>
                </a:path>
              </a:pathLst>
            </a:custGeom>
            <a:noFill/>
            <a:ln w="28575" cap="flat">
              <a:solidFill>
                <a:schemeClr val="tx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0050B63-4FB2-CD49-B3DA-66893C6F50B9}"/>
                </a:ext>
              </a:extLst>
            </p:cNvPr>
            <p:cNvSpPr/>
            <p:nvPr/>
          </p:nvSpPr>
          <p:spPr>
            <a:xfrm>
              <a:off x="6749713" y="3669632"/>
              <a:ext cx="1034719" cy="216568"/>
            </a:xfrm>
            <a:custGeom>
              <a:avLst/>
              <a:gdLst>
                <a:gd name="connsiteX0" fmla="*/ 12034 w 1034719"/>
                <a:gd name="connsiteY0" fmla="*/ 0 h 216568"/>
                <a:gd name="connsiteX1" fmla="*/ 12034 w 1034719"/>
                <a:gd name="connsiteY1" fmla="*/ 156410 h 216568"/>
                <a:gd name="connsiteX2" fmla="*/ 24066 w 1034719"/>
                <a:gd name="connsiteY2" fmla="*/ 192505 h 216568"/>
                <a:gd name="connsiteX3" fmla="*/ 96255 w 1034719"/>
                <a:gd name="connsiteY3" fmla="*/ 216568 h 216568"/>
                <a:gd name="connsiteX4" fmla="*/ 782055 w 1034719"/>
                <a:gd name="connsiteY4" fmla="*/ 204536 h 216568"/>
                <a:gd name="connsiteX5" fmla="*/ 986592 w 1034719"/>
                <a:gd name="connsiteY5" fmla="*/ 180473 h 216568"/>
                <a:gd name="connsiteX6" fmla="*/ 1034719 w 1034719"/>
                <a:gd name="connsiteY6" fmla="*/ 192505 h 21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4719" h="216568">
                  <a:moveTo>
                    <a:pt x="12034" y="0"/>
                  </a:moveTo>
                  <a:cubicBezTo>
                    <a:pt x="-915" y="90650"/>
                    <a:pt x="-6837" y="71492"/>
                    <a:pt x="12034" y="156410"/>
                  </a:cubicBezTo>
                  <a:cubicBezTo>
                    <a:pt x="14785" y="168791"/>
                    <a:pt x="13746" y="185133"/>
                    <a:pt x="24066" y="192505"/>
                  </a:cubicBezTo>
                  <a:cubicBezTo>
                    <a:pt x="44706" y="207248"/>
                    <a:pt x="96255" y="216568"/>
                    <a:pt x="96255" y="216568"/>
                  </a:cubicBezTo>
                  <a:lnTo>
                    <a:pt x="782055" y="204536"/>
                  </a:lnTo>
                  <a:cubicBezTo>
                    <a:pt x="838396" y="202854"/>
                    <a:pt x="927337" y="188938"/>
                    <a:pt x="986592" y="180473"/>
                  </a:cubicBezTo>
                  <a:lnTo>
                    <a:pt x="1034719" y="192505"/>
                  </a:ln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CBFBE713-E7F8-844E-AEBA-5433814CAFA6}"/>
                </a:ext>
              </a:extLst>
            </p:cNvPr>
            <p:cNvSpPr/>
            <p:nvPr/>
          </p:nvSpPr>
          <p:spPr>
            <a:xfrm>
              <a:off x="7555453" y="2467327"/>
              <a:ext cx="529233" cy="1045894"/>
            </a:xfrm>
            <a:prstGeom prst="downArrow">
              <a:avLst/>
            </a:prstGeom>
            <a:solidFill>
              <a:srgbClr val="C6E6E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0371137"/>
      </p:ext>
    </p:extLst>
  </p:cSld>
  <p:clrMapOvr>
    <a:masterClrMapping/>
  </p:clrMapOvr>
  <p:transition spd="med"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-355600" y="0"/>
            <a:ext cx="991870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100"/>
              </a:spcBef>
              <a:buClr>
                <a:srgbClr val="000000"/>
              </a:buClr>
              <a:buFont typeface="Helvetica"/>
              <a:defRPr sz="19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W</a:t>
            </a:r>
            <a:r>
              <a:rPr lang="en-US" sz="2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here we are, where we are going in the study of biochemistry:</a:t>
            </a:r>
          </a:p>
        </p:txBody>
      </p:sp>
      <p:sp>
        <p:nvSpPr>
          <p:cNvPr id="42" name="Shape 42"/>
          <p:cNvSpPr/>
          <p:nvPr/>
        </p:nvSpPr>
        <p:spPr>
          <a:xfrm>
            <a:off x="42813" y="685800"/>
            <a:ext cx="1765300" cy="276999"/>
          </a:xfrm>
          <a:prstGeom prst="rect">
            <a:avLst/>
          </a:prstGeom>
          <a:ln>
            <a:solidFill>
              <a:srgbClr val="1E31E3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100"/>
              </a:spcBef>
              <a:buClr>
                <a:srgbClr val="1E31E3"/>
              </a:buClr>
              <a:buFont typeface="Helvetica"/>
              <a:defRPr sz="1800" b="1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b="0">
                <a:solidFill>
                  <a:srgbClr val="000000"/>
                </a:solidFill>
                <a:uFillTx/>
              </a:defRPr>
            </a:pPr>
            <a:r>
              <a:rPr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rotein structure</a:t>
            </a:r>
          </a:p>
        </p:txBody>
      </p:sp>
      <p:sp>
        <p:nvSpPr>
          <p:cNvPr id="43" name="Shape 43"/>
          <p:cNvSpPr/>
          <p:nvPr/>
        </p:nvSpPr>
        <p:spPr>
          <a:xfrm>
            <a:off x="990600" y="1371600"/>
            <a:ext cx="1612900" cy="276999"/>
          </a:xfrm>
          <a:prstGeom prst="rect">
            <a:avLst/>
          </a:prstGeom>
          <a:ln>
            <a:solidFill>
              <a:srgbClr val="1E31E3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100"/>
              </a:spcBef>
              <a:buClr>
                <a:srgbClr val="1E31E3"/>
              </a:buClr>
              <a:buFont typeface="Helvetica"/>
              <a:defRPr sz="1800" b="1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b="0">
                <a:solidFill>
                  <a:srgbClr val="000000"/>
                </a:solidFill>
                <a:uFillTx/>
              </a:defRPr>
            </a:pPr>
            <a:r>
              <a:rPr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</a:t>
            </a:r>
            <a:r>
              <a:rPr lang="en-US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nzyme catalysis</a:t>
            </a:r>
          </a:p>
        </p:txBody>
      </p:sp>
      <p:sp>
        <p:nvSpPr>
          <p:cNvPr id="44" name="Shape 44"/>
          <p:cNvSpPr/>
          <p:nvPr/>
        </p:nvSpPr>
        <p:spPr>
          <a:xfrm>
            <a:off x="1981200" y="2222500"/>
            <a:ext cx="2222500" cy="276999"/>
          </a:xfrm>
          <a:prstGeom prst="rect">
            <a:avLst/>
          </a:prstGeom>
          <a:ln>
            <a:solidFill>
              <a:srgbClr val="1E31E3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100"/>
              </a:spcBef>
              <a:buClr>
                <a:srgbClr val="1E31E3"/>
              </a:buClr>
              <a:buFont typeface="Helvetica"/>
              <a:defRPr sz="1800" b="1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b="0">
                <a:solidFill>
                  <a:srgbClr val="000000"/>
                </a:solidFill>
                <a:uFillTx/>
              </a:defRPr>
            </a:pPr>
            <a:r>
              <a:rPr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</a:t>
            </a:r>
            <a:r>
              <a:rPr lang="en-US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egulation of enzymes</a:t>
            </a:r>
          </a:p>
        </p:txBody>
      </p:sp>
      <p:sp>
        <p:nvSpPr>
          <p:cNvPr id="45" name="Shape 45"/>
          <p:cNvSpPr/>
          <p:nvPr/>
        </p:nvSpPr>
        <p:spPr>
          <a:xfrm>
            <a:off x="3124200" y="3098800"/>
            <a:ext cx="1390650" cy="246221"/>
          </a:xfrm>
          <a:prstGeom prst="rect">
            <a:avLst/>
          </a:prstGeom>
          <a:ln>
            <a:solidFill>
              <a:srgbClr val="1E31E3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E31E3"/>
              </a:buClr>
              <a:buFont typeface="Helvetica"/>
              <a:defRPr sz="1600" b="1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B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iomembranes</a:t>
            </a:r>
          </a:p>
        </p:txBody>
      </p:sp>
      <p:sp>
        <p:nvSpPr>
          <p:cNvPr id="46" name="Shape 46"/>
          <p:cNvSpPr/>
          <p:nvPr/>
        </p:nvSpPr>
        <p:spPr>
          <a:xfrm>
            <a:off x="4191000" y="3657601"/>
            <a:ext cx="1452563" cy="246221"/>
          </a:xfrm>
          <a:prstGeom prst="rect">
            <a:avLst/>
          </a:prstGeom>
          <a:ln>
            <a:solidFill>
              <a:srgbClr val="1E31E3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E31E3"/>
              </a:buClr>
              <a:buFont typeface="Helvetica"/>
              <a:defRPr sz="1600" b="1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C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arbohydrates</a:t>
            </a:r>
          </a:p>
        </p:txBody>
      </p:sp>
      <p:sp>
        <p:nvSpPr>
          <p:cNvPr id="47" name="Shape 47"/>
          <p:cNvSpPr/>
          <p:nvPr/>
        </p:nvSpPr>
        <p:spPr>
          <a:xfrm>
            <a:off x="5334000" y="4229100"/>
            <a:ext cx="1917700" cy="276999"/>
          </a:xfrm>
          <a:prstGeom prst="rect">
            <a:avLst/>
          </a:prstGeom>
          <a:ln>
            <a:solidFill>
              <a:srgbClr val="1E31E3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100"/>
              </a:spcBef>
              <a:buClr>
                <a:srgbClr val="1E31E3"/>
              </a:buClr>
              <a:buFont typeface="Helvetica"/>
              <a:defRPr sz="1800" b="1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b="0">
                <a:solidFill>
                  <a:srgbClr val="000000"/>
                </a:solidFill>
                <a:uFillTx/>
              </a:defRPr>
            </a:pPr>
            <a:r>
              <a:rPr b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METABOLISM</a:t>
            </a:r>
          </a:p>
        </p:txBody>
      </p:sp>
      <p:sp>
        <p:nvSpPr>
          <p:cNvPr id="48" name="Shape 48"/>
          <p:cNvSpPr/>
          <p:nvPr/>
        </p:nvSpPr>
        <p:spPr>
          <a:xfrm>
            <a:off x="3530599" y="5156200"/>
            <a:ext cx="915670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D038D9"/>
              </a:buClr>
              <a:buFont typeface="Helvetica"/>
              <a:defRPr sz="1600" b="1">
                <a:solidFill>
                  <a:srgbClr val="D038D9"/>
                </a:solidFill>
                <a:uFill>
                  <a:solidFill>
                    <a:srgbClr val="D038D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038D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038D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nterconnections and control of metabolism are based on proteins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843087" y="685800"/>
            <a:ext cx="2362201" cy="246221"/>
            <a:chOff x="0" y="0"/>
            <a:chExt cx="2362200" cy="246221"/>
          </a:xfrm>
        </p:grpSpPr>
        <p:sp>
          <p:nvSpPr>
            <p:cNvPr id="49" name="Shape 49"/>
            <p:cNvSpPr/>
            <p:nvPr/>
          </p:nvSpPr>
          <p:spPr>
            <a:xfrm>
              <a:off x="533400" y="0"/>
              <a:ext cx="18288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D038D9"/>
                </a:buClr>
                <a:buFont typeface="Helvetica"/>
                <a:defRPr sz="1600" b="1">
                  <a:solidFill>
                    <a:srgbClr val="D038D9"/>
                  </a:solidFill>
                  <a:uFill>
                    <a:solidFill>
                      <a:srgbClr val="D038D9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038D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W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038D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e are here</a:t>
              </a:r>
            </a:p>
          </p:txBody>
        </p:sp>
        <p:sp>
          <p:nvSpPr>
            <p:cNvPr id="50" name="Shape 50"/>
            <p:cNvSpPr/>
            <p:nvPr/>
          </p:nvSpPr>
          <p:spPr>
            <a:xfrm flipH="1">
              <a:off x="0" y="138112"/>
              <a:ext cx="495300" cy="1588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52" name="Shape 52"/>
          <p:cNvSpPr/>
          <p:nvPr/>
        </p:nvSpPr>
        <p:spPr>
          <a:xfrm>
            <a:off x="5057775" y="533400"/>
            <a:ext cx="51181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D038D9"/>
              </a:buClr>
              <a:buFont typeface="Helvetica"/>
              <a:defRPr sz="1600" b="1">
                <a:solidFill>
                  <a:srgbClr val="D038D9"/>
                </a:solidFill>
                <a:uFill>
                  <a:solidFill>
                    <a:srgbClr val="D038D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038D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W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038D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hat structures do we observe?</a:t>
            </a:r>
          </a:p>
        </p:txBody>
      </p:sp>
      <p:sp>
        <p:nvSpPr>
          <p:cNvPr id="53" name="Shape 53"/>
          <p:cNvSpPr/>
          <p:nvPr/>
        </p:nvSpPr>
        <p:spPr>
          <a:xfrm>
            <a:off x="5057775" y="914400"/>
            <a:ext cx="43561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D038D9"/>
              </a:buClr>
              <a:buFont typeface="Helvetica"/>
              <a:defRPr sz="1600" b="1">
                <a:solidFill>
                  <a:srgbClr val="D038D9"/>
                </a:solidFill>
                <a:uFill>
                  <a:solidFill>
                    <a:srgbClr val="D038D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038D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038D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ow do catalysts work?</a:t>
            </a:r>
          </a:p>
        </p:txBody>
      </p:sp>
      <p:sp>
        <p:nvSpPr>
          <p:cNvPr id="54" name="Shape 54"/>
          <p:cNvSpPr/>
          <p:nvPr/>
        </p:nvSpPr>
        <p:spPr>
          <a:xfrm>
            <a:off x="5057775" y="1295400"/>
            <a:ext cx="41275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D038D9"/>
              </a:buClr>
              <a:buFont typeface="Helvetica"/>
              <a:defRPr sz="1600" b="1">
                <a:solidFill>
                  <a:srgbClr val="D038D9"/>
                </a:solidFill>
                <a:uFill>
                  <a:solidFill>
                    <a:srgbClr val="D038D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038D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038D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ow are enzymes controlled?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4635500" y="4051300"/>
            <a:ext cx="3937000" cy="1003300"/>
            <a:chOff x="0" y="0"/>
            <a:chExt cx="3937000" cy="1003300"/>
          </a:xfrm>
        </p:grpSpPr>
        <p:grpSp>
          <p:nvGrpSpPr>
            <p:cNvPr id="57" name="Group 57"/>
            <p:cNvGrpSpPr/>
            <p:nvPr/>
          </p:nvGrpSpPr>
          <p:grpSpPr>
            <a:xfrm>
              <a:off x="0" y="0"/>
              <a:ext cx="3937000" cy="1003300"/>
              <a:chOff x="0" y="0"/>
              <a:chExt cx="3937000" cy="1003300"/>
            </a:xfrm>
          </p:grpSpPr>
          <p:sp>
            <p:nvSpPr>
              <p:cNvPr id="55" name="Shape 55"/>
              <p:cNvSpPr/>
              <p:nvPr/>
            </p:nvSpPr>
            <p:spPr>
              <a:xfrm>
                <a:off x="0" y="0"/>
                <a:ext cx="3937000" cy="10033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56" name="Shape 56"/>
              <p:cNvSpPr/>
              <p:nvPr/>
            </p:nvSpPr>
            <p:spPr>
              <a:xfrm>
                <a:off x="76200" y="177800"/>
                <a:ext cx="3759200" cy="615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2400"/>
                  </a:spcBef>
                  <a:buClr>
                    <a:srgbClr val="1E31E3"/>
                  </a:buClr>
                  <a:buFont typeface="Helvetica"/>
                  <a:defRPr sz="4000" b="1">
                    <a:solidFill>
                      <a:srgbClr val="1E31E3"/>
                    </a:solidFill>
                    <a:uFill>
                      <a:solidFill>
                        <a:srgbClr val="1E31E3"/>
                      </a:solidFill>
                    </a:u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  <a:uFillTx/>
                  </a:defRPr>
                </a:pPr>
                <a:r>
                  <a:rPr sz="4000" b="0" dirty="0">
                    <a:solidFill>
                      <a:schemeClr val="tx1"/>
                    </a:solidFill>
                    <a:uFill>
                      <a:solidFill>
                        <a:srgbClr val="1E31E3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M</a:t>
                </a:r>
                <a:r>
                  <a:rPr lang="en-US" sz="4000" b="0" dirty="0">
                    <a:solidFill>
                      <a:schemeClr val="tx1"/>
                    </a:solidFill>
                    <a:uFill>
                      <a:solidFill>
                        <a:srgbClr val="1E31E3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etabolism</a:t>
                </a:r>
              </a:p>
            </p:txBody>
          </p:sp>
        </p:grpSp>
        <p:sp>
          <p:nvSpPr>
            <p:cNvPr id="58" name="Shape 58"/>
            <p:cNvSpPr/>
            <p:nvPr/>
          </p:nvSpPr>
          <p:spPr>
            <a:xfrm>
              <a:off x="30160" y="203200"/>
              <a:ext cx="2514600" cy="635000"/>
            </a:xfrm>
            <a:prstGeom prst="rect">
              <a:avLst/>
            </a:prstGeom>
            <a:noFill/>
            <a:ln w="9525" cap="flat">
              <a:solidFill>
                <a:srgbClr val="1E31E3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038600" y="571500"/>
            <a:ext cx="1079500" cy="914400"/>
            <a:chOff x="0" y="-38100"/>
            <a:chExt cx="1079500" cy="914400"/>
          </a:xfrm>
        </p:grpSpPr>
        <p:sp>
          <p:nvSpPr>
            <p:cNvPr id="60" name="Shape 60"/>
            <p:cNvSpPr/>
            <p:nvPr/>
          </p:nvSpPr>
          <p:spPr>
            <a:xfrm>
              <a:off x="904875" y="-38100"/>
              <a:ext cx="114300" cy="914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5635" y="0"/>
                    <a:pt x="10800" y="806"/>
                    <a:pt x="10800" y="1800"/>
                  </a:cubicBezTo>
                  <a:lnTo>
                    <a:pt x="10800" y="8925"/>
                  </a:lnTo>
                  <a:cubicBezTo>
                    <a:pt x="10800" y="9919"/>
                    <a:pt x="5965" y="10725"/>
                    <a:pt x="0" y="10725"/>
                  </a:cubicBezTo>
                  <a:cubicBezTo>
                    <a:pt x="5965" y="10725"/>
                    <a:pt x="10800" y="11531"/>
                    <a:pt x="10800" y="12525"/>
                  </a:cubicBezTo>
                  <a:lnTo>
                    <a:pt x="10800" y="19800"/>
                  </a:lnTo>
                  <a:cubicBezTo>
                    <a:pt x="10800" y="20794"/>
                    <a:pt x="15635" y="21600"/>
                    <a:pt x="21600" y="21600"/>
                  </a:cubicBezTo>
                </a:path>
              </a:pathLst>
            </a:custGeom>
            <a:noFill/>
            <a:ln w="12700" cap="flat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1" name="Shape 61"/>
            <p:cNvSpPr/>
            <p:nvPr/>
          </p:nvSpPr>
          <p:spPr>
            <a:xfrm>
              <a:off x="0" y="142875"/>
              <a:ext cx="1079500" cy="492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D038D9"/>
                </a:buClr>
                <a:buFont typeface="Helvetica"/>
                <a:defRPr sz="1600" b="1">
                  <a:solidFill>
                    <a:srgbClr val="D038D9"/>
                  </a:solidFill>
                  <a:uFill>
                    <a:solidFill>
                      <a:srgbClr val="D038D9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038D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C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038D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oming soon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61256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6E6E9"/>
        </a:solidFill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Times Roman"/>
        <a:ea typeface="Times Roman"/>
        <a:cs typeface="Times Roman"/>
      </a:majorFont>
      <a:minorFont>
        <a:latin typeface="Times Roman"/>
        <a:ea typeface="Times Roman"/>
        <a:cs typeface="Times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6E6E9"/>
        </a:solidFill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44794</TotalTime>
  <Words>1404</Words>
  <Application>Microsoft Macintosh PowerPoint</Application>
  <PresentationFormat>On-screen Show (4:3)</PresentationFormat>
  <Paragraphs>167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ArialMT</vt:lpstr>
      <vt:lpstr>Gill Sans</vt:lpstr>
      <vt:lpstr>Gill Sans MT</vt:lpstr>
      <vt:lpstr>Gill Sans Regular</vt:lpstr>
      <vt:lpstr>GillSans</vt:lpstr>
      <vt:lpstr>Helvetica</vt:lpstr>
      <vt:lpstr>Lucida Grande</vt:lpstr>
      <vt:lpstr>Wingdings 2</vt:lpstr>
      <vt:lpstr>White</vt:lpstr>
      <vt:lpstr>PowerPoint Presentation</vt:lpstr>
      <vt:lpstr>PowerPoint Presentation</vt:lpstr>
      <vt:lpstr>PowerPoint Presentation</vt:lpstr>
      <vt:lpstr>“Special” secondary structure: Collagen</vt:lpstr>
      <vt:lpstr>PowerPoint Presentation</vt:lpstr>
      <vt:lpstr>How does this crosslink form?</vt:lpstr>
      <vt:lpstr>New topic: what is a stable protein fold?</vt:lpstr>
      <vt:lpstr>PowerPoint Presentation</vt:lpstr>
      <vt:lpstr>PowerPoint Presentation</vt:lpstr>
      <vt:lpstr>PowerPoint Presentation</vt:lpstr>
      <vt:lpstr>PowerPoint Presentation</vt:lpstr>
      <vt:lpstr>Fold Patterns Drawn in 2D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Linda K. Nicholson</cp:lastModifiedBy>
  <cp:revision>195</cp:revision>
  <cp:lastPrinted>2024-08-22T19:36:46Z</cp:lastPrinted>
  <dcterms:modified xsi:type="dcterms:W3CDTF">2024-08-22T19:39:53Z</dcterms:modified>
</cp:coreProperties>
</file>