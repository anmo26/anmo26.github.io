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21" r:id="rId2"/>
    <p:sldId id="306" r:id="rId3"/>
    <p:sldId id="313" r:id="rId4"/>
    <p:sldId id="319" r:id="rId5"/>
    <p:sldId id="314" r:id="rId6"/>
    <p:sldId id="318" r:id="rId7"/>
    <p:sldId id="317" r:id="rId8"/>
    <p:sldId id="315" r:id="rId9"/>
    <p:sldId id="316" r:id="rId10"/>
    <p:sldId id="298" r:id="rId11"/>
    <p:sldId id="300" r:id="rId12"/>
    <p:sldId id="320" r:id="rId13"/>
    <p:sldId id="299" r:id="rId14"/>
    <p:sldId id="312" r:id="rId15"/>
    <p:sldId id="301" r:id="rId16"/>
    <p:sldId id="302" r:id="rId17"/>
    <p:sldId id="303" r:id="rId18"/>
  </p:sldIdLst>
  <p:sldSz cx="9144000" cy="6858000" type="screen4x3"/>
  <p:notesSz cx="6858000" cy="9144000"/>
  <p:defaultTextStyle>
    <a:lvl1pPr marL="40639" marR="40639">
      <a:defRPr sz="2000" b="1">
        <a:uFill>
          <a:solidFill/>
        </a:uFill>
        <a:latin typeface="Helvetica"/>
        <a:ea typeface="Helvetica"/>
        <a:cs typeface="Helvetica"/>
        <a:sym typeface="Helvetica"/>
      </a:defRPr>
    </a:lvl1pPr>
    <a:lvl2pPr marL="40639" marR="40639" indent="3429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2pPr>
    <a:lvl3pPr marL="40639" marR="40639" indent="6858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3pPr>
    <a:lvl4pPr marL="40639" marR="40639" indent="10287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4pPr>
    <a:lvl5pPr marL="40639" marR="40639" indent="13716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5pPr>
    <a:lvl6pPr marL="40639" marR="40639" indent="17145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6pPr>
    <a:lvl7pPr marL="40639" marR="40639" indent="20574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7pPr>
    <a:lvl8pPr marL="40639" marR="40639" indent="24003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8pPr>
    <a:lvl9pPr marL="40639" marR="40639" indent="27432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55FF"/>
    <a:srgbClr val="054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243"/>
    <p:restoredTop sz="96683" autoAdjust="0"/>
  </p:normalViewPr>
  <p:slideViewPr>
    <p:cSldViewPr snapToGrid="0" snapToObjects="1">
      <p:cViewPr varScale="1">
        <p:scale>
          <a:sx n="92" d="100"/>
          <a:sy n="92" d="100"/>
        </p:scale>
        <p:origin x="184" y="5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4" name="Shape 1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00586138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58420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92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39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81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81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34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88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22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74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948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32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39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289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34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827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345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8964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29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1pPr>
          </a:lstStyle>
          <a:p>
            <a:pPr lvl="0">
              <a:defRPr sz="1800">
                <a:uFillTx/>
              </a:defRPr>
            </a:pPr>
            <a:r>
              <a:rPr sz="4400" dirty="0">
                <a:uFill>
                  <a:solidFill/>
                </a:uFill>
              </a:rP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1pPr>
            <a:lvl2pPr marL="783590" indent="-285750">
              <a:spcBef>
                <a:spcPts val="600"/>
              </a:spcBef>
              <a:buChar char="–"/>
              <a:defRPr sz="2800"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2pPr>
            <a:lvl3pPr marL="1183639" indent="-228600">
              <a:spcBef>
                <a:spcPts val="500"/>
              </a:spcBef>
              <a:defRPr sz="2400"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3pPr>
            <a:lvl4pPr marL="1640839" indent="-228600">
              <a:spcBef>
                <a:spcPts val="400"/>
              </a:spcBef>
              <a:buChar char="–"/>
              <a:defRPr sz="2000"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4pPr>
            <a:lvl5pPr marL="2098039" indent="-228600">
              <a:spcBef>
                <a:spcPts val="400"/>
              </a:spcBef>
              <a:buChar char="»"/>
              <a:defRPr sz="2000"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5pPr>
          </a:lstStyle>
          <a:p>
            <a:pPr lvl="0">
              <a:defRPr sz="1800">
                <a:uFillTx/>
              </a:defRPr>
            </a:pPr>
            <a:r>
              <a:rPr sz="3200" dirty="0">
                <a:uFill>
                  <a:solidFill/>
                </a:uFill>
              </a:rPr>
              <a:t>Body Level One</a:t>
            </a:r>
          </a:p>
          <a:p>
            <a:pPr lvl="1">
              <a:defRPr sz="1800">
                <a:uFillTx/>
              </a:defRPr>
            </a:pPr>
            <a:r>
              <a:rPr sz="2800" dirty="0">
                <a:uFill>
                  <a:solidFill/>
                </a:uFill>
              </a:rPr>
              <a:t>Body Level Two</a:t>
            </a:r>
          </a:p>
          <a:p>
            <a:pPr lvl="2">
              <a:defRPr sz="1800">
                <a:uFillTx/>
              </a:defRPr>
            </a:pPr>
            <a:r>
              <a:rPr sz="2400" dirty="0">
                <a:uFill>
                  <a:solidFill/>
                </a:uFill>
              </a:rPr>
              <a:t>Body Level Three</a:t>
            </a:r>
          </a:p>
          <a:p>
            <a:pPr lvl="3">
              <a:defRPr sz="1800">
                <a:uFillTx/>
              </a:defRPr>
            </a:pPr>
            <a:r>
              <a:rPr sz="2000" dirty="0">
                <a:uFill>
                  <a:solidFill/>
                </a:uFill>
              </a:rPr>
              <a:t>Body Level Four</a:t>
            </a:r>
          </a:p>
          <a:p>
            <a:pPr lvl="4">
              <a:defRPr sz="1800">
                <a:uFillTx/>
              </a:defRPr>
            </a:pPr>
            <a:r>
              <a:rPr sz="2000" dirty="0">
                <a:uFill>
                  <a:solidFill/>
                </a:uFill>
              </a:rPr>
              <a:t>Body Level Five</a:t>
            </a:r>
          </a:p>
        </p:txBody>
      </p:sp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xfrm>
            <a:off x="7397497" y="6248400"/>
            <a:ext cx="216406" cy="21544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 dirty="0"/>
          </a:p>
        </p:txBody>
      </p:sp>
    </p:spTree>
  </p:cSld>
  <p:clrMapOvr>
    <a:masterClrMapping/>
  </p:clrMapOvr>
  <p:transition spd="med" advClick="0" advTm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60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pPr lvl="0">
              <a:defRPr sz="1800">
                <a:uFillTx/>
              </a:defRPr>
            </a:pPr>
            <a:r>
              <a:rPr sz="4400">
                <a:uFill>
                  <a:solidFill/>
                </a:uFill>
              </a:rP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87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>
            <a:lvl2pPr marL="783590" indent="-285750">
              <a:spcBef>
                <a:spcPts val="600"/>
              </a:spcBef>
              <a:buChar char="–"/>
              <a:defRPr sz="2800"/>
            </a:lvl2pPr>
            <a:lvl3pPr marL="1183639" indent="-228600">
              <a:spcBef>
                <a:spcPts val="500"/>
              </a:spcBef>
              <a:defRPr sz="2400"/>
            </a:lvl3pPr>
            <a:lvl4pPr marL="1640839" indent="-228600">
              <a:spcBef>
                <a:spcPts val="400"/>
              </a:spcBef>
              <a:buChar char="–"/>
              <a:defRPr sz="2000"/>
            </a:lvl4pPr>
            <a:lvl5pPr marL="2098039" indent="-228600">
              <a:spcBef>
                <a:spcPts val="400"/>
              </a:spcBef>
              <a:buChar char="»"/>
              <a:defRPr sz="2000"/>
            </a:lvl5pPr>
          </a:lstStyle>
          <a:p>
            <a:pPr lvl="0">
              <a:defRPr sz="1800">
                <a:uFillTx/>
              </a:defRPr>
            </a:pPr>
            <a:r>
              <a:rPr sz="3200">
                <a:uFill>
                  <a:solidFill/>
                </a:uFill>
              </a:rPr>
              <a:t>Body Level One</a:t>
            </a:r>
          </a:p>
          <a:p>
            <a:pPr lvl="1">
              <a:defRPr sz="1800">
                <a:uFillTx/>
              </a:defRPr>
            </a:pPr>
            <a:r>
              <a:rPr sz="2800">
                <a:uFill>
                  <a:solidFill/>
                </a:uFill>
              </a:rPr>
              <a:t>Body Level Two</a:t>
            </a:r>
          </a:p>
          <a:p>
            <a:pPr lvl="2">
              <a:defRPr sz="1800">
                <a:uFillTx/>
              </a:defRPr>
            </a:pPr>
            <a:r>
              <a:rPr sz="2400">
                <a:uFill>
                  <a:solidFill/>
                </a:uFill>
              </a:rPr>
              <a:t>Body Level Three</a:t>
            </a:r>
          </a:p>
          <a:p>
            <a:pPr lvl="3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Four</a:t>
            </a:r>
          </a:p>
          <a:p>
            <a:pPr lvl="4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7359650" y="6248400"/>
            <a:ext cx="292100" cy="3302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marL="0" marR="0" algn="ctr" defTabSz="584200">
              <a:defRPr sz="1400" b="0">
                <a:latin typeface="+mn-lt"/>
                <a:ea typeface="+mn-ea"/>
                <a:cs typeface="+mn-cs"/>
                <a:sym typeface="Times Roman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ransition spd="med"/>
  <p:txStyles>
    <p:titleStyle>
      <a:lvl1pPr marL="40639" marR="40639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1pPr>
      <a:lvl2pPr marL="40639" marR="40639" indent="2286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2pPr>
      <a:lvl3pPr marL="40639" marR="40639" indent="4572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3pPr>
      <a:lvl4pPr marL="40639" marR="40639" indent="6858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4pPr>
      <a:lvl5pPr marL="40639" marR="40639" indent="9144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5pPr>
      <a:lvl6pPr marL="40639" marR="40639" indent="11430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6pPr>
      <a:lvl7pPr marL="40639" marR="40639" indent="13716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7pPr>
      <a:lvl8pPr marL="40639" marR="40639" indent="16002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8pPr>
      <a:lvl9pPr marL="40639" marR="40639" indent="18288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9pPr>
    </p:titleStyle>
    <p:bodyStyle>
      <a:lvl1pPr marL="383540" marR="40639" indent="-34290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1pPr>
      <a:lvl2pPr marL="824411" marR="40639" indent="-326571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2pPr>
      <a:lvl3pPr marL="1259839" marR="40639" indent="-30480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3pPr>
      <a:lvl4pPr marL="17780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4pPr>
      <a:lvl5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5pPr>
      <a:lvl6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6pPr>
      <a:lvl7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7pPr>
      <a:lvl8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8pPr>
      <a:lvl9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9pPr>
    </p:bodyStyle>
    <p:otherStyle>
      <a:lvl1pPr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1pPr>
      <a:lvl2pPr indent="2286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2pPr>
      <a:lvl3pPr indent="4572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3pPr>
      <a:lvl4pPr indent="6858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4pPr>
      <a:lvl5pPr indent="9144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5pPr>
      <a:lvl6pPr indent="11430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6pPr>
      <a:lvl7pPr indent="13716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7pPr>
      <a:lvl8pPr indent="16002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8pPr>
      <a:lvl9pPr indent="18288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9035-B42D-2042-A7FE-0D0BF0F67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A6A3A-03D9-0441-A662-5A199B99A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REVIEW of LEVELS OF PROTEIN STRUCTURE</a:t>
            </a:r>
          </a:p>
          <a:p>
            <a:endParaRPr lang="en-US" sz="28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Gill Sans" charset="0"/>
              <a:cs typeface="Gill Sans" charset="0"/>
            </a:endParaRPr>
          </a:p>
          <a:p>
            <a:r>
              <a:rPr lang="en-US" sz="28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ill Sans" charset="0"/>
                <a:cs typeface="Gill Sans" charset="0"/>
              </a:rPr>
              <a:t>THERMODYNAMIC STABILITY OF PROTEINS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73446877"/>
      </p:ext>
    </p:extLst>
  </p:cSld>
  <p:clrMapOvr>
    <a:masterClrMapping/>
  </p:clrMapOvr>
  <p:transition spd="med" advClick="0" advTm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/>
          <p:nvPr/>
        </p:nvSpPr>
        <p:spPr>
          <a:xfrm>
            <a:off x="0" y="0"/>
            <a:ext cx="91567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200"/>
              </a:spcBef>
              <a:buClr>
                <a:srgbClr val="000000"/>
              </a:buClr>
              <a:buFont typeface="Helvetica"/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4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W</a:t>
            </a:r>
            <a:r>
              <a:rPr lang="en-US" sz="24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hat are these binding/interaction domains all about?!</a:t>
            </a:r>
          </a:p>
        </p:txBody>
      </p:sp>
      <p:pic>
        <p:nvPicPr>
          <p:cNvPr id="353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4467225" y="495300"/>
            <a:ext cx="4664075" cy="6324600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Shape 354"/>
          <p:cNvSpPr/>
          <p:nvPr/>
        </p:nvSpPr>
        <p:spPr>
          <a:xfrm>
            <a:off x="381000" y="601662"/>
            <a:ext cx="34417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184AFF"/>
              </a:buClr>
              <a:buFont typeface="Helvetica"/>
              <a:defRPr sz="1600" b="1">
                <a:solidFill>
                  <a:srgbClr val="184AFF"/>
                </a:solidFill>
                <a:uFill>
                  <a:solidFill>
                    <a:srgbClr val="184A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nterconnections</a:t>
            </a:r>
            <a:r>
              <a:rPr sz="1600" b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!</a:t>
            </a:r>
          </a:p>
        </p:txBody>
      </p:sp>
      <p:grpSp>
        <p:nvGrpSpPr>
          <p:cNvPr id="357" name="Group 357"/>
          <p:cNvGrpSpPr/>
          <p:nvPr/>
        </p:nvGrpSpPr>
        <p:grpSpPr>
          <a:xfrm>
            <a:off x="381000" y="533400"/>
            <a:ext cx="3964900" cy="6324600"/>
            <a:chOff x="0" y="0"/>
            <a:chExt cx="3964900" cy="6324600"/>
          </a:xfrm>
        </p:grpSpPr>
        <p:sp>
          <p:nvSpPr>
            <p:cNvPr id="355" name="Shape 355"/>
            <p:cNvSpPr/>
            <p:nvPr/>
          </p:nvSpPr>
          <p:spPr>
            <a:xfrm>
              <a:off x="3736300" y="0"/>
              <a:ext cx="228600" cy="63246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563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5965" y="10800"/>
                    <a:pt x="0" y="10800"/>
                  </a:cubicBezTo>
                  <a:cubicBezTo>
                    <a:pt x="596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15635" y="21600"/>
                    <a:pt x="21600" y="21600"/>
                  </a:cubicBezTo>
                </a:path>
              </a:pathLst>
            </a:custGeom>
            <a:noFill/>
            <a:ln w="28575" cap="flat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56" name="Shape 356"/>
            <p:cNvSpPr/>
            <p:nvPr/>
          </p:nvSpPr>
          <p:spPr>
            <a:xfrm>
              <a:off x="0" y="457200"/>
              <a:ext cx="3746500" cy="7386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184AFF"/>
                </a:buClr>
                <a:buFont typeface="Helvetica"/>
                <a:defRPr sz="1600" b="1">
                  <a:solidFill>
                    <a:srgbClr val="184AFF"/>
                  </a:solidFill>
                  <a:uFill>
                    <a:solidFill>
                      <a:srgbClr val="184AFF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>
                  <a:solidFill>
                    <a:schemeClr val="tx1"/>
                  </a:solidFill>
                  <a:uFill>
                    <a:solidFill>
                      <a:srgbClr val="184A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~ 5000 </a:t>
              </a:r>
              <a:r>
                <a:rPr lang="en-US" sz="1600" b="0">
                  <a:solidFill>
                    <a:schemeClr val="tx1"/>
                  </a:solidFill>
                  <a:uFill>
                    <a:solidFill>
                      <a:srgbClr val="184A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reactions in a cell must be coordinated with each other;  turned on/off at exactly the right times</a:t>
              </a:r>
            </a:p>
          </p:txBody>
        </p:sp>
      </p:grpSp>
      <p:sp>
        <p:nvSpPr>
          <p:cNvPr id="358" name="Shape 358"/>
          <p:cNvSpPr/>
          <p:nvPr/>
        </p:nvSpPr>
        <p:spPr>
          <a:xfrm>
            <a:off x="381000" y="2659062"/>
            <a:ext cx="3670300" cy="153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184AFF"/>
              </a:buClr>
              <a:buFont typeface="Helvetica"/>
              <a:defRPr sz="1600" b="1">
                <a:solidFill>
                  <a:srgbClr val="184AFF"/>
                </a:solidFill>
                <a:uFill>
                  <a:solidFill>
                    <a:srgbClr val="184A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B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inding/interaction domains (scaffold proteins) are one main way to </a:t>
            </a:r>
            <a:r>
              <a:rPr lang="en-US" sz="1600" b="0" dirty="0">
                <a:solidFill>
                  <a:srgbClr val="1855FF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connect these reactions</a:t>
            </a:r>
            <a:r>
              <a:rPr sz="1600" b="0" dirty="0">
                <a:solidFill>
                  <a:srgbClr val="1855FF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: </a:t>
            </a:r>
            <a:r>
              <a:rPr lang="en-US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                                       </a:t>
            </a:r>
            <a:r>
              <a:rPr lang="en-US" b="0" dirty="0" err="1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xx</a:t>
            </a:r>
            <a:r>
              <a:rPr lang="en-US" sz="1600" b="0" dirty="0" err="1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to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each other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;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                                      </a:t>
            </a:r>
            <a:r>
              <a:rPr lang="en-US" sz="1600" b="0" dirty="0" err="1">
                <a:solidFill>
                  <a:schemeClr val="bg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xx</a:t>
            </a:r>
            <a:r>
              <a:rPr lang="en-US" sz="1600" b="0" dirty="0" err="1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to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"signals”;                                           </a:t>
            </a:r>
            <a:r>
              <a:rPr lang="en-US" sz="1600" b="0" dirty="0" err="1">
                <a:solidFill>
                  <a:schemeClr val="bg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xx</a:t>
            </a:r>
            <a:r>
              <a:rPr lang="en-US" sz="1600" b="0" dirty="0" err="1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to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DNA &amp; RNA</a:t>
            </a:r>
          </a:p>
        </p:txBody>
      </p:sp>
    </p:spTree>
    <p:extLst>
      <p:ext uri="{BB962C8B-B14F-4D97-AF65-F5344CB8AC3E}">
        <p14:creationId xmlns:p14="http://schemas.microsoft.com/office/powerpoint/2010/main" val="1807007820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" grpId="0" animBg="1" advAuto="0"/>
      <p:bldP spid="357" grpId="0" advAuto="0"/>
      <p:bldP spid="358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/>
          </p:cNvSpPr>
          <p:nvPr>
            <p:ph type="title"/>
          </p:nvPr>
        </p:nvSpPr>
        <p:spPr>
          <a:xfrm>
            <a:off x="28575" y="-91815"/>
            <a:ext cx="9372600" cy="5080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uFillTx/>
              </a:defRPr>
            </a:pPr>
            <a:r>
              <a:rPr sz="22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R</a:t>
            </a:r>
            <a:r>
              <a:rPr lang="en-US" sz="22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eview of the levels of protein structure</a:t>
            </a:r>
            <a:r>
              <a:rPr sz="22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:</a:t>
            </a:r>
          </a:p>
        </p:txBody>
      </p:sp>
      <p:pic>
        <p:nvPicPr>
          <p:cNvPr id="483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3076575" y="1193800"/>
            <a:ext cx="2514600" cy="102076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4" name="image.pdf"/>
          <p:cNvPicPr/>
          <p:nvPr/>
        </p:nvPicPr>
        <p:blipFill>
          <a:blip r:embed="rId4"/>
          <a:stretch>
            <a:fillRect/>
          </a:stretch>
        </p:blipFill>
        <p:spPr>
          <a:xfrm>
            <a:off x="6743700" y="508000"/>
            <a:ext cx="2505075" cy="201136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5" name="image.pdf"/>
          <p:cNvPicPr/>
          <p:nvPr/>
        </p:nvPicPr>
        <p:blipFill>
          <a:blip r:embed="rId5"/>
          <a:stretch>
            <a:fillRect/>
          </a:stretch>
        </p:blipFill>
        <p:spPr>
          <a:xfrm>
            <a:off x="1628775" y="3479800"/>
            <a:ext cx="1169988" cy="20939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" name="image.pdf"/>
          <p:cNvPicPr/>
          <p:nvPr/>
        </p:nvPicPr>
        <p:blipFill>
          <a:blip r:embed="rId6"/>
          <a:stretch>
            <a:fillRect/>
          </a:stretch>
        </p:blipFill>
        <p:spPr>
          <a:xfrm>
            <a:off x="5438775" y="3479800"/>
            <a:ext cx="2076450" cy="2230438"/>
          </a:xfrm>
          <a:prstGeom prst="rect">
            <a:avLst/>
          </a:prstGeom>
          <a:ln w="12700">
            <a:miter lim="400000"/>
          </a:ln>
        </p:spPr>
      </p:pic>
      <p:sp>
        <p:nvSpPr>
          <p:cNvPr id="487" name="Shape 487"/>
          <p:cNvSpPr/>
          <p:nvPr/>
        </p:nvSpPr>
        <p:spPr>
          <a:xfrm>
            <a:off x="2584450" y="2076450"/>
            <a:ext cx="4102100" cy="982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</a:t>
            </a:r>
            <a:r>
              <a:rPr lang="en-US"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econdary structure, </a:t>
            </a:r>
            <a:r>
              <a:rPr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II</a:t>
            </a:r>
          </a:p>
          <a:p>
            <a:pPr lvl="0">
              <a:spcBef>
                <a:spcPts val="700"/>
              </a:spcBef>
              <a:buClr>
                <a:srgbClr val="0222B9"/>
              </a:buClr>
              <a:buFont typeface="Symbol"/>
              <a:defRPr sz="1800">
                <a:uFillTx/>
              </a:defRPr>
            </a:pPr>
            <a:r>
              <a:rPr sz="1400" b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  <a:r>
              <a:rPr sz="1400" b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-</a:t>
            </a:r>
            <a:r>
              <a:rPr lang="en-US" sz="1400" b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helix, </a:t>
            </a:r>
            <a:r>
              <a:rPr lang="en-US" sz="1400" b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β</a:t>
            </a:r>
            <a:r>
              <a:rPr lang="en-US" sz="1400" b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-sheet, turns, "loops", collagen                                                    call these "elements of structure", no regard for sidechain details</a:t>
            </a:r>
          </a:p>
        </p:txBody>
      </p:sp>
      <p:sp>
        <p:nvSpPr>
          <p:cNvPr id="488" name="Shape 488"/>
          <p:cNvSpPr/>
          <p:nvPr/>
        </p:nvSpPr>
        <p:spPr>
          <a:xfrm>
            <a:off x="6442075" y="2184400"/>
            <a:ext cx="298450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F</a:t>
            </a:r>
            <a:r>
              <a:rPr lang="en-US"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olds</a:t>
            </a:r>
          </a:p>
        </p:txBody>
      </p:sp>
      <p:sp>
        <p:nvSpPr>
          <p:cNvPr id="489" name="Shape 489"/>
          <p:cNvSpPr/>
          <p:nvPr/>
        </p:nvSpPr>
        <p:spPr>
          <a:xfrm>
            <a:off x="612775" y="5410200"/>
            <a:ext cx="4483100" cy="892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T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ertiary structure</a:t>
            </a:r>
            <a:r>
              <a:rPr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, III                 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                    </a:t>
            </a:r>
            <a:r>
              <a:rPr sz="14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ntire path of </a:t>
            </a:r>
            <a:r>
              <a:rPr lang="en-US" sz="1400" b="0" u="sng" dirty="0">
                <a:solidFill>
                  <a:schemeClr val="tx1"/>
                </a:solidFill>
                <a:uFill>
                  <a:solidFill>
                    <a:srgbClr val="1855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single polypeptide chain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.  </a:t>
            </a:r>
            <a:r>
              <a:rPr sz="14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(A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ll the folds that specify the 3D structure: </a:t>
            </a:r>
            <a:r>
              <a:rPr sz="14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M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ight be one or several or many folds). Also, </a:t>
            </a:r>
            <a:r>
              <a:rPr lang="en-US" sz="140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sidechain structure is included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!</a:t>
            </a:r>
          </a:p>
        </p:txBody>
      </p:sp>
      <p:sp>
        <p:nvSpPr>
          <p:cNvPr id="490" name="Shape 490"/>
          <p:cNvSpPr/>
          <p:nvPr/>
        </p:nvSpPr>
        <p:spPr>
          <a:xfrm>
            <a:off x="5286375" y="5486400"/>
            <a:ext cx="3746500" cy="520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Q</a:t>
            </a:r>
            <a:r>
              <a:rPr lang="en-US"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uaternary structure</a:t>
            </a:r>
            <a:r>
              <a:rPr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, IV</a:t>
            </a:r>
          </a:p>
          <a:p>
            <a:pPr lvl="0">
              <a:spcBef>
                <a:spcPts val="7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2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(D</a:t>
            </a:r>
            <a:r>
              <a:rPr lang="en-US" sz="12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imer is shown</a:t>
            </a:r>
            <a:r>
              <a:rPr sz="12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)</a:t>
            </a:r>
          </a:p>
        </p:txBody>
      </p:sp>
      <p:pic>
        <p:nvPicPr>
          <p:cNvPr id="491" name="image.pdf"/>
          <p:cNvPicPr/>
          <p:nvPr/>
        </p:nvPicPr>
        <p:blipFill>
          <a:blip r:embed="rId7"/>
          <a:stretch>
            <a:fillRect/>
          </a:stretch>
        </p:blipFill>
        <p:spPr>
          <a:xfrm>
            <a:off x="104775" y="1089025"/>
            <a:ext cx="22098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492" name="Shape 492"/>
          <p:cNvSpPr/>
          <p:nvPr/>
        </p:nvSpPr>
        <p:spPr>
          <a:xfrm>
            <a:off x="0" y="2057400"/>
            <a:ext cx="2984500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P</a:t>
            </a:r>
            <a:r>
              <a:rPr lang="en-US"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rimary structure</a:t>
            </a:r>
            <a:r>
              <a:rPr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, I</a:t>
            </a:r>
          </a:p>
          <a:p>
            <a:pPr lvl="0">
              <a:spcBef>
                <a:spcPts val="800"/>
              </a:spcBef>
              <a:buClr>
                <a:srgbClr val="0222B9"/>
              </a:buClr>
              <a:buFont typeface="Helvetica"/>
              <a:defRPr sz="1800">
                <a:uFillTx/>
              </a:defRPr>
            </a:pPr>
            <a:r>
              <a:rPr sz="1400" b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T</a:t>
            </a:r>
            <a:r>
              <a:rPr lang="en-US" sz="1400" b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he</a:t>
            </a:r>
            <a:r>
              <a:rPr sz="1400" b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AA </a:t>
            </a:r>
            <a:r>
              <a:rPr lang="en-US" sz="1400" b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sequence</a:t>
            </a:r>
            <a:r>
              <a:rPr lang="en-US" sz="12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</a:p>
        </p:txBody>
      </p:sp>
      <p:sp>
        <p:nvSpPr>
          <p:cNvPr id="493" name="Shape 493"/>
          <p:cNvSpPr/>
          <p:nvPr/>
        </p:nvSpPr>
        <p:spPr>
          <a:xfrm rot="20820000">
            <a:off x="1112" y="1471416"/>
            <a:ext cx="5461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8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-ALA-</a:t>
            </a:r>
          </a:p>
        </p:txBody>
      </p:sp>
      <p:sp>
        <p:nvSpPr>
          <p:cNvPr id="494" name="Shape 494"/>
          <p:cNvSpPr/>
          <p:nvPr/>
        </p:nvSpPr>
        <p:spPr>
          <a:xfrm rot="1920000">
            <a:off x="245782" y="1564151"/>
            <a:ext cx="5461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8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GLY-</a:t>
            </a:r>
          </a:p>
        </p:txBody>
      </p:sp>
      <p:sp>
        <p:nvSpPr>
          <p:cNvPr id="495" name="Shape 495"/>
          <p:cNvSpPr/>
          <p:nvPr/>
        </p:nvSpPr>
        <p:spPr>
          <a:xfrm rot="3780000">
            <a:off x="363283" y="1773073"/>
            <a:ext cx="5461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8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HIS-</a:t>
            </a:r>
          </a:p>
        </p:txBody>
      </p:sp>
      <p:sp>
        <p:nvSpPr>
          <p:cNvPr id="496" name="Shape 496"/>
          <p:cNvSpPr/>
          <p:nvPr/>
        </p:nvSpPr>
        <p:spPr>
          <a:xfrm>
            <a:off x="552450" y="1790700"/>
            <a:ext cx="546100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8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LEU-</a:t>
            </a:r>
          </a:p>
        </p:txBody>
      </p:sp>
      <p:sp>
        <p:nvSpPr>
          <p:cNvPr id="497" name="Shape 497"/>
          <p:cNvSpPr/>
          <p:nvPr/>
        </p:nvSpPr>
        <p:spPr>
          <a:xfrm rot="18600000">
            <a:off x="742222" y="1678251"/>
            <a:ext cx="5461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8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SER-</a:t>
            </a:r>
          </a:p>
        </p:txBody>
      </p:sp>
      <p:sp>
        <p:nvSpPr>
          <p:cNvPr id="498" name="Shape 498"/>
          <p:cNvSpPr/>
          <p:nvPr/>
        </p:nvSpPr>
        <p:spPr>
          <a:xfrm rot="19560000">
            <a:off x="914250" y="1505740"/>
            <a:ext cx="5461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8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CYS-</a:t>
            </a:r>
          </a:p>
        </p:txBody>
      </p:sp>
      <p:sp>
        <p:nvSpPr>
          <p:cNvPr id="499" name="Shape 499"/>
          <p:cNvSpPr/>
          <p:nvPr/>
        </p:nvSpPr>
        <p:spPr>
          <a:xfrm rot="780000">
            <a:off x="1150925" y="1493160"/>
            <a:ext cx="5461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8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PHE-</a:t>
            </a:r>
          </a:p>
        </p:txBody>
      </p:sp>
      <p:sp>
        <p:nvSpPr>
          <p:cNvPr id="500" name="Shape 500"/>
          <p:cNvSpPr/>
          <p:nvPr/>
        </p:nvSpPr>
        <p:spPr>
          <a:xfrm rot="18900000">
            <a:off x="1374709" y="1382384"/>
            <a:ext cx="5461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8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GLN-</a:t>
            </a:r>
          </a:p>
        </p:txBody>
      </p:sp>
      <p:sp>
        <p:nvSpPr>
          <p:cNvPr id="501" name="Shape 501"/>
          <p:cNvSpPr/>
          <p:nvPr/>
        </p:nvSpPr>
        <p:spPr>
          <a:xfrm rot="17820000">
            <a:off x="1521441" y="1147707"/>
            <a:ext cx="5461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8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LYS-</a:t>
            </a:r>
          </a:p>
        </p:txBody>
      </p:sp>
      <p:sp>
        <p:nvSpPr>
          <p:cNvPr id="502" name="Shape 502"/>
          <p:cNvSpPr/>
          <p:nvPr/>
        </p:nvSpPr>
        <p:spPr>
          <a:xfrm rot="20760000">
            <a:off x="1728867" y="1032713"/>
            <a:ext cx="5461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8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ARG-</a:t>
            </a:r>
          </a:p>
        </p:txBody>
      </p:sp>
      <p:sp>
        <p:nvSpPr>
          <p:cNvPr id="503" name="Shape 503"/>
          <p:cNvSpPr/>
          <p:nvPr/>
        </p:nvSpPr>
        <p:spPr>
          <a:xfrm rot="1920000">
            <a:off x="1970302" y="1098928"/>
            <a:ext cx="5461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8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PRO-</a:t>
            </a:r>
          </a:p>
        </p:txBody>
      </p:sp>
      <p:sp>
        <p:nvSpPr>
          <p:cNvPr id="504" name="Shape 504"/>
          <p:cNvSpPr/>
          <p:nvPr/>
        </p:nvSpPr>
        <p:spPr>
          <a:xfrm>
            <a:off x="5334000" y="6019800"/>
            <a:ext cx="38227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222B9"/>
              </a:buClr>
              <a:buFont typeface="Helvetica"/>
              <a:defRPr sz="1400" b="1">
                <a:solidFill>
                  <a:srgbClr val="0222B9"/>
                </a:solidFill>
                <a:uFill>
                  <a:solidFill>
                    <a:srgbClr val="0222B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</a:t>
            </a:r>
            <a:r>
              <a:rPr lang="en-US" sz="1400" b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ssociation of more than one polypeptide chain</a:t>
            </a:r>
          </a:p>
        </p:txBody>
      </p:sp>
      <p:sp>
        <p:nvSpPr>
          <p:cNvPr id="505" name="Shape 505"/>
          <p:cNvSpPr/>
          <p:nvPr/>
        </p:nvSpPr>
        <p:spPr>
          <a:xfrm>
            <a:off x="6435725" y="2400300"/>
            <a:ext cx="2832100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222B9"/>
              </a:buClr>
              <a:buFont typeface="Helvetica"/>
              <a:defRPr sz="1400" b="1">
                <a:solidFill>
                  <a:srgbClr val="0222B9"/>
                </a:solidFill>
                <a:uFill>
                  <a:solidFill>
                    <a:srgbClr val="0222B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sz="1400" b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he stable folding units; also no regard for sidechain details</a:t>
            </a:r>
          </a:p>
        </p:txBody>
      </p:sp>
    </p:spTree>
    <p:extLst>
      <p:ext uri="{BB962C8B-B14F-4D97-AF65-F5344CB8AC3E}">
        <p14:creationId xmlns:p14="http://schemas.microsoft.com/office/powerpoint/2010/main" val="56663189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DA2B1-B83D-C449-9DE8-715770D64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05155"/>
            <a:ext cx="7772400" cy="1600200"/>
          </a:xfrm>
        </p:spPr>
        <p:txBody>
          <a:bodyPr/>
          <a:lstStyle/>
          <a:p>
            <a:r>
              <a:rPr lang="en-US" sz="4000" dirty="0"/>
              <a:t>Thermodynamics of Protein Stability</a:t>
            </a:r>
          </a:p>
        </p:txBody>
      </p:sp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97D5A5AC-C3D2-CD4E-B095-CA3BB8C877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82" t="1732" r="23319" b="82053"/>
          <a:stretch/>
        </p:blipFill>
        <p:spPr>
          <a:xfrm>
            <a:off x="5403273" y="1895610"/>
            <a:ext cx="3194462" cy="342100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437690A-8FC4-1246-8A8E-B8DC44387D12}"/>
              </a:ext>
            </a:extLst>
          </p:cNvPr>
          <p:cNvGrpSpPr/>
          <p:nvPr/>
        </p:nvGrpSpPr>
        <p:grpSpPr>
          <a:xfrm>
            <a:off x="3740728" y="3194470"/>
            <a:ext cx="1318161" cy="589800"/>
            <a:chOff x="2968831" y="3681355"/>
            <a:chExt cx="1318161" cy="5898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B54FCA4-295B-EB4F-A2B8-2CD742AC7D95}"/>
                </a:ext>
              </a:extLst>
            </p:cNvPr>
            <p:cNvCxnSpPr/>
            <p:nvPr/>
          </p:nvCxnSpPr>
          <p:spPr>
            <a:xfrm>
              <a:off x="2968831" y="3835730"/>
              <a:ext cx="1318161" cy="0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89A026F-188F-2E41-ACC3-A31FE077F360}"/>
                </a:ext>
              </a:extLst>
            </p:cNvPr>
            <p:cNvCxnSpPr>
              <a:cxnSpLocks/>
            </p:cNvCxnSpPr>
            <p:nvPr/>
          </p:nvCxnSpPr>
          <p:spPr>
            <a:xfrm>
              <a:off x="2968831" y="4118758"/>
              <a:ext cx="938151" cy="0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E964A45-68A8-934C-8B4F-FEC1CF77DA86}"/>
                </a:ext>
              </a:extLst>
            </p:cNvPr>
            <p:cNvCxnSpPr>
              <a:cxnSpLocks/>
            </p:cNvCxnSpPr>
            <p:nvPr/>
          </p:nvCxnSpPr>
          <p:spPr>
            <a:xfrm>
              <a:off x="3990110" y="3681355"/>
              <a:ext cx="294904" cy="152400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755C90F-113D-934C-B8B2-C602BBBA6B7E}"/>
                </a:ext>
              </a:extLst>
            </p:cNvPr>
            <p:cNvCxnSpPr>
              <a:cxnSpLocks/>
            </p:cNvCxnSpPr>
            <p:nvPr/>
          </p:nvCxnSpPr>
          <p:spPr>
            <a:xfrm>
              <a:off x="2978728" y="4118755"/>
              <a:ext cx="294904" cy="152400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2C952698-32BA-5849-9A4E-F5E462A5D273}"/>
              </a:ext>
            </a:extLst>
          </p:cNvPr>
          <p:cNvSpPr/>
          <p:nvPr/>
        </p:nvSpPr>
        <p:spPr>
          <a:xfrm>
            <a:off x="1080651" y="1830783"/>
            <a:ext cx="2176153" cy="2565068"/>
          </a:xfrm>
          <a:custGeom>
            <a:avLst/>
            <a:gdLst>
              <a:gd name="connsiteX0" fmla="*/ 0 w 1971304"/>
              <a:gd name="connsiteY0" fmla="*/ 1816924 h 2161309"/>
              <a:gd name="connsiteX1" fmla="*/ 11876 w 1971304"/>
              <a:gd name="connsiteY1" fmla="*/ 1900051 h 2161309"/>
              <a:gd name="connsiteX2" fmla="*/ 47502 w 1971304"/>
              <a:gd name="connsiteY2" fmla="*/ 1935677 h 2161309"/>
              <a:gd name="connsiteX3" fmla="*/ 71252 w 1971304"/>
              <a:gd name="connsiteY3" fmla="*/ 1971303 h 2161309"/>
              <a:gd name="connsiteX4" fmla="*/ 106878 w 1971304"/>
              <a:gd name="connsiteY4" fmla="*/ 2006929 h 2161309"/>
              <a:gd name="connsiteX5" fmla="*/ 154380 w 1971304"/>
              <a:gd name="connsiteY5" fmla="*/ 2078181 h 2161309"/>
              <a:gd name="connsiteX6" fmla="*/ 178130 w 1971304"/>
              <a:gd name="connsiteY6" fmla="*/ 2113807 h 2161309"/>
              <a:gd name="connsiteX7" fmla="*/ 213756 w 1971304"/>
              <a:gd name="connsiteY7" fmla="*/ 2137558 h 2161309"/>
              <a:gd name="connsiteX8" fmla="*/ 285008 w 1971304"/>
              <a:gd name="connsiteY8" fmla="*/ 2161309 h 2161309"/>
              <a:gd name="connsiteX9" fmla="*/ 368135 w 1971304"/>
              <a:gd name="connsiteY9" fmla="*/ 2149433 h 2161309"/>
              <a:gd name="connsiteX10" fmla="*/ 439387 w 1971304"/>
              <a:gd name="connsiteY10" fmla="*/ 2101932 h 2161309"/>
              <a:gd name="connsiteX11" fmla="*/ 522515 w 1971304"/>
              <a:gd name="connsiteY11" fmla="*/ 1995054 h 2161309"/>
              <a:gd name="connsiteX12" fmla="*/ 558141 w 1971304"/>
              <a:gd name="connsiteY12" fmla="*/ 1923802 h 2161309"/>
              <a:gd name="connsiteX13" fmla="*/ 593767 w 1971304"/>
              <a:gd name="connsiteY13" fmla="*/ 1900051 h 2161309"/>
              <a:gd name="connsiteX14" fmla="*/ 760021 w 1971304"/>
              <a:gd name="connsiteY14" fmla="*/ 1876301 h 2161309"/>
              <a:gd name="connsiteX15" fmla="*/ 1009403 w 1971304"/>
              <a:gd name="connsiteY15" fmla="*/ 1911927 h 2161309"/>
              <a:gd name="connsiteX16" fmla="*/ 1080655 w 1971304"/>
              <a:gd name="connsiteY16" fmla="*/ 1959428 h 2161309"/>
              <a:gd name="connsiteX17" fmla="*/ 1104406 w 1971304"/>
              <a:gd name="connsiteY17" fmla="*/ 1995054 h 2161309"/>
              <a:gd name="connsiteX18" fmla="*/ 1211283 w 1971304"/>
              <a:gd name="connsiteY18" fmla="*/ 2042555 h 2161309"/>
              <a:gd name="connsiteX19" fmla="*/ 1246909 w 1971304"/>
              <a:gd name="connsiteY19" fmla="*/ 2054431 h 2161309"/>
              <a:gd name="connsiteX20" fmla="*/ 1496291 w 1971304"/>
              <a:gd name="connsiteY20" fmla="*/ 2042555 h 2161309"/>
              <a:gd name="connsiteX21" fmla="*/ 1531917 w 1971304"/>
              <a:gd name="connsiteY21" fmla="*/ 2030680 h 2161309"/>
              <a:gd name="connsiteX22" fmla="*/ 1603169 w 1971304"/>
              <a:gd name="connsiteY22" fmla="*/ 1983179 h 2161309"/>
              <a:gd name="connsiteX23" fmla="*/ 1650670 w 1971304"/>
              <a:gd name="connsiteY23" fmla="*/ 1911927 h 2161309"/>
              <a:gd name="connsiteX24" fmla="*/ 1674421 w 1971304"/>
              <a:gd name="connsiteY24" fmla="*/ 1876301 h 2161309"/>
              <a:gd name="connsiteX25" fmla="*/ 1698172 w 1971304"/>
              <a:gd name="connsiteY25" fmla="*/ 1793174 h 2161309"/>
              <a:gd name="connsiteX26" fmla="*/ 1710047 w 1971304"/>
              <a:gd name="connsiteY26" fmla="*/ 1496290 h 2161309"/>
              <a:gd name="connsiteX27" fmla="*/ 1733798 w 1971304"/>
              <a:gd name="connsiteY27" fmla="*/ 1413163 h 2161309"/>
              <a:gd name="connsiteX28" fmla="*/ 1721922 w 1971304"/>
              <a:gd name="connsiteY28" fmla="*/ 1353787 h 2161309"/>
              <a:gd name="connsiteX29" fmla="*/ 1650670 w 1971304"/>
              <a:gd name="connsiteY29" fmla="*/ 1282535 h 2161309"/>
              <a:gd name="connsiteX30" fmla="*/ 1579419 w 1971304"/>
              <a:gd name="connsiteY30" fmla="*/ 1235033 h 2161309"/>
              <a:gd name="connsiteX31" fmla="*/ 1567543 w 1971304"/>
              <a:gd name="connsiteY31" fmla="*/ 1199407 h 2161309"/>
              <a:gd name="connsiteX32" fmla="*/ 1531917 w 1971304"/>
              <a:gd name="connsiteY32" fmla="*/ 1175657 h 2161309"/>
              <a:gd name="connsiteX33" fmla="*/ 1460665 w 1971304"/>
              <a:gd name="connsiteY33" fmla="*/ 1116280 h 2161309"/>
              <a:gd name="connsiteX34" fmla="*/ 1436915 w 1971304"/>
              <a:gd name="connsiteY34" fmla="*/ 1080654 h 2161309"/>
              <a:gd name="connsiteX35" fmla="*/ 1401289 w 1971304"/>
              <a:gd name="connsiteY35" fmla="*/ 1068779 h 2161309"/>
              <a:gd name="connsiteX36" fmla="*/ 1365663 w 1971304"/>
              <a:gd name="connsiteY36" fmla="*/ 1045028 h 2161309"/>
              <a:gd name="connsiteX37" fmla="*/ 1294411 w 1971304"/>
              <a:gd name="connsiteY37" fmla="*/ 985651 h 2161309"/>
              <a:gd name="connsiteX38" fmla="*/ 1270660 w 1971304"/>
              <a:gd name="connsiteY38" fmla="*/ 950025 h 2161309"/>
              <a:gd name="connsiteX39" fmla="*/ 1246909 w 1971304"/>
              <a:gd name="connsiteY39" fmla="*/ 878774 h 2161309"/>
              <a:gd name="connsiteX40" fmla="*/ 1282535 w 1971304"/>
              <a:gd name="connsiteY40" fmla="*/ 807522 h 2161309"/>
              <a:gd name="connsiteX41" fmla="*/ 1318161 w 1971304"/>
              <a:gd name="connsiteY41" fmla="*/ 771896 h 2161309"/>
              <a:gd name="connsiteX42" fmla="*/ 1389413 w 1971304"/>
              <a:gd name="connsiteY42" fmla="*/ 665018 h 2161309"/>
              <a:gd name="connsiteX43" fmla="*/ 1413164 w 1971304"/>
              <a:gd name="connsiteY43" fmla="*/ 629392 h 2161309"/>
              <a:gd name="connsiteX44" fmla="*/ 1448790 w 1971304"/>
              <a:gd name="connsiteY44" fmla="*/ 593766 h 2161309"/>
              <a:gd name="connsiteX45" fmla="*/ 1508167 w 1971304"/>
              <a:gd name="connsiteY45" fmla="*/ 546264 h 2161309"/>
              <a:gd name="connsiteX46" fmla="*/ 1543793 w 1971304"/>
              <a:gd name="connsiteY46" fmla="*/ 510638 h 2161309"/>
              <a:gd name="connsiteX47" fmla="*/ 1615045 w 1971304"/>
              <a:gd name="connsiteY47" fmla="*/ 486888 h 2161309"/>
              <a:gd name="connsiteX48" fmla="*/ 1900052 w 1971304"/>
              <a:gd name="connsiteY48" fmla="*/ 463137 h 2161309"/>
              <a:gd name="connsiteX49" fmla="*/ 1935678 w 1971304"/>
              <a:gd name="connsiteY49" fmla="*/ 427511 h 2161309"/>
              <a:gd name="connsiteX50" fmla="*/ 1947554 w 1971304"/>
              <a:gd name="connsiteY50" fmla="*/ 391885 h 2161309"/>
              <a:gd name="connsiteX51" fmla="*/ 1971304 w 1971304"/>
              <a:gd name="connsiteY51" fmla="*/ 356259 h 2161309"/>
              <a:gd name="connsiteX52" fmla="*/ 1959429 w 1971304"/>
              <a:gd name="connsiteY52" fmla="*/ 273132 h 2161309"/>
              <a:gd name="connsiteX53" fmla="*/ 1911928 w 1971304"/>
              <a:gd name="connsiteY53" fmla="*/ 201880 h 2161309"/>
              <a:gd name="connsiteX54" fmla="*/ 1888177 w 1971304"/>
              <a:gd name="connsiteY54" fmla="*/ 166254 h 2161309"/>
              <a:gd name="connsiteX55" fmla="*/ 1852551 w 1971304"/>
              <a:gd name="connsiteY55" fmla="*/ 130628 h 2161309"/>
              <a:gd name="connsiteX56" fmla="*/ 1805050 w 1971304"/>
              <a:gd name="connsiteY56" fmla="*/ 59376 h 2161309"/>
              <a:gd name="connsiteX57" fmla="*/ 1781299 w 1971304"/>
              <a:gd name="connsiteY57" fmla="*/ 23750 h 2161309"/>
              <a:gd name="connsiteX58" fmla="*/ 1745673 w 1971304"/>
              <a:gd name="connsiteY58" fmla="*/ 0 h 216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971304" h="2161309">
                <a:moveTo>
                  <a:pt x="0" y="1816924"/>
                </a:moveTo>
                <a:cubicBezTo>
                  <a:pt x="3959" y="1844633"/>
                  <a:pt x="1480" y="1874063"/>
                  <a:pt x="11876" y="1900051"/>
                </a:cubicBezTo>
                <a:cubicBezTo>
                  <a:pt x="18113" y="1915644"/>
                  <a:pt x="36751" y="1922775"/>
                  <a:pt x="47502" y="1935677"/>
                </a:cubicBezTo>
                <a:cubicBezTo>
                  <a:pt x="56639" y="1946641"/>
                  <a:pt x="62115" y="1960339"/>
                  <a:pt x="71252" y="1971303"/>
                </a:cubicBezTo>
                <a:cubicBezTo>
                  <a:pt x="82003" y="1984205"/>
                  <a:pt x="96567" y="1993672"/>
                  <a:pt x="106878" y="2006929"/>
                </a:cubicBezTo>
                <a:cubicBezTo>
                  <a:pt x="124403" y="2029461"/>
                  <a:pt x="138546" y="2054430"/>
                  <a:pt x="154380" y="2078181"/>
                </a:cubicBezTo>
                <a:cubicBezTo>
                  <a:pt x="162297" y="2090056"/>
                  <a:pt x="166255" y="2105890"/>
                  <a:pt x="178130" y="2113807"/>
                </a:cubicBezTo>
                <a:cubicBezTo>
                  <a:pt x="190005" y="2121724"/>
                  <a:pt x="200714" y="2131761"/>
                  <a:pt x="213756" y="2137558"/>
                </a:cubicBezTo>
                <a:cubicBezTo>
                  <a:pt x="236634" y="2147726"/>
                  <a:pt x="285008" y="2161309"/>
                  <a:pt x="285008" y="2161309"/>
                </a:cubicBezTo>
                <a:cubicBezTo>
                  <a:pt x="312717" y="2157350"/>
                  <a:pt x="342010" y="2159481"/>
                  <a:pt x="368135" y="2149433"/>
                </a:cubicBezTo>
                <a:cubicBezTo>
                  <a:pt x="394777" y="2139186"/>
                  <a:pt x="439387" y="2101932"/>
                  <a:pt x="439387" y="2101932"/>
                </a:cubicBezTo>
                <a:cubicBezTo>
                  <a:pt x="496205" y="2016706"/>
                  <a:pt x="466705" y="2050864"/>
                  <a:pt x="522515" y="1995054"/>
                </a:cubicBezTo>
                <a:cubicBezTo>
                  <a:pt x="532174" y="1966077"/>
                  <a:pt x="535119" y="1946824"/>
                  <a:pt x="558141" y="1923802"/>
                </a:cubicBezTo>
                <a:cubicBezTo>
                  <a:pt x="568233" y="1913710"/>
                  <a:pt x="581001" y="1906434"/>
                  <a:pt x="593767" y="1900051"/>
                </a:cubicBezTo>
                <a:cubicBezTo>
                  <a:pt x="639457" y="1877206"/>
                  <a:pt x="726653" y="1879334"/>
                  <a:pt x="760021" y="1876301"/>
                </a:cubicBezTo>
                <a:cubicBezTo>
                  <a:pt x="794493" y="1878599"/>
                  <a:pt x="952643" y="1874087"/>
                  <a:pt x="1009403" y="1911927"/>
                </a:cubicBezTo>
                <a:lnTo>
                  <a:pt x="1080655" y="1959428"/>
                </a:lnTo>
                <a:cubicBezTo>
                  <a:pt x="1088572" y="1971303"/>
                  <a:pt x="1094314" y="1984962"/>
                  <a:pt x="1104406" y="1995054"/>
                </a:cubicBezTo>
                <a:cubicBezTo>
                  <a:pt x="1132635" y="2023283"/>
                  <a:pt x="1176004" y="2030795"/>
                  <a:pt x="1211283" y="2042555"/>
                </a:cubicBezTo>
                <a:lnTo>
                  <a:pt x="1246909" y="2054431"/>
                </a:lnTo>
                <a:cubicBezTo>
                  <a:pt x="1330036" y="2050472"/>
                  <a:pt x="1413357" y="2049466"/>
                  <a:pt x="1496291" y="2042555"/>
                </a:cubicBezTo>
                <a:cubicBezTo>
                  <a:pt x="1508765" y="2041515"/>
                  <a:pt x="1520975" y="2036759"/>
                  <a:pt x="1531917" y="2030680"/>
                </a:cubicBezTo>
                <a:cubicBezTo>
                  <a:pt x="1556870" y="2016818"/>
                  <a:pt x="1603169" y="1983179"/>
                  <a:pt x="1603169" y="1983179"/>
                </a:cubicBezTo>
                <a:lnTo>
                  <a:pt x="1650670" y="1911927"/>
                </a:lnTo>
                <a:lnTo>
                  <a:pt x="1674421" y="1876301"/>
                </a:lnTo>
                <a:cubicBezTo>
                  <a:pt x="1681014" y="1856521"/>
                  <a:pt x="1696876" y="1811970"/>
                  <a:pt x="1698172" y="1793174"/>
                </a:cubicBezTo>
                <a:cubicBezTo>
                  <a:pt x="1704986" y="1694368"/>
                  <a:pt x="1703233" y="1595096"/>
                  <a:pt x="1710047" y="1496290"/>
                </a:cubicBezTo>
                <a:cubicBezTo>
                  <a:pt x="1711344" y="1477485"/>
                  <a:pt x="1727202" y="1432949"/>
                  <a:pt x="1733798" y="1413163"/>
                </a:cubicBezTo>
                <a:cubicBezTo>
                  <a:pt x="1729839" y="1393371"/>
                  <a:pt x="1730120" y="1372231"/>
                  <a:pt x="1721922" y="1353787"/>
                </a:cubicBezTo>
                <a:cubicBezTo>
                  <a:pt x="1697824" y="1299568"/>
                  <a:pt x="1688276" y="1313874"/>
                  <a:pt x="1650670" y="1282535"/>
                </a:cubicBezTo>
                <a:cubicBezTo>
                  <a:pt x="1591366" y="1233114"/>
                  <a:pt x="1642030" y="1255904"/>
                  <a:pt x="1579419" y="1235033"/>
                </a:cubicBezTo>
                <a:cubicBezTo>
                  <a:pt x="1575460" y="1223158"/>
                  <a:pt x="1575363" y="1209182"/>
                  <a:pt x="1567543" y="1199407"/>
                </a:cubicBezTo>
                <a:cubicBezTo>
                  <a:pt x="1558627" y="1188262"/>
                  <a:pt x="1542881" y="1184794"/>
                  <a:pt x="1531917" y="1175657"/>
                </a:cubicBezTo>
                <a:cubicBezTo>
                  <a:pt x="1440473" y="1099455"/>
                  <a:pt x="1549124" y="1175254"/>
                  <a:pt x="1460665" y="1116280"/>
                </a:cubicBezTo>
                <a:cubicBezTo>
                  <a:pt x="1452748" y="1104405"/>
                  <a:pt x="1448060" y="1089570"/>
                  <a:pt x="1436915" y="1080654"/>
                </a:cubicBezTo>
                <a:cubicBezTo>
                  <a:pt x="1427140" y="1072834"/>
                  <a:pt x="1412485" y="1074377"/>
                  <a:pt x="1401289" y="1068779"/>
                </a:cubicBezTo>
                <a:cubicBezTo>
                  <a:pt x="1388523" y="1062396"/>
                  <a:pt x="1376627" y="1054165"/>
                  <a:pt x="1365663" y="1045028"/>
                </a:cubicBezTo>
                <a:cubicBezTo>
                  <a:pt x="1274227" y="968831"/>
                  <a:pt x="1382864" y="1044620"/>
                  <a:pt x="1294411" y="985651"/>
                </a:cubicBezTo>
                <a:cubicBezTo>
                  <a:pt x="1286494" y="973776"/>
                  <a:pt x="1276457" y="963067"/>
                  <a:pt x="1270660" y="950025"/>
                </a:cubicBezTo>
                <a:cubicBezTo>
                  <a:pt x="1260492" y="927148"/>
                  <a:pt x="1246909" y="878774"/>
                  <a:pt x="1246909" y="878774"/>
                </a:cubicBezTo>
                <a:cubicBezTo>
                  <a:pt x="1258811" y="843070"/>
                  <a:pt x="1256958" y="838215"/>
                  <a:pt x="1282535" y="807522"/>
                </a:cubicBezTo>
                <a:cubicBezTo>
                  <a:pt x="1293286" y="794620"/>
                  <a:pt x="1307850" y="785153"/>
                  <a:pt x="1318161" y="771896"/>
                </a:cubicBezTo>
                <a:cubicBezTo>
                  <a:pt x="1318181" y="771871"/>
                  <a:pt x="1377529" y="682845"/>
                  <a:pt x="1389413" y="665018"/>
                </a:cubicBezTo>
                <a:cubicBezTo>
                  <a:pt x="1397330" y="653143"/>
                  <a:pt x="1403072" y="639484"/>
                  <a:pt x="1413164" y="629392"/>
                </a:cubicBezTo>
                <a:cubicBezTo>
                  <a:pt x="1425039" y="617517"/>
                  <a:pt x="1438039" y="606668"/>
                  <a:pt x="1448790" y="593766"/>
                </a:cubicBezTo>
                <a:cubicBezTo>
                  <a:pt x="1490110" y="544183"/>
                  <a:pt x="1449682" y="565760"/>
                  <a:pt x="1508167" y="546264"/>
                </a:cubicBezTo>
                <a:cubicBezTo>
                  <a:pt x="1520042" y="534389"/>
                  <a:pt x="1529112" y="518794"/>
                  <a:pt x="1543793" y="510638"/>
                </a:cubicBezTo>
                <a:cubicBezTo>
                  <a:pt x="1565678" y="498480"/>
                  <a:pt x="1591294" y="494805"/>
                  <a:pt x="1615045" y="486888"/>
                </a:cubicBezTo>
                <a:cubicBezTo>
                  <a:pt x="1729623" y="448696"/>
                  <a:pt x="1638150" y="475609"/>
                  <a:pt x="1900052" y="463137"/>
                </a:cubicBezTo>
                <a:cubicBezTo>
                  <a:pt x="1911927" y="451262"/>
                  <a:pt x="1926362" y="441485"/>
                  <a:pt x="1935678" y="427511"/>
                </a:cubicBezTo>
                <a:cubicBezTo>
                  <a:pt x="1942622" y="417096"/>
                  <a:pt x="1941956" y="403081"/>
                  <a:pt x="1947554" y="391885"/>
                </a:cubicBezTo>
                <a:cubicBezTo>
                  <a:pt x="1953937" y="379120"/>
                  <a:pt x="1963387" y="368134"/>
                  <a:pt x="1971304" y="356259"/>
                </a:cubicBezTo>
                <a:cubicBezTo>
                  <a:pt x="1967346" y="328550"/>
                  <a:pt x="1969477" y="299257"/>
                  <a:pt x="1959429" y="273132"/>
                </a:cubicBezTo>
                <a:cubicBezTo>
                  <a:pt x="1949182" y="246490"/>
                  <a:pt x="1927762" y="225631"/>
                  <a:pt x="1911928" y="201880"/>
                </a:cubicBezTo>
                <a:cubicBezTo>
                  <a:pt x="1904011" y="190005"/>
                  <a:pt x="1898269" y="176346"/>
                  <a:pt x="1888177" y="166254"/>
                </a:cubicBezTo>
                <a:cubicBezTo>
                  <a:pt x="1876302" y="154379"/>
                  <a:pt x="1862862" y="143885"/>
                  <a:pt x="1852551" y="130628"/>
                </a:cubicBezTo>
                <a:cubicBezTo>
                  <a:pt x="1835026" y="108096"/>
                  <a:pt x="1820884" y="83127"/>
                  <a:pt x="1805050" y="59376"/>
                </a:cubicBezTo>
                <a:cubicBezTo>
                  <a:pt x="1797133" y="47501"/>
                  <a:pt x="1793174" y="31667"/>
                  <a:pt x="1781299" y="23750"/>
                </a:cubicBezTo>
                <a:lnTo>
                  <a:pt x="1745673" y="0"/>
                </a:lnTo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46B95C-65ED-9F45-A2F5-7F08EE45C177}"/>
              </a:ext>
            </a:extLst>
          </p:cNvPr>
          <p:cNvSpPr txBox="1"/>
          <p:nvPr/>
        </p:nvSpPr>
        <p:spPr>
          <a:xfrm>
            <a:off x="1514019" y="4395851"/>
            <a:ext cx="1742785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Unfolded</a:t>
            </a:r>
          </a:p>
          <a:p>
            <a:pPr marL="40639" marR="40639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protein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3CC676-3137-2A4B-A029-69BA869E10D4}"/>
              </a:ext>
            </a:extLst>
          </p:cNvPr>
          <p:cNvSpPr/>
          <p:nvPr/>
        </p:nvSpPr>
        <p:spPr>
          <a:xfrm>
            <a:off x="3854066" y="2466986"/>
            <a:ext cx="9079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D</a:t>
            </a:r>
            <a:r>
              <a:rPr lang="en-US" sz="3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0FBACB-3E04-E29F-94D9-7A1BD8A9E12A}"/>
              </a:ext>
            </a:extLst>
          </p:cNvPr>
          <p:cNvSpPr txBox="1"/>
          <p:nvPr/>
        </p:nvSpPr>
        <p:spPr>
          <a:xfrm>
            <a:off x="448916" y="5911938"/>
            <a:ext cx="8246168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Stable means predominantly folded (“Native”) in its native environment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944F5-F853-C134-DA2F-AD9454AC0FC2}"/>
              </a:ext>
            </a:extLst>
          </p:cNvPr>
          <p:cNvSpPr txBox="1"/>
          <p:nvPr/>
        </p:nvSpPr>
        <p:spPr>
          <a:xfrm>
            <a:off x="3455304" y="3871348"/>
            <a:ext cx="194796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In equilibrium!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19787-081C-2406-8FFB-000FD5522F56}"/>
              </a:ext>
            </a:extLst>
          </p:cNvPr>
          <p:cNvSpPr txBox="1"/>
          <p:nvPr/>
        </p:nvSpPr>
        <p:spPr>
          <a:xfrm>
            <a:off x="914400" y="2700650"/>
            <a:ext cx="1066318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Very</a:t>
            </a:r>
          </a:p>
          <a:p>
            <a:pPr marL="40639" marR="40639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flexible</a:t>
            </a: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599078786"/>
      </p:ext>
    </p:extLst>
  </p:cSld>
  <p:clrMapOvr>
    <a:masterClrMapping/>
  </p:clrMapOvr>
  <p:transition spd="med"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DA2B1-B83D-C449-9DE8-715770D6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the Context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9C232-8609-3B41-93B5-3A7E80B84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might we care about protein stability?</a:t>
            </a:r>
          </a:p>
        </p:txBody>
      </p:sp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97D5A5AC-C3D2-CD4E-B095-CA3BB8C877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82" t="1732" r="23319" b="82053"/>
          <a:stretch/>
        </p:blipFill>
        <p:spPr>
          <a:xfrm>
            <a:off x="2814452" y="2798130"/>
            <a:ext cx="3194462" cy="342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247854"/>
      </p:ext>
    </p:extLst>
  </p:cSld>
  <p:clrMapOvr>
    <a:masterClrMapping/>
  </p:clrMapOvr>
  <p:transition spd="med" advClick="0" advTm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0432FE90-0085-244B-8066-7C8D538B0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73" y="685830"/>
            <a:ext cx="5334136" cy="60238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AD9B71-E939-B047-ADCC-D7FE1BE1883C}"/>
              </a:ext>
            </a:extLst>
          </p:cNvPr>
          <p:cNvSpPr txBox="1"/>
          <p:nvPr/>
        </p:nvSpPr>
        <p:spPr>
          <a:xfrm>
            <a:off x="1336430" y="275461"/>
            <a:ext cx="5952270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Chaperones help to prevent protein misfolding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B2861B-1BAB-2AA1-9394-F674508279E3}"/>
              </a:ext>
            </a:extLst>
          </p:cNvPr>
          <p:cNvSpPr txBox="1"/>
          <p:nvPr/>
        </p:nvSpPr>
        <p:spPr>
          <a:xfrm>
            <a:off x="4572000" y="3675221"/>
            <a:ext cx="4572000" cy="2441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40639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KEY POINTS:</a:t>
            </a:r>
          </a:p>
          <a:p>
            <a:pPr marL="383539" marR="40639" indent="-342900" algn="l" defTabSz="914400" rtl="0" fontAlgn="auto" latinLnBrk="1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proteins are dynamic!</a:t>
            </a:r>
          </a:p>
          <a:p>
            <a:pPr marL="383539" indent="-342900" algn="l" rtl="0" latinLnBrk="1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exchange between folded &amp; unfolded states at equilibrium</a:t>
            </a:r>
          </a:p>
          <a:p>
            <a:pPr marL="383539" indent="-342900" algn="l" rtl="0" latinLnBrk="1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chaperone proteins help avoid accumulation of misfolded or aggregated states</a:t>
            </a:r>
          </a:p>
          <a:p>
            <a:pPr marL="383539" indent="-342900" algn="l" rtl="0" latinLnBrk="1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disease can happen!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362838048"/>
      </p:ext>
    </p:extLst>
  </p:cSld>
  <p:clrMapOvr>
    <a:masterClrMapping/>
  </p:clrMapOvr>
  <p:transition spd="med"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50616-10BC-DD40-A0C7-F6D61E88E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Disease-causing amyloid fibril formation</a:t>
            </a:r>
          </a:p>
        </p:txBody>
      </p:sp>
      <p:pic>
        <p:nvPicPr>
          <p:cNvPr id="5" name="Picture 4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2158DE24-16BF-B242-B5FA-50C76CB80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942" y="1974902"/>
            <a:ext cx="4506360" cy="48830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75DD43F-71BE-AE41-81A7-343195DC4609}"/>
              </a:ext>
            </a:extLst>
          </p:cNvPr>
          <p:cNvSpPr/>
          <p:nvPr/>
        </p:nvSpPr>
        <p:spPr>
          <a:xfrm>
            <a:off x="1793174" y="6567055"/>
            <a:ext cx="748145" cy="427511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0E3F4D0-4565-4A40-8D48-1DC9B61D02AD}"/>
              </a:ext>
            </a:extLst>
          </p:cNvPr>
          <p:cNvGrpSpPr/>
          <p:nvPr/>
        </p:nvGrpSpPr>
        <p:grpSpPr>
          <a:xfrm>
            <a:off x="4060459" y="4998840"/>
            <a:ext cx="1648230" cy="1167086"/>
            <a:chOff x="4060459" y="4998840"/>
            <a:chExt cx="1648230" cy="1167086"/>
          </a:xfrm>
        </p:grpSpPr>
        <p:sp>
          <p:nvSpPr>
            <p:cNvPr id="7" name="Up Arrow 6">
              <a:extLst>
                <a:ext uri="{FF2B5EF4-FFF2-40B4-BE49-F238E27FC236}">
                  <a16:creationId xmlns:a16="http://schemas.microsoft.com/office/drawing/2014/main" id="{4C2A65C7-3CC7-5649-AEDE-73B914C51DFE}"/>
                </a:ext>
              </a:extLst>
            </p:cNvPr>
            <p:cNvSpPr/>
            <p:nvPr/>
          </p:nvSpPr>
          <p:spPr>
            <a:xfrm flipH="1">
              <a:off x="4060459" y="5120898"/>
              <a:ext cx="269326" cy="1045028"/>
            </a:xfrm>
            <a:prstGeom prst="upArrow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7E01E0-8B21-1643-9D9F-F0375308C167}"/>
                </a:ext>
              </a:extLst>
            </p:cNvPr>
            <p:cNvSpPr txBox="1"/>
            <p:nvPr/>
          </p:nvSpPr>
          <p:spPr>
            <a:xfrm>
              <a:off x="4329785" y="4998840"/>
              <a:ext cx="1378904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rPr>
                <a:t>Fibril axis</a:t>
              </a:r>
              <a:endPara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07FDA09-CA0F-6A4D-8D66-C0AA5A1F8C4C}"/>
              </a:ext>
            </a:extLst>
          </p:cNvPr>
          <p:cNvSpPr txBox="1"/>
          <p:nvPr/>
        </p:nvSpPr>
        <p:spPr>
          <a:xfrm>
            <a:off x="6329549" y="4013655"/>
            <a:ext cx="2005677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Rich in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Symbol" pitchFamily="2" charset="2"/>
                <a:sym typeface="Helvetica"/>
              </a:rPr>
              <a:t>b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-sheet</a:t>
            </a:r>
          </a:p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256743388"/>
      </p:ext>
    </p:extLst>
  </p:cSld>
  <p:clrMapOvr>
    <a:masterClrMapping/>
  </p:clrMapOvr>
  <p:transition spd="med"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63010-B3F4-2944-9A74-ECC548687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Alzheimer’s Disease</a:t>
            </a:r>
          </a:p>
        </p:txBody>
      </p:sp>
      <p:pic>
        <p:nvPicPr>
          <p:cNvPr id="7" name="Picture 6" descr="A picture containing knife&#10;&#10;Description automatically generated">
            <a:extLst>
              <a:ext uri="{FF2B5EF4-FFF2-40B4-BE49-F238E27FC236}">
                <a16:creationId xmlns:a16="http://schemas.microsoft.com/office/drawing/2014/main" id="{BCAF7BFE-8CF0-2D4C-86D2-F629F07FA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1892300"/>
            <a:ext cx="7708900" cy="30734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97110DB-7856-0B47-9629-FDDEA97BCC66}"/>
              </a:ext>
            </a:extLst>
          </p:cNvPr>
          <p:cNvGrpSpPr/>
          <p:nvPr/>
        </p:nvGrpSpPr>
        <p:grpSpPr>
          <a:xfrm>
            <a:off x="6519553" y="1981200"/>
            <a:ext cx="1611702" cy="2485232"/>
            <a:chOff x="4096987" y="4998840"/>
            <a:chExt cx="1611702" cy="2485232"/>
          </a:xfrm>
        </p:grpSpPr>
        <p:sp>
          <p:nvSpPr>
            <p:cNvPr id="9" name="Up Arrow 8">
              <a:extLst>
                <a:ext uri="{FF2B5EF4-FFF2-40B4-BE49-F238E27FC236}">
                  <a16:creationId xmlns:a16="http://schemas.microsoft.com/office/drawing/2014/main" id="{BB8141B4-DEC4-3F44-AA58-DC6B9C5660A3}"/>
                </a:ext>
              </a:extLst>
            </p:cNvPr>
            <p:cNvSpPr/>
            <p:nvPr/>
          </p:nvSpPr>
          <p:spPr>
            <a:xfrm flipH="1">
              <a:off x="4096987" y="5120898"/>
              <a:ext cx="232798" cy="2363174"/>
            </a:xfrm>
            <a:prstGeom prst="upArrow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236C456-1AAF-3849-A7C0-22576C37CDC7}"/>
                </a:ext>
              </a:extLst>
            </p:cNvPr>
            <p:cNvSpPr txBox="1"/>
            <p:nvPr/>
          </p:nvSpPr>
          <p:spPr>
            <a:xfrm>
              <a:off x="4329785" y="4998840"/>
              <a:ext cx="1378904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rPr>
                <a:t>Fibril axis</a:t>
              </a:r>
              <a:endPara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3471194"/>
      </p:ext>
    </p:extLst>
  </p:cSld>
  <p:clrMapOvr>
    <a:masterClrMapping/>
  </p:clrMapOvr>
  <p:transition spd="med"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4697CE0-081D-3740-B7D5-1C54011DA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335809"/>
            <a:ext cx="7772400" cy="1600200"/>
          </a:xfrm>
        </p:spPr>
        <p:txBody>
          <a:bodyPr/>
          <a:lstStyle/>
          <a:p>
            <a:r>
              <a:rPr lang="en-US" sz="3600" dirty="0"/>
              <a:t>Mad Cow Disease: </a:t>
            </a:r>
            <a:r>
              <a:rPr lang="en-US" sz="3600" dirty="0" err="1"/>
              <a:t>PrP</a:t>
            </a:r>
            <a:r>
              <a:rPr lang="en-US" sz="3600" baseline="30000" dirty="0" err="1"/>
              <a:t>C</a:t>
            </a:r>
            <a:r>
              <a:rPr lang="en-US" sz="3600" dirty="0"/>
              <a:t> →</a:t>
            </a:r>
            <a:r>
              <a:rPr lang="en-US" sz="3600" dirty="0" err="1"/>
              <a:t>PrP</a:t>
            </a:r>
            <a:r>
              <a:rPr lang="en-US" sz="3600" baseline="30000" dirty="0" err="1"/>
              <a:t>Sc</a:t>
            </a:r>
            <a:endParaRPr lang="en-US" sz="36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D234E06-2C4C-984C-836F-1B3C303E7AFA}"/>
              </a:ext>
            </a:extLst>
          </p:cNvPr>
          <p:cNvGrpSpPr/>
          <p:nvPr/>
        </p:nvGrpSpPr>
        <p:grpSpPr>
          <a:xfrm>
            <a:off x="4495825" y="973776"/>
            <a:ext cx="4079090" cy="5743212"/>
            <a:chOff x="2619527" y="973776"/>
            <a:chExt cx="4079090" cy="574321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0FE24A4-5769-EA4A-B912-5688FD48D75B}"/>
                </a:ext>
              </a:extLst>
            </p:cNvPr>
            <p:cNvGrpSpPr/>
            <p:nvPr/>
          </p:nvGrpSpPr>
          <p:grpSpPr>
            <a:xfrm>
              <a:off x="2690777" y="973776"/>
              <a:ext cx="4007840" cy="5743212"/>
              <a:chOff x="1586371" y="0"/>
              <a:chExt cx="4007840" cy="5743212"/>
            </a:xfrm>
          </p:grpSpPr>
          <p:pic>
            <p:nvPicPr>
              <p:cNvPr id="5" name="Picture 4" descr="A close up of a map&#10;&#10;Description automatically generated">
                <a:extLst>
                  <a:ext uri="{FF2B5EF4-FFF2-40B4-BE49-F238E27FC236}">
                    <a16:creationId xmlns:a16="http://schemas.microsoft.com/office/drawing/2014/main" id="{90878932-966F-8B4C-A957-8F97526B15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29808" y="0"/>
                <a:ext cx="3720966" cy="4489208"/>
              </a:xfrm>
              <a:prstGeom prst="rect">
                <a:avLst/>
              </a:prstGeom>
            </p:spPr>
          </p:pic>
          <p:pic>
            <p:nvPicPr>
              <p:cNvPr id="6" name="Picture 5" descr="A close up of a logo&#10;&#10;Description automatically generated">
                <a:extLst>
                  <a:ext uri="{FF2B5EF4-FFF2-40B4-BE49-F238E27FC236}">
                    <a16:creationId xmlns:a16="http://schemas.microsoft.com/office/drawing/2014/main" id="{87C07505-4001-CE49-A367-AC76164D8D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86371" y="2409451"/>
                <a:ext cx="4007840" cy="3333761"/>
              </a:xfrm>
              <a:prstGeom prst="rect">
                <a:avLst/>
              </a:prstGeom>
            </p:spPr>
          </p:pic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26AA920-8694-2C47-8003-EBA4AC91B95C}"/>
                </a:ext>
              </a:extLst>
            </p:cNvPr>
            <p:cNvSpPr/>
            <p:nvPr/>
          </p:nvSpPr>
          <p:spPr>
            <a:xfrm>
              <a:off x="2619527" y="973776"/>
              <a:ext cx="230553" cy="2565071"/>
            </a:xfrm>
            <a:prstGeom prst="rect">
              <a:avLst/>
            </a:prstGeom>
            <a:solidFill>
              <a:schemeClr val="bg1"/>
            </a:solidFill>
            <a:ln w="9525" cap="flat">
              <a:noFill/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519B249-2989-CC43-B911-7EA8542B117E}"/>
              </a:ext>
            </a:extLst>
          </p:cNvPr>
          <p:cNvSpPr txBox="1"/>
          <p:nvPr/>
        </p:nvSpPr>
        <p:spPr>
          <a:xfrm>
            <a:off x="439387" y="1466351"/>
            <a:ext cx="3676006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326389" marR="40639" indent="-285750" algn="l" defTabSz="914400" rtl="0" fontAlgn="auto" latinLnBrk="1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Bovine spongiform encephalopathy</a:t>
            </a:r>
          </a:p>
          <a:p>
            <a:pPr marL="326389" marR="40639" indent="-285750" algn="l" defTabSz="914400" rtl="0" fontAlgn="auto" latinLnBrk="1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Kuru, Creutzfeldt</a:t>
            </a: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-Jakob (human)</a:t>
            </a:r>
          </a:p>
          <a:p>
            <a:pPr marL="326389" marR="40639" indent="-285750" algn="l" defTabSz="914400" rtl="0" fontAlgn="auto" latinLnBrk="1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Scrapies</a:t>
            </a: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 (sheep)</a:t>
            </a:r>
          </a:p>
          <a:p>
            <a:pPr marL="326389" marR="40639" indent="-285750" algn="l" defTabSz="914400" rtl="0" fontAlgn="auto" latinLnBrk="1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Chronic wasting disease (deer, elk)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5DB66A-D6A2-8CA0-9D52-0F3FC74A935C}"/>
              </a:ext>
            </a:extLst>
          </p:cNvPr>
          <p:cNvSpPr txBox="1"/>
          <p:nvPr/>
        </p:nvSpPr>
        <p:spPr>
          <a:xfrm>
            <a:off x="385609" y="4550393"/>
            <a:ext cx="4394801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1855FF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What fundamental principles govern protein stability?</a:t>
            </a:r>
          </a:p>
        </p:txBody>
      </p:sp>
    </p:spTree>
    <p:extLst>
      <p:ext uri="{BB962C8B-B14F-4D97-AF65-F5344CB8AC3E}">
        <p14:creationId xmlns:p14="http://schemas.microsoft.com/office/powerpoint/2010/main" val="211985670"/>
      </p:ext>
    </p:extLst>
  </p:cSld>
  <p:clrMapOvr>
    <a:masterClrMapping/>
  </p:clrMapOvr>
  <p:transition spd="med"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40"/>
          <p:cNvGrpSpPr/>
          <p:nvPr/>
        </p:nvGrpSpPr>
        <p:grpSpPr>
          <a:xfrm>
            <a:off x="4447981" y="2387415"/>
            <a:ext cx="1347704" cy="691237"/>
            <a:chOff x="0" y="0"/>
            <a:chExt cx="1917700" cy="691236"/>
          </a:xfrm>
        </p:grpSpPr>
        <p:sp>
          <p:nvSpPr>
            <p:cNvPr id="38" name="Shape 38"/>
            <p:cNvSpPr/>
            <p:nvPr/>
          </p:nvSpPr>
          <p:spPr>
            <a:xfrm>
              <a:off x="381000" y="0"/>
              <a:ext cx="1536700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200"/>
                </a:spcBef>
                <a:buClr>
                  <a:srgbClr val="000000"/>
                </a:buClr>
                <a:buFont typeface="Helvetica"/>
                <a:defRPr sz="2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20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F</a:t>
              </a:r>
              <a:r>
                <a:rPr lang="en-US" sz="20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old</a:t>
              </a:r>
            </a:p>
          </p:txBody>
        </p:sp>
        <p:sp>
          <p:nvSpPr>
            <p:cNvPr id="39" name="Shape 39"/>
            <p:cNvSpPr/>
            <p:nvPr/>
          </p:nvSpPr>
          <p:spPr>
            <a:xfrm>
              <a:off x="0" y="260350"/>
              <a:ext cx="1917700" cy="4308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800"/>
                </a:spcBef>
                <a:buClr>
                  <a:srgbClr val="000000"/>
                </a:buClr>
                <a:buFont typeface="Helvetica"/>
                <a:defRPr sz="1800">
                  <a:uFillTx/>
                </a:defRPr>
              </a:pPr>
              <a:r>
                <a:rPr sz="1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I</a:t>
              </a:r>
              <a:r>
                <a:rPr lang="en-US" sz="1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nto 3 </a:t>
              </a:r>
              <a:r>
                <a:rPr lang="en-US" sz="1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β</a:t>
              </a:r>
              <a:r>
                <a:rPr lang="en-US" sz="1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strands + short helix</a:t>
              </a:r>
            </a:p>
          </p:txBody>
        </p:sp>
      </p:grpSp>
      <p:grpSp>
        <p:nvGrpSpPr>
          <p:cNvPr id="189" name="Group 189"/>
          <p:cNvGrpSpPr/>
          <p:nvPr/>
        </p:nvGrpSpPr>
        <p:grpSpPr>
          <a:xfrm rot="4680000">
            <a:off x="-578414" y="284288"/>
            <a:ext cx="5605089" cy="5253168"/>
            <a:chOff x="-8741" y="39111"/>
            <a:chExt cx="5605087" cy="5253166"/>
          </a:xfrm>
        </p:grpSpPr>
        <p:pic>
          <p:nvPicPr>
            <p:cNvPr id="41" name="image.pdf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010045" y="857979"/>
              <a:ext cx="4330701" cy="42227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48" name="Group 48"/>
            <p:cNvGrpSpPr/>
            <p:nvPr/>
          </p:nvGrpSpPr>
          <p:grpSpPr>
            <a:xfrm rot="10800000">
              <a:off x="846281" y="1298785"/>
              <a:ext cx="1442439" cy="734109"/>
              <a:chOff x="13267" y="51257"/>
              <a:chExt cx="1442437" cy="734108"/>
            </a:xfrm>
          </p:grpSpPr>
          <p:grpSp>
            <p:nvGrpSpPr>
              <p:cNvPr id="45" name="Group 45"/>
              <p:cNvGrpSpPr/>
              <p:nvPr/>
            </p:nvGrpSpPr>
            <p:grpSpPr>
              <a:xfrm>
                <a:off x="13267" y="51257"/>
                <a:ext cx="1442437" cy="734108"/>
                <a:chOff x="13267" y="51257"/>
                <a:chExt cx="1442436" cy="734107"/>
              </a:xfrm>
            </p:grpSpPr>
            <p:sp>
              <p:nvSpPr>
                <p:cNvPr id="42" name="Shape 42"/>
                <p:cNvSpPr/>
                <p:nvPr/>
              </p:nvSpPr>
              <p:spPr>
                <a:xfrm>
                  <a:off x="299204" y="51257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43" name="Shape 43"/>
                <p:cNvSpPr/>
                <p:nvPr/>
              </p:nvSpPr>
              <p:spPr>
                <a:xfrm>
                  <a:off x="604802" y="354478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44" name="Shape 44"/>
                <p:cNvSpPr/>
                <p:nvPr/>
              </p:nvSpPr>
              <p:spPr>
                <a:xfrm>
                  <a:off x="13267" y="299572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46" name="Shape 46"/>
              <p:cNvSpPr/>
              <p:nvPr/>
            </p:nvSpPr>
            <p:spPr>
              <a:xfrm>
                <a:off x="652800" y="340350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7" name="Shape 47"/>
              <p:cNvSpPr/>
              <p:nvPr/>
            </p:nvSpPr>
            <p:spPr>
              <a:xfrm flipH="1">
                <a:off x="301455" y="306143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 rot="2700000">
              <a:off x="4128808" y="3624358"/>
              <a:ext cx="1497112" cy="669329"/>
              <a:chOff x="84620" y="51258"/>
              <a:chExt cx="1497110" cy="669328"/>
            </a:xfrm>
          </p:grpSpPr>
          <p:grpSp>
            <p:nvGrpSpPr>
              <p:cNvPr id="52" name="Group 52"/>
              <p:cNvGrpSpPr/>
              <p:nvPr/>
            </p:nvGrpSpPr>
            <p:grpSpPr>
              <a:xfrm>
                <a:off x="84620" y="51258"/>
                <a:ext cx="1497110" cy="669328"/>
                <a:chOff x="84620" y="51258"/>
                <a:chExt cx="1497109" cy="669327"/>
              </a:xfrm>
            </p:grpSpPr>
            <p:sp>
              <p:nvSpPr>
                <p:cNvPr id="49" name="Shape 49"/>
                <p:cNvSpPr/>
                <p:nvPr/>
              </p:nvSpPr>
              <p:spPr>
                <a:xfrm>
                  <a:off x="304608" y="51258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50" name="Shape 50"/>
                <p:cNvSpPr/>
                <p:nvPr/>
              </p:nvSpPr>
              <p:spPr>
                <a:xfrm>
                  <a:off x="730828" y="267822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51" name="Shape 51"/>
                <p:cNvSpPr/>
                <p:nvPr/>
              </p:nvSpPr>
              <p:spPr>
                <a:xfrm>
                  <a:off x="84620" y="289699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53" name="Shape 53"/>
              <p:cNvSpPr/>
              <p:nvPr/>
            </p:nvSpPr>
            <p:spPr>
              <a:xfrm>
                <a:off x="689433" y="31055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54" name="Shape 54"/>
              <p:cNvSpPr/>
              <p:nvPr/>
            </p:nvSpPr>
            <p:spPr>
              <a:xfrm flipH="1">
                <a:off x="308433" y="31086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19500000">
              <a:off x="1885539" y="1496741"/>
              <a:ext cx="1446154" cy="687186"/>
              <a:chOff x="53809" y="51257"/>
              <a:chExt cx="1446153" cy="687185"/>
            </a:xfrm>
          </p:grpSpPr>
          <p:grpSp>
            <p:nvGrpSpPr>
              <p:cNvPr id="59" name="Group 59"/>
              <p:cNvGrpSpPr/>
              <p:nvPr/>
            </p:nvGrpSpPr>
            <p:grpSpPr>
              <a:xfrm>
                <a:off x="53809" y="51257"/>
                <a:ext cx="1446153" cy="687185"/>
                <a:chOff x="53809" y="51257"/>
                <a:chExt cx="1446152" cy="687184"/>
              </a:xfrm>
            </p:grpSpPr>
            <p:sp>
              <p:nvSpPr>
                <p:cNvPr id="56" name="Shape 56"/>
                <p:cNvSpPr/>
                <p:nvPr/>
              </p:nvSpPr>
              <p:spPr>
                <a:xfrm>
                  <a:off x="303120" y="51257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57" name="Shape 57"/>
                <p:cNvSpPr/>
                <p:nvPr/>
              </p:nvSpPr>
              <p:spPr>
                <a:xfrm>
                  <a:off x="649060" y="288827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58" name="Shape 58"/>
                <p:cNvSpPr/>
                <p:nvPr/>
              </p:nvSpPr>
              <p:spPr>
                <a:xfrm>
                  <a:off x="53809" y="307555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60" name="Shape 60"/>
              <p:cNvSpPr/>
              <p:nvPr/>
            </p:nvSpPr>
            <p:spPr>
              <a:xfrm>
                <a:off x="684484" y="303918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61" name="Shape 61"/>
              <p:cNvSpPr/>
              <p:nvPr/>
            </p:nvSpPr>
            <p:spPr>
              <a:xfrm flipH="1">
                <a:off x="303489" y="30601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1180867" y="1886808"/>
              <a:ext cx="4415479" cy="916235"/>
              <a:chOff x="-2954978" y="327438"/>
              <a:chExt cx="4415478" cy="916234"/>
            </a:xfrm>
          </p:grpSpPr>
          <p:grpSp>
            <p:nvGrpSpPr>
              <p:cNvPr id="66" name="Group 66"/>
              <p:cNvGrpSpPr/>
              <p:nvPr/>
            </p:nvGrpSpPr>
            <p:grpSpPr>
              <a:xfrm>
                <a:off x="70790" y="327438"/>
                <a:ext cx="1389710" cy="458930"/>
                <a:chOff x="70790" y="327437"/>
                <a:chExt cx="1389709" cy="458929"/>
              </a:xfrm>
            </p:grpSpPr>
            <p:sp>
              <p:nvSpPr>
                <p:cNvPr id="63" name="Shape 63"/>
                <p:cNvSpPr/>
                <p:nvPr/>
              </p:nvSpPr>
              <p:spPr>
                <a:xfrm>
                  <a:off x="343228" y="330777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64" name="Shape 64"/>
                <p:cNvSpPr/>
                <p:nvPr/>
              </p:nvSpPr>
              <p:spPr>
                <a:xfrm>
                  <a:off x="609598" y="355481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65" name="Shape 65"/>
                <p:cNvSpPr/>
                <p:nvPr/>
              </p:nvSpPr>
              <p:spPr>
                <a:xfrm>
                  <a:off x="70790" y="327437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67" name="Shape 67"/>
              <p:cNvSpPr/>
              <p:nvPr/>
            </p:nvSpPr>
            <p:spPr>
              <a:xfrm>
                <a:off x="502280" y="1167471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68" name="Shape 68"/>
              <p:cNvSpPr/>
              <p:nvPr/>
            </p:nvSpPr>
            <p:spPr>
              <a:xfrm flipH="1">
                <a:off x="-2954978" y="503449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 rot="16620000">
              <a:off x="2297822" y="405156"/>
              <a:ext cx="1466912" cy="734822"/>
              <a:chOff x="0" y="51256"/>
              <a:chExt cx="1466910" cy="734821"/>
            </a:xfrm>
          </p:grpSpPr>
          <p:grpSp>
            <p:nvGrpSpPr>
              <p:cNvPr id="73" name="Group 73"/>
              <p:cNvGrpSpPr/>
              <p:nvPr/>
            </p:nvGrpSpPr>
            <p:grpSpPr>
              <a:xfrm>
                <a:off x="0" y="51256"/>
                <a:ext cx="1466910" cy="734821"/>
                <a:chOff x="0" y="51256"/>
                <a:chExt cx="1466909" cy="734820"/>
              </a:xfrm>
            </p:grpSpPr>
            <p:sp>
              <p:nvSpPr>
                <p:cNvPr id="70" name="Shape 70"/>
                <p:cNvSpPr/>
                <p:nvPr/>
              </p:nvSpPr>
              <p:spPr>
                <a:xfrm>
                  <a:off x="309720" y="51256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71" name="Shape 71"/>
                <p:cNvSpPr/>
                <p:nvPr/>
              </p:nvSpPr>
              <p:spPr>
                <a:xfrm>
                  <a:off x="616008" y="285229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72" name="Shape 72"/>
                <p:cNvSpPr/>
                <p:nvPr/>
              </p:nvSpPr>
              <p:spPr>
                <a:xfrm>
                  <a:off x="0" y="355190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74" name="Shape 74"/>
              <p:cNvSpPr/>
              <p:nvPr/>
            </p:nvSpPr>
            <p:spPr>
              <a:xfrm>
                <a:off x="686177" y="303275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75" name="Shape 75"/>
              <p:cNvSpPr/>
              <p:nvPr/>
            </p:nvSpPr>
            <p:spPr>
              <a:xfrm flipH="1">
                <a:off x="305183" y="301178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 rot="18420000">
              <a:off x="528172" y="498610"/>
              <a:ext cx="1407483" cy="743279"/>
              <a:chOff x="67316" y="51257"/>
              <a:chExt cx="1407482" cy="743278"/>
            </a:xfrm>
          </p:grpSpPr>
          <p:grpSp>
            <p:nvGrpSpPr>
              <p:cNvPr id="80" name="Group 80"/>
              <p:cNvGrpSpPr/>
              <p:nvPr/>
            </p:nvGrpSpPr>
            <p:grpSpPr>
              <a:xfrm>
                <a:off x="67316" y="51257"/>
                <a:ext cx="1407482" cy="743278"/>
                <a:chOff x="67316" y="51257"/>
                <a:chExt cx="1407481" cy="743277"/>
              </a:xfrm>
            </p:grpSpPr>
            <p:sp>
              <p:nvSpPr>
                <p:cNvPr id="77" name="Shape 77"/>
                <p:cNvSpPr/>
                <p:nvPr/>
              </p:nvSpPr>
              <p:spPr>
                <a:xfrm>
                  <a:off x="304469" y="51257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78" name="Shape 78"/>
                <p:cNvSpPr/>
                <p:nvPr/>
              </p:nvSpPr>
              <p:spPr>
                <a:xfrm>
                  <a:off x="623896" y="363648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79" name="Shape 79"/>
                <p:cNvSpPr/>
                <p:nvPr/>
              </p:nvSpPr>
              <p:spPr>
                <a:xfrm>
                  <a:off x="67316" y="301803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81" name="Shape 81"/>
              <p:cNvSpPr/>
              <p:nvPr/>
            </p:nvSpPr>
            <p:spPr>
              <a:xfrm>
                <a:off x="685404" y="304571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82" name="Shape 82"/>
              <p:cNvSpPr/>
              <p:nvPr/>
            </p:nvSpPr>
            <p:spPr>
              <a:xfrm flipH="1">
                <a:off x="304405" y="304983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1036595" y="1693156"/>
              <a:ext cx="1174344" cy="769942"/>
              <a:chOff x="253400" y="51257"/>
              <a:chExt cx="1174343" cy="769940"/>
            </a:xfrm>
          </p:grpSpPr>
          <p:grpSp>
            <p:nvGrpSpPr>
              <p:cNvPr id="87" name="Group 87"/>
              <p:cNvGrpSpPr/>
              <p:nvPr/>
            </p:nvGrpSpPr>
            <p:grpSpPr>
              <a:xfrm>
                <a:off x="253400" y="51257"/>
                <a:ext cx="1174343" cy="769940"/>
                <a:chOff x="253400" y="51257"/>
                <a:chExt cx="1174342" cy="769939"/>
              </a:xfrm>
            </p:grpSpPr>
            <p:sp>
              <p:nvSpPr>
                <p:cNvPr id="84" name="Shape 84"/>
                <p:cNvSpPr/>
                <p:nvPr/>
              </p:nvSpPr>
              <p:spPr>
                <a:xfrm>
                  <a:off x="304224" y="51257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85" name="Shape 85"/>
                <p:cNvSpPr/>
                <p:nvPr/>
              </p:nvSpPr>
              <p:spPr>
                <a:xfrm>
                  <a:off x="576841" y="305038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86" name="Shape 86"/>
                <p:cNvSpPr/>
                <p:nvPr/>
              </p:nvSpPr>
              <p:spPr>
                <a:xfrm>
                  <a:off x="253400" y="390311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88" name="Shape 88"/>
              <p:cNvSpPr/>
              <p:nvPr/>
            </p:nvSpPr>
            <p:spPr>
              <a:xfrm>
                <a:off x="612304" y="342991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89" name="Shape 89"/>
              <p:cNvSpPr/>
              <p:nvPr/>
            </p:nvSpPr>
            <p:spPr>
              <a:xfrm flipH="1">
                <a:off x="304763" y="304970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3269048" y="3122207"/>
              <a:ext cx="1346973" cy="648840"/>
              <a:chOff x="120951" y="51257"/>
              <a:chExt cx="1346972" cy="648838"/>
            </a:xfrm>
          </p:grpSpPr>
          <p:grpSp>
            <p:nvGrpSpPr>
              <p:cNvPr id="94" name="Group 94"/>
              <p:cNvGrpSpPr/>
              <p:nvPr/>
            </p:nvGrpSpPr>
            <p:grpSpPr>
              <a:xfrm>
                <a:off x="120951" y="51257"/>
                <a:ext cx="1346972" cy="648838"/>
                <a:chOff x="120951" y="51257"/>
                <a:chExt cx="1346971" cy="648837"/>
              </a:xfrm>
            </p:grpSpPr>
            <p:sp>
              <p:nvSpPr>
                <p:cNvPr id="91" name="Shape 91"/>
                <p:cNvSpPr/>
                <p:nvPr/>
              </p:nvSpPr>
              <p:spPr>
                <a:xfrm>
                  <a:off x="304224" y="51257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92" name="Shape 92"/>
                <p:cNvSpPr/>
                <p:nvPr/>
              </p:nvSpPr>
              <p:spPr>
                <a:xfrm>
                  <a:off x="617021" y="269209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93" name="Shape 93"/>
                <p:cNvSpPr/>
                <p:nvPr/>
              </p:nvSpPr>
              <p:spPr>
                <a:xfrm>
                  <a:off x="120951" y="252598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95" name="Shape 95"/>
              <p:cNvSpPr/>
              <p:nvPr/>
            </p:nvSpPr>
            <p:spPr>
              <a:xfrm>
                <a:off x="685762" y="304251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96" name="Shape 96"/>
              <p:cNvSpPr/>
              <p:nvPr/>
            </p:nvSpPr>
            <p:spPr>
              <a:xfrm flipH="1">
                <a:off x="304762" y="304970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3685709" y="1751404"/>
              <a:ext cx="1604916" cy="1345737"/>
              <a:chOff x="6632" y="-37430"/>
              <a:chExt cx="1604914" cy="1345734"/>
            </a:xfrm>
          </p:grpSpPr>
          <p:grpSp>
            <p:nvGrpSpPr>
              <p:cNvPr id="101" name="Group 101"/>
              <p:cNvGrpSpPr/>
              <p:nvPr/>
            </p:nvGrpSpPr>
            <p:grpSpPr>
              <a:xfrm>
                <a:off x="6632" y="-37430"/>
                <a:ext cx="1604914" cy="871492"/>
                <a:chOff x="6632" y="-37430"/>
                <a:chExt cx="1604913" cy="871491"/>
              </a:xfrm>
            </p:grpSpPr>
            <p:sp>
              <p:nvSpPr>
                <p:cNvPr id="98" name="Shape 98"/>
                <p:cNvSpPr/>
                <p:nvPr/>
              </p:nvSpPr>
              <p:spPr>
                <a:xfrm>
                  <a:off x="294300" y="-37430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99" name="Shape 99"/>
                <p:cNvSpPr/>
                <p:nvPr/>
              </p:nvSpPr>
              <p:spPr>
                <a:xfrm>
                  <a:off x="760644" y="403176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100" name="Shape 100"/>
                <p:cNvSpPr/>
                <p:nvPr/>
              </p:nvSpPr>
              <p:spPr>
                <a:xfrm>
                  <a:off x="6632" y="325427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102" name="Shape 102"/>
              <p:cNvSpPr/>
              <p:nvPr/>
            </p:nvSpPr>
            <p:spPr>
              <a:xfrm>
                <a:off x="1247648" y="1232103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03" name="Shape 103"/>
              <p:cNvSpPr/>
              <p:nvPr/>
            </p:nvSpPr>
            <p:spPr>
              <a:xfrm flipH="1">
                <a:off x="304763" y="304969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 rot="19500000">
              <a:off x="1779647" y="2204900"/>
              <a:ext cx="1460494" cy="737359"/>
              <a:chOff x="0" y="51257"/>
              <a:chExt cx="1460492" cy="737357"/>
            </a:xfrm>
          </p:grpSpPr>
          <p:grpSp>
            <p:nvGrpSpPr>
              <p:cNvPr id="108" name="Group 108"/>
              <p:cNvGrpSpPr/>
              <p:nvPr/>
            </p:nvGrpSpPr>
            <p:grpSpPr>
              <a:xfrm>
                <a:off x="0" y="51257"/>
                <a:ext cx="1460492" cy="737357"/>
                <a:chOff x="0" y="51257"/>
                <a:chExt cx="1460491" cy="737356"/>
              </a:xfrm>
            </p:grpSpPr>
            <p:sp>
              <p:nvSpPr>
                <p:cNvPr id="105" name="Shape 105"/>
                <p:cNvSpPr/>
                <p:nvPr/>
              </p:nvSpPr>
              <p:spPr>
                <a:xfrm>
                  <a:off x="303120" y="51257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106" name="Shape 106"/>
                <p:cNvSpPr/>
                <p:nvPr/>
              </p:nvSpPr>
              <p:spPr>
                <a:xfrm>
                  <a:off x="609590" y="354378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107" name="Shape 107"/>
                <p:cNvSpPr/>
                <p:nvPr/>
              </p:nvSpPr>
              <p:spPr>
                <a:xfrm>
                  <a:off x="0" y="357728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109" name="Shape 109"/>
              <p:cNvSpPr/>
              <p:nvPr/>
            </p:nvSpPr>
            <p:spPr>
              <a:xfrm>
                <a:off x="721354" y="109610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10" name="Shape 110"/>
              <p:cNvSpPr/>
              <p:nvPr/>
            </p:nvSpPr>
            <p:spPr>
              <a:xfrm flipH="1">
                <a:off x="241279" y="364027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 rot="3780000">
              <a:off x="373876" y="3524088"/>
              <a:ext cx="1121228" cy="705973"/>
              <a:chOff x="39684" y="51257"/>
              <a:chExt cx="1121227" cy="705971"/>
            </a:xfrm>
          </p:grpSpPr>
          <p:grpSp>
            <p:nvGrpSpPr>
              <p:cNvPr id="115" name="Group 115"/>
              <p:cNvGrpSpPr/>
              <p:nvPr/>
            </p:nvGrpSpPr>
            <p:grpSpPr>
              <a:xfrm>
                <a:off x="39684" y="51257"/>
                <a:ext cx="1121227" cy="705971"/>
                <a:chOff x="39684" y="51257"/>
                <a:chExt cx="1121226" cy="705970"/>
              </a:xfrm>
            </p:grpSpPr>
            <p:sp>
              <p:nvSpPr>
                <p:cNvPr id="112" name="Shape 112"/>
                <p:cNvSpPr/>
                <p:nvPr/>
              </p:nvSpPr>
              <p:spPr>
                <a:xfrm>
                  <a:off x="322031" y="51257"/>
                  <a:ext cx="5334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113" name="Shape 113"/>
                <p:cNvSpPr/>
                <p:nvPr/>
              </p:nvSpPr>
              <p:spPr>
                <a:xfrm>
                  <a:off x="627509" y="279262"/>
                  <a:ext cx="5334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114" name="Shape 114"/>
                <p:cNvSpPr/>
                <p:nvPr/>
              </p:nvSpPr>
              <p:spPr>
                <a:xfrm>
                  <a:off x="39684" y="326342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116" name="Shape 116"/>
              <p:cNvSpPr/>
              <p:nvPr/>
            </p:nvSpPr>
            <p:spPr>
              <a:xfrm>
                <a:off x="715542" y="313987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17" name="Shape 117"/>
              <p:cNvSpPr/>
              <p:nvPr/>
            </p:nvSpPr>
            <p:spPr>
              <a:xfrm flipH="1">
                <a:off x="334543" y="314348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 rot="19500000">
              <a:off x="2731370" y="2389282"/>
              <a:ext cx="1311698" cy="670656"/>
              <a:chOff x="0" y="125972"/>
              <a:chExt cx="1311697" cy="670654"/>
            </a:xfrm>
          </p:grpSpPr>
          <p:grpSp>
            <p:nvGrpSpPr>
              <p:cNvPr id="122" name="Group 122"/>
              <p:cNvGrpSpPr/>
              <p:nvPr/>
            </p:nvGrpSpPr>
            <p:grpSpPr>
              <a:xfrm>
                <a:off x="0" y="125972"/>
                <a:ext cx="1311697" cy="670654"/>
                <a:chOff x="0" y="125972"/>
                <a:chExt cx="1311696" cy="670653"/>
              </a:xfrm>
            </p:grpSpPr>
            <p:sp>
              <p:nvSpPr>
                <p:cNvPr id="119" name="Shape 119"/>
                <p:cNvSpPr/>
                <p:nvPr/>
              </p:nvSpPr>
              <p:spPr>
                <a:xfrm>
                  <a:off x="140072" y="125972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120" name="Shape 120"/>
                <p:cNvSpPr/>
                <p:nvPr/>
              </p:nvSpPr>
              <p:spPr>
                <a:xfrm>
                  <a:off x="460795" y="365740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121" name="Shape 121"/>
                <p:cNvSpPr/>
                <p:nvPr/>
              </p:nvSpPr>
              <p:spPr>
                <a:xfrm>
                  <a:off x="0" y="357728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123" name="Shape 123"/>
              <p:cNvSpPr/>
              <p:nvPr/>
            </p:nvSpPr>
            <p:spPr>
              <a:xfrm>
                <a:off x="454867" y="416267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24" name="Shape 124"/>
              <p:cNvSpPr/>
              <p:nvPr/>
            </p:nvSpPr>
            <p:spPr>
              <a:xfrm flipH="1">
                <a:off x="140186" y="458293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 rot="19500000">
              <a:off x="988037" y="3948173"/>
              <a:ext cx="1348781" cy="726329"/>
              <a:chOff x="111711" y="354377"/>
              <a:chExt cx="1348780" cy="726328"/>
            </a:xfrm>
          </p:grpSpPr>
          <p:grpSp>
            <p:nvGrpSpPr>
              <p:cNvPr id="129" name="Group 129"/>
              <p:cNvGrpSpPr/>
              <p:nvPr/>
            </p:nvGrpSpPr>
            <p:grpSpPr>
              <a:xfrm>
                <a:off x="111711" y="354377"/>
                <a:ext cx="1348780" cy="726328"/>
                <a:chOff x="111711" y="354377"/>
                <a:chExt cx="1348779" cy="726327"/>
              </a:xfrm>
            </p:grpSpPr>
            <p:sp>
              <p:nvSpPr>
                <p:cNvPr id="126" name="Shape 126"/>
                <p:cNvSpPr/>
                <p:nvPr/>
              </p:nvSpPr>
              <p:spPr>
                <a:xfrm>
                  <a:off x="438826" y="649818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127" name="Shape 127"/>
                <p:cNvSpPr/>
                <p:nvPr/>
              </p:nvSpPr>
              <p:spPr>
                <a:xfrm>
                  <a:off x="609589" y="354377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128" name="Shape 128"/>
                <p:cNvSpPr/>
                <p:nvPr/>
              </p:nvSpPr>
              <p:spPr>
                <a:xfrm>
                  <a:off x="111711" y="398074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130" name="Shape 130"/>
              <p:cNvSpPr/>
              <p:nvPr/>
            </p:nvSpPr>
            <p:spPr>
              <a:xfrm>
                <a:off x="415372" y="685718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1" name="Shape 131"/>
              <p:cNvSpPr/>
              <p:nvPr/>
            </p:nvSpPr>
            <p:spPr>
              <a:xfrm flipH="1">
                <a:off x="709628" y="682196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 rot="2700000">
              <a:off x="3542543" y="1505073"/>
              <a:ext cx="2087800" cy="1200042"/>
              <a:chOff x="80261" y="51257"/>
              <a:chExt cx="2087798" cy="1200040"/>
            </a:xfrm>
          </p:grpSpPr>
          <p:grpSp>
            <p:nvGrpSpPr>
              <p:cNvPr id="136" name="Group 136"/>
              <p:cNvGrpSpPr/>
              <p:nvPr/>
            </p:nvGrpSpPr>
            <p:grpSpPr>
              <a:xfrm>
                <a:off x="80261" y="51257"/>
                <a:ext cx="2087798" cy="1200040"/>
                <a:chOff x="80261" y="51257"/>
                <a:chExt cx="2087796" cy="1200038"/>
              </a:xfrm>
            </p:grpSpPr>
            <p:sp>
              <p:nvSpPr>
                <p:cNvPr id="133" name="Shape 133"/>
                <p:cNvSpPr/>
                <p:nvPr/>
              </p:nvSpPr>
              <p:spPr>
                <a:xfrm>
                  <a:off x="304608" y="51257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134" name="Shape 134"/>
                <p:cNvSpPr/>
                <p:nvPr/>
              </p:nvSpPr>
              <p:spPr>
                <a:xfrm>
                  <a:off x="1317156" y="820409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135" name="Shape 135"/>
                <p:cNvSpPr/>
                <p:nvPr/>
              </p:nvSpPr>
              <p:spPr>
                <a:xfrm>
                  <a:off x="80261" y="304101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137" name="Shape 137"/>
              <p:cNvSpPr/>
              <p:nvPr/>
            </p:nvSpPr>
            <p:spPr>
              <a:xfrm>
                <a:off x="689433" y="31055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8" name="Shape 138"/>
              <p:cNvSpPr/>
              <p:nvPr/>
            </p:nvSpPr>
            <p:spPr>
              <a:xfrm flipH="1">
                <a:off x="308433" y="31086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146" name="Group 146"/>
            <p:cNvGrpSpPr/>
            <p:nvPr/>
          </p:nvGrpSpPr>
          <p:grpSpPr>
            <a:xfrm rot="2700000">
              <a:off x="1867037" y="1963543"/>
              <a:ext cx="909664" cy="978221"/>
              <a:chOff x="-1" y="-191115"/>
              <a:chExt cx="909663" cy="978220"/>
            </a:xfrm>
          </p:grpSpPr>
          <p:grpSp>
            <p:nvGrpSpPr>
              <p:cNvPr id="143" name="Group 143"/>
              <p:cNvGrpSpPr/>
              <p:nvPr/>
            </p:nvGrpSpPr>
            <p:grpSpPr>
              <a:xfrm>
                <a:off x="-1" y="-191115"/>
                <a:ext cx="909663" cy="978220"/>
                <a:chOff x="-1" y="-191115"/>
                <a:chExt cx="909662" cy="978219"/>
              </a:xfrm>
            </p:grpSpPr>
            <p:sp>
              <p:nvSpPr>
                <p:cNvPr id="140" name="Shape 140"/>
                <p:cNvSpPr/>
                <p:nvPr/>
              </p:nvSpPr>
              <p:spPr>
                <a:xfrm>
                  <a:off x="363560" y="-191115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142" name="Shape 142"/>
                <p:cNvSpPr/>
                <p:nvPr/>
              </p:nvSpPr>
              <p:spPr>
                <a:xfrm>
                  <a:off x="-1" y="356218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144" name="Shape 144"/>
              <p:cNvSpPr/>
              <p:nvPr/>
            </p:nvSpPr>
            <p:spPr>
              <a:xfrm>
                <a:off x="659203" y="127340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5" name="Shape 145"/>
              <p:cNvSpPr/>
              <p:nvPr/>
            </p:nvSpPr>
            <p:spPr>
              <a:xfrm flipH="1">
                <a:off x="285625" y="490493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153" name="Group 153"/>
            <p:cNvGrpSpPr/>
            <p:nvPr/>
          </p:nvGrpSpPr>
          <p:grpSpPr>
            <a:xfrm rot="2700000">
              <a:off x="3777435" y="2093411"/>
              <a:ext cx="2343331" cy="1066603"/>
              <a:chOff x="254693" y="338746"/>
              <a:chExt cx="2343327" cy="1066600"/>
            </a:xfrm>
          </p:grpSpPr>
          <p:grpSp>
            <p:nvGrpSpPr>
              <p:cNvPr id="150" name="Group 150"/>
              <p:cNvGrpSpPr/>
              <p:nvPr/>
            </p:nvGrpSpPr>
            <p:grpSpPr>
              <a:xfrm>
                <a:off x="254693" y="338746"/>
                <a:ext cx="2343327" cy="1066600"/>
                <a:chOff x="254693" y="338745"/>
                <a:chExt cx="2343324" cy="1066598"/>
              </a:xfrm>
            </p:grpSpPr>
            <p:sp>
              <p:nvSpPr>
                <p:cNvPr id="147" name="Shape 147"/>
                <p:cNvSpPr/>
                <p:nvPr/>
              </p:nvSpPr>
              <p:spPr>
                <a:xfrm>
                  <a:off x="1368633" y="932198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148" name="Shape 148"/>
                <p:cNvSpPr/>
                <p:nvPr/>
              </p:nvSpPr>
              <p:spPr>
                <a:xfrm>
                  <a:off x="1747116" y="974458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149" name="Shape 149"/>
                <p:cNvSpPr/>
                <p:nvPr/>
              </p:nvSpPr>
              <p:spPr>
                <a:xfrm>
                  <a:off x="254693" y="338745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151" name="Shape 151"/>
              <p:cNvSpPr/>
              <p:nvPr/>
            </p:nvSpPr>
            <p:spPr>
              <a:xfrm>
                <a:off x="919223" y="820594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2" name="Shape 152"/>
              <p:cNvSpPr/>
              <p:nvPr/>
            </p:nvSpPr>
            <p:spPr>
              <a:xfrm flipH="1">
                <a:off x="703911" y="812401"/>
                <a:ext cx="95453" cy="46570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 rot="2700000">
              <a:off x="2711068" y="4275363"/>
              <a:ext cx="1261254" cy="735848"/>
              <a:chOff x="0" y="51258"/>
              <a:chExt cx="1261253" cy="735846"/>
            </a:xfrm>
          </p:grpSpPr>
          <p:grpSp>
            <p:nvGrpSpPr>
              <p:cNvPr id="157" name="Group 157"/>
              <p:cNvGrpSpPr/>
              <p:nvPr/>
            </p:nvGrpSpPr>
            <p:grpSpPr>
              <a:xfrm>
                <a:off x="0" y="51258"/>
                <a:ext cx="1261253" cy="735846"/>
                <a:chOff x="0" y="51258"/>
                <a:chExt cx="1261252" cy="735845"/>
              </a:xfrm>
            </p:grpSpPr>
            <p:sp>
              <p:nvSpPr>
                <p:cNvPr id="154" name="Shape 154"/>
                <p:cNvSpPr/>
                <p:nvPr/>
              </p:nvSpPr>
              <p:spPr>
                <a:xfrm>
                  <a:off x="304607" y="51258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155" name="Shape 155"/>
                <p:cNvSpPr/>
                <p:nvPr/>
              </p:nvSpPr>
              <p:spPr>
                <a:xfrm>
                  <a:off x="727851" y="223280"/>
                  <a:ext cx="5334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156" name="Shape 156"/>
                <p:cNvSpPr/>
                <p:nvPr/>
              </p:nvSpPr>
              <p:spPr>
                <a:xfrm>
                  <a:off x="0" y="356218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158" name="Shape 158"/>
              <p:cNvSpPr/>
              <p:nvPr/>
            </p:nvSpPr>
            <p:spPr>
              <a:xfrm>
                <a:off x="689433" y="31055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9" name="Shape 159"/>
              <p:cNvSpPr/>
              <p:nvPr/>
            </p:nvSpPr>
            <p:spPr>
              <a:xfrm flipH="1">
                <a:off x="283883" y="390198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167" name="Group 167"/>
            <p:cNvGrpSpPr/>
            <p:nvPr/>
          </p:nvGrpSpPr>
          <p:grpSpPr>
            <a:xfrm rot="10800000">
              <a:off x="-8741" y="2944968"/>
              <a:ext cx="1440002" cy="691625"/>
              <a:chOff x="46678" y="51257"/>
              <a:chExt cx="1440001" cy="691623"/>
            </a:xfrm>
          </p:grpSpPr>
          <p:grpSp>
            <p:nvGrpSpPr>
              <p:cNvPr id="164" name="Group 164"/>
              <p:cNvGrpSpPr/>
              <p:nvPr/>
            </p:nvGrpSpPr>
            <p:grpSpPr>
              <a:xfrm>
                <a:off x="46678" y="51257"/>
                <a:ext cx="1440001" cy="691623"/>
                <a:chOff x="46678" y="51257"/>
                <a:chExt cx="1440000" cy="691622"/>
              </a:xfrm>
            </p:grpSpPr>
            <p:sp>
              <p:nvSpPr>
                <p:cNvPr id="161" name="Shape 161"/>
                <p:cNvSpPr/>
                <p:nvPr/>
              </p:nvSpPr>
              <p:spPr>
                <a:xfrm>
                  <a:off x="354790" y="51257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162" name="Shape 162"/>
                <p:cNvSpPr/>
                <p:nvPr/>
              </p:nvSpPr>
              <p:spPr>
                <a:xfrm>
                  <a:off x="635777" y="311994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163" name="Shape 163"/>
                <p:cNvSpPr/>
                <p:nvPr/>
              </p:nvSpPr>
              <p:spPr>
                <a:xfrm>
                  <a:off x="46678" y="293059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165" name="Shape 165"/>
              <p:cNvSpPr/>
              <p:nvPr/>
            </p:nvSpPr>
            <p:spPr>
              <a:xfrm>
                <a:off x="692006" y="305116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66" name="Shape 166"/>
              <p:cNvSpPr/>
              <p:nvPr/>
            </p:nvSpPr>
            <p:spPr>
              <a:xfrm flipH="1">
                <a:off x="311018" y="308089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174" name="Group 174"/>
            <p:cNvGrpSpPr/>
            <p:nvPr/>
          </p:nvGrpSpPr>
          <p:grpSpPr>
            <a:xfrm rot="10800000">
              <a:off x="4047107" y="4617868"/>
              <a:ext cx="1463584" cy="674409"/>
              <a:chOff x="15293" y="51257"/>
              <a:chExt cx="1463582" cy="674407"/>
            </a:xfrm>
          </p:grpSpPr>
          <p:grpSp>
            <p:nvGrpSpPr>
              <p:cNvPr id="171" name="Group 171"/>
              <p:cNvGrpSpPr/>
              <p:nvPr/>
            </p:nvGrpSpPr>
            <p:grpSpPr>
              <a:xfrm>
                <a:off x="15293" y="51257"/>
                <a:ext cx="1463582" cy="674407"/>
                <a:chOff x="15293" y="51257"/>
                <a:chExt cx="1463581" cy="674406"/>
              </a:xfrm>
            </p:grpSpPr>
            <p:sp>
              <p:nvSpPr>
                <p:cNvPr id="168" name="Shape 168"/>
                <p:cNvSpPr/>
                <p:nvPr/>
              </p:nvSpPr>
              <p:spPr>
                <a:xfrm>
                  <a:off x="299167" y="51257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169" name="Shape 169"/>
                <p:cNvSpPr/>
                <p:nvPr/>
              </p:nvSpPr>
              <p:spPr>
                <a:xfrm>
                  <a:off x="627973" y="279278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170" name="Shape 170"/>
                <p:cNvSpPr/>
                <p:nvPr/>
              </p:nvSpPr>
              <p:spPr>
                <a:xfrm>
                  <a:off x="15293" y="294778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172" name="Shape 172"/>
              <p:cNvSpPr/>
              <p:nvPr/>
            </p:nvSpPr>
            <p:spPr>
              <a:xfrm>
                <a:off x="685594" y="30473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73" name="Shape 173"/>
              <p:cNvSpPr/>
              <p:nvPr/>
            </p:nvSpPr>
            <p:spPr>
              <a:xfrm flipH="1">
                <a:off x="304605" y="307705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181" name="Group 181"/>
            <p:cNvGrpSpPr/>
            <p:nvPr/>
          </p:nvGrpSpPr>
          <p:grpSpPr>
            <a:xfrm rot="10800000">
              <a:off x="22785" y="1526214"/>
              <a:ext cx="1450978" cy="683714"/>
              <a:chOff x="0" y="109211"/>
              <a:chExt cx="1450977" cy="683712"/>
            </a:xfrm>
          </p:grpSpPr>
          <p:grpSp>
            <p:nvGrpSpPr>
              <p:cNvPr id="178" name="Group 178"/>
              <p:cNvGrpSpPr/>
              <p:nvPr/>
            </p:nvGrpSpPr>
            <p:grpSpPr>
              <a:xfrm>
                <a:off x="0" y="109211"/>
                <a:ext cx="1450977" cy="683712"/>
                <a:chOff x="0" y="109211"/>
                <a:chExt cx="1450976" cy="683711"/>
              </a:xfrm>
            </p:grpSpPr>
            <p:sp>
              <p:nvSpPr>
                <p:cNvPr id="175" name="Shape 175"/>
                <p:cNvSpPr/>
                <p:nvPr/>
              </p:nvSpPr>
              <p:spPr>
                <a:xfrm>
                  <a:off x="327058" y="109211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176" name="Shape 176"/>
                <p:cNvSpPr/>
                <p:nvPr/>
              </p:nvSpPr>
              <p:spPr>
                <a:xfrm>
                  <a:off x="600075" y="359303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177" name="Shape 177"/>
                <p:cNvSpPr/>
                <p:nvPr/>
              </p:nvSpPr>
              <p:spPr>
                <a:xfrm>
                  <a:off x="0" y="362037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179" name="Shape 179"/>
              <p:cNvSpPr/>
              <p:nvPr/>
            </p:nvSpPr>
            <p:spPr>
              <a:xfrm>
                <a:off x="692006" y="307920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80" name="Shape 180"/>
              <p:cNvSpPr/>
              <p:nvPr/>
            </p:nvSpPr>
            <p:spPr>
              <a:xfrm flipH="1">
                <a:off x="311018" y="310893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188" name="Group 188"/>
            <p:cNvGrpSpPr/>
            <p:nvPr/>
          </p:nvGrpSpPr>
          <p:grpSpPr>
            <a:xfrm rot="10800000">
              <a:off x="2359334" y="1814024"/>
              <a:ext cx="1390103" cy="712795"/>
              <a:chOff x="91963" y="164031"/>
              <a:chExt cx="1390101" cy="712792"/>
            </a:xfrm>
          </p:grpSpPr>
          <p:grpSp>
            <p:nvGrpSpPr>
              <p:cNvPr id="185" name="Group 185"/>
              <p:cNvGrpSpPr/>
              <p:nvPr/>
            </p:nvGrpSpPr>
            <p:grpSpPr>
              <a:xfrm>
                <a:off x="91963" y="164031"/>
                <a:ext cx="1390101" cy="712792"/>
                <a:chOff x="91963" y="164031"/>
                <a:chExt cx="1390100" cy="712791"/>
              </a:xfrm>
            </p:grpSpPr>
            <p:sp>
              <p:nvSpPr>
                <p:cNvPr id="182" name="Shape 182"/>
                <p:cNvSpPr/>
                <p:nvPr/>
              </p:nvSpPr>
              <p:spPr>
                <a:xfrm>
                  <a:off x="268695" y="164031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183" name="Shape 183"/>
                <p:cNvSpPr/>
                <p:nvPr/>
              </p:nvSpPr>
              <p:spPr>
                <a:xfrm>
                  <a:off x="631162" y="280877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184" name="Shape 184"/>
                <p:cNvSpPr/>
                <p:nvPr/>
              </p:nvSpPr>
              <p:spPr>
                <a:xfrm>
                  <a:off x="91963" y="445937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186" name="Shape 186"/>
              <p:cNvSpPr/>
              <p:nvPr/>
            </p:nvSpPr>
            <p:spPr>
              <a:xfrm>
                <a:off x="603297" y="385111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87" name="Shape 187"/>
              <p:cNvSpPr/>
              <p:nvPr/>
            </p:nvSpPr>
            <p:spPr>
              <a:xfrm flipH="1">
                <a:off x="264818" y="494951"/>
                <a:ext cx="76201" cy="76200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</p:grpSp>
      <p:grpSp>
        <p:nvGrpSpPr>
          <p:cNvPr id="304" name="Group 304"/>
          <p:cNvGrpSpPr/>
          <p:nvPr/>
        </p:nvGrpSpPr>
        <p:grpSpPr>
          <a:xfrm>
            <a:off x="5137435" y="-342299"/>
            <a:ext cx="4049834" cy="7228990"/>
            <a:chOff x="-105102" y="134371"/>
            <a:chExt cx="4049833" cy="7228988"/>
          </a:xfrm>
        </p:grpSpPr>
        <p:grpSp>
          <p:nvGrpSpPr>
            <p:cNvPr id="289" name="Group 289"/>
            <p:cNvGrpSpPr/>
            <p:nvPr/>
          </p:nvGrpSpPr>
          <p:grpSpPr>
            <a:xfrm>
              <a:off x="29944" y="712929"/>
              <a:ext cx="3914787" cy="6650430"/>
              <a:chOff x="-21022" y="0"/>
              <a:chExt cx="3914785" cy="6650429"/>
            </a:xfrm>
          </p:grpSpPr>
          <p:pic>
            <p:nvPicPr>
              <p:cNvPr id="190" name="image.pdf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96245" y="3270250"/>
                <a:ext cx="1196976" cy="321945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91" name="image.pdf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3145" y="0"/>
                <a:ext cx="2290763" cy="35052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198" name="Group 198"/>
              <p:cNvGrpSpPr/>
              <p:nvPr/>
            </p:nvGrpSpPr>
            <p:grpSpPr>
              <a:xfrm rot="18420000">
                <a:off x="2840876" y="972054"/>
                <a:ext cx="1395938" cy="709836"/>
                <a:chOff x="42459" y="51258"/>
                <a:chExt cx="1395936" cy="709834"/>
              </a:xfrm>
            </p:grpSpPr>
            <p:grpSp>
              <p:nvGrpSpPr>
                <p:cNvPr id="195" name="Group 195"/>
                <p:cNvGrpSpPr/>
                <p:nvPr/>
              </p:nvGrpSpPr>
              <p:grpSpPr>
                <a:xfrm>
                  <a:off x="42459" y="51258"/>
                  <a:ext cx="1395936" cy="709834"/>
                  <a:chOff x="42459" y="51258"/>
                  <a:chExt cx="1395935" cy="709833"/>
                </a:xfrm>
              </p:grpSpPr>
              <p:sp>
                <p:nvSpPr>
                  <p:cNvPr id="192" name="Shape 192"/>
                  <p:cNvSpPr/>
                  <p:nvPr/>
                </p:nvSpPr>
                <p:spPr>
                  <a:xfrm>
                    <a:off x="313046" y="51258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193" name="Shape 193"/>
                  <p:cNvSpPr/>
                  <p:nvPr/>
                </p:nvSpPr>
                <p:spPr>
                  <a:xfrm>
                    <a:off x="587493" y="303484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194" name="Shape 194"/>
                  <p:cNvSpPr/>
                  <p:nvPr/>
                </p:nvSpPr>
                <p:spPr>
                  <a:xfrm>
                    <a:off x="42459" y="330206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196" name="Shape 196"/>
                <p:cNvSpPr/>
                <p:nvPr/>
              </p:nvSpPr>
              <p:spPr>
                <a:xfrm>
                  <a:off x="679856" y="294089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197" name="Shape 197"/>
                <p:cNvSpPr/>
                <p:nvPr/>
              </p:nvSpPr>
              <p:spPr>
                <a:xfrm flipH="1">
                  <a:off x="334570" y="362277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205" name="Group 205"/>
              <p:cNvGrpSpPr/>
              <p:nvPr/>
            </p:nvGrpSpPr>
            <p:grpSpPr>
              <a:xfrm rot="18420000">
                <a:off x="736116" y="2178584"/>
                <a:ext cx="1351449" cy="661871"/>
                <a:chOff x="101902" y="51257"/>
                <a:chExt cx="1351448" cy="661869"/>
              </a:xfrm>
            </p:grpSpPr>
            <p:grpSp>
              <p:nvGrpSpPr>
                <p:cNvPr id="202" name="Group 202"/>
                <p:cNvGrpSpPr/>
                <p:nvPr/>
              </p:nvGrpSpPr>
              <p:grpSpPr>
                <a:xfrm>
                  <a:off x="101902" y="51257"/>
                  <a:ext cx="1351448" cy="661869"/>
                  <a:chOff x="101902" y="51257"/>
                  <a:chExt cx="1351447" cy="661868"/>
                </a:xfrm>
              </p:grpSpPr>
              <p:sp>
                <p:nvSpPr>
                  <p:cNvPr id="199" name="Shape 199"/>
                  <p:cNvSpPr/>
                  <p:nvPr/>
                </p:nvSpPr>
                <p:spPr>
                  <a:xfrm>
                    <a:off x="308280" y="51257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200" name="Shape 200"/>
                  <p:cNvSpPr/>
                  <p:nvPr/>
                </p:nvSpPr>
                <p:spPr>
                  <a:xfrm>
                    <a:off x="602448" y="264947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201" name="Shape 201"/>
                  <p:cNvSpPr/>
                  <p:nvPr/>
                </p:nvSpPr>
                <p:spPr>
                  <a:xfrm>
                    <a:off x="101902" y="282240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203" name="Shape 203"/>
                <p:cNvSpPr/>
                <p:nvPr/>
              </p:nvSpPr>
              <p:spPr>
                <a:xfrm>
                  <a:off x="689375" y="298861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204" name="Shape 204"/>
                <p:cNvSpPr/>
                <p:nvPr/>
              </p:nvSpPr>
              <p:spPr>
                <a:xfrm flipH="1">
                  <a:off x="308375" y="298556"/>
                  <a:ext cx="76202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212" name="Group 212"/>
              <p:cNvGrpSpPr/>
              <p:nvPr/>
            </p:nvGrpSpPr>
            <p:grpSpPr>
              <a:xfrm rot="18420000">
                <a:off x="2247870" y="5614585"/>
                <a:ext cx="1391591" cy="680098"/>
                <a:chOff x="67152" y="51257"/>
                <a:chExt cx="1391589" cy="680096"/>
              </a:xfrm>
            </p:grpSpPr>
            <p:grpSp>
              <p:nvGrpSpPr>
                <p:cNvPr id="209" name="Group 209"/>
                <p:cNvGrpSpPr/>
                <p:nvPr/>
              </p:nvGrpSpPr>
              <p:grpSpPr>
                <a:xfrm>
                  <a:off x="67152" y="51257"/>
                  <a:ext cx="1391589" cy="680096"/>
                  <a:chOff x="67152" y="51257"/>
                  <a:chExt cx="1391588" cy="680095"/>
                </a:xfrm>
              </p:grpSpPr>
              <p:sp>
                <p:nvSpPr>
                  <p:cNvPr id="206" name="Shape 206"/>
                  <p:cNvSpPr/>
                  <p:nvPr/>
                </p:nvSpPr>
                <p:spPr>
                  <a:xfrm>
                    <a:off x="336850" y="51257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207" name="Shape 207"/>
                  <p:cNvSpPr/>
                  <p:nvPr/>
                </p:nvSpPr>
                <p:spPr>
                  <a:xfrm>
                    <a:off x="607839" y="295874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208" name="Shape 208"/>
                  <p:cNvSpPr/>
                  <p:nvPr/>
                </p:nvSpPr>
                <p:spPr>
                  <a:xfrm>
                    <a:off x="67152" y="300467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210" name="Shape 210"/>
                <p:cNvSpPr/>
                <p:nvPr/>
              </p:nvSpPr>
              <p:spPr>
                <a:xfrm>
                  <a:off x="684613" y="289310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211" name="Shape 211"/>
                <p:cNvSpPr/>
                <p:nvPr/>
              </p:nvSpPr>
              <p:spPr>
                <a:xfrm flipH="1">
                  <a:off x="303614" y="289003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219" name="Group 219"/>
              <p:cNvGrpSpPr/>
              <p:nvPr/>
            </p:nvGrpSpPr>
            <p:grpSpPr>
              <a:xfrm rot="10800000">
                <a:off x="678818" y="5390859"/>
                <a:ext cx="1464237" cy="659315"/>
                <a:chOff x="0" y="51258"/>
                <a:chExt cx="1464236" cy="659313"/>
              </a:xfrm>
            </p:grpSpPr>
            <p:grpSp>
              <p:nvGrpSpPr>
                <p:cNvPr id="216" name="Group 216"/>
                <p:cNvGrpSpPr/>
                <p:nvPr/>
              </p:nvGrpSpPr>
              <p:grpSpPr>
                <a:xfrm>
                  <a:off x="0" y="51258"/>
                  <a:ext cx="1464236" cy="659313"/>
                  <a:chOff x="0" y="51258"/>
                  <a:chExt cx="1464235" cy="659312"/>
                </a:xfrm>
              </p:grpSpPr>
              <p:sp>
                <p:nvSpPr>
                  <p:cNvPr id="213" name="Shape 213"/>
                  <p:cNvSpPr/>
                  <p:nvPr/>
                </p:nvSpPr>
                <p:spPr>
                  <a:xfrm>
                    <a:off x="299763" y="51258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214" name="Shape 214"/>
                  <p:cNvSpPr/>
                  <p:nvPr/>
                </p:nvSpPr>
                <p:spPr>
                  <a:xfrm>
                    <a:off x="613334" y="279685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215" name="Shape 215"/>
                  <p:cNvSpPr/>
                  <p:nvPr/>
                </p:nvSpPr>
                <p:spPr>
                  <a:xfrm>
                    <a:off x="0" y="261031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217" name="Shape 217"/>
                <p:cNvSpPr/>
                <p:nvPr/>
              </p:nvSpPr>
              <p:spPr>
                <a:xfrm>
                  <a:off x="686296" y="302586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218" name="Shape 218"/>
                <p:cNvSpPr/>
                <p:nvPr/>
              </p:nvSpPr>
              <p:spPr>
                <a:xfrm flipH="1">
                  <a:off x="305303" y="304839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226" name="Group 226"/>
              <p:cNvGrpSpPr/>
              <p:nvPr/>
            </p:nvGrpSpPr>
            <p:grpSpPr>
              <a:xfrm rot="10800000">
                <a:off x="2093462" y="3386591"/>
                <a:ext cx="1421193" cy="682383"/>
                <a:chOff x="0" y="51258"/>
                <a:chExt cx="1421192" cy="682381"/>
              </a:xfrm>
            </p:grpSpPr>
            <p:grpSp>
              <p:nvGrpSpPr>
                <p:cNvPr id="223" name="Group 223"/>
                <p:cNvGrpSpPr/>
                <p:nvPr/>
              </p:nvGrpSpPr>
              <p:grpSpPr>
                <a:xfrm>
                  <a:off x="0" y="51258"/>
                  <a:ext cx="1421192" cy="682381"/>
                  <a:chOff x="0" y="51258"/>
                  <a:chExt cx="1421191" cy="682380"/>
                </a:xfrm>
              </p:grpSpPr>
              <p:sp>
                <p:nvSpPr>
                  <p:cNvPr id="220" name="Shape 220"/>
                  <p:cNvSpPr/>
                  <p:nvPr/>
                </p:nvSpPr>
                <p:spPr>
                  <a:xfrm>
                    <a:off x="299763" y="51258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221" name="Shape 221"/>
                  <p:cNvSpPr/>
                  <p:nvPr/>
                </p:nvSpPr>
                <p:spPr>
                  <a:xfrm>
                    <a:off x="570290" y="302753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222" name="Shape 222"/>
                  <p:cNvSpPr/>
                  <p:nvPr/>
                </p:nvSpPr>
                <p:spPr>
                  <a:xfrm>
                    <a:off x="0" y="293791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224" name="Shape 224"/>
                <p:cNvSpPr/>
                <p:nvPr/>
              </p:nvSpPr>
              <p:spPr>
                <a:xfrm>
                  <a:off x="686296" y="302586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225" name="Shape 225"/>
                <p:cNvSpPr/>
                <p:nvPr/>
              </p:nvSpPr>
              <p:spPr>
                <a:xfrm flipH="1">
                  <a:off x="305303" y="304839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233" name="Group 233"/>
              <p:cNvGrpSpPr/>
              <p:nvPr/>
            </p:nvGrpSpPr>
            <p:grpSpPr>
              <a:xfrm rot="10800000">
                <a:off x="452436" y="3550593"/>
                <a:ext cx="1458845" cy="746991"/>
                <a:chOff x="0" y="51258"/>
                <a:chExt cx="1458844" cy="746989"/>
              </a:xfrm>
            </p:grpSpPr>
            <p:grpSp>
              <p:nvGrpSpPr>
                <p:cNvPr id="230" name="Group 230"/>
                <p:cNvGrpSpPr/>
                <p:nvPr/>
              </p:nvGrpSpPr>
              <p:grpSpPr>
                <a:xfrm>
                  <a:off x="0" y="51258"/>
                  <a:ext cx="1458844" cy="746989"/>
                  <a:chOff x="0" y="51258"/>
                  <a:chExt cx="1458843" cy="746988"/>
                </a:xfrm>
              </p:grpSpPr>
              <p:sp>
                <p:nvSpPr>
                  <p:cNvPr id="227" name="Shape 227"/>
                  <p:cNvSpPr/>
                  <p:nvPr/>
                </p:nvSpPr>
                <p:spPr>
                  <a:xfrm>
                    <a:off x="299764" y="51258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228" name="Shape 228"/>
                  <p:cNvSpPr/>
                  <p:nvPr/>
                </p:nvSpPr>
                <p:spPr>
                  <a:xfrm>
                    <a:off x="607942" y="259651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229" name="Shape 229"/>
                  <p:cNvSpPr/>
                  <p:nvPr/>
                </p:nvSpPr>
                <p:spPr>
                  <a:xfrm>
                    <a:off x="0" y="367361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231" name="Shape 231"/>
                <p:cNvSpPr/>
                <p:nvPr/>
              </p:nvSpPr>
              <p:spPr>
                <a:xfrm>
                  <a:off x="686298" y="302586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232" name="Shape 232"/>
                <p:cNvSpPr/>
                <p:nvPr/>
              </p:nvSpPr>
              <p:spPr>
                <a:xfrm flipH="1">
                  <a:off x="305304" y="304839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240" name="Group 240"/>
              <p:cNvGrpSpPr/>
              <p:nvPr/>
            </p:nvGrpSpPr>
            <p:grpSpPr>
              <a:xfrm rot="10800000">
                <a:off x="2263978" y="257458"/>
                <a:ext cx="1409221" cy="763263"/>
                <a:chOff x="0" y="51257"/>
                <a:chExt cx="1409219" cy="763262"/>
              </a:xfrm>
            </p:grpSpPr>
            <p:grpSp>
              <p:nvGrpSpPr>
                <p:cNvPr id="237" name="Group 237"/>
                <p:cNvGrpSpPr/>
                <p:nvPr/>
              </p:nvGrpSpPr>
              <p:grpSpPr>
                <a:xfrm>
                  <a:off x="0" y="51257"/>
                  <a:ext cx="1409219" cy="763262"/>
                  <a:chOff x="0" y="51257"/>
                  <a:chExt cx="1409218" cy="763261"/>
                </a:xfrm>
              </p:grpSpPr>
              <p:sp>
                <p:nvSpPr>
                  <p:cNvPr id="234" name="Shape 234"/>
                  <p:cNvSpPr/>
                  <p:nvPr/>
                </p:nvSpPr>
                <p:spPr>
                  <a:xfrm>
                    <a:off x="229499" y="51257"/>
                    <a:ext cx="546101" cy="4308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235" name="Shape 235"/>
                  <p:cNvSpPr/>
                  <p:nvPr/>
                </p:nvSpPr>
                <p:spPr>
                  <a:xfrm>
                    <a:off x="558317" y="290320"/>
                    <a:ext cx="850901" cy="4308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236" name="Shape 236"/>
                  <p:cNvSpPr/>
                  <p:nvPr/>
                </p:nvSpPr>
                <p:spPr>
                  <a:xfrm>
                    <a:off x="0" y="383632"/>
                    <a:ext cx="698500" cy="4308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238" name="Shape 238"/>
                <p:cNvSpPr/>
                <p:nvPr/>
              </p:nvSpPr>
              <p:spPr>
                <a:xfrm>
                  <a:off x="616035" y="302586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239" name="Shape 239"/>
                <p:cNvSpPr/>
                <p:nvPr/>
              </p:nvSpPr>
              <p:spPr>
                <a:xfrm flipH="1">
                  <a:off x="235042" y="393739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247" name="Group 247"/>
              <p:cNvGrpSpPr/>
              <p:nvPr/>
            </p:nvGrpSpPr>
            <p:grpSpPr>
              <a:xfrm rot="18420000">
                <a:off x="2206104" y="4016313"/>
                <a:ext cx="1487095" cy="730694"/>
                <a:chOff x="0" y="51257"/>
                <a:chExt cx="1487093" cy="730693"/>
              </a:xfrm>
            </p:grpSpPr>
            <p:grpSp>
              <p:nvGrpSpPr>
                <p:cNvPr id="244" name="Group 244"/>
                <p:cNvGrpSpPr/>
                <p:nvPr/>
              </p:nvGrpSpPr>
              <p:grpSpPr>
                <a:xfrm>
                  <a:off x="0" y="51257"/>
                  <a:ext cx="1487093" cy="730693"/>
                  <a:chOff x="0" y="51257"/>
                  <a:chExt cx="1487092" cy="730692"/>
                </a:xfrm>
              </p:grpSpPr>
              <p:sp>
                <p:nvSpPr>
                  <p:cNvPr id="241" name="Shape 241"/>
                  <p:cNvSpPr/>
                  <p:nvPr/>
                </p:nvSpPr>
                <p:spPr>
                  <a:xfrm>
                    <a:off x="343200" y="51257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242" name="Shape 242"/>
                  <p:cNvSpPr/>
                  <p:nvPr/>
                </p:nvSpPr>
                <p:spPr>
                  <a:xfrm>
                    <a:off x="636191" y="276897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243" name="Shape 243"/>
                  <p:cNvSpPr/>
                  <p:nvPr/>
                </p:nvSpPr>
                <p:spPr>
                  <a:xfrm>
                    <a:off x="0" y="351064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245" name="Shape 245"/>
                <p:cNvSpPr/>
                <p:nvPr/>
              </p:nvSpPr>
              <p:spPr>
                <a:xfrm>
                  <a:off x="687788" y="289309"/>
                  <a:ext cx="76200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246" name="Shape 246"/>
                <p:cNvSpPr/>
                <p:nvPr/>
              </p:nvSpPr>
              <p:spPr>
                <a:xfrm flipH="1">
                  <a:off x="306787" y="289003"/>
                  <a:ext cx="76202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254" name="Group 254"/>
              <p:cNvGrpSpPr/>
              <p:nvPr/>
            </p:nvGrpSpPr>
            <p:grpSpPr>
              <a:xfrm rot="2700000">
                <a:off x="972405" y="4829148"/>
                <a:ext cx="1371322" cy="736013"/>
                <a:chOff x="89181" y="51257"/>
                <a:chExt cx="1371321" cy="736012"/>
              </a:xfrm>
            </p:grpSpPr>
            <p:grpSp>
              <p:nvGrpSpPr>
                <p:cNvPr id="251" name="Group 251"/>
                <p:cNvGrpSpPr/>
                <p:nvPr/>
              </p:nvGrpSpPr>
              <p:grpSpPr>
                <a:xfrm>
                  <a:off x="89181" y="51257"/>
                  <a:ext cx="1371321" cy="736012"/>
                  <a:chOff x="89181" y="51257"/>
                  <a:chExt cx="1371320" cy="736011"/>
                </a:xfrm>
              </p:grpSpPr>
              <p:sp>
                <p:nvSpPr>
                  <p:cNvPr id="248" name="Shape 248"/>
                  <p:cNvSpPr/>
                  <p:nvPr/>
                </p:nvSpPr>
                <p:spPr>
                  <a:xfrm>
                    <a:off x="305126" y="51257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249" name="Shape 249"/>
                  <p:cNvSpPr/>
                  <p:nvPr/>
                </p:nvSpPr>
                <p:spPr>
                  <a:xfrm>
                    <a:off x="609600" y="356383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250" name="Shape 250"/>
                  <p:cNvSpPr/>
                  <p:nvPr/>
                </p:nvSpPr>
                <p:spPr>
                  <a:xfrm>
                    <a:off x="89181" y="266550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252" name="Shape 252"/>
                <p:cNvSpPr/>
                <p:nvPr/>
              </p:nvSpPr>
              <p:spPr>
                <a:xfrm>
                  <a:off x="686037" y="304970"/>
                  <a:ext cx="76201" cy="76202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253" name="Shape 253"/>
                <p:cNvSpPr/>
                <p:nvPr/>
              </p:nvSpPr>
              <p:spPr>
                <a:xfrm flipH="1">
                  <a:off x="305037" y="304561"/>
                  <a:ext cx="76202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261" name="Group 261"/>
              <p:cNvGrpSpPr/>
              <p:nvPr/>
            </p:nvGrpSpPr>
            <p:grpSpPr>
              <a:xfrm rot="2700000">
                <a:off x="493394" y="1256989"/>
                <a:ext cx="1467939" cy="683337"/>
                <a:chOff x="52016" y="51258"/>
                <a:chExt cx="1467937" cy="683335"/>
              </a:xfrm>
            </p:grpSpPr>
            <p:grpSp>
              <p:nvGrpSpPr>
                <p:cNvPr id="258" name="Group 258"/>
                <p:cNvGrpSpPr/>
                <p:nvPr/>
              </p:nvGrpSpPr>
              <p:grpSpPr>
                <a:xfrm>
                  <a:off x="52016" y="51258"/>
                  <a:ext cx="1467937" cy="683335"/>
                  <a:chOff x="52016" y="51258"/>
                  <a:chExt cx="1467936" cy="683334"/>
                </a:xfrm>
              </p:grpSpPr>
              <p:sp>
                <p:nvSpPr>
                  <p:cNvPr id="255" name="Shape 255"/>
                  <p:cNvSpPr/>
                  <p:nvPr/>
                </p:nvSpPr>
                <p:spPr>
                  <a:xfrm>
                    <a:off x="305128" y="51258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256" name="Shape 256"/>
                  <p:cNvSpPr/>
                  <p:nvPr/>
                </p:nvSpPr>
                <p:spPr>
                  <a:xfrm>
                    <a:off x="669051" y="296933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257" name="Shape 257"/>
                  <p:cNvSpPr/>
                  <p:nvPr/>
                </p:nvSpPr>
                <p:spPr>
                  <a:xfrm>
                    <a:off x="52016" y="303707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259" name="Shape 259"/>
                <p:cNvSpPr/>
                <p:nvPr/>
              </p:nvSpPr>
              <p:spPr>
                <a:xfrm>
                  <a:off x="686037" y="304970"/>
                  <a:ext cx="76201" cy="76202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260" name="Shape 260"/>
                <p:cNvSpPr/>
                <p:nvPr/>
              </p:nvSpPr>
              <p:spPr>
                <a:xfrm flipH="1">
                  <a:off x="305037" y="304561"/>
                  <a:ext cx="76201" cy="76202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268" name="Group 268"/>
              <p:cNvGrpSpPr/>
              <p:nvPr/>
            </p:nvGrpSpPr>
            <p:grpSpPr>
              <a:xfrm rot="10800000">
                <a:off x="-21022" y="5887583"/>
                <a:ext cx="1454083" cy="694443"/>
                <a:chOff x="21020" y="51257"/>
                <a:chExt cx="1454082" cy="694442"/>
              </a:xfrm>
            </p:grpSpPr>
            <p:grpSp>
              <p:nvGrpSpPr>
                <p:cNvPr id="265" name="Group 265"/>
                <p:cNvGrpSpPr/>
                <p:nvPr/>
              </p:nvGrpSpPr>
              <p:grpSpPr>
                <a:xfrm>
                  <a:off x="21020" y="51257"/>
                  <a:ext cx="1454082" cy="694442"/>
                  <a:chOff x="21020" y="51257"/>
                  <a:chExt cx="1454081" cy="694441"/>
                </a:xfrm>
              </p:grpSpPr>
              <p:sp>
                <p:nvSpPr>
                  <p:cNvPr id="262" name="Shape 262"/>
                  <p:cNvSpPr/>
                  <p:nvPr/>
                </p:nvSpPr>
                <p:spPr>
                  <a:xfrm>
                    <a:off x="299763" y="51257"/>
                    <a:ext cx="546101" cy="4308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263" name="Shape 263"/>
                  <p:cNvSpPr/>
                  <p:nvPr/>
                </p:nvSpPr>
                <p:spPr>
                  <a:xfrm>
                    <a:off x="560700" y="291585"/>
                    <a:ext cx="914401" cy="4308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264" name="Shape 264"/>
                  <p:cNvSpPr/>
                  <p:nvPr/>
                </p:nvSpPr>
                <p:spPr>
                  <a:xfrm>
                    <a:off x="21020" y="314812"/>
                    <a:ext cx="698500" cy="4308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266" name="Shape 266"/>
                <p:cNvSpPr/>
                <p:nvPr/>
              </p:nvSpPr>
              <p:spPr>
                <a:xfrm>
                  <a:off x="686297" y="302586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267" name="Shape 267"/>
                <p:cNvSpPr/>
                <p:nvPr/>
              </p:nvSpPr>
              <p:spPr>
                <a:xfrm flipH="1">
                  <a:off x="305303" y="304840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275" name="Group 275"/>
              <p:cNvGrpSpPr/>
              <p:nvPr/>
            </p:nvGrpSpPr>
            <p:grpSpPr>
              <a:xfrm rot="2700000">
                <a:off x="444576" y="3231297"/>
                <a:ext cx="1430781" cy="676565"/>
                <a:chOff x="59448" y="51257"/>
                <a:chExt cx="1430780" cy="676563"/>
              </a:xfrm>
            </p:grpSpPr>
            <p:grpSp>
              <p:nvGrpSpPr>
                <p:cNvPr id="272" name="Group 272"/>
                <p:cNvGrpSpPr/>
                <p:nvPr/>
              </p:nvGrpSpPr>
              <p:grpSpPr>
                <a:xfrm>
                  <a:off x="59448" y="51257"/>
                  <a:ext cx="1430780" cy="676563"/>
                  <a:chOff x="59448" y="51257"/>
                  <a:chExt cx="1430780" cy="676562"/>
                </a:xfrm>
              </p:grpSpPr>
              <p:sp>
                <p:nvSpPr>
                  <p:cNvPr id="269" name="Shape 269"/>
                  <p:cNvSpPr/>
                  <p:nvPr/>
                </p:nvSpPr>
                <p:spPr>
                  <a:xfrm>
                    <a:off x="305127" y="51257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270" name="Shape 270"/>
                  <p:cNvSpPr/>
                  <p:nvPr/>
                </p:nvSpPr>
                <p:spPr>
                  <a:xfrm>
                    <a:off x="639328" y="296934"/>
                    <a:ext cx="8509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271" name="Shape 271"/>
                  <p:cNvSpPr/>
                  <p:nvPr/>
                </p:nvSpPr>
                <p:spPr>
                  <a:xfrm>
                    <a:off x="59448" y="296274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273" name="Shape 273"/>
                <p:cNvSpPr/>
                <p:nvPr/>
              </p:nvSpPr>
              <p:spPr>
                <a:xfrm>
                  <a:off x="686037" y="304971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274" name="Shape 274"/>
                <p:cNvSpPr/>
                <p:nvPr/>
              </p:nvSpPr>
              <p:spPr>
                <a:xfrm flipH="1">
                  <a:off x="305037" y="304561"/>
                  <a:ext cx="76201" cy="76202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282" name="Group 282"/>
              <p:cNvGrpSpPr/>
              <p:nvPr/>
            </p:nvGrpSpPr>
            <p:grpSpPr>
              <a:xfrm rot="2700000">
                <a:off x="356211" y="4296007"/>
                <a:ext cx="1422907" cy="675211"/>
                <a:chOff x="60148" y="51258"/>
                <a:chExt cx="1422906" cy="675209"/>
              </a:xfrm>
            </p:grpSpPr>
            <p:grpSp>
              <p:nvGrpSpPr>
                <p:cNvPr id="279" name="Group 279"/>
                <p:cNvGrpSpPr/>
                <p:nvPr/>
              </p:nvGrpSpPr>
              <p:grpSpPr>
                <a:xfrm>
                  <a:off x="60148" y="51258"/>
                  <a:ext cx="1422906" cy="675209"/>
                  <a:chOff x="60148" y="51258"/>
                  <a:chExt cx="1422906" cy="675208"/>
                </a:xfrm>
              </p:grpSpPr>
              <p:sp>
                <p:nvSpPr>
                  <p:cNvPr id="276" name="Shape 276"/>
                  <p:cNvSpPr/>
                  <p:nvPr/>
                </p:nvSpPr>
                <p:spPr>
                  <a:xfrm>
                    <a:off x="305128" y="51258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277" name="Shape 277"/>
                  <p:cNvSpPr/>
                  <p:nvPr/>
                </p:nvSpPr>
                <p:spPr>
                  <a:xfrm>
                    <a:off x="632154" y="273681"/>
                    <a:ext cx="8509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278" name="Shape 278"/>
                  <p:cNvSpPr/>
                  <p:nvPr/>
                </p:nvSpPr>
                <p:spPr>
                  <a:xfrm>
                    <a:off x="60148" y="295581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 dirty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280" name="Shape 280"/>
                <p:cNvSpPr/>
                <p:nvPr/>
              </p:nvSpPr>
              <p:spPr>
                <a:xfrm>
                  <a:off x="686038" y="304970"/>
                  <a:ext cx="76201" cy="76202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281" name="Shape 281"/>
                <p:cNvSpPr/>
                <p:nvPr/>
              </p:nvSpPr>
              <p:spPr>
                <a:xfrm flipH="1">
                  <a:off x="305038" y="304561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sp>
            <p:nvSpPr>
              <p:cNvPr id="283" name="Shape 283"/>
              <p:cNvSpPr/>
              <p:nvPr/>
            </p:nvSpPr>
            <p:spPr>
              <a:xfrm>
                <a:off x="1596245" y="311150"/>
                <a:ext cx="1588" cy="152400"/>
              </a:xfrm>
              <a:prstGeom prst="line">
                <a:avLst/>
              </a:prstGeom>
              <a:noFill/>
              <a:ln w="19050" cap="flat">
                <a:solidFill>
                  <a:srgbClr val="00B6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84" name="Shape 284"/>
              <p:cNvSpPr/>
              <p:nvPr/>
            </p:nvSpPr>
            <p:spPr>
              <a:xfrm flipV="1">
                <a:off x="3120245" y="1885950"/>
                <a:ext cx="101601" cy="304800"/>
              </a:xfrm>
              <a:prstGeom prst="line">
                <a:avLst/>
              </a:prstGeom>
              <a:noFill/>
              <a:ln w="19050" cap="flat">
                <a:solidFill>
                  <a:srgbClr val="00B6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85" name="Shape 285"/>
              <p:cNvSpPr/>
              <p:nvPr/>
            </p:nvSpPr>
            <p:spPr>
              <a:xfrm>
                <a:off x="2663045" y="3295650"/>
                <a:ext cx="25401" cy="241300"/>
              </a:xfrm>
              <a:prstGeom prst="line">
                <a:avLst/>
              </a:prstGeom>
              <a:noFill/>
              <a:ln w="19050" cap="flat">
                <a:solidFill>
                  <a:srgbClr val="00B6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86" name="Shape 286"/>
              <p:cNvSpPr/>
              <p:nvPr/>
            </p:nvSpPr>
            <p:spPr>
              <a:xfrm flipV="1">
                <a:off x="2637645" y="603250"/>
                <a:ext cx="228601" cy="38100"/>
              </a:xfrm>
              <a:prstGeom prst="line">
                <a:avLst/>
              </a:prstGeom>
              <a:noFill/>
              <a:ln w="19050" cap="flat">
                <a:solidFill>
                  <a:srgbClr val="00B6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87" name="Shape 287"/>
              <p:cNvSpPr/>
              <p:nvPr/>
            </p:nvSpPr>
            <p:spPr>
              <a:xfrm flipV="1">
                <a:off x="1189845" y="1936750"/>
                <a:ext cx="177801" cy="177800"/>
              </a:xfrm>
              <a:prstGeom prst="line">
                <a:avLst/>
              </a:prstGeom>
              <a:noFill/>
              <a:ln w="19050" cap="flat">
                <a:solidFill>
                  <a:srgbClr val="00B6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88" name="Shape 288"/>
              <p:cNvSpPr/>
              <p:nvPr/>
            </p:nvSpPr>
            <p:spPr>
              <a:xfrm>
                <a:off x="1240645" y="1733550"/>
                <a:ext cx="76201" cy="241300"/>
              </a:xfrm>
              <a:prstGeom prst="line">
                <a:avLst/>
              </a:prstGeom>
              <a:noFill/>
              <a:ln w="19050" cap="flat">
                <a:solidFill>
                  <a:srgbClr val="00B6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296" name="Group 296"/>
            <p:cNvGrpSpPr/>
            <p:nvPr/>
          </p:nvGrpSpPr>
          <p:grpSpPr>
            <a:xfrm rot="18420000">
              <a:off x="696327" y="506592"/>
              <a:ext cx="1433983" cy="689542"/>
              <a:chOff x="50361" y="84832"/>
              <a:chExt cx="1433982" cy="689540"/>
            </a:xfrm>
          </p:grpSpPr>
          <p:grpSp>
            <p:nvGrpSpPr>
              <p:cNvPr id="293" name="Group 293"/>
              <p:cNvGrpSpPr/>
              <p:nvPr/>
            </p:nvGrpSpPr>
            <p:grpSpPr>
              <a:xfrm>
                <a:off x="50361" y="84832"/>
                <a:ext cx="1433982" cy="689540"/>
                <a:chOff x="50361" y="84832"/>
                <a:chExt cx="1433981" cy="689539"/>
              </a:xfrm>
            </p:grpSpPr>
            <p:sp>
              <p:nvSpPr>
                <p:cNvPr id="290" name="Shape 290"/>
                <p:cNvSpPr/>
                <p:nvPr/>
              </p:nvSpPr>
              <p:spPr>
                <a:xfrm>
                  <a:off x="338346" y="84832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291" name="Shape 291"/>
                <p:cNvSpPr/>
                <p:nvPr/>
              </p:nvSpPr>
              <p:spPr>
                <a:xfrm>
                  <a:off x="633441" y="343486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292" name="Shape 292"/>
                <p:cNvSpPr/>
                <p:nvPr/>
              </p:nvSpPr>
              <p:spPr>
                <a:xfrm>
                  <a:off x="50361" y="324251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294" name="Shape 294"/>
              <p:cNvSpPr/>
              <p:nvPr/>
            </p:nvSpPr>
            <p:spPr>
              <a:xfrm>
                <a:off x="684616" y="297267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95" name="Shape 295"/>
              <p:cNvSpPr/>
              <p:nvPr/>
            </p:nvSpPr>
            <p:spPr>
              <a:xfrm flipH="1">
                <a:off x="303617" y="296961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303" name="Group 303"/>
            <p:cNvGrpSpPr/>
            <p:nvPr/>
          </p:nvGrpSpPr>
          <p:grpSpPr>
            <a:xfrm rot="10800000">
              <a:off x="-105102" y="2645968"/>
              <a:ext cx="1473714" cy="675708"/>
              <a:chOff x="0" y="51258"/>
              <a:chExt cx="1473713" cy="675706"/>
            </a:xfrm>
          </p:grpSpPr>
          <p:grpSp>
            <p:nvGrpSpPr>
              <p:cNvPr id="300" name="Group 300"/>
              <p:cNvGrpSpPr/>
              <p:nvPr/>
            </p:nvGrpSpPr>
            <p:grpSpPr>
              <a:xfrm>
                <a:off x="0" y="51258"/>
                <a:ext cx="1473713" cy="675706"/>
                <a:chOff x="0" y="51258"/>
                <a:chExt cx="1473712" cy="675705"/>
              </a:xfrm>
            </p:grpSpPr>
            <p:sp>
              <p:nvSpPr>
                <p:cNvPr id="297" name="Shape 297"/>
                <p:cNvSpPr/>
                <p:nvPr/>
              </p:nvSpPr>
              <p:spPr>
                <a:xfrm>
                  <a:off x="298157" y="51258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298" name="Shape 298"/>
                <p:cNvSpPr/>
                <p:nvPr/>
              </p:nvSpPr>
              <p:spPr>
                <a:xfrm>
                  <a:off x="559311" y="296078"/>
                  <a:ext cx="9144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299" name="Shape 299"/>
                <p:cNvSpPr/>
                <p:nvPr/>
              </p:nvSpPr>
              <p:spPr>
                <a:xfrm>
                  <a:off x="0" y="285463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 dirty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301" name="Shape 301"/>
              <p:cNvSpPr/>
              <p:nvPr/>
            </p:nvSpPr>
            <p:spPr>
              <a:xfrm>
                <a:off x="681506" y="301017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302" name="Shape 302"/>
              <p:cNvSpPr/>
              <p:nvPr/>
            </p:nvSpPr>
            <p:spPr>
              <a:xfrm flipH="1">
                <a:off x="300513" y="303271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</p:grpSp>
      <p:grpSp>
        <p:nvGrpSpPr>
          <p:cNvPr id="309" name="Group 309"/>
          <p:cNvGrpSpPr/>
          <p:nvPr/>
        </p:nvGrpSpPr>
        <p:grpSpPr>
          <a:xfrm>
            <a:off x="4114800" y="2935010"/>
            <a:ext cx="1905000" cy="533400"/>
            <a:chOff x="0" y="0"/>
            <a:chExt cx="1905000" cy="533400"/>
          </a:xfrm>
        </p:grpSpPr>
        <p:sp>
          <p:nvSpPr>
            <p:cNvPr id="305" name="Shape 305"/>
            <p:cNvSpPr/>
            <p:nvPr/>
          </p:nvSpPr>
          <p:spPr>
            <a:xfrm>
              <a:off x="0" y="152400"/>
              <a:ext cx="1905000" cy="158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06" name="Shape 306"/>
            <p:cNvSpPr/>
            <p:nvPr/>
          </p:nvSpPr>
          <p:spPr>
            <a:xfrm>
              <a:off x="1676400" y="0"/>
              <a:ext cx="228600" cy="1524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07" name="Shape 307"/>
            <p:cNvSpPr/>
            <p:nvPr/>
          </p:nvSpPr>
          <p:spPr>
            <a:xfrm>
              <a:off x="0" y="381000"/>
              <a:ext cx="1905000" cy="158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08" name="Shape 308"/>
            <p:cNvSpPr/>
            <p:nvPr/>
          </p:nvSpPr>
          <p:spPr>
            <a:xfrm>
              <a:off x="0" y="381000"/>
              <a:ext cx="152400" cy="1524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312" name="Group 312"/>
          <p:cNvGrpSpPr/>
          <p:nvPr/>
        </p:nvGrpSpPr>
        <p:grpSpPr>
          <a:xfrm>
            <a:off x="4372916" y="3310862"/>
            <a:ext cx="2024387" cy="669012"/>
            <a:chOff x="0" y="0"/>
            <a:chExt cx="2222500" cy="669011"/>
          </a:xfrm>
        </p:grpSpPr>
        <p:sp>
          <p:nvSpPr>
            <p:cNvPr id="310" name="Shape 310"/>
            <p:cNvSpPr/>
            <p:nvPr/>
          </p:nvSpPr>
          <p:spPr>
            <a:xfrm>
              <a:off x="346377" y="0"/>
              <a:ext cx="1765301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200"/>
                </a:spcBef>
                <a:buClr>
                  <a:srgbClr val="000000"/>
                </a:buClr>
                <a:buFont typeface="Helvetica"/>
                <a:defRPr sz="2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20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U</a:t>
              </a:r>
              <a:r>
                <a:rPr lang="en-US" sz="20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nfold</a:t>
              </a:r>
            </a:p>
          </p:txBody>
        </p:sp>
        <p:sp>
          <p:nvSpPr>
            <p:cNvPr id="311" name="Shape 311"/>
            <p:cNvSpPr/>
            <p:nvPr/>
          </p:nvSpPr>
          <p:spPr>
            <a:xfrm>
              <a:off x="0" y="238125"/>
              <a:ext cx="2222500" cy="4308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buClr>
                  <a:srgbClr val="000000"/>
                </a:buClr>
                <a:buFont typeface="Helvetica"/>
                <a:defRPr sz="14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lang="en-US" sz="1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into unstructured, changing strand</a:t>
              </a:r>
            </a:p>
          </p:txBody>
        </p:sp>
      </p:grpSp>
      <p:grpSp>
        <p:nvGrpSpPr>
          <p:cNvPr id="320" name="Group 320"/>
          <p:cNvGrpSpPr/>
          <p:nvPr/>
        </p:nvGrpSpPr>
        <p:grpSpPr>
          <a:xfrm>
            <a:off x="2645557" y="5373410"/>
            <a:ext cx="3604241" cy="492443"/>
            <a:chOff x="684530" y="0"/>
            <a:chExt cx="3713681" cy="492442"/>
          </a:xfrm>
        </p:grpSpPr>
        <p:sp>
          <p:nvSpPr>
            <p:cNvPr id="313" name="Shape 313"/>
            <p:cNvSpPr/>
            <p:nvPr/>
          </p:nvSpPr>
          <p:spPr>
            <a:xfrm>
              <a:off x="3014662" y="0"/>
              <a:ext cx="1383549" cy="49244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000000"/>
                </a:buClr>
                <a:buFont typeface="Helvetica"/>
                <a:defRPr sz="16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F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olded protein in water</a:t>
              </a:r>
            </a:p>
          </p:txBody>
        </p:sp>
        <p:sp>
          <p:nvSpPr>
            <p:cNvPr id="314" name="Shape 314"/>
            <p:cNvSpPr/>
            <p:nvPr/>
          </p:nvSpPr>
          <p:spPr>
            <a:xfrm>
              <a:off x="684530" y="0"/>
              <a:ext cx="1570040" cy="49244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000000"/>
                </a:buClr>
                <a:buFont typeface="Helvetica"/>
                <a:defRPr sz="16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U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nfolded protein in water</a:t>
              </a:r>
            </a:p>
          </p:txBody>
        </p:sp>
        <p:grpSp>
          <p:nvGrpSpPr>
            <p:cNvPr id="319" name="Group 319"/>
            <p:cNvGrpSpPr/>
            <p:nvPr/>
          </p:nvGrpSpPr>
          <p:grpSpPr>
            <a:xfrm>
              <a:off x="2328862" y="114300"/>
              <a:ext cx="628651" cy="342900"/>
              <a:chOff x="0" y="0"/>
              <a:chExt cx="628650" cy="342900"/>
            </a:xfrm>
          </p:grpSpPr>
          <p:sp>
            <p:nvSpPr>
              <p:cNvPr id="315" name="Shape 315"/>
              <p:cNvSpPr/>
              <p:nvPr/>
            </p:nvSpPr>
            <p:spPr>
              <a:xfrm>
                <a:off x="0" y="107950"/>
                <a:ext cx="609600" cy="1588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316" name="Shape 316"/>
              <p:cNvSpPr/>
              <p:nvPr/>
            </p:nvSpPr>
            <p:spPr>
              <a:xfrm>
                <a:off x="501650" y="0"/>
                <a:ext cx="120650" cy="107950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317" name="Shape 317"/>
              <p:cNvSpPr/>
              <p:nvPr/>
            </p:nvSpPr>
            <p:spPr>
              <a:xfrm>
                <a:off x="0" y="241300"/>
                <a:ext cx="628650" cy="1588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318" name="Shape 318"/>
              <p:cNvSpPr/>
              <p:nvPr/>
            </p:nvSpPr>
            <p:spPr>
              <a:xfrm>
                <a:off x="0" y="247650"/>
                <a:ext cx="107950" cy="95250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</p:grpSp>
      <p:sp>
        <p:nvSpPr>
          <p:cNvPr id="321" name="Shape 321"/>
          <p:cNvSpPr/>
          <p:nvPr/>
        </p:nvSpPr>
        <p:spPr>
          <a:xfrm>
            <a:off x="-88900" y="-37905"/>
            <a:ext cx="915670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400"/>
              </a:spcBef>
              <a:buClr>
                <a:srgbClr val="000000"/>
              </a:buClr>
              <a:buFont typeface="Helvetica"/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C</a:t>
            </a:r>
            <a:r>
              <a:rPr lang="en-US"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onsider the protein folding/unfolding process </a:t>
            </a:r>
            <a:endParaRPr sz="2200" b="0" dirty="0">
              <a:uFill>
                <a:solidFill/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322" name="Shape 322"/>
          <p:cNvSpPr/>
          <p:nvPr/>
        </p:nvSpPr>
        <p:spPr>
          <a:xfrm>
            <a:off x="2660024" y="5863304"/>
            <a:ext cx="1481877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S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tructure rapidly changing</a:t>
            </a:r>
          </a:p>
        </p:txBody>
      </p:sp>
      <p:sp>
        <p:nvSpPr>
          <p:cNvPr id="323" name="Shape 322"/>
          <p:cNvSpPr/>
          <p:nvPr/>
        </p:nvSpPr>
        <p:spPr>
          <a:xfrm>
            <a:off x="4866571" y="5865533"/>
            <a:ext cx="1481877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S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tructure </a:t>
            </a:r>
            <a:r>
              <a:rPr lang="en-US"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relatively fixed</a:t>
            </a:r>
            <a:endParaRPr lang="en-US" sz="1400" b="0" dirty="0">
              <a:uFill>
                <a:solidFill/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086514-C1DC-3F46-88E3-AF0A591F9194}"/>
              </a:ext>
            </a:extLst>
          </p:cNvPr>
          <p:cNvCxnSpPr>
            <a:stCxn id="314" idx="0"/>
          </p:cNvCxnSpPr>
          <p:nvPr/>
        </p:nvCxnSpPr>
        <p:spPr>
          <a:xfrm flipH="1" flipV="1">
            <a:off x="3153868" y="4999839"/>
            <a:ext cx="253575" cy="373571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round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30F6AE30-2E75-C040-82DE-15E88E5BE93D}"/>
              </a:ext>
            </a:extLst>
          </p:cNvPr>
          <p:cNvCxnSpPr>
            <a:cxnSpLocks/>
          </p:cNvCxnSpPr>
          <p:nvPr/>
        </p:nvCxnSpPr>
        <p:spPr>
          <a:xfrm flipV="1">
            <a:off x="5556426" y="4942843"/>
            <a:ext cx="463374" cy="431966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round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382BA0A-BFE4-164D-BDC9-5BBE160CDB3E}"/>
              </a:ext>
            </a:extLst>
          </p:cNvPr>
          <p:cNvGrpSpPr/>
          <p:nvPr/>
        </p:nvGrpSpPr>
        <p:grpSpPr>
          <a:xfrm>
            <a:off x="4230362" y="319384"/>
            <a:ext cx="1934993" cy="1070995"/>
            <a:chOff x="4052237" y="236259"/>
            <a:chExt cx="1934993" cy="107099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BB9BBB3-519B-CC4F-B039-F37FCF7DE079}"/>
                </a:ext>
              </a:extLst>
            </p:cNvPr>
            <p:cNvSpPr txBox="1"/>
            <p:nvPr/>
          </p:nvSpPr>
          <p:spPr>
            <a:xfrm>
              <a:off x="4052237" y="712219"/>
              <a:ext cx="1652220" cy="595035"/>
            </a:xfrm>
            <a:prstGeom prst="rect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Gill Sans" panose="020B0502020104020203" pitchFamily="34" charset="-79"/>
                  <a:cs typeface="Gill Sans" panose="020B0502020104020203" pitchFamily="34" charset="-79"/>
                  <a:sym typeface="Helvetica"/>
                </a:rPr>
                <a:t>Measures protein stability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A053D59-E8BA-E74E-88B0-ECC60CBAB0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6071" y="249736"/>
              <a:ext cx="490355" cy="450073"/>
            </a:xfrm>
            <a:prstGeom prst="straightConnector1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F823C3C-0078-C641-952A-EEE69BCF30E1}"/>
                </a:ext>
              </a:extLst>
            </p:cNvPr>
            <p:cNvCxnSpPr/>
            <p:nvPr/>
          </p:nvCxnSpPr>
          <p:spPr>
            <a:xfrm>
              <a:off x="4143816" y="236259"/>
              <a:ext cx="1843414" cy="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E1A7E44-B28C-A443-A06B-DAFD75BA311A}"/>
              </a:ext>
            </a:extLst>
          </p:cNvPr>
          <p:cNvSpPr txBox="1"/>
          <p:nvPr/>
        </p:nvSpPr>
        <p:spPr>
          <a:xfrm>
            <a:off x="3460299" y="4627402"/>
            <a:ext cx="2172390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Like considering </a:t>
            </a:r>
          </a:p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 chemical reaction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6822644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" grpId="0" animBg="1" advAuto="0"/>
      <p:bldP spid="323" grpId="0" animBg="1" advAuto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379"/>
          <p:cNvSpPr/>
          <p:nvPr/>
        </p:nvSpPr>
        <p:spPr>
          <a:xfrm>
            <a:off x="4572000" y="2862262"/>
            <a:ext cx="15367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00000"/>
              </a:buClr>
              <a:buFont typeface="Helvetica"/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0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F</a:t>
            </a:r>
            <a:r>
              <a:rPr lang="en-US" sz="20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old</a:t>
            </a:r>
          </a:p>
        </p:txBody>
      </p:sp>
      <p:grpSp>
        <p:nvGrpSpPr>
          <p:cNvPr id="528" name="Group 528"/>
          <p:cNvGrpSpPr/>
          <p:nvPr/>
        </p:nvGrpSpPr>
        <p:grpSpPr>
          <a:xfrm rot="4680000">
            <a:off x="-577604" y="383410"/>
            <a:ext cx="5628051" cy="5300535"/>
            <a:chOff x="-2" y="3827"/>
            <a:chExt cx="5628050" cy="5300533"/>
          </a:xfrm>
        </p:grpSpPr>
        <p:pic>
          <p:nvPicPr>
            <p:cNvPr id="380" name="image.pdf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041745" y="857978"/>
              <a:ext cx="4330701" cy="42227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87" name="Group 387"/>
            <p:cNvGrpSpPr/>
            <p:nvPr/>
          </p:nvGrpSpPr>
          <p:grpSpPr>
            <a:xfrm rot="10800000">
              <a:off x="876370" y="1295649"/>
              <a:ext cx="1468466" cy="738970"/>
              <a:chOff x="1" y="51257"/>
              <a:chExt cx="1468465" cy="738969"/>
            </a:xfrm>
          </p:grpSpPr>
          <p:grpSp>
            <p:nvGrpSpPr>
              <p:cNvPr id="384" name="Group 384"/>
              <p:cNvGrpSpPr/>
              <p:nvPr/>
            </p:nvGrpSpPr>
            <p:grpSpPr>
              <a:xfrm>
                <a:off x="1" y="51257"/>
                <a:ext cx="1468465" cy="738969"/>
                <a:chOff x="1" y="51257"/>
                <a:chExt cx="1468464" cy="738968"/>
              </a:xfrm>
            </p:grpSpPr>
            <p:sp>
              <p:nvSpPr>
                <p:cNvPr id="381" name="Shape 381"/>
                <p:cNvSpPr/>
                <p:nvPr/>
              </p:nvSpPr>
              <p:spPr>
                <a:xfrm>
                  <a:off x="324629" y="51257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382" name="Shape 382"/>
                <p:cNvSpPr/>
                <p:nvPr/>
              </p:nvSpPr>
              <p:spPr>
                <a:xfrm>
                  <a:off x="617564" y="359339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383" name="Shape 383"/>
                <p:cNvSpPr/>
                <p:nvPr/>
              </p:nvSpPr>
              <p:spPr>
                <a:xfrm>
                  <a:off x="1" y="358998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385" name="Shape 385"/>
              <p:cNvSpPr/>
              <p:nvPr/>
            </p:nvSpPr>
            <p:spPr>
              <a:xfrm>
                <a:off x="693593" y="304868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386" name="Shape 386"/>
              <p:cNvSpPr/>
              <p:nvPr/>
            </p:nvSpPr>
            <p:spPr>
              <a:xfrm flipH="1">
                <a:off x="312605" y="307842"/>
                <a:ext cx="76201" cy="76200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394" name="Group 394"/>
            <p:cNvGrpSpPr/>
            <p:nvPr/>
          </p:nvGrpSpPr>
          <p:grpSpPr>
            <a:xfrm rot="2700000">
              <a:off x="4082524" y="3541817"/>
              <a:ext cx="1460447" cy="735847"/>
              <a:chOff x="-1" y="51258"/>
              <a:chExt cx="1460445" cy="735846"/>
            </a:xfrm>
          </p:grpSpPr>
          <p:grpSp>
            <p:nvGrpSpPr>
              <p:cNvPr id="391" name="Group 391"/>
              <p:cNvGrpSpPr/>
              <p:nvPr/>
            </p:nvGrpSpPr>
            <p:grpSpPr>
              <a:xfrm>
                <a:off x="-1" y="51258"/>
                <a:ext cx="1460445" cy="735846"/>
                <a:chOff x="-1" y="51258"/>
                <a:chExt cx="1460444" cy="735845"/>
              </a:xfrm>
            </p:grpSpPr>
            <p:sp>
              <p:nvSpPr>
                <p:cNvPr id="388" name="Shape 388"/>
                <p:cNvSpPr/>
                <p:nvPr/>
              </p:nvSpPr>
              <p:spPr>
                <a:xfrm>
                  <a:off x="304608" y="51258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389" name="Shape 389"/>
                <p:cNvSpPr/>
                <p:nvPr/>
              </p:nvSpPr>
              <p:spPr>
                <a:xfrm>
                  <a:off x="609542" y="355635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390" name="Shape 390"/>
                <p:cNvSpPr/>
                <p:nvPr/>
              </p:nvSpPr>
              <p:spPr>
                <a:xfrm>
                  <a:off x="-1" y="356217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392" name="Shape 392"/>
              <p:cNvSpPr/>
              <p:nvPr/>
            </p:nvSpPr>
            <p:spPr>
              <a:xfrm>
                <a:off x="689433" y="31055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393" name="Shape 393"/>
              <p:cNvSpPr/>
              <p:nvPr/>
            </p:nvSpPr>
            <p:spPr>
              <a:xfrm flipH="1">
                <a:off x="308433" y="31086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01" name="Group 401"/>
            <p:cNvGrpSpPr/>
            <p:nvPr/>
          </p:nvGrpSpPr>
          <p:grpSpPr>
            <a:xfrm rot="19500000">
              <a:off x="1886253" y="1518956"/>
              <a:ext cx="1460493" cy="737359"/>
              <a:chOff x="0" y="51257"/>
              <a:chExt cx="1460492" cy="737358"/>
            </a:xfrm>
          </p:grpSpPr>
          <p:grpSp>
            <p:nvGrpSpPr>
              <p:cNvPr id="398" name="Group 398"/>
              <p:cNvGrpSpPr/>
              <p:nvPr/>
            </p:nvGrpSpPr>
            <p:grpSpPr>
              <a:xfrm>
                <a:off x="0" y="51257"/>
                <a:ext cx="1460492" cy="737358"/>
                <a:chOff x="0" y="51257"/>
                <a:chExt cx="1460491" cy="737357"/>
              </a:xfrm>
            </p:grpSpPr>
            <p:sp>
              <p:nvSpPr>
                <p:cNvPr id="395" name="Shape 395"/>
                <p:cNvSpPr/>
                <p:nvPr/>
              </p:nvSpPr>
              <p:spPr>
                <a:xfrm>
                  <a:off x="303120" y="51257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396" name="Shape 396"/>
                <p:cNvSpPr/>
                <p:nvPr/>
              </p:nvSpPr>
              <p:spPr>
                <a:xfrm>
                  <a:off x="609590" y="354377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397" name="Shape 397"/>
                <p:cNvSpPr/>
                <p:nvPr/>
              </p:nvSpPr>
              <p:spPr>
                <a:xfrm>
                  <a:off x="0" y="357728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399" name="Shape 399"/>
              <p:cNvSpPr/>
              <p:nvPr/>
            </p:nvSpPr>
            <p:spPr>
              <a:xfrm>
                <a:off x="684484" y="303918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00" name="Shape 400"/>
              <p:cNvSpPr/>
              <p:nvPr/>
            </p:nvSpPr>
            <p:spPr>
              <a:xfrm flipH="1">
                <a:off x="303489" y="30601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08" name="Group 408"/>
            <p:cNvGrpSpPr/>
            <p:nvPr/>
          </p:nvGrpSpPr>
          <p:grpSpPr>
            <a:xfrm>
              <a:off x="4167546" y="1610628"/>
              <a:ext cx="1460502" cy="736262"/>
              <a:chOff x="0" y="51257"/>
              <a:chExt cx="1460500" cy="736260"/>
            </a:xfrm>
          </p:grpSpPr>
          <p:grpSp>
            <p:nvGrpSpPr>
              <p:cNvPr id="405" name="Group 405"/>
              <p:cNvGrpSpPr/>
              <p:nvPr/>
            </p:nvGrpSpPr>
            <p:grpSpPr>
              <a:xfrm>
                <a:off x="0" y="51257"/>
                <a:ext cx="1460500" cy="736260"/>
                <a:chOff x="0" y="51257"/>
                <a:chExt cx="1460499" cy="736259"/>
              </a:xfrm>
            </p:grpSpPr>
            <p:sp>
              <p:nvSpPr>
                <p:cNvPr id="402" name="Shape 402"/>
                <p:cNvSpPr/>
                <p:nvPr/>
              </p:nvSpPr>
              <p:spPr>
                <a:xfrm>
                  <a:off x="304224" y="51257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403" name="Shape 403"/>
                <p:cNvSpPr/>
                <p:nvPr/>
              </p:nvSpPr>
              <p:spPr>
                <a:xfrm>
                  <a:off x="609598" y="355480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404" name="Shape 404"/>
                <p:cNvSpPr/>
                <p:nvPr/>
              </p:nvSpPr>
              <p:spPr>
                <a:xfrm>
                  <a:off x="0" y="356631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406" name="Shape 406"/>
              <p:cNvSpPr/>
              <p:nvPr/>
            </p:nvSpPr>
            <p:spPr>
              <a:xfrm>
                <a:off x="685762" y="304250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07" name="Shape 407"/>
              <p:cNvSpPr/>
              <p:nvPr/>
            </p:nvSpPr>
            <p:spPr>
              <a:xfrm flipH="1">
                <a:off x="304763" y="304969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15" name="Group 415"/>
            <p:cNvGrpSpPr/>
            <p:nvPr/>
          </p:nvGrpSpPr>
          <p:grpSpPr>
            <a:xfrm rot="16620000">
              <a:off x="2313975" y="387580"/>
              <a:ext cx="1502327" cy="734822"/>
              <a:chOff x="0" y="51257"/>
              <a:chExt cx="1502326" cy="734820"/>
            </a:xfrm>
          </p:grpSpPr>
          <p:grpSp>
            <p:nvGrpSpPr>
              <p:cNvPr id="412" name="Group 412"/>
              <p:cNvGrpSpPr/>
              <p:nvPr/>
            </p:nvGrpSpPr>
            <p:grpSpPr>
              <a:xfrm>
                <a:off x="0" y="51257"/>
                <a:ext cx="1502326" cy="734820"/>
                <a:chOff x="0" y="51257"/>
                <a:chExt cx="1502325" cy="734819"/>
              </a:xfrm>
            </p:grpSpPr>
            <p:sp>
              <p:nvSpPr>
                <p:cNvPr id="409" name="Shape 409"/>
                <p:cNvSpPr/>
                <p:nvPr/>
              </p:nvSpPr>
              <p:spPr>
                <a:xfrm>
                  <a:off x="309719" y="51257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410" name="Shape 410"/>
                <p:cNvSpPr/>
                <p:nvPr/>
              </p:nvSpPr>
              <p:spPr>
                <a:xfrm>
                  <a:off x="651424" y="171815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411" name="Shape 411"/>
                <p:cNvSpPr/>
                <p:nvPr/>
              </p:nvSpPr>
              <p:spPr>
                <a:xfrm>
                  <a:off x="0" y="355191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413" name="Shape 413"/>
              <p:cNvSpPr/>
              <p:nvPr/>
            </p:nvSpPr>
            <p:spPr>
              <a:xfrm>
                <a:off x="686177" y="303274"/>
                <a:ext cx="76200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14" name="Shape 414"/>
              <p:cNvSpPr/>
              <p:nvPr/>
            </p:nvSpPr>
            <p:spPr>
              <a:xfrm flipH="1">
                <a:off x="305183" y="301178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22" name="Group 422"/>
            <p:cNvGrpSpPr/>
            <p:nvPr/>
          </p:nvGrpSpPr>
          <p:grpSpPr>
            <a:xfrm rot="18420000">
              <a:off x="505957" y="525493"/>
              <a:ext cx="1474799" cy="743280"/>
              <a:chOff x="0" y="51257"/>
              <a:chExt cx="1474797" cy="743278"/>
            </a:xfrm>
          </p:grpSpPr>
          <p:grpSp>
            <p:nvGrpSpPr>
              <p:cNvPr id="419" name="Group 419"/>
              <p:cNvGrpSpPr/>
              <p:nvPr/>
            </p:nvGrpSpPr>
            <p:grpSpPr>
              <a:xfrm>
                <a:off x="0" y="51257"/>
                <a:ext cx="1474797" cy="743278"/>
                <a:chOff x="0" y="51257"/>
                <a:chExt cx="1474796" cy="743277"/>
              </a:xfrm>
            </p:grpSpPr>
            <p:sp>
              <p:nvSpPr>
                <p:cNvPr id="416" name="Shape 416"/>
                <p:cNvSpPr/>
                <p:nvPr/>
              </p:nvSpPr>
              <p:spPr>
                <a:xfrm>
                  <a:off x="304468" y="51257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417" name="Shape 417"/>
                <p:cNvSpPr/>
                <p:nvPr/>
              </p:nvSpPr>
              <p:spPr>
                <a:xfrm>
                  <a:off x="623895" y="363649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418" name="Shape 418"/>
                <p:cNvSpPr/>
                <p:nvPr/>
              </p:nvSpPr>
              <p:spPr>
                <a:xfrm>
                  <a:off x="0" y="356387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420" name="Shape 420"/>
              <p:cNvSpPr/>
              <p:nvPr/>
            </p:nvSpPr>
            <p:spPr>
              <a:xfrm>
                <a:off x="685404" y="304570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21" name="Shape 421"/>
              <p:cNvSpPr/>
              <p:nvPr/>
            </p:nvSpPr>
            <p:spPr>
              <a:xfrm flipH="1">
                <a:off x="304404" y="304983"/>
                <a:ext cx="76202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29" name="Group 429"/>
            <p:cNvGrpSpPr/>
            <p:nvPr/>
          </p:nvGrpSpPr>
          <p:grpSpPr>
            <a:xfrm>
              <a:off x="814895" y="1693156"/>
              <a:ext cx="1460501" cy="736263"/>
              <a:chOff x="0" y="51257"/>
              <a:chExt cx="1460500" cy="736262"/>
            </a:xfrm>
          </p:grpSpPr>
          <p:grpSp>
            <p:nvGrpSpPr>
              <p:cNvPr id="426" name="Group 426"/>
              <p:cNvGrpSpPr/>
              <p:nvPr/>
            </p:nvGrpSpPr>
            <p:grpSpPr>
              <a:xfrm>
                <a:off x="0" y="51257"/>
                <a:ext cx="1460500" cy="736262"/>
                <a:chOff x="0" y="51257"/>
                <a:chExt cx="1460499" cy="736261"/>
              </a:xfrm>
            </p:grpSpPr>
            <p:sp>
              <p:nvSpPr>
                <p:cNvPr id="423" name="Shape 423"/>
                <p:cNvSpPr/>
                <p:nvPr/>
              </p:nvSpPr>
              <p:spPr>
                <a:xfrm>
                  <a:off x="304224" y="51257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424" name="Shape 424"/>
                <p:cNvSpPr/>
                <p:nvPr/>
              </p:nvSpPr>
              <p:spPr>
                <a:xfrm>
                  <a:off x="609598" y="355481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425" name="Shape 425"/>
                <p:cNvSpPr/>
                <p:nvPr/>
              </p:nvSpPr>
              <p:spPr>
                <a:xfrm>
                  <a:off x="0" y="356632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427" name="Shape 427"/>
              <p:cNvSpPr/>
              <p:nvPr/>
            </p:nvSpPr>
            <p:spPr>
              <a:xfrm>
                <a:off x="685762" y="304251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28" name="Shape 428"/>
              <p:cNvSpPr/>
              <p:nvPr/>
            </p:nvSpPr>
            <p:spPr>
              <a:xfrm flipH="1">
                <a:off x="304763" y="304970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36" name="Group 436"/>
            <p:cNvGrpSpPr/>
            <p:nvPr/>
          </p:nvGrpSpPr>
          <p:grpSpPr>
            <a:xfrm>
              <a:off x="3179797" y="3122207"/>
              <a:ext cx="1460501" cy="736262"/>
              <a:chOff x="-1" y="51257"/>
              <a:chExt cx="1460500" cy="736261"/>
            </a:xfrm>
          </p:grpSpPr>
          <p:grpSp>
            <p:nvGrpSpPr>
              <p:cNvPr id="433" name="Group 433"/>
              <p:cNvGrpSpPr/>
              <p:nvPr/>
            </p:nvGrpSpPr>
            <p:grpSpPr>
              <a:xfrm>
                <a:off x="-1" y="51257"/>
                <a:ext cx="1460500" cy="736261"/>
                <a:chOff x="-1" y="51257"/>
                <a:chExt cx="1460499" cy="736260"/>
              </a:xfrm>
            </p:grpSpPr>
            <p:sp>
              <p:nvSpPr>
                <p:cNvPr id="430" name="Shape 430"/>
                <p:cNvSpPr/>
                <p:nvPr/>
              </p:nvSpPr>
              <p:spPr>
                <a:xfrm>
                  <a:off x="304224" y="51257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431" name="Shape 431"/>
                <p:cNvSpPr/>
                <p:nvPr/>
              </p:nvSpPr>
              <p:spPr>
                <a:xfrm>
                  <a:off x="609597" y="355481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432" name="Shape 432"/>
                <p:cNvSpPr/>
                <p:nvPr/>
              </p:nvSpPr>
              <p:spPr>
                <a:xfrm>
                  <a:off x="-1" y="356631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434" name="Shape 434"/>
              <p:cNvSpPr/>
              <p:nvPr/>
            </p:nvSpPr>
            <p:spPr>
              <a:xfrm>
                <a:off x="685762" y="304251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35" name="Shape 435"/>
              <p:cNvSpPr/>
              <p:nvPr/>
            </p:nvSpPr>
            <p:spPr>
              <a:xfrm flipH="1">
                <a:off x="304762" y="304970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43" name="Group 443"/>
            <p:cNvGrpSpPr/>
            <p:nvPr/>
          </p:nvGrpSpPr>
          <p:grpSpPr>
            <a:xfrm>
              <a:off x="3710777" y="1840090"/>
              <a:ext cx="1460501" cy="736262"/>
              <a:chOff x="-1" y="51257"/>
              <a:chExt cx="1460500" cy="736261"/>
            </a:xfrm>
          </p:grpSpPr>
          <p:grpSp>
            <p:nvGrpSpPr>
              <p:cNvPr id="440" name="Group 440"/>
              <p:cNvGrpSpPr/>
              <p:nvPr/>
            </p:nvGrpSpPr>
            <p:grpSpPr>
              <a:xfrm>
                <a:off x="-1" y="51257"/>
                <a:ext cx="1460500" cy="736261"/>
                <a:chOff x="-1" y="51257"/>
                <a:chExt cx="1460499" cy="736260"/>
              </a:xfrm>
            </p:grpSpPr>
            <p:sp>
              <p:nvSpPr>
                <p:cNvPr id="437" name="Shape 437"/>
                <p:cNvSpPr/>
                <p:nvPr/>
              </p:nvSpPr>
              <p:spPr>
                <a:xfrm>
                  <a:off x="304223" y="51257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438" name="Shape 438"/>
                <p:cNvSpPr/>
                <p:nvPr/>
              </p:nvSpPr>
              <p:spPr>
                <a:xfrm>
                  <a:off x="609597" y="355481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439" name="Shape 439"/>
                <p:cNvSpPr/>
                <p:nvPr/>
              </p:nvSpPr>
              <p:spPr>
                <a:xfrm>
                  <a:off x="-1" y="356631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441" name="Shape 441"/>
              <p:cNvSpPr/>
              <p:nvPr/>
            </p:nvSpPr>
            <p:spPr>
              <a:xfrm>
                <a:off x="685762" y="304251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42" name="Shape 442"/>
              <p:cNvSpPr/>
              <p:nvPr/>
            </p:nvSpPr>
            <p:spPr>
              <a:xfrm flipH="1">
                <a:off x="304762" y="304970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50" name="Group 450"/>
            <p:cNvGrpSpPr/>
            <p:nvPr/>
          </p:nvGrpSpPr>
          <p:grpSpPr>
            <a:xfrm rot="19500000">
              <a:off x="1811347" y="2204899"/>
              <a:ext cx="1460494" cy="737358"/>
              <a:chOff x="0" y="51257"/>
              <a:chExt cx="1460492" cy="737357"/>
            </a:xfrm>
          </p:grpSpPr>
          <p:grpSp>
            <p:nvGrpSpPr>
              <p:cNvPr id="447" name="Group 447"/>
              <p:cNvGrpSpPr/>
              <p:nvPr/>
            </p:nvGrpSpPr>
            <p:grpSpPr>
              <a:xfrm>
                <a:off x="0" y="51257"/>
                <a:ext cx="1460492" cy="737357"/>
                <a:chOff x="0" y="51257"/>
                <a:chExt cx="1460491" cy="737356"/>
              </a:xfrm>
            </p:grpSpPr>
            <p:sp>
              <p:nvSpPr>
                <p:cNvPr id="444" name="Shape 444"/>
                <p:cNvSpPr/>
                <p:nvPr/>
              </p:nvSpPr>
              <p:spPr>
                <a:xfrm>
                  <a:off x="303119" y="51257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445" name="Shape 445"/>
                <p:cNvSpPr/>
                <p:nvPr/>
              </p:nvSpPr>
              <p:spPr>
                <a:xfrm>
                  <a:off x="609590" y="354377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446" name="Shape 446"/>
                <p:cNvSpPr/>
                <p:nvPr/>
              </p:nvSpPr>
              <p:spPr>
                <a:xfrm>
                  <a:off x="0" y="357727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448" name="Shape 448"/>
              <p:cNvSpPr/>
              <p:nvPr/>
            </p:nvSpPr>
            <p:spPr>
              <a:xfrm>
                <a:off x="684483" y="303918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49" name="Shape 449"/>
              <p:cNvSpPr/>
              <p:nvPr/>
            </p:nvSpPr>
            <p:spPr>
              <a:xfrm flipH="1">
                <a:off x="303489" y="30601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57" name="Group 457"/>
            <p:cNvGrpSpPr/>
            <p:nvPr/>
          </p:nvGrpSpPr>
          <p:grpSpPr>
            <a:xfrm rot="3780000">
              <a:off x="312566" y="3562102"/>
              <a:ext cx="1315956" cy="754981"/>
              <a:chOff x="0" y="51257"/>
              <a:chExt cx="1315955" cy="754979"/>
            </a:xfrm>
          </p:grpSpPr>
          <p:grpSp>
            <p:nvGrpSpPr>
              <p:cNvPr id="454" name="Group 454"/>
              <p:cNvGrpSpPr/>
              <p:nvPr/>
            </p:nvGrpSpPr>
            <p:grpSpPr>
              <a:xfrm>
                <a:off x="0" y="51257"/>
                <a:ext cx="1315955" cy="754979"/>
                <a:chOff x="0" y="51257"/>
                <a:chExt cx="1315954" cy="754978"/>
              </a:xfrm>
            </p:grpSpPr>
            <p:sp>
              <p:nvSpPr>
                <p:cNvPr id="451" name="Shape 451"/>
                <p:cNvSpPr/>
                <p:nvPr/>
              </p:nvSpPr>
              <p:spPr>
                <a:xfrm>
                  <a:off x="322031" y="51257"/>
                  <a:ext cx="5334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452" name="Shape 452"/>
                <p:cNvSpPr/>
                <p:nvPr/>
              </p:nvSpPr>
              <p:spPr>
                <a:xfrm>
                  <a:off x="782553" y="204808"/>
                  <a:ext cx="5334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453" name="Shape 453"/>
                <p:cNvSpPr/>
                <p:nvPr/>
              </p:nvSpPr>
              <p:spPr>
                <a:xfrm>
                  <a:off x="0" y="375350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455" name="Shape 455"/>
              <p:cNvSpPr/>
              <p:nvPr/>
            </p:nvSpPr>
            <p:spPr>
              <a:xfrm>
                <a:off x="715542" y="313987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56" name="Shape 456"/>
              <p:cNvSpPr/>
              <p:nvPr/>
            </p:nvSpPr>
            <p:spPr>
              <a:xfrm flipH="1">
                <a:off x="334543" y="314348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64" name="Group 464"/>
            <p:cNvGrpSpPr/>
            <p:nvPr/>
          </p:nvGrpSpPr>
          <p:grpSpPr>
            <a:xfrm rot="19500000">
              <a:off x="2725890" y="2279373"/>
              <a:ext cx="1460493" cy="737359"/>
              <a:chOff x="0" y="51257"/>
              <a:chExt cx="1460492" cy="737357"/>
            </a:xfrm>
          </p:grpSpPr>
          <p:grpSp>
            <p:nvGrpSpPr>
              <p:cNvPr id="461" name="Group 461"/>
              <p:cNvGrpSpPr/>
              <p:nvPr/>
            </p:nvGrpSpPr>
            <p:grpSpPr>
              <a:xfrm>
                <a:off x="0" y="51257"/>
                <a:ext cx="1460492" cy="737357"/>
                <a:chOff x="0" y="51257"/>
                <a:chExt cx="1460491" cy="737356"/>
              </a:xfrm>
            </p:grpSpPr>
            <p:sp>
              <p:nvSpPr>
                <p:cNvPr id="458" name="Shape 458"/>
                <p:cNvSpPr/>
                <p:nvPr/>
              </p:nvSpPr>
              <p:spPr>
                <a:xfrm>
                  <a:off x="303119" y="51257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459" name="Shape 459"/>
                <p:cNvSpPr/>
                <p:nvPr/>
              </p:nvSpPr>
              <p:spPr>
                <a:xfrm>
                  <a:off x="609590" y="354378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460" name="Shape 460"/>
                <p:cNvSpPr/>
                <p:nvPr/>
              </p:nvSpPr>
              <p:spPr>
                <a:xfrm>
                  <a:off x="0" y="357728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462" name="Shape 462"/>
              <p:cNvSpPr/>
              <p:nvPr/>
            </p:nvSpPr>
            <p:spPr>
              <a:xfrm>
                <a:off x="684484" y="303918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63" name="Shape 463"/>
              <p:cNvSpPr/>
              <p:nvPr/>
            </p:nvSpPr>
            <p:spPr>
              <a:xfrm flipH="1">
                <a:off x="303489" y="30601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71" name="Group 471"/>
            <p:cNvGrpSpPr/>
            <p:nvPr/>
          </p:nvGrpSpPr>
          <p:grpSpPr>
            <a:xfrm rot="19500000">
              <a:off x="747426" y="3730909"/>
              <a:ext cx="1460494" cy="737360"/>
              <a:chOff x="0" y="51256"/>
              <a:chExt cx="1460493" cy="737358"/>
            </a:xfrm>
          </p:grpSpPr>
          <p:grpSp>
            <p:nvGrpSpPr>
              <p:cNvPr id="468" name="Group 468"/>
              <p:cNvGrpSpPr/>
              <p:nvPr/>
            </p:nvGrpSpPr>
            <p:grpSpPr>
              <a:xfrm>
                <a:off x="0" y="51256"/>
                <a:ext cx="1460493" cy="737358"/>
                <a:chOff x="0" y="51256"/>
                <a:chExt cx="1460492" cy="737357"/>
              </a:xfrm>
            </p:grpSpPr>
            <p:sp>
              <p:nvSpPr>
                <p:cNvPr id="465" name="Shape 465"/>
                <p:cNvSpPr/>
                <p:nvPr/>
              </p:nvSpPr>
              <p:spPr>
                <a:xfrm>
                  <a:off x="303120" y="51256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466" name="Shape 466"/>
                <p:cNvSpPr/>
                <p:nvPr/>
              </p:nvSpPr>
              <p:spPr>
                <a:xfrm>
                  <a:off x="609591" y="354378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467" name="Shape 467"/>
                <p:cNvSpPr/>
                <p:nvPr/>
              </p:nvSpPr>
              <p:spPr>
                <a:xfrm>
                  <a:off x="0" y="357728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469" name="Shape 469"/>
              <p:cNvSpPr/>
              <p:nvPr/>
            </p:nvSpPr>
            <p:spPr>
              <a:xfrm>
                <a:off x="684484" y="303918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70" name="Shape 470"/>
              <p:cNvSpPr/>
              <p:nvPr/>
            </p:nvSpPr>
            <p:spPr>
              <a:xfrm flipH="1">
                <a:off x="303489" y="30601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78" name="Group 478"/>
            <p:cNvGrpSpPr/>
            <p:nvPr/>
          </p:nvGrpSpPr>
          <p:grpSpPr>
            <a:xfrm rot="2700000">
              <a:off x="3773482" y="1294495"/>
              <a:ext cx="1460444" cy="735849"/>
              <a:chOff x="0" y="51257"/>
              <a:chExt cx="1460443" cy="735848"/>
            </a:xfrm>
          </p:grpSpPr>
          <p:grpSp>
            <p:nvGrpSpPr>
              <p:cNvPr id="475" name="Group 475"/>
              <p:cNvGrpSpPr/>
              <p:nvPr/>
            </p:nvGrpSpPr>
            <p:grpSpPr>
              <a:xfrm>
                <a:off x="0" y="51257"/>
                <a:ext cx="1460443" cy="735848"/>
                <a:chOff x="0" y="51257"/>
                <a:chExt cx="1460442" cy="735847"/>
              </a:xfrm>
            </p:grpSpPr>
            <p:sp>
              <p:nvSpPr>
                <p:cNvPr id="472" name="Shape 472"/>
                <p:cNvSpPr/>
                <p:nvPr/>
              </p:nvSpPr>
              <p:spPr>
                <a:xfrm>
                  <a:off x="304608" y="51257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473" name="Shape 473"/>
                <p:cNvSpPr/>
                <p:nvPr/>
              </p:nvSpPr>
              <p:spPr>
                <a:xfrm>
                  <a:off x="609541" y="355635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474" name="Shape 474"/>
                <p:cNvSpPr/>
                <p:nvPr/>
              </p:nvSpPr>
              <p:spPr>
                <a:xfrm>
                  <a:off x="0" y="356218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476" name="Shape 476"/>
              <p:cNvSpPr/>
              <p:nvPr/>
            </p:nvSpPr>
            <p:spPr>
              <a:xfrm>
                <a:off x="689433" y="31055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77" name="Shape 477"/>
              <p:cNvSpPr/>
              <p:nvPr/>
            </p:nvSpPr>
            <p:spPr>
              <a:xfrm flipH="1">
                <a:off x="308432" y="31086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85" name="Group 485"/>
            <p:cNvGrpSpPr/>
            <p:nvPr/>
          </p:nvGrpSpPr>
          <p:grpSpPr>
            <a:xfrm rot="2700000">
              <a:off x="1732386" y="2365151"/>
              <a:ext cx="1460447" cy="735847"/>
              <a:chOff x="-1" y="51258"/>
              <a:chExt cx="1460445" cy="735846"/>
            </a:xfrm>
          </p:grpSpPr>
          <p:grpSp>
            <p:nvGrpSpPr>
              <p:cNvPr id="482" name="Group 482"/>
              <p:cNvGrpSpPr/>
              <p:nvPr/>
            </p:nvGrpSpPr>
            <p:grpSpPr>
              <a:xfrm>
                <a:off x="-1" y="51258"/>
                <a:ext cx="1460445" cy="735846"/>
                <a:chOff x="-1" y="51258"/>
                <a:chExt cx="1460444" cy="735845"/>
              </a:xfrm>
            </p:grpSpPr>
            <p:sp>
              <p:nvSpPr>
                <p:cNvPr id="479" name="Shape 479"/>
                <p:cNvSpPr/>
                <p:nvPr/>
              </p:nvSpPr>
              <p:spPr>
                <a:xfrm>
                  <a:off x="304608" y="51258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480" name="Shape 480"/>
                <p:cNvSpPr/>
                <p:nvPr/>
              </p:nvSpPr>
              <p:spPr>
                <a:xfrm>
                  <a:off x="609542" y="355635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481" name="Shape 481"/>
                <p:cNvSpPr/>
                <p:nvPr/>
              </p:nvSpPr>
              <p:spPr>
                <a:xfrm>
                  <a:off x="-1" y="356217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483" name="Shape 483"/>
              <p:cNvSpPr/>
              <p:nvPr/>
            </p:nvSpPr>
            <p:spPr>
              <a:xfrm>
                <a:off x="689433" y="310553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84" name="Shape 484"/>
              <p:cNvSpPr/>
              <p:nvPr/>
            </p:nvSpPr>
            <p:spPr>
              <a:xfrm flipH="1">
                <a:off x="308433" y="31086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92" name="Group 492"/>
            <p:cNvGrpSpPr/>
            <p:nvPr/>
          </p:nvGrpSpPr>
          <p:grpSpPr>
            <a:xfrm rot="2700000">
              <a:off x="4078569" y="1446321"/>
              <a:ext cx="1460444" cy="735849"/>
              <a:chOff x="0" y="51258"/>
              <a:chExt cx="1460443" cy="735848"/>
            </a:xfrm>
          </p:grpSpPr>
          <p:grpSp>
            <p:nvGrpSpPr>
              <p:cNvPr id="489" name="Group 489"/>
              <p:cNvGrpSpPr/>
              <p:nvPr/>
            </p:nvGrpSpPr>
            <p:grpSpPr>
              <a:xfrm>
                <a:off x="0" y="51258"/>
                <a:ext cx="1460443" cy="735848"/>
                <a:chOff x="0" y="51258"/>
                <a:chExt cx="1460442" cy="735847"/>
              </a:xfrm>
            </p:grpSpPr>
            <p:sp>
              <p:nvSpPr>
                <p:cNvPr id="486" name="Shape 486"/>
                <p:cNvSpPr/>
                <p:nvPr/>
              </p:nvSpPr>
              <p:spPr>
                <a:xfrm>
                  <a:off x="304607" y="51258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487" name="Shape 487"/>
                <p:cNvSpPr/>
                <p:nvPr/>
              </p:nvSpPr>
              <p:spPr>
                <a:xfrm>
                  <a:off x="609541" y="355634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488" name="Shape 488"/>
                <p:cNvSpPr/>
                <p:nvPr/>
              </p:nvSpPr>
              <p:spPr>
                <a:xfrm>
                  <a:off x="0" y="356219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490" name="Shape 490"/>
              <p:cNvSpPr/>
              <p:nvPr/>
            </p:nvSpPr>
            <p:spPr>
              <a:xfrm>
                <a:off x="689432" y="31055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91" name="Shape 491"/>
              <p:cNvSpPr/>
              <p:nvPr/>
            </p:nvSpPr>
            <p:spPr>
              <a:xfrm flipH="1">
                <a:off x="308433" y="31086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99" name="Group 499"/>
            <p:cNvGrpSpPr/>
            <p:nvPr/>
          </p:nvGrpSpPr>
          <p:grpSpPr>
            <a:xfrm rot="2700000">
              <a:off x="2737544" y="4287974"/>
              <a:ext cx="1296925" cy="735848"/>
              <a:chOff x="0" y="51258"/>
              <a:chExt cx="1296924" cy="735846"/>
            </a:xfrm>
          </p:grpSpPr>
          <p:grpSp>
            <p:nvGrpSpPr>
              <p:cNvPr id="496" name="Group 496"/>
              <p:cNvGrpSpPr/>
              <p:nvPr/>
            </p:nvGrpSpPr>
            <p:grpSpPr>
              <a:xfrm>
                <a:off x="0" y="51258"/>
                <a:ext cx="1296924" cy="735846"/>
                <a:chOff x="0" y="51258"/>
                <a:chExt cx="1296923" cy="735845"/>
              </a:xfrm>
            </p:grpSpPr>
            <p:sp>
              <p:nvSpPr>
                <p:cNvPr id="493" name="Shape 493"/>
                <p:cNvSpPr/>
                <p:nvPr/>
              </p:nvSpPr>
              <p:spPr>
                <a:xfrm>
                  <a:off x="304609" y="51258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494" name="Shape 494"/>
                <p:cNvSpPr/>
                <p:nvPr/>
              </p:nvSpPr>
              <p:spPr>
                <a:xfrm>
                  <a:off x="763522" y="200117"/>
                  <a:ext cx="5334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495" name="Shape 495"/>
                <p:cNvSpPr/>
                <p:nvPr/>
              </p:nvSpPr>
              <p:spPr>
                <a:xfrm>
                  <a:off x="0" y="356218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497" name="Shape 497"/>
              <p:cNvSpPr/>
              <p:nvPr/>
            </p:nvSpPr>
            <p:spPr>
              <a:xfrm>
                <a:off x="689433" y="31055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498" name="Shape 498"/>
              <p:cNvSpPr/>
              <p:nvPr/>
            </p:nvSpPr>
            <p:spPr>
              <a:xfrm flipH="1">
                <a:off x="308434" y="31086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506" name="Group 506"/>
            <p:cNvGrpSpPr/>
            <p:nvPr/>
          </p:nvGrpSpPr>
          <p:grpSpPr>
            <a:xfrm rot="10800000">
              <a:off x="-2" y="2896054"/>
              <a:ext cx="1508065" cy="734399"/>
              <a:chOff x="0" y="51258"/>
              <a:chExt cx="1508064" cy="734397"/>
            </a:xfrm>
          </p:grpSpPr>
          <p:grpSp>
            <p:nvGrpSpPr>
              <p:cNvPr id="503" name="Group 503"/>
              <p:cNvGrpSpPr/>
              <p:nvPr/>
            </p:nvGrpSpPr>
            <p:grpSpPr>
              <a:xfrm>
                <a:off x="0" y="51258"/>
                <a:ext cx="1508064" cy="734397"/>
                <a:chOff x="0" y="51258"/>
                <a:chExt cx="1508063" cy="734396"/>
              </a:xfrm>
            </p:grpSpPr>
            <p:sp>
              <p:nvSpPr>
                <p:cNvPr id="500" name="Shape 500"/>
                <p:cNvSpPr/>
                <p:nvPr/>
              </p:nvSpPr>
              <p:spPr>
                <a:xfrm>
                  <a:off x="392927" y="51258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501" name="Shape 501"/>
                <p:cNvSpPr/>
                <p:nvPr/>
              </p:nvSpPr>
              <p:spPr>
                <a:xfrm>
                  <a:off x="657162" y="343652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502" name="Shape 502"/>
                <p:cNvSpPr/>
                <p:nvPr/>
              </p:nvSpPr>
              <p:spPr>
                <a:xfrm>
                  <a:off x="0" y="354769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504" name="Shape 504"/>
              <p:cNvSpPr/>
              <p:nvPr/>
            </p:nvSpPr>
            <p:spPr>
              <a:xfrm>
                <a:off x="692006" y="300651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505" name="Shape 505"/>
              <p:cNvSpPr/>
              <p:nvPr/>
            </p:nvSpPr>
            <p:spPr>
              <a:xfrm flipH="1">
                <a:off x="311018" y="303624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513" name="Group 513"/>
            <p:cNvGrpSpPr/>
            <p:nvPr/>
          </p:nvGrpSpPr>
          <p:grpSpPr>
            <a:xfrm rot="10800000">
              <a:off x="4094105" y="4545909"/>
              <a:ext cx="1463580" cy="746367"/>
              <a:chOff x="0" y="51257"/>
              <a:chExt cx="1463578" cy="746365"/>
            </a:xfrm>
          </p:grpSpPr>
          <p:grpSp>
            <p:nvGrpSpPr>
              <p:cNvPr id="510" name="Group 510"/>
              <p:cNvGrpSpPr/>
              <p:nvPr/>
            </p:nvGrpSpPr>
            <p:grpSpPr>
              <a:xfrm>
                <a:off x="0" y="51257"/>
                <a:ext cx="1463578" cy="746365"/>
                <a:chOff x="0" y="51257"/>
                <a:chExt cx="1463577" cy="746364"/>
              </a:xfrm>
            </p:grpSpPr>
            <p:sp>
              <p:nvSpPr>
                <p:cNvPr id="507" name="Shape 507"/>
                <p:cNvSpPr/>
                <p:nvPr/>
              </p:nvSpPr>
              <p:spPr>
                <a:xfrm>
                  <a:off x="299167" y="51257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508" name="Shape 508"/>
                <p:cNvSpPr/>
                <p:nvPr/>
              </p:nvSpPr>
              <p:spPr>
                <a:xfrm>
                  <a:off x="612676" y="351242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509" name="Shape 509"/>
                <p:cNvSpPr/>
                <p:nvPr/>
              </p:nvSpPr>
              <p:spPr>
                <a:xfrm>
                  <a:off x="0" y="366736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511" name="Shape 511"/>
              <p:cNvSpPr/>
              <p:nvPr/>
            </p:nvSpPr>
            <p:spPr>
              <a:xfrm>
                <a:off x="685594" y="304732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512" name="Shape 512"/>
              <p:cNvSpPr/>
              <p:nvPr/>
            </p:nvSpPr>
            <p:spPr>
              <a:xfrm flipH="1">
                <a:off x="304606" y="307705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520" name="Group 520"/>
            <p:cNvGrpSpPr/>
            <p:nvPr/>
          </p:nvGrpSpPr>
          <p:grpSpPr>
            <a:xfrm rot="10800000">
              <a:off x="54485" y="1526213"/>
              <a:ext cx="1450979" cy="741667"/>
              <a:chOff x="0" y="51258"/>
              <a:chExt cx="1450977" cy="741665"/>
            </a:xfrm>
          </p:grpSpPr>
          <p:grpSp>
            <p:nvGrpSpPr>
              <p:cNvPr id="517" name="Group 517"/>
              <p:cNvGrpSpPr/>
              <p:nvPr/>
            </p:nvGrpSpPr>
            <p:grpSpPr>
              <a:xfrm>
                <a:off x="0" y="51258"/>
                <a:ext cx="1450977" cy="741665"/>
                <a:chOff x="0" y="51258"/>
                <a:chExt cx="1450976" cy="741664"/>
              </a:xfrm>
            </p:grpSpPr>
            <p:sp>
              <p:nvSpPr>
                <p:cNvPr id="514" name="Shape 514"/>
                <p:cNvSpPr/>
                <p:nvPr/>
              </p:nvSpPr>
              <p:spPr>
                <a:xfrm>
                  <a:off x="307143" y="51258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515" name="Shape 515"/>
                <p:cNvSpPr/>
                <p:nvPr/>
              </p:nvSpPr>
              <p:spPr>
                <a:xfrm>
                  <a:off x="600075" y="359303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516" name="Shape 516"/>
                <p:cNvSpPr/>
                <p:nvPr/>
              </p:nvSpPr>
              <p:spPr>
                <a:xfrm>
                  <a:off x="0" y="362037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518" name="Shape 518"/>
              <p:cNvSpPr/>
              <p:nvPr/>
            </p:nvSpPr>
            <p:spPr>
              <a:xfrm>
                <a:off x="692006" y="307920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519" name="Shape 519"/>
              <p:cNvSpPr/>
              <p:nvPr/>
            </p:nvSpPr>
            <p:spPr>
              <a:xfrm flipH="1">
                <a:off x="311018" y="310893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527" name="Group 527"/>
            <p:cNvGrpSpPr/>
            <p:nvPr/>
          </p:nvGrpSpPr>
          <p:grpSpPr>
            <a:xfrm rot="10800000">
              <a:off x="2406331" y="1893187"/>
              <a:ext cx="1466767" cy="746405"/>
              <a:chOff x="1" y="51257"/>
              <a:chExt cx="1466766" cy="746404"/>
            </a:xfrm>
          </p:grpSpPr>
          <p:grpSp>
            <p:nvGrpSpPr>
              <p:cNvPr id="524" name="Group 524"/>
              <p:cNvGrpSpPr/>
              <p:nvPr/>
            </p:nvGrpSpPr>
            <p:grpSpPr>
              <a:xfrm>
                <a:off x="1" y="51257"/>
                <a:ext cx="1466766" cy="746404"/>
                <a:chOff x="1" y="51257"/>
                <a:chExt cx="1466765" cy="746403"/>
              </a:xfrm>
            </p:grpSpPr>
            <p:sp>
              <p:nvSpPr>
                <p:cNvPr id="521" name="Shape 521"/>
                <p:cNvSpPr/>
                <p:nvPr/>
              </p:nvSpPr>
              <p:spPr>
                <a:xfrm>
                  <a:off x="303930" y="51257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522" name="Shape 522"/>
                <p:cNvSpPr/>
                <p:nvPr/>
              </p:nvSpPr>
              <p:spPr>
                <a:xfrm>
                  <a:off x="615865" y="352842"/>
                  <a:ext cx="8509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523" name="Shape 523"/>
                <p:cNvSpPr/>
                <p:nvPr/>
              </p:nvSpPr>
              <p:spPr>
                <a:xfrm>
                  <a:off x="1" y="366774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525" name="Shape 525"/>
              <p:cNvSpPr/>
              <p:nvPr/>
            </p:nvSpPr>
            <p:spPr>
              <a:xfrm>
                <a:off x="685594" y="304769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526" name="Shape 526"/>
              <p:cNvSpPr/>
              <p:nvPr/>
            </p:nvSpPr>
            <p:spPr>
              <a:xfrm flipH="1">
                <a:off x="304606" y="307743"/>
                <a:ext cx="76201" cy="76200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</p:grpSp>
      <p:grpSp>
        <p:nvGrpSpPr>
          <p:cNvPr id="643" name="Group 643"/>
          <p:cNvGrpSpPr/>
          <p:nvPr/>
        </p:nvGrpSpPr>
        <p:grpSpPr>
          <a:xfrm>
            <a:off x="5502834" y="-220623"/>
            <a:ext cx="3995557" cy="7335618"/>
            <a:chOff x="-2" y="106545"/>
            <a:chExt cx="3995555" cy="7335616"/>
          </a:xfrm>
        </p:grpSpPr>
        <p:grpSp>
          <p:nvGrpSpPr>
            <p:cNvPr id="628" name="Group 628"/>
            <p:cNvGrpSpPr/>
            <p:nvPr/>
          </p:nvGrpSpPr>
          <p:grpSpPr>
            <a:xfrm>
              <a:off x="70065" y="712929"/>
              <a:ext cx="3925488" cy="6729232"/>
              <a:chOff x="-2" y="0"/>
              <a:chExt cx="3925487" cy="6729231"/>
            </a:xfrm>
          </p:grpSpPr>
          <p:pic>
            <p:nvPicPr>
              <p:cNvPr id="529" name="image.pdf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96246" y="3270250"/>
                <a:ext cx="1196976" cy="321945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530" name="image.pdf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3146" y="0"/>
                <a:ext cx="2290763" cy="35052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537" name="Group 537"/>
              <p:cNvGrpSpPr/>
              <p:nvPr/>
            </p:nvGrpSpPr>
            <p:grpSpPr>
              <a:xfrm rot="18420000">
                <a:off x="2811372" y="963900"/>
                <a:ext cx="1484254" cy="743972"/>
                <a:chOff x="0" y="51258"/>
                <a:chExt cx="1484253" cy="743970"/>
              </a:xfrm>
            </p:grpSpPr>
            <p:grpSp>
              <p:nvGrpSpPr>
                <p:cNvPr id="534" name="Group 534"/>
                <p:cNvGrpSpPr/>
                <p:nvPr/>
              </p:nvGrpSpPr>
              <p:grpSpPr>
                <a:xfrm>
                  <a:off x="0" y="51258"/>
                  <a:ext cx="1484253" cy="743970"/>
                  <a:chOff x="0" y="51258"/>
                  <a:chExt cx="1484252" cy="743969"/>
                </a:xfrm>
              </p:grpSpPr>
              <p:sp>
                <p:nvSpPr>
                  <p:cNvPr id="531" name="Shape 531"/>
                  <p:cNvSpPr/>
                  <p:nvPr/>
                </p:nvSpPr>
                <p:spPr>
                  <a:xfrm>
                    <a:off x="313045" y="51258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532" name="Shape 532"/>
                  <p:cNvSpPr/>
                  <p:nvPr/>
                </p:nvSpPr>
                <p:spPr>
                  <a:xfrm>
                    <a:off x="633351" y="364342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533" name="Shape 533"/>
                  <p:cNvSpPr/>
                  <p:nvPr/>
                </p:nvSpPr>
                <p:spPr>
                  <a:xfrm>
                    <a:off x="0" y="362203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535" name="Shape 535"/>
                <p:cNvSpPr/>
                <p:nvPr/>
              </p:nvSpPr>
              <p:spPr>
                <a:xfrm>
                  <a:off x="679856" y="294090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536" name="Shape 536"/>
                <p:cNvSpPr/>
                <p:nvPr/>
              </p:nvSpPr>
              <p:spPr>
                <a:xfrm flipH="1">
                  <a:off x="298855" y="293785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544" name="Group 544"/>
              <p:cNvGrpSpPr/>
              <p:nvPr/>
            </p:nvGrpSpPr>
            <p:grpSpPr>
              <a:xfrm rot="18420000">
                <a:off x="684703" y="2203058"/>
                <a:ext cx="1455685" cy="738658"/>
                <a:chOff x="0" y="51257"/>
                <a:chExt cx="1455683" cy="738657"/>
              </a:xfrm>
            </p:grpSpPr>
            <p:grpSp>
              <p:nvGrpSpPr>
                <p:cNvPr id="541" name="Group 541"/>
                <p:cNvGrpSpPr/>
                <p:nvPr/>
              </p:nvGrpSpPr>
              <p:grpSpPr>
                <a:xfrm>
                  <a:off x="0" y="51257"/>
                  <a:ext cx="1455683" cy="738657"/>
                  <a:chOff x="0" y="51257"/>
                  <a:chExt cx="1455682" cy="738656"/>
                </a:xfrm>
              </p:grpSpPr>
              <p:sp>
                <p:nvSpPr>
                  <p:cNvPr id="538" name="Shape 538"/>
                  <p:cNvSpPr/>
                  <p:nvPr/>
                </p:nvSpPr>
                <p:spPr>
                  <a:xfrm>
                    <a:off x="308281" y="51257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539" name="Shape 539"/>
                  <p:cNvSpPr/>
                  <p:nvPr/>
                </p:nvSpPr>
                <p:spPr>
                  <a:xfrm>
                    <a:off x="604781" y="356385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540" name="Shape 540"/>
                  <p:cNvSpPr/>
                  <p:nvPr/>
                </p:nvSpPr>
                <p:spPr>
                  <a:xfrm>
                    <a:off x="0" y="359028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542" name="Shape 542"/>
                <p:cNvSpPr/>
                <p:nvPr/>
              </p:nvSpPr>
              <p:spPr>
                <a:xfrm>
                  <a:off x="689375" y="298861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543" name="Shape 543"/>
                <p:cNvSpPr/>
                <p:nvPr/>
              </p:nvSpPr>
              <p:spPr>
                <a:xfrm flipH="1">
                  <a:off x="308375" y="298555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551" name="Group 551"/>
              <p:cNvGrpSpPr/>
              <p:nvPr/>
            </p:nvGrpSpPr>
            <p:grpSpPr>
              <a:xfrm rot="18420000">
                <a:off x="2211095" y="5632868"/>
                <a:ext cx="1462033" cy="730694"/>
                <a:chOff x="0" y="51256"/>
                <a:chExt cx="1462032" cy="730693"/>
              </a:xfrm>
            </p:grpSpPr>
            <p:grpSp>
              <p:nvGrpSpPr>
                <p:cNvPr id="548" name="Group 548"/>
                <p:cNvGrpSpPr/>
                <p:nvPr/>
              </p:nvGrpSpPr>
              <p:grpSpPr>
                <a:xfrm>
                  <a:off x="0" y="51256"/>
                  <a:ext cx="1462032" cy="730693"/>
                  <a:chOff x="0" y="51256"/>
                  <a:chExt cx="1462031" cy="730692"/>
                </a:xfrm>
              </p:grpSpPr>
              <p:sp>
                <p:nvSpPr>
                  <p:cNvPr id="545" name="Shape 545"/>
                  <p:cNvSpPr/>
                  <p:nvPr/>
                </p:nvSpPr>
                <p:spPr>
                  <a:xfrm>
                    <a:off x="343199" y="51256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546" name="Shape 546"/>
                  <p:cNvSpPr/>
                  <p:nvPr/>
                </p:nvSpPr>
                <p:spPr>
                  <a:xfrm>
                    <a:off x="611130" y="348425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547" name="Shape 547"/>
                  <p:cNvSpPr/>
                  <p:nvPr/>
                </p:nvSpPr>
                <p:spPr>
                  <a:xfrm>
                    <a:off x="0" y="351063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549" name="Shape 549"/>
                <p:cNvSpPr/>
                <p:nvPr/>
              </p:nvSpPr>
              <p:spPr>
                <a:xfrm>
                  <a:off x="687788" y="289307"/>
                  <a:ext cx="76201" cy="76202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550" name="Shape 550"/>
                <p:cNvSpPr/>
                <p:nvPr/>
              </p:nvSpPr>
              <p:spPr>
                <a:xfrm flipH="1">
                  <a:off x="306788" y="289001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558" name="Group 558"/>
              <p:cNvGrpSpPr/>
              <p:nvPr/>
            </p:nvGrpSpPr>
            <p:grpSpPr>
              <a:xfrm rot="10800000">
                <a:off x="679447" y="5303183"/>
                <a:ext cx="1463609" cy="746991"/>
                <a:chOff x="0" y="51258"/>
                <a:chExt cx="1463607" cy="746989"/>
              </a:xfrm>
            </p:grpSpPr>
            <p:grpSp>
              <p:nvGrpSpPr>
                <p:cNvPr id="555" name="Group 555"/>
                <p:cNvGrpSpPr/>
                <p:nvPr/>
              </p:nvGrpSpPr>
              <p:grpSpPr>
                <a:xfrm>
                  <a:off x="0" y="51258"/>
                  <a:ext cx="1463607" cy="746989"/>
                  <a:chOff x="0" y="51258"/>
                  <a:chExt cx="1463606" cy="746988"/>
                </a:xfrm>
              </p:grpSpPr>
              <p:sp>
                <p:nvSpPr>
                  <p:cNvPr id="552" name="Shape 552"/>
                  <p:cNvSpPr/>
                  <p:nvPr/>
                </p:nvSpPr>
                <p:spPr>
                  <a:xfrm>
                    <a:off x="299763" y="51258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553" name="Shape 553"/>
                  <p:cNvSpPr/>
                  <p:nvPr/>
                </p:nvSpPr>
                <p:spPr>
                  <a:xfrm>
                    <a:off x="612705" y="354211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554" name="Shape 554"/>
                  <p:cNvSpPr/>
                  <p:nvPr/>
                </p:nvSpPr>
                <p:spPr>
                  <a:xfrm>
                    <a:off x="0" y="367361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556" name="Shape 556"/>
                <p:cNvSpPr/>
                <p:nvPr/>
              </p:nvSpPr>
              <p:spPr>
                <a:xfrm>
                  <a:off x="686296" y="302586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557" name="Shape 557"/>
                <p:cNvSpPr/>
                <p:nvPr/>
              </p:nvSpPr>
              <p:spPr>
                <a:xfrm flipH="1">
                  <a:off x="305303" y="304839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565" name="Group 565"/>
              <p:cNvGrpSpPr/>
              <p:nvPr/>
            </p:nvGrpSpPr>
            <p:grpSpPr>
              <a:xfrm rot="10800000">
                <a:off x="2051049" y="3321983"/>
                <a:ext cx="1463608" cy="746991"/>
                <a:chOff x="0" y="51258"/>
                <a:chExt cx="1463607" cy="746989"/>
              </a:xfrm>
            </p:grpSpPr>
            <p:grpSp>
              <p:nvGrpSpPr>
                <p:cNvPr id="562" name="Group 562"/>
                <p:cNvGrpSpPr/>
                <p:nvPr/>
              </p:nvGrpSpPr>
              <p:grpSpPr>
                <a:xfrm>
                  <a:off x="0" y="51258"/>
                  <a:ext cx="1463607" cy="746989"/>
                  <a:chOff x="0" y="51258"/>
                  <a:chExt cx="1463606" cy="746988"/>
                </a:xfrm>
              </p:grpSpPr>
              <p:sp>
                <p:nvSpPr>
                  <p:cNvPr id="559" name="Shape 559"/>
                  <p:cNvSpPr/>
                  <p:nvPr/>
                </p:nvSpPr>
                <p:spPr>
                  <a:xfrm>
                    <a:off x="299764" y="51258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560" name="Shape 560"/>
                  <p:cNvSpPr/>
                  <p:nvPr/>
                </p:nvSpPr>
                <p:spPr>
                  <a:xfrm>
                    <a:off x="612705" y="354211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561" name="Shape 561"/>
                  <p:cNvSpPr/>
                  <p:nvPr/>
                </p:nvSpPr>
                <p:spPr>
                  <a:xfrm>
                    <a:off x="0" y="367361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563" name="Shape 563"/>
                <p:cNvSpPr/>
                <p:nvPr/>
              </p:nvSpPr>
              <p:spPr>
                <a:xfrm>
                  <a:off x="686297" y="302586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564" name="Shape 564"/>
                <p:cNvSpPr/>
                <p:nvPr/>
              </p:nvSpPr>
              <p:spPr>
                <a:xfrm flipH="1">
                  <a:off x="305304" y="304839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572" name="Group 572"/>
              <p:cNvGrpSpPr/>
              <p:nvPr/>
            </p:nvGrpSpPr>
            <p:grpSpPr>
              <a:xfrm rot="10800000">
                <a:off x="452436" y="3550593"/>
                <a:ext cx="1458846" cy="746991"/>
                <a:chOff x="0" y="51258"/>
                <a:chExt cx="1458844" cy="746989"/>
              </a:xfrm>
            </p:grpSpPr>
            <p:grpSp>
              <p:nvGrpSpPr>
                <p:cNvPr id="569" name="Group 569"/>
                <p:cNvGrpSpPr/>
                <p:nvPr/>
              </p:nvGrpSpPr>
              <p:grpSpPr>
                <a:xfrm>
                  <a:off x="0" y="51258"/>
                  <a:ext cx="1458844" cy="746989"/>
                  <a:chOff x="0" y="51258"/>
                  <a:chExt cx="1458843" cy="746988"/>
                </a:xfrm>
              </p:grpSpPr>
              <p:sp>
                <p:nvSpPr>
                  <p:cNvPr id="566" name="Shape 566"/>
                  <p:cNvSpPr/>
                  <p:nvPr/>
                </p:nvSpPr>
                <p:spPr>
                  <a:xfrm>
                    <a:off x="299764" y="51258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567" name="Shape 567"/>
                  <p:cNvSpPr/>
                  <p:nvPr/>
                </p:nvSpPr>
                <p:spPr>
                  <a:xfrm>
                    <a:off x="607942" y="354241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568" name="Shape 568"/>
                  <p:cNvSpPr/>
                  <p:nvPr/>
                </p:nvSpPr>
                <p:spPr>
                  <a:xfrm>
                    <a:off x="0" y="367361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570" name="Shape 570"/>
                <p:cNvSpPr/>
                <p:nvPr/>
              </p:nvSpPr>
              <p:spPr>
                <a:xfrm>
                  <a:off x="686298" y="302586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571" name="Shape 571"/>
                <p:cNvSpPr/>
                <p:nvPr/>
              </p:nvSpPr>
              <p:spPr>
                <a:xfrm flipH="1">
                  <a:off x="305304" y="304839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579" name="Group 579"/>
              <p:cNvGrpSpPr/>
              <p:nvPr/>
            </p:nvGrpSpPr>
            <p:grpSpPr>
              <a:xfrm rot="10800000">
                <a:off x="2262443" y="188470"/>
                <a:ext cx="1391655" cy="833787"/>
                <a:chOff x="0" y="51257"/>
                <a:chExt cx="1391654" cy="833786"/>
              </a:xfrm>
            </p:grpSpPr>
            <p:grpSp>
              <p:nvGrpSpPr>
                <p:cNvPr id="576" name="Group 576"/>
                <p:cNvGrpSpPr/>
                <p:nvPr/>
              </p:nvGrpSpPr>
              <p:grpSpPr>
                <a:xfrm>
                  <a:off x="0" y="51257"/>
                  <a:ext cx="1391654" cy="833786"/>
                  <a:chOff x="0" y="51257"/>
                  <a:chExt cx="1391653" cy="833785"/>
                </a:xfrm>
              </p:grpSpPr>
              <p:sp>
                <p:nvSpPr>
                  <p:cNvPr id="573" name="Shape 573"/>
                  <p:cNvSpPr/>
                  <p:nvPr/>
                </p:nvSpPr>
                <p:spPr>
                  <a:xfrm>
                    <a:off x="211936" y="51257"/>
                    <a:ext cx="546101" cy="4308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574" name="Shape 574"/>
                  <p:cNvSpPr/>
                  <p:nvPr/>
                </p:nvSpPr>
                <p:spPr>
                  <a:xfrm>
                    <a:off x="540752" y="354118"/>
                    <a:ext cx="850901" cy="4308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575" name="Shape 575"/>
                  <p:cNvSpPr/>
                  <p:nvPr/>
                </p:nvSpPr>
                <p:spPr>
                  <a:xfrm>
                    <a:off x="0" y="454156"/>
                    <a:ext cx="698500" cy="4308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577" name="Shape 577"/>
                <p:cNvSpPr/>
                <p:nvPr/>
              </p:nvSpPr>
              <p:spPr>
                <a:xfrm>
                  <a:off x="598469" y="302586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578" name="Shape 578"/>
                <p:cNvSpPr/>
                <p:nvPr/>
              </p:nvSpPr>
              <p:spPr>
                <a:xfrm flipH="1">
                  <a:off x="217476" y="304840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586" name="Group 586"/>
              <p:cNvGrpSpPr/>
              <p:nvPr/>
            </p:nvGrpSpPr>
            <p:grpSpPr>
              <a:xfrm rot="18420000">
                <a:off x="2211092" y="4026319"/>
                <a:ext cx="1462034" cy="730692"/>
                <a:chOff x="0" y="51257"/>
                <a:chExt cx="1462032" cy="730690"/>
              </a:xfrm>
            </p:grpSpPr>
            <p:grpSp>
              <p:nvGrpSpPr>
                <p:cNvPr id="583" name="Group 583"/>
                <p:cNvGrpSpPr/>
                <p:nvPr/>
              </p:nvGrpSpPr>
              <p:grpSpPr>
                <a:xfrm>
                  <a:off x="0" y="51257"/>
                  <a:ext cx="1462032" cy="730690"/>
                  <a:chOff x="0" y="51257"/>
                  <a:chExt cx="1462031" cy="730689"/>
                </a:xfrm>
              </p:grpSpPr>
              <p:sp>
                <p:nvSpPr>
                  <p:cNvPr id="580" name="Shape 580"/>
                  <p:cNvSpPr/>
                  <p:nvPr/>
                </p:nvSpPr>
                <p:spPr>
                  <a:xfrm>
                    <a:off x="343200" y="51257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581" name="Shape 581"/>
                  <p:cNvSpPr/>
                  <p:nvPr/>
                </p:nvSpPr>
                <p:spPr>
                  <a:xfrm>
                    <a:off x="611130" y="348424"/>
                    <a:ext cx="8509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582" name="Shape 582"/>
                  <p:cNvSpPr/>
                  <p:nvPr/>
                </p:nvSpPr>
                <p:spPr>
                  <a:xfrm>
                    <a:off x="0" y="351061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584" name="Shape 584"/>
                <p:cNvSpPr/>
                <p:nvPr/>
              </p:nvSpPr>
              <p:spPr>
                <a:xfrm>
                  <a:off x="687788" y="289308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585" name="Shape 585"/>
                <p:cNvSpPr/>
                <p:nvPr/>
              </p:nvSpPr>
              <p:spPr>
                <a:xfrm flipH="1">
                  <a:off x="306788" y="289002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593" name="Group 593"/>
              <p:cNvGrpSpPr/>
              <p:nvPr/>
            </p:nvGrpSpPr>
            <p:grpSpPr>
              <a:xfrm rot="2700000">
                <a:off x="896280" y="4797614"/>
                <a:ext cx="1460501" cy="736014"/>
                <a:chOff x="0" y="51257"/>
                <a:chExt cx="1460500" cy="736013"/>
              </a:xfrm>
            </p:grpSpPr>
            <p:grpSp>
              <p:nvGrpSpPr>
                <p:cNvPr id="590" name="Group 590"/>
                <p:cNvGrpSpPr/>
                <p:nvPr/>
              </p:nvGrpSpPr>
              <p:grpSpPr>
                <a:xfrm>
                  <a:off x="0" y="51257"/>
                  <a:ext cx="1460500" cy="736013"/>
                  <a:chOff x="0" y="51257"/>
                  <a:chExt cx="1460500" cy="736012"/>
                </a:xfrm>
              </p:grpSpPr>
              <p:sp>
                <p:nvSpPr>
                  <p:cNvPr id="587" name="Shape 587"/>
                  <p:cNvSpPr/>
                  <p:nvPr/>
                </p:nvSpPr>
                <p:spPr>
                  <a:xfrm>
                    <a:off x="305126" y="51257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588" name="Shape 588"/>
                  <p:cNvSpPr/>
                  <p:nvPr/>
                </p:nvSpPr>
                <p:spPr>
                  <a:xfrm>
                    <a:off x="609600" y="356384"/>
                    <a:ext cx="8509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589" name="Shape 589"/>
                  <p:cNvSpPr/>
                  <p:nvPr/>
                </p:nvSpPr>
                <p:spPr>
                  <a:xfrm>
                    <a:off x="0" y="355730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591" name="Shape 591"/>
                <p:cNvSpPr/>
                <p:nvPr/>
              </p:nvSpPr>
              <p:spPr>
                <a:xfrm>
                  <a:off x="686037" y="304970"/>
                  <a:ext cx="76201" cy="76202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592" name="Shape 592"/>
                <p:cNvSpPr/>
                <p:nvPr/>
              </p:nvSpPr>
              <p:spPr>
                <a:xfrm flipH="1">
                  <a:off x="305037" y="304561"/>
                  <a:ext cx="76201" cy="76202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600" name="Group 600"/>
              <p:cNvGrpSpPr/>
              <p:nvPr/>
            </p:nvGrpSpPr>
            <p:grpSpPr>
              <a:xfrm rot="2700000">
                <a:off x="439080" y="1209862"/>
                <a:ext cx="1460502" cy="736016"/>
                <a:chOff x="0" y="51256"/>
                <a:chExt cx="1460501" cy="736015"/>
              </a:xfrm>
            </p:grpSpPr>
            <p:grpSp>
              <p:nvGrpSpPr>
                <p:cNvPr id="597" name="Group 597"/>
                <p:cNvGrpSpPr/>
                <p:nvPr/>
              </p:nvGrpSpPr>
              <p:grpSpPr>
                <a:xfrm>
                  <a:off x="0" y="51256"/>
                  <a:ext cx="1460501" cy="736015"/>
                  <a:chOff x="0" y="51256"/>
                  <a:chExt cx="1460501" cy="736014"/>
                </a:xfrm>
              </p:grpSpPr>
              <p:sp>
                <p:nvSpPr>
                  <p:cNvPr id="594" name="Shape 594"/>
                  <p:cNvSpPr/>
                  <p:nvPr/>
                </p:nvSpPr>
                <p:spPr>
                  <a:xfrm>
                    <a:off x="305127" y="51256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595" name="Shape 595"/>
                  <p:cNvSpPr/>
                  <p:nvPr/>
                </p:nvSpPr>
                <p:spPr>
                  <a:xfrm>
                    <a:off x="609601" y="356385"/>
                    <a:ext cx="8509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596" name="Shape 596"/>
                  <p:cNvSpPr/>
                  <p:nvPr/>
                </p:nvSpPr>
                <p:spPr>
                  <a:xfrm>
                    <a:off x="0" y="355730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598" name="Shape 598"/>
                <p:cNvSpPr/>
                <p:nvPr/>
              </p:nvSpPr>
              <p:spPr>
                <a:xfrm>
                  <a:off x="686037" y="304970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599" name="Shape 599"/>
                <p:cNvSpPr/>
                <p:nvPr/>
              </p:nvSpPr>
              <p:spPr>
                <a:xfrm flipH="1">
                  <a:off x="305037" y="304561"/>
                  <a:ext cx="76202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607" name="Group 607"/>
              <p:cNvGrpSpPr/>
              <p:nvPr/>
            </p:nvGrpSpPr>
            <p:grpSpPr>
              <a:xfrm rot="10800000">
                <a:off x="-2" y="5835033"/>
                <a:ext cx="1454084" cy="746992"/>
                <a:chOff x="0" y="51257"/>
                <a:chExt cx="1454083" cy="746991"/>
              </a:xfrm>
            </p:grpSpPr>
            <p:grpSp>
              <p:nvGrpSpPr>
                <p:cNvPr id="604" name="Group 604"/>
                <p:cNvGrpSpPr/>
                <p:nvPr/>
              </p:nvGrpSpPr>
              <p:grpSpPr>
                <a:xfrm>
                  <a:off x="0" y="51257"/>
                  <a:ext cx="1454083" cy="746991"/>
                  <a:chOff x="0" y="51257"/>
                  <a:chExt cx="1454082" cy="746990"/>
                </a:xfrm>
              </p:grpSpPr>
              <p:sp>
                <p:nvSpPr>
                  <p:cNvPr id="601" name="Shape 601"/>
                  <p:cNvSpPr/>
                  <p:nvPr/>
                </p:nvSpPr>
                <p:spPr>
                  <a:xfrm>
                    <a:off x="299763" y="51257"/>
                    <a:ext cx="546101" cy="4308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602" name="Shape 602"/>
                  <p:cNvSpPr/>
                  <p:nvPr/>
                </p:nvSpPr>
                <p:spPr>
                  <a:xfrm>
                    <a:off x="539681" y="354644"/>
                    <a:ext cx="914401" cy="4308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603" name="Shape 603"/>
                  <p:cNvSpPr/>
                  <p:nvPr/>
                </p:nvSpPr>
                <p:spPr>
                  <a:xfrm>
                    <a:off x="0" y="367361"/>
                    <a:ext cx="698500" cy="43088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605" name="Shape 605"/>
                <p:cNvSpPr/>
                <p:nvPr/>
              </p:nvSpPr>
              <p:spPr>
                <a:xfrm>
                  <a:off x="686297" y="302586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606" name="Shape 606"/>
                <p:cNvSpPr/>
                <p:nvPr/>
              </p:nvSpPr>
              <p:spPr>
                <a:xfrm flipH="1">
                  <a:off x="305303" y="304839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614" name="Group 614"/>
              <p:cNvGrpSpPr/>
              <p:nvPr/>
            </p:nvGrpSpPr>
            <p:grpSpPr>
              <a:xfrm rot="2700000">
                <a:off x="377168" y="3191062"/>
                <a:ext cx="1460502" cy="736016"/>
                <a:chOff x="0" y="51256"/>
                <a:chExt cx="1460501" cy="736015"/>
              </a:xfrm>
            </p:grpSpPr>
            <p:grpSp>
              <p:nvGrpSpPr>
                <p:cNvPr id="611" name="Group 611"/>
                <p:cNvGrpSpPr/>
                <p:nvPr/>
              </p:nvGrpSpPr>
              <p:grpSpPr>
                <a:xfrm>
                  <a:off x="0" y="51256"/>
                  <a:ext cx="1460501" cy="736015"/>
                  <a:chOff x="0" y="51256"/>
                  <a:chExt cx="1460501" cy="736014"/>
                </a:xfrm>
              </p:grpSpPr>
              <p:sp>
                <p:nvSpPr>
                  <p:cNvPr id="608" name="Shape 608"/>
                  <p:cNvSpPr/>
                  <p:nvPr/>
                </p:nvSpPr>
                <p:spPr>
                  <a:xfrm>
                    <a:off x="305127" y="51256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609" name="Shape 609"/>
                  <p:cNvSpPr/>
                  <p:nvPr/>
                </p:nvSpPr>
                <p:spPr>
                  <a:xfrm>
                    <a:off x="609601" y="356385"/>
                    <a:ext cx="8509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610" name="Shape 610"/>
                  <p:cNvSpPr/>
                  <p:nvPr/>
                </p:nvSpPr>
                <p:spPr>
                  <a:xfrm>
                    <a:off x="0" y="355730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612" name="Shape 612"/>
                <p:cNvSpPr/>
                <p:nvPr/>
              </p:nvSpPr>
              <p:spPr>
                <a:xfrm>
                  <a:off x="686037" y="304971"/>
                  <a:ext cx="76202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613" name="Shape 613"/>
                <p:cNvSpPr/>
                <p:nvPr/>
              </p:nvSpPr>
              <p:spPr>
                <a:xfrm flipH="1">
                  <a:off x="305037" y="304561"/>
                  <a:ext cx="76202" cy="76202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grpSp>
            <p:nvGrpSpPr>
              <p:cNvPr id="621" name="Group 621"/>
              <p:cNvGrpSpPr/>
              <p:nvPr/>
            </p:nvGrpSpPr>
            <p:grpSpPr>
              <a:xfrm rot="2700000">
                <a:off x="286680" y="4257862"/>
                <a:ext cx="1460502" cy="736016"/>
                <a:chOff x="0" y="51256"/>
                <a:chExt cx="1460501" cy="736015"/>
              </a:xfrm>
            </p:grpSpPr>
            <p:grpSp>
              <p:nvGrpSpPr>
                <p:cNvPr id="618" name="Group 618"/>
                <p:cNvGrpSpPr/>
                <p:nvPr/>
              </p:nvGrpSpPr>
              <p:grpSpPr>
                <a:xfrm>
                  <a:off x="0" y="51256"/>
                  <a:ext cx="1460501" cy="736015"/>
                  <a:chOff x="0" y="51256"/>
                  <a:chExt cx="1460501" cy="736014"/>
                </a:xfrm>
              </p:grpSpPr>
              <p:sp>
                <p:nvSpPr>
                  <p:cNvPr id="615" name="Shape 615"/>
                  <p:cNvSpPr/>
                  <p:nvPr/>
                </p:nvSpPr>
                <p:spPr>
                  <a:xfrm>
                    <a:off x="305127" y="51256"/>
                    <a:ext cx="546101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O</a:t>
                    </a:r>
                  </a:p>
                </p:txBody>
              </p:sp>
              <p:sp>
                <p:nvSpPr>
                  <p:cNvPr id="616" name="Shape 616"/>
                  <p:cNvSpPr/>
                  <p:nvPr/>
                </p:nvSpPr>
                <p:spPr>
                  <a:xfrm>
                    <a:off x="609601" y="356385"/>
                    <a:ext cx="8509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  <p:sp>
                <p:nvSpPr>
                  <p:cNvPr id="617" name="Shape 617"/>
                  <p:cNvSpPr/>
                  <p:nvPr/>
                </p:nvSpPr>
                <p:spPr>
                  <a:xfrm>
                    <a:off x="0" y="355730"/>
                    <a:ext cx="698500" cy="43088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 numCol="1" anchor="t">
                    <a:spAutoFit/>
                  </a:bodyPr>
                  <a:lstStyle>
                    <a:lvl1pPr>
                      <a:spcBef>
                        <a:spcPts val="1700"/>
                      </a:spcBef>
                      <a:buClr>
                        <a:srgbClr val="FB2800"/>
                      </a:buClr>
                      <a:buFont typeface="Helvetica"/>
                      <a:defRPr sz="2800" b="1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Helvetica"/>
                        <a:ea typeface="Helvetica"/>
                        <a:cs typeface="Helvetica"/>
                        <a:sym typeface="Helvetica"/>
                      </a:defRPr>
                    </a:lvl1pPr>
                  </a:lstStyle>
                  <a:p>
                    <a:pPr lvl="0">
                      <a:defRPr sz="1800" b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sz="2800" b="0">
                        <a:solidFill>
                          <a:srgbClr val="FB2800"/>
                        </a:solidFill>
                        <a:uFill>
                          <a:solidFill>
                            <a:srgbClr val="FB2800"/>
                          </a:solidFill>
                        </a:uFill>
                        <a:latin typeface="Gill Sans" charset="0"/>
                        <a:ea typeface="Gill Sans" charset="0"/>
                        <a:cs typeface="Gill Sans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619" name="Shape 619"/>
                <p:cNvSpPr/>
                <p:nvPr/>
              </p:nvSpPr>
              <p:spPr>
                <a:xfrm>
                  <a:off x="686037" y="304971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620" name="Shape 620"/>
                <p:cNvSpPr/>
                <p:nvPr/>
              </p:nvSpPr>
              <p:spPr>
                <a:xfrm flipH="1">
                  <a:off x="305037" y="304562"/>
                  <a:ext cx="76201" cy="76201"/>
                </a:xfrm>
                <a:prstGeom prst="line">
                  <a:avLst/>
                </a:prstGeom>
                <a:noFill/>
                <a:ln w="57150" cap="flat">
                  <a:solidFill>
                    <a:srgbClr val="FB28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sp>
            <p:nvSpPr>
              <p:cNvPr id="622" name="Shape 622"/>
              <p:cNvSpPr/>
              <p:nvPr/>
            </p:nvSpPr>
            <p:spPr>
              <a:xfrm>
                <a:off x="1596246" y="311150"/>
                <a:ext cx="1588" cy="152400"/>
              </a:xfrm>
              <a:prstGeom prst="line">
                <a:avLst/>
              </a:prstGeom>
              <a:noFill/>
              <a:ln w="19050" cap="flat">
                <a:solidFill>
                  <a:srgbClr val="00B6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623" name="Shape 623"/>
              <p:cNvSpPr/>
              <p:nvPr/>
            </p:nvSpPr>
            <p:spPr>
              <a:xfrm flipV="1">
                <a:off x="3120245" y="1885950"/>
                <a:ext cx="101601" cy="304800"/>
              </a:xfrm>
              <a:prstGeom prst="line">
                <a:avLst/>
              </a:prstGeom>
              <a:noFill/>
              <a:ln w="19050" cap="flat">
                <a:solidFill>
                  <a:srgbClr val="00B6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624" name="Shape 624"/>
              <p:cNvSpPr/>
              <p:nvPr/>
            </p:nvSpPr>
            <p:spPr>
              <a:xfrm>
                <a:off x="2663045" y="3295650"/>
                <a:ext cx="25401" cy="241300"/>
              </a:xfrm>
              <a:prstGeom prst="line">
                <a:avLst/>
              </a:prstGeom>
              <a:noFill/>
              <a:ln w="19050" cap="flat">
                <a:solidFill>
                  <a:srgbClr val="00B6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625" name="Shape 625"/>
              <p:cNvSpPr/>
              <p:nvPr/>
            </p:nvSpPr>
            <p:spPr>
              <a:xfrm flipV="1">
                <a:off x="2637645" y="603250"/>
                <a:ext cx="228601" cy="38100"/>
              </a:xfrm>
              <a:prstGeom prst="line">
                <a:avLst/>
              </a:prstGeom>
              <a:noFill/>
              <a:ln w="19050" cap="flat">
                <a:solidFill>
                  <a:srgbClr val="00B6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626" name="Shape 626"/>
              <p:cNvSpPr/>
              <p:nvPr/>
            </p:nvSpPr>
            <p:spPr>
              <a:xfrm flipV="1">
                <a:off x="1189846" y="1936750"/>
                <a:ext cx="177801" cy="177800"/>
              </a:xfrm>
              <a:prstGeom prst="line">
                <a:avLst/>
              </a:prstGeom>
              <a:noFill/>
              <a:ln w="19050" cap="flat">
                <a:solidFill>
                  <a:srgbClr val="00B6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627" name="Shape 627"/>
              <p:cNvSpPr/>
              <p:nvPr/>
            </p:nvSpPr>
            <p:spPr>
              <a:xfrm>
                <a:off x="1240646" y="1733550"/>
                <a:ext cx="76201" cy="241300"/>
              </a:xfrm>
              <a:prstGeom prst="line">
                <a:avLst/>
              </a:prstGeom>
              <a:noFill/>
              <a:ln w="19050" cap="flat">
                <a:solidFill>
                  <a:srgbClr val="00B6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635" name="Group 635"/>
            <p:cNvGrpSpPr/>
            <p:nvPr/>
          </p:nvGrpSpPr>
          <p:grpSpPr>
            <a:xfrm rot="18420000">
              <a:off x="670059" y="483021"/>
              <a:ext cx="1509645" cy="756693"/>
              <a:chOff x="0" y="51257"/>
              <a:chExt cx="1509644" cy="756691"/>
            </a:xfrm>
          </p:grpSpPr>
          <p:grpSp>
            <p:nvGrpSpPr>
              <p:cNvPr id="632" name="Group 632"/>
              <p:cNvGrpSpPr/>
              <p:nvPr/>
            </p:nvGrpSpPr>
            <p:grpSpPr>
              <a:xfrm>
                <a:off x="0" y="51257"/>
                <a:ext cx="1509644" cy="756691"/>
                <a:chOff x="0" y="51257"/>
                <a:chExt cx="1509643" cy="756690"/>
              </a:xfrm>
            </p:grpSpPr>
            <p:sp>
              <p:nvSpPr>
                <p:cNvPr id="629" name="Shape 629"/>
                <p:cNvSpPr/>
                <p:nvPr/>
              </p:nvSpPr>
              <p:spPr>
                <a:xfrm>
                  <a:off x="313046" y="51257"/>
                  <a:ext cx="5461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630" name="Shape 630"/>
                <p:cNvSpPr/>
                <p:nvPr/>
              </p:nvSpPr>
              <p:spPr>
                <a:xfrm>
                  <a:off x="658742" y="377062"/>
                  <a:ext cx="850901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631" name="Shape 631"/>
                <p:cNvSpPr/>
                <p:nvPr/>
              </p:nvSpPr>
              <p:spPr>
                <a:xfrm>
                  <a:off x="0" y="362199"/>
                  <a:ext cx="698500" cy="4308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633" name="Shape 633"/>
              <p:cNvSpPr/>
              <p:nvPr/>
            </p:nvSpPr>
            <p:spPr>
              <a:xfrm>
                <a:off x="684616" y="297266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634" name="Shape 634"/>
              <p:cNvSpPr/>
              <p:nvPr/>
            </p:nvSpPr>
            <p:spPr>
              <a:xfrm flipH="1">
                <a:off x="303617" y="296961"/>
                <a:ext cx="76201" cy="76200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642" name="Group 642"/>
            <p:cNvGrpSpPr/>
            <p:nvPr/>
          </p:nvGrpSpPr>
          <p:grpSpPr>
            <a:xfrm rot="10800000">
              <a:off x="-2" y="2521870"/>
              <a:ext cx="1386179" cy="798168"/>
              <a:chOff x="0" y="51257"/>
              <a:chExt cx="1386178" cy="798167"/>
            </a:xfrm>
          </p:grpSpPr>
          <p:grpSp>
            <p:nvGrpSpPr>
              <p:cNvPr id="639" name="Group 639"/>
              <p:cNvGrpSpPr/>
              <p:nvPr/>
            </p:nvGrpSpPr>
            <p:grpSpPr>
              <a:xfrm>
                <a:off x="0" y="51257"/>
                <a:ext cx="1386178" cy="798167"/>
                <a:chOff x="0" y="51257"/>
                <a:chExt cx="1386177" cy="798166"/>
              </a:xfrm>
            </p:grpSpPr>
            <p:sp>
              <p:nvSpPr>
                <p:cNvPr id="636" name="Shape 636"/>
                <p:cNvSpPr/>
                <p:nvPr/>
              </p:nvSpPr>
              <p:spPr>
                <a:xfrm>
                  <a:off x="298157" y="51257"/>
                  <a:ext cx="5461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</a:t>
                  </a:r>
                </a:p>
              </p:txBody>
            </p:sp>
            <p:sp>
              <p:nvSpPr>
                <p:cNvPr id="637" name="Shape 637"/>
                <p:cNvSpPr/>
                <p:nvPr/>
              </p:nvSpPr>
              <p:spPr>
                <a:xfrm>
                  <a:off x="471776" y="418537"/>
                  <a:ext cx="914401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  <p:sp>
              <p:nvSpPr>
                <p:cNvPr id="638" name="Shape 638"/>
                <p:cNvSpPr/>
                <p:nvPr/>
              </p:nvSpPr>
              <p:spPr>
                <a:xfrm>
                  <a:off x="0" y="370527"/>
                  <a:ext cx="698500" cy="43088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1700"/>
                    </a:spcBef>
                    <a:buClr>
                      <a:srgbClr val="FB2800"/>
                    </a:buClr>
                    <a:buFont typeface="Helvetica"/>
                    <a:defRPr sz="2800" b="1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solidFill>
                        <a:srgbClr val="000000"/>
                      </a:solidFill>
                      <a:uFillTx/>
                    </a:defRPr>
                  </a:pPr>
                  <a:r>
                    <a:rPr sz="2800" b="0">
                      <a:solidFill>
                        <a:srgbClr val="FB2800"/>
                      </a:solidFill>
                      <a:uFill>
                        <a:solidFill>
                          <a:srgbClr val="FB2800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</a:t>
                  </a:r>
                </a:p>
              </p:txBody>
            </p:sp>
          </p:grpSp>
          <p:sp>
            <p:nvSpPr>
              <p:cNvPr id="640" name="Shape 640"/>
              <p:cNvSpPr/>
              <p:nvPr/>
            </p:nvSpPr>
            <p:spPr>
              <a:xfrm>
                <a:off x="681507" y="301017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641" name="Shape 641"/>
              <p:cNvSpPr/>
              <p:nvPr/>
            </p:nvSpPr>
            <p:spPr>
              <a:xfrm flipH="1">
                <a:off x="300514" y="303271"/>
                <a:ext cx="76201" cy="76201"/>
              </a:xfrm>
              <a:prstGeom prst="line">
                <a:avLst/>
              </a:prstGeom>
              <a:noFill/>
              <a:ln w="57150" cap="flat">
                <a:solidFill>
                  <a:srgbClr val="FB28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</p:grpSp>
      <p:grpSp>
        <p:nvGrpSpPr>
          <p:cNvPr id="648" name="Group 648"/>
          <p:cNvGrpSpPr/>
          <p:nvPr/>
        </p:nvGrpSpPr>
        <p:grpSpPr>
          <a:xfrm>
            <a:off x="4114800" y="3071812"/>
            <a:ext cx="1905000" cy="533401"/>
            <a:chOff x="0" y="0"/>
            <a:chExt cx="1905000" cy="533400"/>
          </a:xfrm>
        </p:grpSpPr>
        <p:sp>
          <p:nvSpPr>
            <p:cNvPr id="644" name="Shape 644"/>
            <p:cNvSpPr/>
            <p:nvPr/>
          </p:nvSpPr>
          <p:spPr>
            <a:xfrm>
              <a:off x="0" y="152400"/>
              <a:ext cx="1905000" cy="158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45" name="Shape 645"/>
            <p:cNvSpPr/>
            <p:nvPr/>
          </p:nvSpPr>
          <p:spPr>
            <a:xfrm>
              <a:off x="1676400" y="0"/>
              <a:ext cx="228600" cy="1524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46" name="Shape 646"/>
            <p:cNvSpPr/>
            <p:nvPr/>
          </p:nvSpPr>
          <p:spPr>
            <a:xfrm>
              <a:off x="0" y="381000"/>
              <a:ext cx="1905000" cy="158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47" name="Shape 647"/>
            <p:cNvSpPr/>
            <p:nvPr/>
          </p:nvSpPr>
          <p:spPr>
            <a:xfrm>
              <a:off x="0" y="381000"/>
              <a:ext cx="152400" cy="1524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649" name="Shape 649"/>
          <p:cNvSpPr/>
          <p:nvPr/>
        </p:nvSpPr>
        <p:spPr>
          <a:xfrm>
            <a:off x="4430712" y="3454400"/>
            <a:ext cx="176530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00000"/>
              </a:buClr>
              <a:buFont typeface="Helvetica"/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0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U</a:t>
            </a:r>
            <a:r>
              <a:rPr lang="en-US" sz="20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nfold</a:t>
            </a:r>
          </a:p>
        </p:txBody>
      </p:sp>
      <p:sp>
        <p:nvSpPr>
          <p:cNvPr id="650" name="Shape 650"/>
          <p:cNvSpPr/>
          <p:nvPr/>
        </p:nvSpPr>
        <p:spPr>
          <a:xfrm>
            <a:off x="0" y="-47625"/>
            <a:ext cx="915670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200"/>
              </a:spcBef>
              <a:buClr>
                <a:srgbClr val="000000"/>
              </a:buClr>
              <a:buFont typeface="Helvetica"/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F</a:t>
            </a:r>
            <a:r>
              <a:rPr lang="en-US"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olded or unfolded, </a:t>
            </a:r>
            <a:r>
              <a:rPr lang="en-US" sz="2200" b="0" baseline="-200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~</a:t>
            </a:r>
            <a:r>
              <a:rPr lang="en-US"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all </a:t>
            </a:r>
            <a:r>
              <a:rPr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H-</a:t>
            </a:r>
            <a:r>
              <a:rPr lang="en-US"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bonds are made</a:t>
            </a:r>
          </a:p>
        </p:txBody>
      </p:sp>
      <p:sp>
        <p:nvSpPr>
          <p:cNvPr id="651" name="Shape 651"/>
          <p:cNvSpPr/>
          <p:nvPr/>
        </p:nvSpPr>
        <p:spPr>
          <a:xfrm>
            <a:off x="3713162" y="317500"/>
            <a:ext cx="2831543" cy="984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Ionic attractions, H-bonds, other weak interactions </a:t>
            </a:r>
            <a:r>
              <a:rPr lang="en-US"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similar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whether protein is folded or unfolded</a:t>
            </a:r>
          </a:p>
        </p:txBody>
      </p:sp>
      <p:grpSp>
        <p:nvGrpSpPr>
          <p:cNvPr id="654" name="Group 654"/>
          <p:cNvGrpSpPr/>
          <p:nvPr/>
        </p:nvGrpSpPr>
        <p:grpSpPr>
          <a:xfrm>
            <a:off x="3886200" y="5263013"/>
            <a:ext cx="2451100" cy="774408"/>
            <a:chOff x="0" y="0"/>
            <a:chExt cx="2451100" cy="774407"/>
          </a:xfrm>
        </p:grpSpPr>
        <p:sp>
          <p:nvSpPr>
            <p:cNvPr id="652" name="Shape 652"/>
            <p:cNvSpPr/>
            <p:nvPr/>
          </p:nvSpPr>
          <p:spPr>
            <a:xfrm>
              <a:off x="0" y="528186"/>
              <a:ext cx="24511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000000"/>
                </a:buClr>
                <a:buFont typeface="Helvetica"/>
                <a:defRPr sz="16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H-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bonds within protein</a:t>
              </a:r>
            </a:p>
          </p:txBody>
        </p:sp>
        <p:sp>
          <p:nvSpPr>
            <p:cNvPr id="653" name="Shape 653"/>
            <p:cNvSpPr/>
            <p:nvPr/>
          </p:nvSpPr>
          <p:spPr>
            <a:xfrm flipV="1">
              <a:off x="1237365" y="0"/>
              <a:ext cx="949859" cy="52026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657" name="Group 657"/>
          <p:cNvGrpSpPr/>
          <p:nvPr/>
        </p:nvGrpSpPr>
        <p:grpSpPr>
          <a:xfrm>
            <a:off x="838200" y="5835650"/>
            <a:ext cx="2832100" cy="779621"/>
            <a:chOff x="0" y="0"/>
            <a:chExt cx="2832100" cy="779621"/>
          </a:xfrm>
        </p:grpSpPr>
        <p:sp>
          <p:nvSpPr>
            <p:cNvPr id="655" name="Shape 655"/>
            <p:cNvSpPr/>
            <p:nvPr/>
          </p:nvSpPr>
          <p:spPr>
            <a:xfrm>
              <a:off x="0" y="533400"/>
              <a:ext cx="28321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000000"/>
                </a:buClr>
                <a:buFont typeface="Helvetica"/>
                <a:defRPr sz="16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H-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bonds to water</a:t>
              </a:r>
              <a:endPara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56" name="Shape 656"/>
            <p:cNvSpPr/>
            <p:nvPr/>
          </p:nvSpPr>
          <p:spPr>
            <a:xfrm flipV="1">
              <a:off x="609600" y="0"/>
              <a:ext cx="76200" cy="5334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3FC4AB8-EEEB-3247-9A28-F0ABCB8D66E6}"/>
              </a:ext>
            </a:extLst>
          </p:cNvPr>
          <p:cNvSpPr txBox="1"/>
          <p:nvPr/>
        </p:nvSpPr>
        <p:spPr>
          <a:xfrm>
            <a:off x="4155539" y="1240267"/>
            <a:ext cx="1936749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 rtl="0" latinLnBrk="1" hangingPunct="0"/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Ring stacking </a:t>
            </a:r>
          </a:p>
          <a:p>
            <a:pPr algn="l" rtl="0" latinLnBrk="1" hangingPunct="0"/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only in folded </a:t>
            </a:r>
          </a:p>
          <a:p>
            <a:pPr algn="l" rtl="0" latinLnBrk="1" hangingPunct="0"/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protein</a:t>
            </a: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83" name="Shape 653">
            <a:extLst>
              <a:ext uri="{FF2B5EF4-FFF2-40B4-BE49-F238E27FC236}">
                <a16:creationId xmlns:a16="http://schemas.microsoft.com/office/drawing/2014/main" id="{B1D2354D-2B27-BC4B-BB86-E782279B00D9}"/>
              </a:ext>
            </a:extLst>
          </p:cNvPr>
          <p:cNvSpPr/>
          <p:nvPr/>
        </p:nvSpPr>
        <p:spPr>
          <a:xfrm flipV="1">
            <a:off x="5205118" y="2007541"/>
            <a:ext cx="1132182" cy="76202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round/>
            <a:tailEnd type="triangle" w="med" len="med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pPr marL="0" marR="0" lvl="0" defTabSz="457200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pic>
        <p:nvPicPr>
          <p:cNvPr id="284" name="image.pdf">
            <a:extLst>
              <a:ext uri="{FF2B5EF4-FFF2-40B4-BE49-F238E27FC236}">
                <a16:creationId xmlns:a16="http://schemas.microsoft.com/office/drawing/2014/main" id="{32CC4E17-20A6-2040-A9D8-F6B5C0BE0D88}"/>
              </a:ext>
            </a:extLst>
          </p:cNvPr>
          <p:cNvPicPr/>
          <p:nvPr/>
        </p:nvPicPr>
        <p:blipFill rotWithShape="1">
          <a:blip r:embed="rId6"/>
          <a:srcRect l="61255"/>
          <a:stretch/>
        </p:blipFill>
        <p:spPr>
          <a:xfrm>
            <a:off x="7083821" y="1169290"/>
            <a:ext cx="824129" cy="10380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image.pdf">
            <a:extLst>
              <a:ext uri="{FF2B5EF4-FFF2-40B4-BE49-F238E27FC236}">
                <a16:creationId xmlns:a16="http://schemas.microsoft.com/office/drawing/2014/main" id="{28DE5DC5-3901-2C4F-8E60-D5342EE238DC}"/>
              </a:ext>
            </a:extLst>
          </p:cNvPr>
          <p:cNvPicPr/>
          <p:nvPr/>
        </p:nvPicPr>
        <p:blipFill rotWithShape="1">
          <a:blip r:embed="rId6"/>
          <a:srcRect r="54834"/>
          <a:stretch/>
        </p:blipFill>
        <p:spPr>
          <a:xfrm>
            <a:off x="7592730" y="1783141"/>
            <a:ext cx="960696" cy="1038038"/>
          </a:xfrm>
          <a:prstGeom prst="rect">
            <a:avLst/>
          </a:prstGeom>
          <a:ln w="12700">
            <a:miter lim="400000"/>
          </a:ln>
        </p:spPr>
      </p:pic>
      <p:sp>
        <p:nvSpPr>
          <p:cNvPr id="286" name="TextBox 285">
            <a:extLst>
              <a:ext uri="{FF2B5EF4-FFF2-40B4-BE49-F238E27FC236}">
                <a16:creationId xmlns:a16="http://schemas.microsoft.com/office/drawing/2014/main" id="{84A03872-5F31-F645-BE84-752BA5DF57FF}"/>
              </a:ext>
            </a:extLst>
          </p:cNvPr>
          <p:cNvSpPr txBox="1"/>
          <p:nvPr/>
        </p:nvSpPr>
        <p:spPr>
          <a:xfrm>
            <a:off x="1842053" y="6022489"/>
            <a:ext cx="4445448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~ slightly more # H-bonds in water</a:t>
            </a:r>
          </a:p>
        </p:txBody>
      </p: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9DF58CD9-6CA1-C94D-943B-1C35E5194B85}"/>
              </a:ext>
            </a:extLst>
          </p:cNvPr>
          <p:cNvGrpSpPr/>
          <p:nvPr/>
        </p:nvGrpSpPr>
        <p:grpSpPr>
          <a:xfrm>
            <a:off x="4267200" y="4048770"/>
            <a:ext cx="1689100" cy="1174750"/>
            <a:chOff x="953199" y="4159409"/>
            <a:chExt cx="1689100" cy="1174750"/>
          </a:xfrm>
        </p:grpSpPr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A912DBE2-7AEF-904C-8D9D-7896A1AB5483}"/>
                </a:ext>
              </a:extLst>
            </p:cNvPr>
            <p:cNvGrpSpPr/>
            <p:nvPr/>
          </p:nvGrpSpPr>
          <p:grpSpPr>
            <a:xfrm>
              <a:off x="953199" y="4159409"/>
              <a:ext cx="1689100" cy="1174750"/>
              <a:chOff x="650324" y="3463235"/>
              <a:chExt cx="1689100" cy="1174750"/>
            </a:xfrm>
          </p:grpSpPr>
          <p:sp>
            <p:nvSpPr>
              <p:cNvPr id="293" name="Shape 364">
                <a:extLst>
                  <a:ext uri="{FF2B5EF4-FFF2-40B4-BE49-F238E27FC236}">
                    <a16:creationId xmlns:a16="http://schemas.microsoft.com/office/drawing/2014/main" id="{5F23121C-049D-EF41-AAAD-93B8747D33E3}"/>
                  </a:ext>
                </a:extLst>
              </p:cNvPr>
              <p:cNvSpPr/>
              <p:nvPr/>
            </p:nvSpPr>
            <p:spPr>
              <a:xfrm>
                <a:off x="650324" y="3488919"/>
                <a:ext cx="1689100" cy="112338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spcBef>
                    <a:spcPts val="800"/>
                  </a:spcBef>
                  <a:buClr>
                    <a:srgbClr val="000000"/>
                  </a:buClr>
                  <a:buFont typeface="Helvetica"/>
                  <a:defRPr sz="1800">
                    <a:uFillTx/>
                  </a:defRPr>
                </a:pPr>
                <a:r>
                  <a:rPr sz="1300" b="0" u="sng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K</a:t>
                </a:r>
                <a:r>
                  <a:rPr lang="en-US" sz="1300" b="0" u="sng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ey concepts</a:t>
                </a:r>
                <a:r>
                  <a:rPr sz="13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:</a:t>
                </a:r>
                <a:r>
                  <a:rPr sz="12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  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Symbol"/>
                  </a:rPr>
                  <a:t>Δ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S</a:t>
                </a:r>
                <a:r>
                  <a:rPr sz="1200" b="0" baseline="-2500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FOLDING</a:t>
                </a:r>
                <a:r>
                  <a:rPr sz="1400" b="0" baseline="-2500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</a:t>
                </a:r>
                <a:r>
                  <a:rPr sz="12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IS   </a:t>
                </a:r>
                <a:r>
                  <a:rPr sz="2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+</a:t>
                </a:r>
                <a:r>
                  <a:rPr sz="12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    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Symbol"/>
                  </a:rPr>
                  <a:t>Δ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S</a:t>
                </a:r>
                <a:r>
                  <a:rPr sz="1200" b="0" baseline="-2500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FOLDING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</a:t>
                </a:r>
                <a:r>
                  <a:rPr sz="12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IS    </a:t>
                </a:r>
                <a:r>
                  <a:rPr sz="2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-    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Symbol"/>
                  </a:rPr>
                  <a:t>Δ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H</a:t>
                </a:r>
                <a:r>
                  <a:rPr sz="1200" b="0" baseline="-2500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FOLDING</a:t>
                </a:r>
                <a:r>
                  <a:rPr sz="2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</a:t>
                </a:r>
                <a:r>
                  <a:rPr sz="12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IS    </a:t>
                </a:r>
                <a:r>
                  <a:rPr lang="en-US" sz="16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~ 0</a:t>
                </a:r>
                <a:endParaRPr sz="12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endParaRPr>
              </a:p>
            </p:txBody>
          </p:sp>
          <p:sp>
            <p:nvSpPr>
              <p:cNvPr id="294" name="Shape 370">
                <a:extLst>
                  <a:ext uri="{FF2B5EF4-FFF2-40B4-BE49-F238E27FC236}">
                    <a16:creationId xmlns:a16="http://schemas.microsoft.com/office/drawing/2014/main" id="{37DC19D7-0A98-D44D-88EC-8B01CF7344E6}"/>
                  </a:ext>
                </a:extLst>
              </p:cNvPr>
              <p:cNvSpPr/>
              <p:nvPr/>
            </p:nvSpPr>
            <p:spPr>
              <a:xfrm>
                <a:off x="656151" y="3463235"/>
                <a:ext cx="1435100" cy="1174750"/>
              </a:xfrm>
              <a:prstGeom prst="rect">
                <a:avLst/>
              </a:prstGeom>
              <a:ln w="635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/>
                <a:endParaRPr b="0">
                  <a:solidFill>
                    <a:schemeClr val="tx1"/>
                  </a:solidFill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289" name="Group 288">
              <a:extLst>
                <a:ext uri="{FF2B5EF4-FFF2-40B4-BE49-F238E27FC236}">
                  <a16:creationId xmlns:a16="http://schemas.microsoft.com/office/drawing/2014/main" id="{D5445A0C-FEBB-2140-A287-FA823B078F52}"/>
                </a:ext>
              </a:extLst>
            </p:cNvPr>
            <p:cNvGrpSpPr/>
            <p:nvPr/>
          </p:nvGrpSpPr>
          <p:grpSpPr>
            <a:xfrm>
              <a:off x="1134793" y="4449915"/>
              <a:ext cx="850900" cy="712488"/>
              <a:chOff x="195730" y="859086"/>
              <a:chExt cx="850900" cy="712488"/>
            </a:xfrm>
          </p:grpSpPr>
          <p:sp>
            <p:nvSpPr>
              <p:cNvPr id="290" name="Shape 365">
                <a:extLst>
                  <a:ext uri="{FF2B5EF4-FFF2-40B4-BE49-F238E27FC236}">
                    <a16:creationId xmlns:a16="http://schemas.microsoft.com/office/drawing/2014/main" id="{A51E399C-2B99-8B41-A73D-2E18D50EAB3C}"/>
                  </a:ext>
                </a:extLst>
              </p:cNvPr>
              <p:cNvSpPr/>
              <p:nvPr/>
            </p:nvSpPr>
            <p:spPr>
              <a:xfrm>
                <a:off x="195730" y="859086"/>
                <a:ext cx="850900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500"/>
                  </a:spcBef>
                  <a:buClr>
                    <a:srgbClr val="000000"/>
                  </a:buClr>
                  <a:buFont typeface="Helvetica"/>
                  <a:defRPr sz="8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8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W</a:t>
                </a:r>
                <a:r>
                  <a:rPr lang="en-US" sz="8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ATER</a:t>
                </a:r>
              </a:p>
            </p:txBody>
          </p:sp>
          <p:sp>
            <p:nvSpPr>
              <p:cNvPr id="291" name="Shape 367">
                <a:extLst>
                  <a:ext uri="{FF2B5EF4-FFF2-40B4-BE49-F238E27FC236}">
                    <a16:creationId xmlns:a16="http://schemas.microsoft.com/office/drawing/2014/main" id="{044C64F5-5456-6748-9C6B-D474262EABBC}"/>
                  </a:ext>
                </a:extLst>
              </p:cNvPr>
              <p:cNvSpPr/>
              <p:nvPr/>
            </p:nvSpPr>
            <p:spPr>
              <a:xfrm>
                <a:off x="203667" y="1143550"/>
                <a:ext cx="698501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500"/>
                  </a:spcBef>
                  <a:buClr>
                    <a:srgbClr val="000000"/>
                  </a:buClr>
                  <a:buFont typeface="Helvetica"/>
                  <a:defRPr sz="8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8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PROTEIN</a:t>
                </a:r>
              </a:p>
            </p:txBody>
          </p:sp>
          <p:sp>
            <p:nvSpPr>
              <p:cNvPr id="292" name="Shape 368">
                <a:extLst>
                  <a:ext uri="{FF2B5EF4-FFF2-40B4-BE49-F238E27FC236}">
                    <a16:creationId xmlns:a16="http://schemas.microsoft.com/office/drawing/2014/main" id="{EA43B0BC-B9BA-D94B-9725-CD57B3BE4C8F}"/>
                  </a:ext>
                </a:extLst>
              </p:cNvPr>
              <p:cNvSpPr/>
              <p:nvPr/>
            </p:nvSpPr>
            <p:spPr>
              <a:xfrm>
                <a:off x="235294" y="1448463"/>
                <a:ext cx="546101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500"/>
                  </a:spcBef>
                  <a:buClr>
                    <a:srgbClr val="000000"/>
                  </a:buClr>
                  <a:buFont typeface="Helvetica"/>
                  <a:defRPr sz="8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800" b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TOTAL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2366020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1" grpId="0" animBg="1" advAuto="0"/>
      <p:bldP spid="654" grpId="0" animBg="1" advAuto="0"/>
      <p:bldP spid="657" grpId="0" animBg="1" advAuto="0"/>
      <p:bldP spid="2" grpId="0"/>
      <p:bldP spid="283" grpId="0" animBg="1"/>
      <p:bldP spid="28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F89A6-36FD-2844-A35B-3FACE8394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303" y="-101099"/>
            <a:ext cx="7772400" cy="1600200"/>
          </a:xfrm>
        </p:spPr>
        <p:txBody>
          <a:bodyPr/>
          <a:lstStyle/>
          <a:p>
            <a:r>
              <a:rPr lang="en-US" dirty="0"/>
              <a:t>Big Picture: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077267B-C95B-0240-B30C-5ACA2DA9C408}"/>
              </a:ext>
            </a:extLst>
          </p:cNvPr>
          <p:cNvGrpSpPr/>
          <p:nvPr/>
        </p:nvGrpSpPr>
        <p:grpSpPr>
          <a:xfrm>
            <a:off x="997536" y="1080187"/>
            <a:ext cx="7733792" cy="899818"/>
            <a:chOff x="997536" y="1238683"/>
            <a:chExt cx="7733792" cy="899818"/>
          </a:xfrm>
        </p:grpSpPr>
        <p:grpSp>
          <p:nvGrpSpPr>
            <p:cNvPr id="22" name="Group 320">
              <a:extLst>
                <a:ext uri="{FF2B5EF4-FFF2-40B4-BE49-F238E27FC236}">
                  <a16:creationId xmlns:a16="http://schemas.microsoft.com/office/drawing/2014/main" id="{CE7EEF3E-EAA3-AF45-AFF8-B95887807954}"/>
                </a:ext>
              </a:extLst>
            </p:cNvPr>
            <p:cNvGrpSpPr/>
            <p:nvPr/>
          </p:nvGrpSpPr>
          <p:grpSpPr>
            <a:xfrm>
              <a:off x="997536" y="1499198"/>
              <a:ext cx="7733792" cy="639303"/>
              <a:chOff x="978583" y="-59375"/>
              <a:chExt cx="3419628" cy="639302"/>
            </a:xfrm>
          </p:grpSpPr>
          <p:sp>
            <p:nvSpPr>
              <p:cNvPr id="23" name="Shape 313">
                <a:extLst>
                  <a:ext uri="{FF2B5EF4-FFF2-40B4-BE49-F238E27FC236}">
                    <a16:creationId xmlns:a16="http://schemas.microsoft.com/office/drawing/2014/main" id="{2F5221FE-4A5B-C64D-B07D-3BCB60A5DE81}"/>
                  </a:ext>
                </a:extLst>
              </p:cNvPr>
              <p:cNvSpPr/>
              <p:nvPr/>
            </p:nvSpPr>
            <p:spPr>
              <a:xfrm>
                <a:off x="3014662" y="-35625"/>
                <a:ext cx="1383549" cy="615552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900"/>
                  </a:spcBef>
                  <a:buClr>
                    <a:srgbClr val="000000"/>
                  </a:buClr>
                  <a:buFont typeface="Helvetica"/>
                  <a:defRPr sz="16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2000" b="0" dirty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F</a:t>
                </a:r>
                <a:r>
                  <a:rPr lang="en-US" sz="2000" b="0" dirty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olded protein in water</a:t>
                </a:r>
              </a:p>
            </p:txBody>
          </p:sp>
          <p:sp>
            <p:nvSpPr>
              <p:cNvPr id="24" name="Shape 314">
                <a:extLst>
                  <a:ext uri="{FF2B5EF4-FFF2-40B4-BE49-F238E27FC236}">
                    <a16:creationId xmlns:a16="http://schemas.microsoft.com/office/drawing/2014/main" id="{3A739D0D-FB33-C74A-8C72-ACF108DF1755}"/>
                  </a:ext>
                </a:extLst>
              </p:cNvPr>
              <p:cNvSpPr/>
              <p:nvPr/>
            </p:nvSpPr>
            <p:spPr>
              <a:xfrm>
                <a:off x="978583" y="-59375"/>
                <a:ext cx="1570040" cy="615552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900"/>
                  </a:spcBef>
                  <a:buClr>
                    <a:srgbClr val="000000"/>
                  </a:buClr>
                  <a:buFont typeface="Helvetica"/>
                  <a:defRPr sz="16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2000" b="0" dirty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U</a:t>
                </a:r>
                <a:r>
                  <a:rPr lang="en-US" sz="2000" b="0" dirty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nfolded protein in water</a:t>
                </a:r>
              </a:p>
            </p:txBody>
          </p:sp>
          <p:grpSp>
            <p:nvGrpSpPr>
              <p:cNvPr id="25" name="Group 319">
                <a:extLst>
                  <a:ext uri="{FF2B5EF4-FFF2-40B4-BE49-F238E27FC236}">
                    <a16:creationId xmlns:a16="http://schemas.microsoft.com/office/drawing/2014/main" id="{67A6876A-6AC5-2544-9B85-BA3435960CB6}"/>
                  </a:ext>
                </a:extLst>
              </p:cNvPr>
              <p:cNvGrpSpPr/>
              <p:nvPr/>
            </p:nvGrpSpPr>
            <p:grpSpPr>
              <a:xfrm>
                <a:off x="2328862" y="-46573"/>
                <a:ext cx="622301" cy="342900"/>
                <a:chOff x="0" y="-160873"/>
                <a:chExt cx="622300" cy="342900"/>
              </a:xfrm>
            </p:grpSpPr>
            <p:sp>
              <p:nvSpPr>
                <p:cNvPr id="26" name="Shape 315">
                  <a:extLst>
                    <a:ext uri="{FF2B5EF4-FFF2-40B4-BE49-F238E27FC236}">
                      <a16:creationId xmlns:a16="http://schemas.microsoft.com/office/drawing/2014/main" id="{97E62A30-CC23-4640-AD83-1F3294F36FA5}"/>
                    </a:ext>
                  </a:extLst>
                </p:cNvPr>
                <p:cNvSpPr/>
                <p:nvPr/>
              </p:nvSpPr>
              <p:spPr>
                <a:xfrm>
                  <a:off x="0" y="-52923"/>
                  <a:ext cx="609600" cy="158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sz="1400"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27" name="Shape 316">
                  <a:extLst>
                    <a:ext uri="{FF2B5EF4-FFF2-40B4-BE49-F238E27FC236}">
                      <a16:creationId xmlns:a16="http://schemas.microsoft.com/office/drawing/2014/main" id="{83993F73-3EA0-4948-86FF-0423F886C555}"/>
                    </a:ext>
                  </a:extLst>
                </p:cNvPr>
                <p:cNvSpPr/>
                <p:nvPr/>
              </p:nvSpPr>
              <p:spPr>
                <a:xfrm>
                  <a:off x="501650" y="-160873"/>
                  <a:ext cx="120650" cy="107950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sz="1400"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28" name="Shape 317">
                  <a:extLst>
                    <a:ext uri="{FF2B5EF4-FFF2-40B4-BE49-F238E27FC236}">
                      <a16:creationId xmlns:a16="http://schemas.microsoft.com/office/drawing/2014/main" id="{A5EB8F8B-EF60-7C49-8E03-553AB9D1D6CF}"/>
                    </a:ext>
                  </a:extLst>
                </p:cNvPr>
                <p:cNvSpPr/>
                <p:nvPr/>
              </p:nvSpPr>
              <p:spPr>
                <a:xfrm>
                  <a:off x="1" y="80426"/>
                  <a:ext cx="425725" cy="2919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sz="1400"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29" name="Shape 318">
                  <a:extLst>
                    <a:ext uri="{FF2B5EF4-FFF2-40B4-BE49-F238E27FC236}">
                      <a16:creationId xmlns:a16="http://schemas.microsoft.com/office/drawing/2014/main" id="{E7892BED-5EA2-1243-BFBE-A9F97DDAC597}"/>
                    </a:ext>
                  </a:extLst>
                </p:cNvPr>
                <p:cNvSpPr/>
                <p:nvPr/>
              </p:nvSpPr>
              <p:spPr>
                <a:xfrm>
                  <a:off x="0" y="86777"/>
                  <a:ext cx="107950" cy="95250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sz="1400"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EDCA48B-456E-F342-8D97-979607245881}"/>
                </a:ext>
              </a:extLst>
            </p:cNvPr>
            <p:cNvSpPr/>
            <p:nvPr/>
          </p:nvSpPr>
          <p:spPr>
            <a:xfrm>
              <a:off x="4447576" y="1238683"/>
              <a:ext cx="62260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Symbol" pitchFamily="2" charset="2"/>
                </a:rPr>
                <a:t>D</a:t>
              </a:r>
              <a:r>
                <a:rPr lang="en-US" b="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D940264B-CE2C-4844-892C-4B24B8DEE0A4}"/>
              </a:ext>
            </a:extLst>
          </p:cNvPr>
          <p:cNvSpPr/>
          <p:nvPr/>
        </p:nvSpPr>
        <p:spPr>
          <a:xfrm>
            <a:off x="409318" y="1774075"/>
            <a:ext cx="861037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D</a:t>
            </a:r>
            <a:r>
              <a:rPr lang="en-US" sz="4800" b="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4800" b="0" baseline="-250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Folding</a:t>
            </a:r>
            <a:r>
              <a:rPr lang="en-US" sz="48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4800" b="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D</a:t>
            </a:r>
            <a:r>
              <a:rPr lang="en-US" sz="4800" b="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4800" b="0" baseline="-250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Folding</a:t>
            </a:r>
            <a:r>
              <a:rPr lang="en-US" sz="48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4800" b="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4800" b="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D</a:t>
            </a:r>
            <a:r>
              <a:rPr lang="en-US" sz="4800" b="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4800" b="0" baseline="-250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Folding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DA76CE-075C-694A-A64F-7DAD96D4B0A5}"/>
              </a:ext>
            </a:extLst>
          </p:cNvPr>
          <p:cNvSpPr txBox="1"/>
          <p:nvPr/>
        </p:nvSpPr>
        <p:spPr>
          <a:xfrm>
            <a:off x="2619791" y="2840857"/>
            <a:ext cx="1448836" cy="1087477"/>
          </a:xfrm>
          <a:prstGeom prst="rect">
            <a:avLst/>
          </a:prstGeom>
          <a:noFill/>
          <a:ln w="3175" cap="flat">
            <a:solidFill>
              <a:schemeClr val="tx1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Favoring folding: </a:t>
            </a:r>
          </a:p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l-GR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 SemiBold" panose="020B0502020104020203" pitchFamily="34" charset="-79"/>
                <a:cs typeface="Gill Sans" panose="020B0502020104020203" pitchFamily="34" charset="-79"/>
                <a:sym typeface="Helvetica"/>
              </a:rPr>
              <a:t>Δ</a:t>
            </a:r>
            <a:r>
              <a:rPr kumimoji="0" lang="en-US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S is +               </a:t>
            </a:r>
          </a:p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l-GR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 SemiBold" panose="020B0502020104020203" pitchFamily="34" charset="-79"/>
                <a:cs typeface="Gill Sans" panose="020B0502020104020203" pitchFamily="34" charset="-79"/>
                <a:sym typeface="Helvetica"/>
              </a:rPr>
              <a:t>Δ</a:t>
            </a:r>
            <a:r>
              <a:rPr kumimoji="0" lang="en-US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H is </a:t>
            </a:r>
            <a:r>
              <a:rPr lang="en-US" sz="18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</a:rPr>
              <a:t>-</a:t>
            </a:r>
            <a:endParaRPr kumimoji="0" lang="en-US" sz="18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Gill Sans" panose="020B0502020104020203" pitchFamily="34" charset="-79"/>
              <a:cs typeface="Gill Sans" panose="020B0502020104020203" pitchFamily="34" charset="-79"/>
              <a:sym typeface="Helvetica"/>
            </a:endParaRPr>
          </a:p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l-GR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 SemiBold" panose="020B0502020104020203" pitchFamily="34" charset="-79"/>
                <a:cs typeface="Gill Sans" panose="020B0502020104020203" pitchFamily="34" charset="-79"/>
                <a:sym typeface="Helvetica"/>
              </a:rPr>
              <a:t>Δ</a:t>
            </a:r>
            <a:r>
              <a:rPr kumimoji="0" lang="en-US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G is </a:t>
            </a:r>
            <a:r>
              <a:rPr kumimoji="0" lang="en-US" sz="18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-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6E261A-9CC0-6144-BB41-F5C21ACF676F}"/>
              </a:ext>
            </a:extLst>
          </p:cNvPr>
          <p:cNvGrpSpPr/>
          <p:nvPr/>
        </p:nvGrpSpPr>
        <p:grpSpPr>
          <a:xfrm>
            <a:off x="5191641" y="2797220"/>
            <a:ext cx="1689100" cy="1174750"/>
            <a:chOff x="953199" y="4159409"/>
            <a:chExt cx="1689100" cy="117475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0ACEE3B-509A-0E4A-9D7D-5BC88D5B170E}"/>
                </a:ext>
              </a:extLst>
            </p:cNvPr>
            <p:cNvGrpSpPr/>
            <p:nvPr/>
          </p:nvGrpSpPr>
          <p:grpSpPr>
            <a:xfrm>
              <a:off x="953199" y="4159409"/>
              <a:ext cx="1689100" cy="1174750"/>
              <a:chOff x="650324" y="3463235"/>
              <a:chExt cx="1689100" cy="1174750"/>
            </a:xfrm>
          </p:grpSpPr>
          <p:sp>
            <p:nvSpPr>
              <p:cNvPr id="36" name="Shape 364">
                <a:extLst>
                  <a:ext uri="{FF2B5EF4-FFF2-40B4-BE49-F238E27FC236}">
                    <a16:creationId xmlns:a16="http://schemas.microsoft.com/office/drawing/2014/main" id="{EB95C5C5-914F-6347-B6ED-6CCAF773699A}"/>
                  </a:ext>
                </a:extLst>
              </p:cNvPr>
              <p:cNvSpPr/>
              <p:nvPr/>
            </p:nvSpPr>
            <p:spPr>
              <a:xfrm>
                <a:off x="650324" y="3488919"/>
                <a:ext cx="1689100" cy="112338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spcBef>
                    <a:spcPts val="800"/>
                  </a:spcBef>
                  <a:buClr>
                    <a:srgbClr val="000000"/>
                  </a:buClr>
                  <a:buFont typeface="Helvetica"/>
                  <a:defRPr sz="1800">
                    <a:uFillTx/>
                  </a:defRPr>
                </a:pPr>
                <a:r>
                  <a:rPr sz="1300" b="0" u="sng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K</a:t>
                </a:r>
                <a:r>
                  <a:rPr lang="en-US" sz="1300" b="0" u="sng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ey concepts</a:t>
                </a:r>
                <a:r>
                  <a:rPr sz="13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:</a:t>
                </a:r>
                <a:r>
                  <a:rPr sz="12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  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Symbol"/>
                  </a:rPr>
                  <a:t>Δ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S</a:t>
                </a:r>
                <a:r>
                  <a:rPr sz="1200" b="0" baseline="-2500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FOLDING</a:t>
                </a:r>
                <a:r>
                  <a:rPr sz="1400" b="0" baseline="-2500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</a:t>
                </a:r>
                <a:r>
                  <a:rPr sz="12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IS   </a:t>
                </a:r>
                <a:r>
                  <a:rPr sz="2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+</a:t>
                </a:r>
                <a:r>
                  <a:rPr sz="12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    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Symbol"/>
                  </a:rPr>
                  <a:t>Δ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S</a:t>
                </a:r>
                <a:r>
                  <a:rPr sz="1200" b="0" baseline="-2500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FOLDING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</a:t>
                </a:r>
                <a:r>
                  <a:rPr sz="12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IS    </a:t>
                </a:r>
                <a:r>
                  <a:rPr sz="2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-    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Symbol"/>
                  </a:rPr>
                  <a:t>Δ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H</a:t>
                </a:r>
                <a:r>
                  <a:rPr sz="1200" b="0" baseline="-2500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FOLDING</a:t>
                </a:r>
                <a:r>
                  <a:rPr sz="2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</a:t>
                </a:r>
                <a:r>
                  <a:rPr sz="12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IS    </a:t>
                </a:r>
                <a:r>
                  <a:rPr lang="en-US" sz="2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~0</a:t>
                </a:r>
                <a:endParaRPr sz="20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endParaRPr>
              </a:p>
            </p:txBody>
          </p:sp>
          <p:sp>
            <p:nvSpPr>
              <p:cNvPr id="34" name="Shape 370">
                <a:extLst>
                  <a:ext uri="{FF2B5EF4-FFF2-40B4-BE49-F238E27FC236}">
                    <a16:creationId xmlns:a16="http://schemas.microsoft.com/office/drawing/2014/main" id="{B01B69F3-ACE1-124B-BC84-76044044737D}"/>
                  </a:ext>
                </a:extLst>
              </p:cNvPr>
              <p:cNvSpPr/>
              <p:nvPr/>
            </p:nvSpPr>
            <p:spPr>
              <a:xfrm>
                <a:off x="656151" y="3463235"/>
                <a:ext cx="1435100" cy="1174750"/>
              </a:xfrm>
              <a:prstGeom prst="rect">
                <a:avLst/>
              </a:prstGeom>
              <a:ln w="635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/>
                <a:endParaRPr b="0">
                  <a:solidFill>
                    <a:schemeClr val="tx1"/>
                  </a:solidFill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0C5D9FD-91CA-A249-B623-9447D973C169}"/>
                </a:ext>
              </a:extLst>
            </p:cNvPr>
            <p:cNvGrpSpPr/>
            <p:nvPr/>
          </p:nvGrpSpPr>
          <p:grpSpPr>
            <a:xfrm>
              <a:off x="1134793" y="4449915"/>
              <a:ext cx="850900" cy="712488"/>
              <a:chOff x="195730" y="859086"/>
              <a:chExt cx="850900" cy="712488"/>
            </a:xfrm>
          </p:grpSpPr>
          <p:sp>
            <p:nvSpPr>
              <p:cNvPr id="37" name="Shape 365">
                <a:extLst>
                  <a:ext uri="{FF2B5EF4-FFF2-40B4-BE49-F238E27FC236}">
                    <a16:creationId xmlns:a16="http://schemas.microsoft.com/office/drawing/2014/main" id="{65693E5D-5610-1644-8E47-2AF9FD12A256}"/>
                  </a:ext>
                </a:extLst>
              </p:cNvPr>
              <p:cNvSpPr/>
              <p:nvPr/>
            </p:nvSpPr>
            <p:spPr>
              <a:xfrm>
                <a:off x="195730" y="859086"/>
                <a:ext cx="850900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500"/>
                  </a:spcBef>
                  <a:buClr>
                    <a:srgbClr val="000000"/>
                  </a:buClr>
                  <a:buFont typeface="Helvetica"/>
                  <a:defRPr sz="8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8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W</a:t>
                </a:r>
                <a:r>
                  <a:rPr lang="en-US" sz="8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ATER</a:t>
                </a:r>
              </a:p>
            </p:txBody>
          </p:sp>
          <p:sp>
            <p:nvSpPr>
              <p:cNvPr id="38" name="Shape 367">
                <a:extLst>
                  <a:ext uri="{FF2B5EF4-FFF2-40B4-BE49-F238E27FC236}">
                    <a16:creationId xmlns:a16="http://schemas.microsoft.com/office/drawing/2014/main" id="{E813DE06-67A0-314D-A82E-3DD6F39D7E03}"/>
                  </a:ext>
                </a:extLst>
              </p:cNvPr>
              <p:cNvSpPr/>
              <p:nvPr/>
            </p:nvSpPr>
            <p:spPr>
              <a:xfrm>
                <a:off x="203667" y="1143550"/>
                <a:ext cx="698501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500"/>
                  </a:spcBef>
                  <a:buClr>
                    <a:srgbClr val="000000"/>
                  </a:buClr>
                  <a:buFont typeface="Helvetica"/>
                  <a:defRPr sz="8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8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PROTEIN</a:t>
                </a:r>
              </a:p>
            </p:txBody>
          </p:sp>
          <p:sp>
            <p:nvSpPr>
              <p:cNvPr id="39" name="Shape 368">
                <a:extLst>
                  <a:ext uri="{FF2B5EF4-FFF2-40B4-BE49-F238E27FC236}">
                    <a16:creationId xmlns:a16="http://schemas.microsoft.com/office/drawing/2014/main" id="{5DE39440-821C-7D44-8063-B40D143F04B2}"/>
                  </a:ext>
                </a:extLst>
              </p:cNvPr>
              <p:cNvSpPr/>
              <p:nvPr/>
            </p:nvSpPr>
            <p:spPr>
              <a:xfrm>
                <a:off x="235294" y="1448463"/>
                <a:ext cx="546101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500"/>
                  </a:spcBef>
                  <a:buClr>
                    <a:srgbClr val="000000"/>
                  </a:buClr>
                  <a:buFont typeface="Helvetica"/>
                  <a:defRPr sz="8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800" b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TOTAL</a:t>
                </a: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6022660-FC3B-1248-854A-10FC8B18B9EE}"/>
              </a:ext>
            </a:extLst>
          </p:cNvPr>
          <p:cNvGrpSpPr/>
          <p:nvPr/>
        </p:nvGrpSpPr>
        <p:grpSpPr>
          <a:xfrm>
            <a:off x="409318" y="4217110"/>
            <a:ext cx="8640902" cy="2544862"/>
            <a:chOff x="1090529" y="4309143"/>
            <a:chExt cx="8064200" cy="2544862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9022258-C87E-AA46-8BB8-837126FC21C3}"/>
                </a:ext>
              </a:extLst>
            </p:cNvPr>
            <p:cNvCxnSpPr>
              <a:cxnSpLocks/>
            </p:cNvCxnSpPr>
            <p:nvPr/>
          </p:nvCxnSpPr>
          <p:spPr>
            <a:xfrm>
              <a:off x="3410854" y="4610550"/>
              <a:ext cx="1900050" cy="0"/>
            </a:xfrm>
            <a:prstGeom prst="line">
              <a:avLst/>
            </a:prstGeom>
            <a:noFill/>
            <a:ln w="28575" cap="flat">
              <a:solidFill>
                <a:schemeClr val="tx1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2" name="Down Arrow 41">
              <a:extLst>
                <a:ext uri="{FF2B5EF4-FFF2-40B4-BE49-F238E27FC236}">
                  <a16:creationId xmlns:a16="http://schemas.microsoft.com/office/drawing/2014/main" id="{E0A29E6E-3ED5-5B44-A3C0-F6B97BD9D97E}"/>
                </a:ext>
              </a:extLst>
            </p:cNvPr>
            <p:cNvSpPr/>
            <p:nvPr/>
          </p:nvSpPr>
          <p:spPr>
            <a:xfrm>
              <a:off x="3410853" y="4389867"/>
              <a:ext cx="308555" cy="2369129"/>
            </a:xfrm>
            <a:prstGeom prst="downArrow">
              <a:avLst/>
            </a:prstGeom>
            <a:solidFill>
              <a:srgbClr val="FFFF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3B93E4F4-0F40-054E-B968-B10497876D4D}"/>
                </a:ext>
              </a:extLst>
            </p:cNvPr>
            <p:cNvSpPr/>
            <p:nvPr/>
          </p:nvSpPr>
          <p:spPr>
            <a:xfrm rot="10800000">
              <a:off x="4289830" y="4618468"/>
              <a:ext cx="308556" cy="1929338"/>
            </a:xfrm>
            <a:prstGeom prst="downArrow">
              <a:avLst/>
            </a:prstGeom>
            <a:solidFill>
              <a:srgbClr val="FF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BBCF2CD-FBA7-A641-B269-208CD5CFF410}"/>
                </a:ext>
              </a:extLst>
            </p:cNvPr>
            <p:cNvCxnSpPr/>
            <p:nvPr/>
          </p:nvCxnSpPr>
          <p:spPr>
            <a:xfrm>
              <a:off x="3410854" y="6782750"/>
              <a:ext cx="1187533" cy="0"/>
            </a:xfrm>
            <a:prstGeom prst="line">
              <a:avLst/>
            </a:prstGeom>
            <a:noFill/>
            <a:ln w="28575" cap="flat">
              <a:solidFill>
                <a:schemeClr val="tx1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5ECB7CA-271E-DD48-9DCC-052B843C35E7}"/>
                </a:ext>
              </a:extLst>
            </p:cNvPr>
            <p:cNvCxnSpPr>
              <a:cxnSpLocks/>
            </p:cNvCxnSpPr>
            <p:nvPr/>
          </p:nvCxnSpPr>
          <p:spPr>
            <a:xfrm>
              <a:off x="3410854" y="4366117"/>
              <a:ext cx="1900050" cy="0"/>
            </a:xfrm>
            <a:prstGeom prst="line">
              <a:avLst/>
            </a:prstGeom>
            <a:noFill/>
            <a:ln w="28575" cap="flat">
              <a:solidFill>
                <a:schemeClr val="tx1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6" name="Down Arrow 45">
              <a:extLst>
                <a:ext uri="{FF2B5EF4-FFF2-40B4-BE49-F238E27FC236}">
                  <a16:creationId xmlns:a16="http://schemas.microsoft.com/office/drawing/2014/main" id="{D41867A1-FE84-E24E-B7B9-AD16F97FA675}"/>
                </a:ext>
              </a:extLst>
            </p:cNvPr>
            <p:cNvSpPr/>
            <p:nvPr/>
          </p:nvSpPr>
          <p:spPr>
            <a:xfrm>
              <a:off x="5097148" y="4389867"/>
              <a:ext cx="261257" cy="228601"/>
            </a:xfrm>
            <a:prstGeom prst="downArrow">
              <a:avLst/>
            </a:prstGeom>
            <a:solidFill>
              <a:schemeClr val="tx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C96FA42-8AFE-984C-BDDA-D339985EE9C0}"/>
                </a:ext>
              </a:extLst>
            </p:cNvPr>
            <p:cNvSpPr txBox="1"/>
            <p:nvPr/>
          </p:nvSpPr>
          <p:spPr>
            <a:xfrm rot="16200000">
              <a:off x="63646" y="5416752"/>
              <a:ext cx="2464136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rPr>
                <a:t>Gibbs Free Energy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9A6E1DF-4BAD-9043-9490-EFF7F7A1E2EA}"/>
                </a:ext>
              </a:extLst>
            </p:cNvPr>
            <p:cNvSpPr txBox="1"/>
            <p:nvPr/>
          </p:nvSpPr>
          <p:spPr>
            <a:xfrm>
              <a:off x="4586506" y="5161394"/>
              <a:ext cx="2978701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rPr>
                <a:t>Protein conformational entropy</a:t>
              </a:r>
            </a:p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Symbol" pitchFamily="2" charset="2"/>
                </a:rPr>
                <a:t>- </a:t>
              </a:r>
              <a:r>
                <a:rPr lang="en-US" sz="1600" b="0" dirty="0" err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rPr>
                <a:t>T</a:t>
              </a:r>
              <a:r>
                <a:rPr lang="en-US" sz="1600" b="0" dirty="0" err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Symbol" pitchFamily="2" charset="2"/>
                </a:rPr>
                <a:t>D</a:t>
              </a:r>
              <a:r>
                <a:rPr lang="en-US" sz="1600" b="0" dirty="0" err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rPr>
                <a:t>S</a:t>
              </a:r>
              <a:r>
                <a:rPr lang="en-US" sz="1600" b="0" baseline="-25000" dirty="0" err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rPr>
                <a:t>Folding</a:t>
              </a:r>
              <a:endParaRPr lang="en-US" sz="1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endParaRPr>
            </a:p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6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A750277-D204-3C47-9EDC-2DFCC9C54D25}"/>
                </a:ext>
              </a:extLst>
            </p:cNvPr>
            <p:cNvSpPr txBox="1"/>
            <p:nvPr/>
          </p:nvSpPr>
          <p:spPr>
            <a:xfrm>
              <a:off x="1746019" y="5384214"/>
              <a:ext cx="1475084" cy="10874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rPr>
                <a:t>Water entropy</a:t>
              </a:r>
            </a:p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Symbol" pitchFamily="2" charset="2"/>
                </a:rPr>
                <a:t>- </a:t>
              </a:r>
              <a:r>
                <a:rPr lang="en-US" sz="1600" b="0" dirty="0" err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rPr>
                <a:t>T</a:t>
              </a:r>
              <a:r>
                <a:rPr lang="en-US" sz="1600" b="0" dirty="0" err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Symbol" pitchFamily="2" charset="2"/>
                </a:rPr>
                <a:t>D</a:t>
              </a:r>
              <a:r>
                <a:rPr lang="en-US" sz="1600" b="0" dirty="0" err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rPr>
                <a:t>S</a:t>
              </a:r>
              <a:r>
                <a:rPr lang="en-US" sz="1600" b="0" baseline="-25000" dirty="0" err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rPr>
                <a:t>Folding</a:t>
              </a:r>
              <a:endPara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endParaRPr>
            </a:p>
            <a:p>
              <a:pPr algn="l" rtl="0" latinLnBrk="1" hangingPunct="0"/>
              <a:r>
                <a:rPr lang="en-US" sz="1600" dirty="0">
                  <a:solidFill>
                    <a:srgbClr val="0541E0"/>
                  </a:solidFill>
                  <a:uFill>
                    <a:solidFill>
                      <a:srgbClr val="000000"/>
                    </a:solidFill>
                  </a:uFill>
                </a:rPr>
                <a:t>favorable!</a:t>
              </a:r>
              <a:endPara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endParaRPr>
            </a:p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6A53BDB-917E-984F-8463-28D51A9B662B}"/>
                </a:ext>
              </a:extLst>
            </p:cNvPr>
            <p:cNvSpPr txBox="1"/>
            <p:nvPr/>
          </p:nvSpPr>
          <p:spPr>
            <a:xfrm>
              <a:off x="4598386" y="6478109"/>
              <a:ext cx="4556343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rPr>
                <a:t>Protein and Water </a:t>
              </a:r>
              <a:r>
                <a:rPr lang="en-US" sz="1600" b="0" dirty="0" err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Symbol" pitchFamily="2" charset="2"/>
                </a:rPr>
                <a:t>D</a:t>
              </a:r>
              <a:r>
                <a:rPr lang="en-US" sz="1600" b="0" dirty="0" err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rPr>
                <a:t>H</a:t>
              </a:r>
              <a:r>
                <a:rPr lang="en-US" sz="1600" b="0" baseline="-25000" dirty="0" err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rPr>
                <a:t>Folding</a:t>
              </a:r>
              <a:r>
                <a:rPr lang="en-US" sz="1600" b="0" baseline="-2500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</a:rPr>
                <a:t> </a:t>
              </a:r>
              <a:r>
                <a:rPr lang="en-US" sz="1600" dirty="0">
                  <a:solidFill>
                    <a:srgbClr val="1855FF"/>
                  </a:solidFill>
                  <a:uFill>
                    <a:solidFill>
                      <a:srgbClr val="000000"/>
                    </a:solidFill>
                  </a:uFill>
                </a:rPr>
                <a:t>~unfavorable (maybe?) </a:t>
              </a:r>
              <a:endParaRPr kumimoji="0" lang="en-US" sz="1600" i="0" u="none" strike="noStrike" cap="none" spc="0" normalizeH="0" baseline="0" dirty="0">
                <a:ln>
                  <a:noFill/>
                </a:ln>
                <a:solidFill>
                  <a:srgbClr val="1855FF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EE4B244-6439-374B-91C3-77E830AE25F6}"/>
                </a:ext>
              </a:extLst>
            </p:cNvPr>
            <p:cNvSpPr txBox="1"/>
            <p:nvPr/>
          </p:nvSpPr>
          <p:spPr>
            <a:xfrm>
              <a:off x="5093581" y="5719927"/>
              <a:ext cx="147348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solidFill>
                    <a:srgbClr val="0541E0"/>
                  </a:solidFill>
                  <a:uFill>
                    <a:solidFill>
                      <a:srgbClr val="000000"/>
                    </a:solidFill>
                  </a:uFill>
                </a:rPr>
                <a:t>unfavorable! </a:t>
              </a:r>
              <a:endParaRPr kumimoji="0" lang="en-US" sz="1600" i="0" u="none" strike="noStrike" cap="none" spc="0" normalizeH="0" baseline="0" dirty="0">
                <a:ln>
                  <a:noFill/>
                </a:ln>
                <a:solidFill>
                  <a:srgbClr val="0541E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0F6C28B-1C36-2F46-A6E3-56B03A52EF5F}"/>
                </a:ext>
              </a:extLst>
            </p:cNvPr>
            <p:cNvSpPr txBox="1"/>
            <p:nvPr/>
          </p:nvSpPr>
          <p:spPr>
            <a:xfrm>
              <a:off x="5358404" y="4309143"/>
              <a:ext cx="2961067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 err="1">
                  <a:solidFill>
                    <a:schemeClr val="tx1"/>
                  </a:solidFill>
                  <a:uFill>
                    <a:solidFill>
                      <a:srgbClr val="000000"/>
                    </a:solidFill>
                  </a:uFill>
                  <a:latin typeface="Symbol" pitchFamily="2" charset="2"/>
                </a:rPr>
                <a:t>D</a:t>
              </a:r>
              <a:r>
                <a:rPr lang="en-US" sz="1600" dirty="0" err="1">
                  <a:solidFill>
                    <a:schemeClr val="tx1"/>
                  </a:solidFill>
                  <a:uFill>
                    <a:solidFill>
                      <a:srgbClr val="000000"/>
                    </a:solidFill>
                  </a:uFill>
                </a:rPr>
                <a:t>G</a:t>
              </a:r>
              <a:r>
                <a:rPr lang="en-US" sz="1600" baseline="-25000" dirty="0" err="1">
                  <a:solidFill>
                    <a:schemeClr val="tx1"/>
                  </a:solidFill>
                  <a:uFill>
                    <a:solidFill>
                      <a:srgbClr val="000000"/>
                    </a:solidFill>
                  </a:uFill>
                </a:rPr>
                <a:t>Folding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000000"/>
                    </a:solidFill>
                  </a:uFill>
                </a:rPr>
                <a:t>  </a:t>
              </a:r>
              <a:r>
                <a:rPr lang="en-US" sz="1600" dirty="0">
                  <a:solidFill>
                    <a:srgbClr val="1855FF"/>
                  </a:solidFill>
                  <a:uFill>
                    <a:solidFill>
                      <a:srgbClr val="000000"/>
                    </a:solidFill>
                  </a:uFill>
                </a:rPr>
                <a:t>favorable (maybe?)</a:t>
              </a:r>
              <a:endParaRPr kumimoji="0" lang="en-US" sz="1600" i="0" u="none" strike="noStrike" cap="none" spc="0" normalizeH="0" baseline="0" dirty="0">
                <a:ln>
                  <a:noFill/>
                </a:ln>
                <a:solidFill>
                  <a:srgbClr val="1855FF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41" name="Down Arrow 40">
              <a:extLst>
                <a:ext uri="{FF2B5EF4-FFF2-40B4-BE49-F238E27FC236}">
                  <a16:creationId xmlns:a16="http://schemas.microsoft.com/office/drawing/2014/main" id="{24B5359F-DC83-F442-8992-7CE38B9AAAB9}"/>
                </a:ext>
              </a:extLst>
            </p:cNvPr>
            <p:cNvSpPr/>
            <p:nvPr/>
          </p:nvSpPr>
          <p:spPr>
            <a:xfrm rot="10800000">
              <a:off x="4324901" y="6547830"/>
              <a:ext cx="261257" cy="211166"/>
            </a:xfrm>
            <a:prstGeom prst="downArrow">
              <a:avLst/>
            </a:prstGeom>
            <a:solidFill>
              <a:srgbClr val="0070C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F79D678-1636-16BA-18CF-0347588BEEC3}"/>
              </a:ext>
            </a:extLst>
          </p:cNvPr>
          <p:cNvSpPr txBox="1"/>
          <p:nvPr/>
        </p:nvSpPr>
        <p:spPr>
          <a:xfrm>
            <a:off x="980608" y="4068899"/>
            <a:ext cx="1511952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911440-1A1D-514A-72C5-E7DABF16AEB2}"/>
              </a:ext>
            </a:extLst>
          </p:cNvPr>
          <p:cNvSpPr txBox="1"/>
          <p:nvPr/>
        </p:nvSpPr>
        <p:spPr>
          <a:xfrm>
            <a:off x="2587621" y="4015074"/>
            <a:ext cx="370614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ED00CE-0531-F9E5-B59F-5B256041C776}"/>
              </a:ext>
            </a:extLst>
          </p:cNvPr>
          <p:cNvSpPr txBox="1"/>
          <p:nvPr/>
        </p:nvSpPr>
        <p:spPr>
          <a:xfrm>
            <a:off x="2607916" y="4321584"/>
            <a:ext cx="341760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C0769-F04C-E042-E5AD-FECE0C12E1C7}"/>
              </a:ext>
            </a:extLst>
          </p:cNvPr>
          <p:cNvSpPr txBox="1"/>
          <p:nvPr/>
        </p:nvSpPr>
        <p:spPr>
          <a:xfrm>
            <a:off x="4347327" y="4674664"/>
            <a:ext cx="4570482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B05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values depend on specific protein!!!</a:t>
            </a:r>
          </a:p>
        </p:txBody>
      </p:sp>
    </p:spTree>
    <p:extLst>
      <p:ext uri="{BB962C8B-B14F-4D97-AF65-F5344CB8AC3E}">
        <p14:creationId xmlns:p14="http://schemas.microsoft.com/office/powerpoint/2010/main" val="1439353158"/>
      </p:ext>
    </p:extLst>
  </p:cSld>
  <p:clrMapOvr>
    <a:masterClrMapping/>
  </p:clrMapOvr>
  <p:transition spd="med"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/>
          <p:nvPr/>
        </p:nvSpPr>
        <p:spPr>
          <a:xfrm>
            <a:off x="-76200" y="-104033"/>
            <a:ext cx="9309100" cy="441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buClr>
                <a:srgbClr val="000000"/>
              </a:buClr>
              <a:buFont typeface="Helvetica"/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2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</a:t>
            </a:r>
            <a:r>
              <a:rPr lang="en-US" sz="22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rotein stability</a:t>
            </a:r>
            <a:r>
              <a:rPr sz="22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: T</a:t>
            </a:r>
            <a:r>
              <a:rPr lang="en-US" sz="22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hermodynamic view reveals driving forces</a:t>
            </a:r>
          </a:p>
        </p:txBody>
      </p:sp>
      <p:sp>
        <p:nvSpPr>
          <p:cNvPr id="326" name="Shape 326"/>
          <p:cNvSpPr/>
          <p:nvPr/>
        </p:nvSpPr>
        <p:spPr>
          <a:xfrm>
            <a:off x="2895600" y="934343"/>
            <a:ext cx="81661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400"/>
              </a:spcBef>
              <a:buClr>
                <a:srgbClr val="000000"/>
              </a:buClr>
              <a:buFont typeface="Helvetica"/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G   =  	      H               -                 TS</a:t>
            </a:r>
          </a:p>
        </p:txBody>
      </p:sp>
      <p:sp>
        <p:nvSpPr>
          <p:cNvPr id="328" name="Shape 328"/>
          <p:cNvSpPr/>
          <p:nvPr/>
        </p:nvSpPr>
        <p:spPr>
          <a:xfrm>
            <a:off x="1905000" y="1295400"/>
            <a:ext cx="18415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buClr>
                <a:srgbClr val="0222B9"/>
              </a:buClr>
              <a:buFont typeface="Helvetica"/>
              <a:defRPr sz="1400" b="1">
                <a:solidFill>
                  <a:srgbClr val="0222B9"/>
                </a:solidFill>
                <a:uFill>
                  <a:solidFill>
                    <a:srgbClr val="0222B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G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ibbs function</a:t>
            </a:r>
            <a:r>
              <a:rPr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: L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ower</a:t>
            </a:r>
            <a:r>
              <a:rPr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G 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(more negative) means more stable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FF20EC-B911-5442-A201-B3A0A474D98D}"/>
              </a:ext>
            </a:extLst>
          </p:cNvPr>
          <p:cNvGrpSpPr/>
          <p:nvPr/>
        </p:nvGrpSpPr>
        <p:grpSpPr>
          <a:xfrm>
            <a:off x="130492" y="2575322"/>
            <a:ext cx="9157428" cy="1699693"/>
            <a:chOff x="130492" y="2575322"/>
            <a:chExt cx="9157428" cy="16996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0E6C60B-6B88-5E40-8760-ABDFB3A1C159}"/>
                </a:ext>
              </a:extLst>
            </p:cNvPr>
            <p:cNvGrpSpPr/>
            <p:nvPr/>
          </p:nvGrpSpPr>
          <p:grpSpPr>
            <a:xfrm>
              <a:off x="130492" y="2575322"/>
              <a:ext cx="9157428" cy="1454244"/>
              <a:chOff x="121527" y="2575322"/>
              <a:chExt cx="9157428" cy="1454244"/>
            </a:xfrm>
          </p:grpSpPr>
          <p:sp>
            <p:nvSpPr>
              <p:cNvPr id="327" name="Shape 327"/>
              <p:cNvSpPr/>
              <p:nvPr/>
            </p:nvSpPr>
            <p:spPr>
              <a:xfrm>
                <a:off x="122254" y="2575322"/>
                <a:ext cx="9156701" cy="145424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lvl="0">
                  <a:spcBef>
                    <a:spcPts val="1400"/>
                  </a:spcBef>
                  <a:buClr>
                    <a:srgbClr val="000000"/>
                  </a:buClr>
                  <a:buFont typeface="Helvetica"/>
                  <a:defRPr sz="1800">
                    <a:uFillTx/>
                  </a:defRPr>
                </a:pPr>
                <a:endParaRPr sz="2400" b="0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endParaRPr>
              </a:p>
              <a:p>
                <a:pPr lvl="0">
                  <a:spcBef>
                    <a:spcPts val="900"/>
                  </a:spcBef>
                  <a:buClr>
                    <a:srgbClr val="000000"/>
                  </a:buClr>
                  <a:buFont typeface="Helvetica"/>
                  <a:defRPr sz="1800">
                    <a:uFillTx/>
                  </a:defRPr>
                </a:pP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G                    - </a:t>
                </a:r>
                <a:r>
                  <a:rPr lang="en-US" sz="1600" b="0" dirty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</a:t>
                </a: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G                   </a:t>
                </a:r>
                <a:r>
                  <a:rPr lang="en-US" sz="1600" b="0" dirty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</a:t>
                </a: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= </a:t>
                </a:r>
                <a:r>
                  <a:rPr lang="en-US" sz="1600" b="0" dirty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</a:t>
                </a: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Symbol"/>
                  </a:rPr>
                  <a:t>Δ</a:t>
                </a: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G</a:t>
                </a:r>
              </a:p>
              <a:p>
                <a:pPr lvl="0">
                  <a:spcBef>
                    <a:spcPts val="900"/>
                  </a:spcBef>
                  <a:buClr>
                    <a:srgbClr val="000000"/>
                  </a:buClr>
                  <a:buFont typeface="Helvetica"/>
                  <a:defRPr sz="1800">
                    <a:uFillTx/>
                  </a:defRPr>
                </a:pPr>
                <a:endParaRPr sz="1600" b="0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endParaRPr>
              </a:p>
              <a:p>
                <a:pPr lvl="0">
                  <a:spcBef>
                    <a:spcPts val="900"/>
                  </a:spcBef>
                  <a:buClr>
                    <a:srgbClr val="000000"/>
                  </a:buClr>
                  <a:buFont typeface="Helvetica"/>
                  <a:defRPr sz="1800">
                    <a:uFillTx/>
                  </a:defRPr>
                </a:pP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= H                     - H                  - T  S                  - S</a:t>
                </a:r>
              </a:p>
            </p:txBody>
          </p:sp>
          <p:grpSp>
            <p:nvGrpSpPr>
              <p:cNvPr id="334" name="Group 334"/>
              <p:cNvGrpSpPr/>
              <p:nvPr/>
            </p:nvGrpSpPr>
            <p:grpSpPr>
              <a:xfrm>
                <a:off x="121527" y="3018865"/>
                <a:ext cx="4368814" cy="466913"/>
                <a:chOff x="-32368" y="0"/>
                <a:chExt cx="4368814" cy="466913"/>
              </a:xfrm>
            </p:grpSpPr>
            <p:sp>
              <p:nvSpPr>
                <p:cNvPr id="329" name="Shape 329"/>
                <p:cNvSpPr/>
                <p:nvPr/>
              </p:nvSpPr>
              <p:spPr>
                <a:xfrm>
                  <a:off x="114300" y="165100"/>
                  <a:ext cx="1384300" cy="1538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rgbClr val="000000"/>
                    </a:buClr>
                    <a:buFont typeface="Helvetica"/>
                    <a:defRPr sz="1000" b="1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uFillTx/>
                    </a:defRPr>
                  </a:pPr>
                  <a:r>
                    <a:rPr sz="1000" b="0" dirty="0">
                      <a:solidFill>
                        <a:schemeClr val="tx1"/>
                      </a:solidFill>
                      <a:uFill>
                        <a:solidFill/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W</a:t>
                  </a:r>
                  <a:r>
                    <a:rPr lang="en-US" sz="1000" b="0" dirty="0">
                      <a:solidFill>
                        <a:schemeClr val="tx1"/>
                      </a:solidFill>
                      <a:uFill>
                        <a:solidFill/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hen prot. folded</a:t>
                  </a:r>
                </a:p>
              </p:txBody>
            </p:sp>
            <p:sp>
              <p:nvSpPr>
                <p:cNvPr id="330" name="Shape 330"/>
                <p:cNvSpPr/>
                <p:nvPr/>
              </p:nvSpPr>
              <p:spPr>
                <a:xfrm>
                  <a:off x="1581525" y="165100"/>
                  <a:ext cx="1231900" cy="1538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buClr>
                      <a:srgbClr val="000000"/>
                    </a:buClr>
                    <a:buFont typeface="Helvetica"/>
                    <a:defRPr sz="1000" b="1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uFillTx/>
                    </a:defRPr>
                  </a:pPr>
                  <a:r>
                    <a:rPr sz="1000" b="0" dirty="0">
                      <a:solidFill>
                        <a:schemeClr val="tx1"/>
                      </a:solidFill>
                      <a:uFill>
                        <a:solidFill/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W</a:t>
                  </a:r>
                  <a:r>
                    <a:rPr lang="en-US" sz="1000" b="0" dirty="0">
                      <a:solidFill>
                        <a:schemeClr val="tx1"/>
                      </a:solidFill>
                      <a:uFill>
                        <a:solidFill/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hen prot. unfolded</a:t>
                  </a:r>
                </a:p>
              </p:txBody>
            </p:sp>
            <p:sp>
              <p:nvSpPr>
                <p:cNvPr id="331" name="Shape 331"/>
                <p:cNvSpPr/>
                <p:nvPr/>
              </p:nvSpPr>
              <p:spPr>
                <a:xfrm>
                  <a:off x="3256946" y="163145"/>
                  <a:ext cx="1079500" cy="1538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>
                    <a:spcBef>
                      <a:spcPts val="600"/>
                    </a:spcBef>
                    <a:buClr>
                      <a:srgbClr val="000000"/>
                    </a:buClr>
                    <a:buFont typeface="Helvetica"/>
                    <a:defRPr sz="1000" b="1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pPr lvl="0">
                    <a:defRPr sz="1800" b="0">
                      <a:uFillTx/>
                    </a:defRPr>
                  </a:pPr>
                  <a:r>
                    <a:rPr lang="en-US" sz="1000" b="0" dirty="0">
                      <a:solidFill>
                        <a:schemeClr val="tx1"/>
                      </a:solidFill>
                      <a:uFill>
                        <a:solidFill/>
                      </a:uFill>
                      <a:latin typeface="Gill Sans" charset="0"/>
                      <a:ea typeface="Gill Sans" charset="0"/>
                      <a:cs typeface="Gill Sans" charset="0"/>
                    </a:rPr>
                    <a:t>of prot. folding</a:t>
                  </a:r>
                </a:p>
              </p:txBody>
            </p:sp>
            <p:sp>
              <p:nvSpPr>
                <p:cNvPr id="332" name="Shape 332"/>
                <p:cNvSpPr/>
                <p:nvPr/>
              </p:nvSpPr>
              <p:spPr>
                <a:xfrm>
                  <a:off x="-32368" y="0"/>
                  <a:ext cx="91105" cy="4669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cubicBezTo>
                        <a:pt x="9671" y="0"/>
                        <a:pt x="0" y="806"/>
                        <a:pt x="0" y="1800"/>
                      </a:cubicBezTo>
                      <a:lnTo>
                        <a:pt x="0" y="19800"/>
                      </a:lnTo>
                      <a:cubicBezTo>
                        <a:pt x="0" y="20794"/>
                        <a:pt x="9671" y="21600"/>
                        <a:pt x="21600" y="21600"/>
                      </a:cubicBezTo>
                    </a:path>
                  </a:pathLst>
                </a:cu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/>
                  <a:endParaRPr b="0">
                    <a:solidFill>
                      <a:schemeClr val="tx1"/>
                    </a:solidFill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333" name="Shape 333"/>
                <p:cNvSpPr/>
                <p:nvPr/>
              </p:nvSpPr>
              <p:spPr>
                <a:xfrm>
                  <a:off x="2659240" y="0"/>
                  <a:ext cx="74613" cy="4445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1929" y="0"/>
                        <a:pt x="21600" y="806"/>
                        <a:pt x="21600" y="1800"/>
                      </a:cubicBezTo>
                      <a:lnTo>
                        <a:pt x="21600" y="19800"/>
                      </a:lnTo>
                      <a:cubicBezTo>
                        <a:pt x="21600" y="20794"/>
                        <a:pt x="11929" y="21600"/>
                        <a:pt x="0" y="21600"/>
                      </a:cubicBezTo>
                    </a:path>
                  </a:pathLst>
                </a:cu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/>
                  <a:endParaRPr b="0">
                    <a:solidFill>
                      <a:schemeClr val="tx1"/>
                    </a:solidFill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</p:grpSp>
        <p:grpSp>
          <p:nvGrpSpPr>
            <p:cNvPr id="343" name="Group 343"/>
            <p:cNvGrpSpPr/>
            <p:nvPr/>
          </p:nvGrpSpPr>
          <p:grpSpPr>
            <a:xfrm>
              <a:off x="287390" y="3772120"/>
              <a:ext cx="5480050" cy="502895"/>
              <a:chOff x="-39075" y="-31530"/>
              <a:chExt cx="5480050" cy="502894"/>
            </a:xfrm>
          </p:grpSpPr>
          <p:sp>
            <p:nvSpPr>
              <p:cNvPr id="335" name="Shape 335"/>
              <p:cNvSpPr/>
              <p:nvPr/>
            </p:nvSpPr>
            <p:spPr>
              <a:xfrm>
                <a:off x="76200" y="127000"/>
                <a:ext cx="1231900" cy="1538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buClr>
                    <a:srgbClr val="000000"/>
                  </a:buClr>
                  <a:buFont typeface="Helvetica"/>
                  <a:defRPr sz="10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1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W</a:t>
                </a:r>
                <a:r>
                  <a:rPr lang="en-US" sz="1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hen prot. folded</a:t>
                </a:r>
              </a:p>
            </p:txBody>
          </p:sp>
          <p:sp>
            <p:nvSpPr>
              <p:cNvPr id="336" name="Shape 336"/>
              <p:cNvSpPr/>
              <p:nvPr/>
            </p:nvSpPr>
            <p:spPr>
              <a:xfrm>
                <a:off x="3048000" y="114300"/>
                <a:ext cx="1231900" cy="1538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buClr>
                    <a:srgbClr val="000000"/>
                  </a:buClr>
                  <a:buFont typeface="Helvetica"/>
                  <a:defRPr sz="10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1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W</a:t>
                </a:r>
                <a:r>
                  <a:rPr lang="en-US" sz="1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hen prot. folded</a:t>
                </a:r>
              </a:p>
            </p:txBody>
          </p:sp>
          <p:sp>
            <p:nvSpPr>
              <p:cNvPr id="337" name="Shape 337"/>
              <p:cNvSpPr/>
              <p:nvPr/>
            </p:nvSpPr>
            <p:spPr>
              <a:xfrm>
                <a:off x="1549400" y="127000"/>
                <a:ext cx="1168400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buClr>
                    <a:srgbClr val="000000"/>
                  </a:buClr>
                  <a:buFont typeface="Helvetica"/>
                  <a:defRPr sz="10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1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W</a:t>
                </a:r>
                <a:r>
                  <a:rPr lang="en-US" sz="1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hen prot. unfolded</a:t>
                </a:r>
              </a:p>
            </p:txBody>
          </p:sp>
          <p:sp>
            <p:nvSpPr>
              <p:cNvPr id="338" name="Shape 338"/>
              <p:cNvSpPr/>
              <p:nvPr/>
            </p:nvSpPr>
            <p:spPr>
              <a:xfrm>
                <a:off x="4304325" y="114299"/>
                <a:ext cx="1136650" cy="3077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buClr>
                    <a:srgbClr val="000000"/>
                  </a:buClr>
                  <a:buFont typeface="Helvetica"/>
                  <a:defRPr sz="10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1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W</a:t>
                </a:r>
                <a:r>
                  <a:rPr lang="en-US" sz="1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hen prot. unfolded</a:t>
                </a:r>
              </a:p>
            </p:txBody>
          </p:sp>
          <p:sp>
            <p:nvSpPr>
              <p:cNvPr id="339" name="Shape 339"/>
              <p:cNvSpPr/>
              <p:nvPr/>
            </p:nvSpPr>
            <p:spPr>
              <a:xfrm>
                <a:off x="-39075" y="-31530"/>
                <a:ext cx="152400" cy="469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9671" y="0"/>
                      <a:pt x="0" y="806"/>
                      <a:pt x="0" y="1800"/>
                    </a:cubicBezTo>
                    <a:lnTo>
                      <a:pt x="0" y="19800"/>
                    </a:lnTo>
                    <a:cubicBezTo>
                      <a:pt x="0" y="20794"/>
                      <a:pt x="9671" y="21600"/>
                      <a:pt x="21600" y="21600"/>
                    </a:cubicBez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b="0">
                  <a:solidFill>
                    <a:schemeClr val="tx1"/>
                  </a:solidFill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340" name="Shape 340"/>
              <p:cNvSpPr/>
              <p:nvPr/>
            </p:nvSpPr>
            <p:spPr>
              <a:xfrm>
                <a:off x="2948355" y="-31530"/>
                <a:ext cx="152400" cy="469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9671" y="0"/>
                      <a:pt x="0" y="806"/>
                      <a:pt x="0" y="1800"/>
                    </a:cubicBezTo>
                    <a:lnTo>
                      <a:pt x="0" y="19800"/>
                    </a:lnTo>
                    <a:cubicBezTo>
                      <a:pt x="0" y="20794"/>
                      <a:pt x="9671" y="21600"/>
                      <a:pt x="21600" y="21600"/>
                    </a:cubicBez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b="0">
                  <a:solidFill>
                    <a:schemeClr val="tx1"/>
                  </a:solidFill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341" name="Shape 341"/>
              <p:cNvSpPr/>
              <p:nvPr/>
            </p:nvSpPr>
            <p:spPr>
              <a:xfrm>
                <a:off x="2438400" y="0"/>
                <a:ext cx="96715" cy="4713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11929" y="0"/>
                      <a:pt x="21600" y="806"/>
                      <a:pt x="21600" y="1800"/>
                    </a:cubicBezTo>
                    <a:lnTo>
                      <a:pt x="21600" y="19800"/>
                    </a:lnTo>
                    <a:cubicBezTo>
                      <a:pt x="21600" y="20794"/>
                      <a:pt x="11929" y="21600"/>
                      <a:pt x="0" y="21600"/>
                    </a:cubicBez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b="0">
                  <a:solidFill>
                    <a:schemeClr val="tx1"/>
                  </a:solidFill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342" name="Shape 342"/>
              <p:cNvSpPr/>
              <p:nvPr/>
            </p:nvSpPr>
            <p:spPr>
              <a:xfrm>
                <a:off x="4913924" y="0"/>
                <a:ext cx="90853" cy="4713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11929" y="0"/>
                      <a:pt x="21600" y="806"/>
                      <a:pt x="21600" y="1800"/>
                    </a:cubicBezTo>
                    <a:lnTo>
                      <a:pt x="21600" y="19800"/>
                    </a:lnTo>
                    <a:cubicBezTo>
                      <a:pt x="21600" y="20794"/>
                      <a:pt x="11929" y="21600"/>
                      <a:pt x="0" y="21600"/>
                    </a:cubicBez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b="0">
                  <a:solidFill>
                    <a:schemeClr val="tx1"/>
                  </a:solidFill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</p:grpSp>
      <p:sp>
        <p:nvSpPr>
          <p:cNvPr id="344" name="Shape 344"/>
          <p:cNvSpPr/>
          <p:nvPr/>
        </p:nvSpPr>
        <p:spPr>
          <a:xfrm>
            <a:off x="85164" y="4390465"/>
            <a:ext cx="3060701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buClr>
                <a:srgbClr val="000000"/>
              </a:buClr>
              <a:buFont typeface="Symbol"/>
              <a:defRPr sz="1800">
                <a:uFillTx/>
              </a:defRPr>
            </a:pP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Δ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G</a:t>
            </a:r>
            <a:r>
              <a:rPr sz="1400" b="0" baseline="-2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sz="1400" b="0" baseline="-2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olding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= 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Δ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</a:t>
            </a:r>
            <a:r>
              <a:rPr sz="1400" b="0" baseline="-2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sz="1400" b="0" baseline="-2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olding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 - T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Δ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</a:t>
            </a:r>
            <a:r>
              <a:rPr sz="1400" b="0" baseline="-2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sz="1400" b="0" baseline="-2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olding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F510DE0-36F6-0D4D-98BB-3559C25B94C4}"/>
              </a:ext>
            </a:extLst>
          </p:cNvPr>
          <p:cNvGrpSpPr/>
          <p:nvPr/>
        </p:nvGrpSpPr>
        <p:grpSpPr>
          <a:xfrm>
            <a:off x="2851150" y="4486632"/>
            <a:ext cx="5384800" cy="446000"/>
            <a:chOff x="2851150" y="4486632"/>
            <a:chExt cx="5384800" cy="446000"/>
          </a:xfrm>
        </p:grpSpPr>
        <p:sp>
          <p:nvSpPr>
            <p:cNvPr id="324" name="Shape 324"/>
            <p:cNvSpPr/>
            <p:nvPr/>
          </p:nvSpPr>
          <p:spPr>
            <a:xfrm>
              <a:off x="2965450" y="4486632"/>
              <a:ext cx="5270500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/>
            <a:p>
              <a:pPr lvl="0">
                <a:spcBef>
                  <a:spcPts val="800"/>
                </a:spcBef>
                <a:buClr>
                  <a:srgbClr val="000000"/>
                </a:buClr>
                <a:buFont typeface="Helvetica"/>
                <a:defRPr sz="1800">
                  <a:uFillTx/>
                </a:defRPr>
              </a:pPr>
              <a:r>
                <a:rPr sz="14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F</a:t>
              </a:r>
              <a:r>
                <a:rPr lang="en-US" sz="14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or overall folding rxn in water:</a:t>
              </a:r>
              <a:endPara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endParaRPr>
            </a:p>
          </p:txBody>
        </p:sp>
        <p:sp>
          <p:nvSpPr>
            <p:cNvPr id="345" name="Shape 345"/>
            <p:cNvSpPr/>
            <p:nvPr/>
          </p:nvSpPr>
          <p:spPr>
            <a:xfrm>
              <a:off x="2851150" y="4717188"/>
              <a:ext cx="4889500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/>
            <a:p>
              <a:pPr lvl="0">
                <a:spcBef>
                  <a:spcPts val="800"/>
                </a:spcBef>
                <a:buClr>
                  <a:srgbClr val="000000"/>
                </a:buClr>
                <a:buFont typeface="Helvetica"/>
                <a:defRPr sz="1800">
                  <a:uFillTx/>
                </a:defRPr>
              </a:pPr>
              <a:r>
                <a:rPr sz="1400" b="0" u="sng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V</a:t>
              </a:r>
              <a:r>
                <a:rPr lang="en-US" sz="1400" b="0" u="sng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ery</a:t>
              </a:r>
              <a:r>
                <a:rPr lang="en-US" sz="1300" b="0" u="sng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 approximately, per </a:t>
              </a:r>
              <a:r>
                <a:rPr sz="1300" b="0" u="sng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100 AA </a:t>
              </a:r>
              <a:r>
                <a:rPr lang="en-US" sz="1300" b="0" u="sng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at 37C</a:t>
              </a:r>
              <a:r>
                <a:rPr sz="13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:</a:t>
              </a:r>
            </a:p>
          </p:txBody>
        </p:sp>
      </p:grpSp>
      <p:sp>
        <p:nvSpPr>
          <p:cNvPr id="346" name="Shape 346"/>
          <p:cNvSpPr/>
          <p:nvPr/>
        </p:nvSpPr>
        <p:spPr>
          <a:xfrm>
            <a:off x="1981200" y="609600"/>
            <a:ext cx="4813300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lvl="0">
              <a:spcBef>
                <a:spcPts val="900"/>
              </a:spcBef>
              <a:buClr>
                <a:srgbClr val="B92FC2"/>
              </a:buClr>
              <a:buFont typeface="Helvetica"/>
              <a:defRPr sz="180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W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hat does “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stable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” really mean?!</a:t>
            </a:r>
          </a:p>
        </p:txBody>
      </p:sp>
      <p:sp>
        <p:nvSpPr>
          <p:cNvPr id="349" name="Shape 349"/>
          <p:cNvSpPr/>
          <p:nvPr/>
        </p:nvSpPr>
        <p:spPr>
          <a:xfrm>
            <a:off x="-1" y="304800"/>
            <a:ext cx="915670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B92FC2"/>
              </a:buClr>
              <a:buFont typeface="Helvetica"/>
              <a:defRPr sz="1600" b="1">
                <a:solidFill>
                  <a:srgbClr val="B92FC2"/>
                </a:solidFill>
                <a:uFill>
                  <a:solidFill>
                    <a:srgbClr val="B92FC2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 algn="l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U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nder physiological conditions, native protein structure is stable</a:t>
            </a:r>
          </a:p>
        </p:txBody>
      </p:sp>
      <p:sp>
        <p:nvSpPr>
          <p:cNvPr id="350" name="Shape 350"/>
          <p:cNvSpPr/>
          <p:nvPr/>
        </p:nvSpPr>
        <p:spPr>
          <a:xfrm>
            <a:off x="3784110" y="1682849"/>
            <a:ext cx="33655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222B9"/>
              </a:buClr>
              <a:buFont typeface="Helvetica"/>
              <a:defRPr sz="1400" b="1">
                <a:solidFill>
                  <a:srgbClr val="0222B9"/>
                </a:solidFill>
                <a:uFill>
                  <a:solidFill>
                    <a:srgbClr val="0222B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Steric overlap (“strain”)</a:t>
            </a:r>
          </a:p>
        </p:txBody>
      </p:sp>
      <p:sp>
        <p:nvSpPr>
          <p:cNvPr id="351" name="Shape 351"/>
          <p:cNvSpPr/>
          <p:nvPr/>
        </p:nvSpPr>
        <p:spPr>
          <a:xfrm>
            <a:off x="3771900" y="1257651"/>
            <a:ext cx="34417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222B9"/>
              </a:buClr>
              <a:buFont typeface="Helvetica"/>
              <a:defRPr sz="1400" b="1">
                <a:solidFill>
                  <a:srgbClr val="0222B9"/>
                </a:solidFill>
                <a:uFill>
                  <a:solidFill>
                    <a:srgbClr val="0222B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Energy in all covalent bonds</a:t>
            </a:r>
          </a:p>
        </p:txBody>
      </p:sp>
      <p:sp>
        <p:nvSpPr>
          <p:cNvPr id="352" name="Shape 352"/>
          <p:cNvSpPr/>
          <p:nvPr/>
        </p:nvSpPr>
        <p:spPr>
          <a:xfrm>
            <a:off x="3762387" y="1888480"/>
            <a:ext cx="2828859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222B9"/>
              </a:buClr>
              <a:buFont typeface="Helvetica"/>
              <a:defRPr sz="1400" b="1">
                <a:solidFill>
                  <a:srgbClr val="0222B9"/>
                </a:solidFill>
                <a:uFill>
                  <a:solidFill>
                    <a:srgbClr val="0222B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ll weak interactions</a:t>
            </a:r>
            <a:r>
              <a:rPr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: H-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bonds, dipole-dipole, transient dipole</a:t>
            </a:r>
          </a:p>
        </p:txBody>
      </p:sp>
      <p:sp>
        <p:nvSpPr>
          <p:cNvPr id="353" name="Shape 353"/>
          <p:cNvSpPr/>
          <p:nvPr/>
        </p:nvSpPr>
        <p:spPr>
          <a:xfrm>
            <a:off x="7239000" y="1295400"/>
            <a:ext cx="1993900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222B9"/>
              </a:buClr>
              <a:buFont typeface="Helvetica"/>
              <a:defRPr sz="1400" b="1">
                <a:solidFill>
                  <a:srgbClr val="0222B9"/>
                </a:solidFill>
                <a:uFill>
                  <a:solidFill>
                    <a:srgbClr val="0222B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M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easures # ways to have a given energy</a:t>
            </a:r>
          </a:p>
        </p:txBody>
      </p:sp>
      <p:sp>
        <p:nvSpPr>
          <p:cNvPr id="354" name="Shape 354"/>
          <p:cNvSpPr/>
          <p:nvPr/>
        </p:nvSpPr>
        <p:spPr>
          <a:xfrm>
            <a:off x="7239000" y="2028825"/>
            <a:ext cx="1917700" cy="677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800"/>
              </a:spcBef>
              <a:buClr>
                <a:srgbClr val="0222B9"/>
              </a:buClr>
              <a:buFont typeface="Helvetica"/>
              <a:defRPr sz="1800">
                <a:uFillTx/>
              </a:defRPr>
            </a:pPr>
            <a:r>
              <a:rPr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ntropy of protein itself is 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rgbClr val="1855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very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rgbClr val="1855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unfavorable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when 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protein folds</a:t>
            </a:r>
            <a:endParaRPr lang="en-US" sz="1400" b="0" dirty="0">
              <a:solidFill>
                <a:schemeClr val="tx1"/>
              </a:solidFill>
              <a:uFill>
                <a:solidFill>
                  <a:srgbClr val="0222B9"/>
                </a:solidFill>
              </a:uFill>
              <a:latin typeface="Gill Sans" charset="0"/>
              <a:ea typeface="Gill Sans" charset="0"/>
              <a:cs typeface="Gill Sans" charset="0"/>
              <a:sym typeface="Helvetica"/>
            </a:endParaRPr>
          </a:p>
        </p:txBody>
      </p:sp>
      <p:sp>
        <p:nvSpPr>
          <p:cNvPr id="355" name="Shape 355"/>
          <p:cNvSpPr/>
          <p:nvPr/>
        </p:nvSpPr>
        <p:spPr>
          <a:xfrm>
            <a:off x="7239000" y="2754470"/>
            <a:ext cx="1836824" cy="677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800"/>
              </a:spcBef>
              <a:buClr>
                <a:srgbClr val="0222B9"/>
              </a:buClr>
              <a:buFont typeface="Helvetica"/>
              <a:defRPr sz="1800">
                <a:uFillTx/>
              </a:defRPr>
            </a:pPr>
            <a:r>
              <a:rPr sz="14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ntropy of water more 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favorable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when protein folds</a:t>
            </a:r>
          </a:p>
        </p:txBody>
      </p:sp>
      <p:sp>
        <p:nvSpPr>
          <p:cNvPr id="356" name="Shape 356"/>
          <p:cNvSpPr/>
          <p:nvPr/>
        </p:nvSpPr>
        <p:spPr>
          <a:xfrm>
            <a:off x="4749800" y="6051550"/>
            <a:ext cx="4086703" cy="461665"/>
          </a:xfrm>
          <a:prstGeom prst="rect">
            <a:avLst/>
          </a:prstGeom>
          <a:ln>
            <a:solidFill>
              <a:schemeClr val="tx1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C33FF"/>
              </a:buClr>
              <a:buFont typeface="Helvetica"/>
              <a:defRPr sz="1800">
                <a:uFillTx/>
              </a:defRPr>
            </a:pPr>
            <a:r>
              <a:rPr sz="15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</a:t>
            </a:r>
            <a:r>
              <a:rPr lang="en-US" sz="15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ydrophobic interaction is largest type of favorable interaction that drives proteins to fold in water</a:t>
            </a:r>
          </a:p>
        </p:txBody>
      </p:sp>
      <p:sp>
        <p:nvSpPr>
          <p:cNvPr id="359" name="Shape 359"/>
          <p:cNvSpPr/>
          <p:nvPr/>
        </p:nvSpPr>
        <p:spPr>
          <a:xfrm>
            <a:off x="96837" y="5708650"/>
            <a:ext cx="9156701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600"/>
              </a:spcBef>
              <a:buClr>
                <a:srgbClr val="000000"/>
              </a:buClr>
              <a:buFont typeface="Symbol"/>
              <a:defRPr sz="1800">
                <a:uFillTx/>
              </a:defRPr>
            </a:pPr>
            <a:r>
              <a:rPr sz="13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Δ</a:t>
            </a:r>
            <a:r>
              <a:rPr sz="13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</a:t>
            </a:r>
            <a:r>
              <a:rPr sz="1300" b="0" baseline="-2500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sz="1300" b="0" baseline="-2500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olding</a:t>
            </a:r>
            <a:r>
              <a:rPr sz="1300" b="0" baseline="-2500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3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of combined protein + water interactions is unfavorable (i.e. positive) by </a:t>
            </a:r>
            <a:r>
              <a:rPr lang="en-US" sz="1300" b="0" dirty="0">
                <a:solidFill>
                  <a:srgbClr val="1855FF"/>
                </a:solidFill>
                <a:latin typeface="Gill Sans" charset="0"/>
                <a:ea typeface="Gill Sans" charset="0"/>
                <a:cs typeface="Gill Sans" charset="0"/>
              </a:rPr>
              <a:t>1</a:t>
            </a:r>
            <a:r>
              <a:rPr sz="13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50 kJ/</a:t>
            </a:r>
            <a:r>
              <a:rPr lang="en-US" sz="13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mol</a:t>
            </a:r>
          </a:p>
        </p:txBody>
      </p:sp>
      <p:sp>
        <p:nvSpPr>
          <p:cNvPr id="361" name="Shape 361"/>
          <p:cNvSpPr/>
          <p:nvPr/>
        </p:nvSpPr>
        <p:spPr>
          <a:xfrm>
            <a:off x="3308909" y="5207258"/>
            <a:ext cx="4225926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8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400" b="0" u="sng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N</a:t>
            </a:r>
            <a:r>
              <a:rPr lang="en-US" sz="1400" b="0" u="sng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et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sz="1400" b="0" dirty="0" err="1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T</a:t>
            </a:r>
            <a:r>
              <a:rPr sz="1400" b="0" dirty="0" err="1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Δ</a:t>
            </a:r>
            <a:r>
              <a:rPr sz="1400" b="0" dirty="0" err="1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</a:t>
            </a:r>
            <a:r>
              <a:rPr sz="1400" b="0" baseline="-25000" dirty="0" err="1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sz="1400" b="0" baseline="-25000" dirty="0" err="1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olding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+2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00kJ/</a:t>
            </a:r>
            <a:r>
              <a:rPr lang="en-US"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mol  </a:t>
            </a:r>
            <a:r>
              <a:rPr lang="en-US" sz="13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(favorable)</a:t>
            </a:r>
          </a:p>
        </p:txBody>
      </p:sp>
      <p:sp>
        <p:nvSpPr>
          <p:cNvPr id="362" name="Shape 362"/>
          <p:cNvSpPr/>
          <p:nvPr/>
        </p:nvSpPr>
        <p:spPr>
          <a:xfrm>
            <a:off x="4356100" y="5457825"/>
            <a:ext cx="3937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Font typeface="Helvetica"/>
              <a:defRPr sz="14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4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     </a:t>
            </a:r>
          </a:p>
        </p:txBody>
      </p:sp>
      <p:grpSp>
        <p:nvGrpSpPr>
          <p:cNvPr id="369" name="Group 369"/>
          <p:cNvGrpSpPr/>
          <p:nvPr/>
        </p:nvGrpSpPr>
        <p:grpSpPr>
          <a:xfrm>
            <a:off x="17930" y="600623"/>
            <a:ext cx="1689100" cy="1123382"/>
            <a:chOff x="0" y="-1"/>
            <a:chExt cx="1689100" cy="1123380"/>
          </a:xfrm>
        </p:grpSpPr>
        <p:grpSp>
          <p:nvGrpSpPr>
            <p:cNvPr id="366" name="Group 366"/>
            <p:cNvGrpSpPr/>
            <p:nvPr/>
          </p:nvGrpSpPr>
          <p:grpSpPr>
            <a:xfrm>
              <a:off x="0" y="-1"/>
              <a:ext cx="1689100" cy="1123380"/>
              <a:chOff x="0" y="0"/>
              <a:chExt cx="1689100" cy="1123379"/>
            </a:xfrm>
          </p:grpSpPr>
          <p:sp>
            <p:nvSpPr>
              <p:cNvPr id="364" name="Shape 364"/>
              <p:cNvSpPr/>
              <p:nvPr/>
            </p:nvSpPr>
            <p:spPr>
              <a:xfrm>
                <a:off x="0" y="0"/>
                <a:ext cx="1689100" cy="11233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spcBef>
                    <a:spcPts val="800"/>
                  </a:spcBef>
                  <a:buClr>
                    <a:srgbClr val="000000"/>
                  </a:buClr>
                  <a:buFont typeface="Helvetica"/>
                  <a:defRPr sz="1800">
                    <a:uFillTx/>
                  </a:defRPr>
                </a:pPr>
                <a:r>
                  <a:rPr sz="1300" b="0" u="sng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K</a:t>
                </a:r>
                <a:r>
                  <a:rPr lang="en-US" sz="1300" b="0" u="sng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ey concepts</a:t>
                </a:r>
                <a:r>
                  <a:rPr sz="13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:</a:t>
                </a:r>
                <a:r>
                  <a:rPr sz="12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  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Symbol"/>
                  </a:rPr>
                  <a:t>Δ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S</a:t>
                </a:r>
                <a:r>
                  <a:rPr sz="1200" b="0" baseline="-2500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FOLDING</a:t>
                </a:r>
                <a:r>
                  <a:rPr sz="1400" b="0" baseline="-2500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</a:t>
                </a:r>
                <a:r>
                  <a:rPr sz="12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IS   </a:t>
                </a:r>
                <a:r>
                  <a:rPr sz="2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+</a:t>
                </a:r>
                <a:r>
                  <a:rPr sz="12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    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Symbol"/>
                  </a:rPr>
                  <a:t>Δ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S</a:t>
                </a:r>
                <a:r>
                  <a:rPr sz="1200" b="0" baseline="-2500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FOLDING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</a:t>
                </a:r>
                <a:r>
                  <a:rPr sz="12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IS    </a:t>
                </a:r>
                <a:r>
                  <a:rPr sz="2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-    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Symbol"/>
                  </a:rPr>
                  <a:t>Δ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H</a:t>
                </a:r>
                <a:r>
                  <a:rPr sz="1200" b="0" baseline="-2500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FOLDING</a:t>
                </a:r>
                <a:r>
                  <a:rPr sz="2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</a:t>
                </a:r>
                <a:r>
                  <a:rPr sz="12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IS    </a:t>
                </a:r>
                <a:r>
                  <a:rPr sz="20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-</a:t>
                </a:r>
              </a:p>
            </p:txBody>
          </p:sp>
          <p:sp>
            <p:nvSpPr>
              <p:cNvPr id="365" name="Shape 365"/>
              <p:cNvSpPr/>
              <p:nvPr/>
            </p:nvSpPr>
            <p:spPr>
              <a:xfrm>
                <a:off x="177800" y="258462"/>
                <a:ext cx="850900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500"/>
                  </a:spcBef>
                  <a:buClr>
                    <a:srgbClr val="000000"/>
                  </a:buClr>
                  <a:buFont typeface="Helvetica"/>
                  <a:defRPr sz="8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8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W</a:t>
                </a:r>
                <a:r>
                  <a:rPr lang="en-US" sz="8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ATER</a:t>
                </a:r>
              </a:p>
            </p:txBody>
          </p:sp>
        </p:grpSp>
        <p:sp>
          <p:nvSpPr>
            <p:cNvPr id="367" name="Shape 367"/>
            <p:cNvSpPr/>
            <p:nvPr/>
          </p:nvSpPr>
          <p:spPr>
            <a:xfrm>
              <a:off x="185737" y="542925"/>
              <a:ext cx="698501" cy="1231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500"/>
                </a:spcBef>
                <a:buClr>
                  <a:srgbClr val="000000"/>
                </a:buClr>
                <a:buFont typeface="Helvetica"/>
                <a:defRPr sz="8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8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PROTEIN</a:t>
              </a:r>
            </a:p>
          </p:txBody>
        </p:sp>
        <p:sp>
          <p:nvSpPr>
            <p:cNvPr id="368" name="Shape 368"/>
            <p:cNvSpPr/>
            <p:nvPr/>
          </p:nvSpPr>
          <p:spPr>
            <a:xfrm>
              <a:off x="217364" y="847837"/>
              <a:ext cx="546101" cy="1231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500"/>
                </a:spcBef>
                <a:buClr>
                  <a:srgbClr val="000000"/>
                </a:buClr>
                <a:buFont typeface="Helvetica"/>
                <a:defRPr sz="8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8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TOTAL</a:t>
              </a:r>
            </a:p>
          </p:txBody>
        </p:sp>
      </p:grpSp>
      <p:sp>
        <p:nvSpPr>
          <p:cNvPr id="370" name="Shape 370"/>
          <p:cNvSpPr/>
          <p:nvPr/>
        </p:nvSpPr>
        <p:spPr>
          <a:xfrm>
            <a:off x="38634" y="599928"/>
            <a:ext cx="1435100" cy="1174750"/>
          </a:xfrm>
          <a:prstGeom prst="rect">
            <a:avLst/>
          </a:prstGeom>
          <a:ln w="6350">
            <a:solidFill/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solidFill>
                <a:schemeClr val="tx1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374" name="Group 374"/>
          <p:cNvGrpSpPr/>
          <p:nvPr/>
        </p:nvGrpSpPr>
        <p:grpSpPr>
          <a:xfrm>
            <a:off x="79623" y="5055889"/>
            <a:ext cx="3097655" cy="291154"/>
            <a:chOff x="0" y="-31260"/>
            <a:chExt cx="3097654" cy="291153"/>
          </a:xfrm>
        </p:grpSpPr>
        <p:sp>
          <p:nvSpPr>
            <p:cNvPr id="371" name="Shape 371"/>
            <p:cNvSpPr/>
            <p:nvPr/>
          </p:nvSpPr>
          <p:spPr>
            <a:xfrm>
              <a:off x="117352" y="44450"/>
              <a:ext cx="2980302" cy="215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 lvl="0">
                <a:buClr>
                  <a:srgbClr val="000000"/>
                </a:buClr>
                <a:buFont typeface="Symbol"/>
                <a:defRPr sz="1800">
                  <a:uFillTx/>
                </a:defRPr>
              </a:pPr>
              <a:r>
                <a:rPr sz="1400" b="0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Δ</a:t>
              </a:r>
              <a:r>
                <a:rPr sz="1400" b="0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S</a:t>
              </a:r>
              <a:r>
                <a:rPr sz="1400" b="0" baseline="-25000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F</a:t>
              </a:r>
              <a:r>
                <a:rPr lang="en-US" sz="1400" b="0" baseline="-25000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olding</a:t>
              </a:r>
              <a:r>
                <a:rPr sz="1400" b="0" baseline="-25000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</a:t>
              </a:r>
              <a:r>
                <a:rPr sz="1400" b="0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= A</a:t>
              </a:r>
              <a:r>
                <a:rPr lang="en-US" sz="1400" b="0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n </a:t>
              </a:r>
              <a:r>
                <a:rPr lang="en-US" sz="1400" b="0" u="sng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un</a:t>
              </a:r>
              <a:r>
                <a:rPr lang="en-US" sz="1400" b="0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favorable </a:t>
              </a:r>
              <a:r>
                <a:rPr sz="1400" b="0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~ -</a:t>
              </a:r>
              <a:r>
                <a:rPr lang="en-US" sz="1400" b="0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50</a:t>
              </a:r>
              <a:r>
                <a:rPr sz="1400" b="0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0 kJ/</a:t>
              </a:r>
              <a:r>
                <a:rPr lang="en-US" sz="1400" b="0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mol</a:t>
              </a:r>
              <a:r>
                <a:rPr sz="1400" b="0" dirty="0">
                  <a:solidFill>
                    <a:schemeClr val="tx1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;</a:t>
              </a:r>
            </a:p>
          </p:txBody>
        </p:sp>
        <p:sp>
          <p:nvSpPr>
            <p:cNvPr id="372" name="Shape 372"/>
            <p:cNvSpPr/>
            <p:nvPr/>
          </p:nvSpPr>
          <p:spPr>
            <a:xfrm>
              <a:off x="0" y="42862"/>
              <a:ext cx="393700" cy="215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Font typeface="Helvetica"/>
                <a:defRPr sz="14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4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T</a:t>
              </a:r>
            </a:p>
          </p:txBody>
        </p:sp>
        <p:sp>
          <p:nvSpPr>
            <p:cNvPr id="373" name="Shape 373"/>
            <p:cNvSpPr/>
            <p:nvPr/>
          </p:nvSpPr>
          <p:spPr>
            <a:xfrm>
              <a:off x="306877" y="-31260"/>
              <a:ext cx="850901" cy="1384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500"/>
                </a:spcBef>
                <a:buClr>
                  <a:srgbClr val="000000"/>
                </a:buClr>
                <a:buFont typeface="Helvetica"/>
                <a:defRPr sz="900" b="1" u="sng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 u="none">
                  <a:uFillTx/>
                </a:defRPr>
              </a:pPr>
              <a:r>
                <a:rPr sz="900" b="0" u="sng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P</a:t>
              </a:r>
              <a:r>
                <a:rPr lang="en-US" sz="900" b="0" u="sng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rotein</a:t>
              </a:r>
            </a:p>
          </p:txBody>
        </p:sp>
      </p:grpSp>
      <p:sp>
        <p:nvSpPr>
          <p:cNvPr id="376" name="Shape 376"/>
          <p:cNvSpPr/>
          <p:nvPr/>
        </p:nvSpPr>
        <p:spPr>
          <a:xfrm>
            <a:off x="3720856" y="1430481"/>
            <a:ext cx="1407758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800"/>
              </a:spcBef>
              <a:buClr>
                <a:srgbClr val="0222B9"/>
              </a:buClr>
              <a:buFont typeface="Helvetica"/>
              <a:defRPr sz="1400" b="1">
                <a:solidFill>
                  <a:srgbClr val="0222B9"/>
                </a:solidFill>
                <a:uFill>
                  <a:solidFill>
                    <a:srgbClr val="0222B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ll electrostatics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D0B7BC9-26B6-284D-BE8A-341AF00D68AA}"/>
              </a:ext>
            </a:extLst>
          </p:cNvPr>
          <p:cNvGrpSpPr/>
          <p:nvPr/>
        </p:nvGrpSpPr>
        <p:grpSpPr>
          <a:xfrm>
            <a:off x="38634" y="5339965"/>
            <a:ext cx="3526928" cy="318036"/>
            <a:chOff x="38634" y="5339965"/>
            <a:chExt cx="3526928" cy="318036"/>
          </a:xfrm>
        </p:grpSpPr>
        <p:sp>
          <p:nvSpPr>
            <p:cNvPr id="363" name="Shape 363"/>
            <p:cNvSpPr/>
            <p:nvPr/>
          </p:nvSpPr>
          <p:spPr>
            <a:xfrm>
              <a:off x="393700" y="5360484"/>
              <a:ext cx="1003300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ts val="500"/>
                </a:spcBef>
                <a:buClr>
                  <a:srgbClr val="000000"/>
                </a:buClr>
                <a:buFont typeface="Helvetica"/>
                <a:defRPr sz="900" b="1" u="sng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 u="none">
                  <a:uFillTx/>
                </a:defRPr>
              </a:pPr>
              <a:r>
                <a:rPr sz="900" b="0" u="sng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W</a:t>
              </a:r>
              <a:r>
                <a:rPr lang="en-US" sz="900" b="0" u="sng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ater</a:t>
              </a:r>
            </a:p>
          </p:txBody>
        </p:sp>
        <p:sp>
          <p:nvSpPr>
            <p:cNvPr id="377" name="Shape 377"/>
            <p:cNvSpPr/>
            <p:nvPr/>
          </p:nvSpPr>
          <p:spPr>
            <a:xfrm>
              <a:off x="38634" y="5339965"/>
              <a:ext cx="3526928" cy="31803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 lvl="0">
                <a:spcBef>
                  <a:spcPts val="800"/>
                </a:spcBef>
                <a:buClr>
                  <a:srgbClr val="000000"/>
                </a:buClr>
                <a:buFont typeface="Helvetica"/>
                <a:defRPr sz="1800">
                  <a:uFillTx/>
                </a:defRPr>
              </a:pPr>
              <a:r>
                <a:rPr sz="14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T</a:t>
              </a:r>
              <a:r>
                <a:rPr sz="14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Δ</a:t>
              </a:r>
              <a:r>
                <a:rPr sz="14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S</a:t>
              </a:r>
              <a:r>
                <a:rPr sz="1400" b="0" baseline="-2500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F</a:t>
              </a:r>
              <a:r>
                <a:rPr lang="en-US" sz="1400" b="0" baseline="-2500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olding</a:t>
              </a:r>
              <a:r>
                <a:rPr sz="1400" b="0" baseline="-2500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</a:t>
              </a:r>
              <a:r>
                <a:rPr sz="14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</a:t>
              </a:r>
              <a:r>
                <a:rPr lang="en-US" sz="14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is a favorable </a:t>
              </a:r>
              <a:r>
                <a:rPr sz="14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~ +</a:t>
              </a:r>
              <a:r>
                <a:rPr lang="en-US" sz="14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7</a:t>
              </a:r>
              <a:r>
                <a:rPr sz="14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00 kJ/</a:t>
              </a:r>
              <a:r>
                <a:rPr lang="en-US" sz="14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mol</a:t>
              </a:r>
              <a:r>
                <a:rPr sz="14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;           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5322277" y="2754470"/>
            <a:ext cx="475273" cy="255430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729946" y="2307964"/>
            <a:ext cx="6707466" cy="537943"/>
            <a:chOff x="-46977" y="2087966"/>
            <a:chExt cx="6707466" cy="537943"/>
          </a:xfrm>
        </p:grpSpPr>
        <p:sp>
          <p:nvSpPr>
            <p:cNvPr id="358" name="Shape 358"/>
            <p:cNvSpPr/>
            <p:nvPr/>
          </p:nvSpPr>
          <p:spPr>
            <a:xfrm>
              <a:off x="246989" y="2395077"/>
              <a:ext cx="6413500" cy="23083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/>
            <a:p>
              <a:pPr lvl="0">
                <a:spcBef>
                  <a:spcPts val="900"/>
                </a:spcBef>
                <a:buClr>
                  <a:srgbClr val="182BCF"/>
                </a:buClr>
                <a:buFont typeface="Helvetica"/>
                <a:defRPr sz="1800">
                  <a:uFillTx/>
                </a:defRPr>
              </a:pPr>
              <a:r>
                <a:rPr sz="1500" b="0">
                  <a:solidFill>
                    <a:srgbClr val="1855FF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M</a:t>
              </a:r>
              <a:r>
                <a:rPr lang="en-US" sz="1500" b="0">
                  <a:solidFill>
                    <a:srgbClr val="1855FF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ust keep track of </a:t>
              </a:r>
              <a:r>
                <a:rPr lang="en-US" sz="1500" b="0" u="sng">
                  <a:solidFill>
                    <a:srgbClr val="1855FF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both</a:t>
              </a:r>
              <a:r>
                <a:rPr lang="en-US" sz="1500" b="0">
                  <a:solidFill>
                    <a:srgbClr val="1855FF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protein and water!</a:t>
              </a:r>
              <a:endParaRPr lang="en-US" sz="1500" b="0" dirty="0">
                <a:solidFill>
                  <a:srgbClr val="1855FF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-46977" y="2087966"/>
              <a:ext cx="39039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spcBef>
                  <a:spcPts val="900"/>
                </a:spcBef>
                <a:buClr>
                  <a:srgbClr val="FFFFFF"/>
                </a:buClr>
                <a:buFont typeface="Helvetica"/>
                <a:defRPr sz="1800">
                  <a:uFillTx/>
                </a:defRPr>
              </a:pPr>
              <a:r>
                <a:rPr lang="en-US" b="0" dirty="0">
                  <a:solidFill>
                    <a:srgbClr val="1855FF"/>
                  </a:solidFill>
                  <a:uFill>
                    <a:solidFill>
                      <a:schemeClr val="tx1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What about a protein folding in water?</a:t>
              </a:r>
            </a:p>
          </p:txBody>
        </p:sp>
      </p:grpSp>
      <p:sp>
        <p:nvSpPr>
          <p:cNvPr id="360" name="Shape 360"/>
          <p:cNvSpPr/>
          <p:nvPr/>
        </p:nvSpPr>
        <p:spPr>
          <a:xfrm>
            <a:off x="127829" y="6117300"/>
            <a:ext cx="473710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8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400" b="0" u="sng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N</a:t>
            </a:r>
            <a:r>
              <a:rPr lang="en-US" sz="1400" b="0" u="sng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et</a:t>
            </a:r>
            <a:r>
              <a:rPr lang="en-US" sz="12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protein stability 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≡</a:t>
            </a:r>
            <a:r>
              <a:rPr sz="12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Δ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G</a:t>
            </a:r>
            <a:r>
              <a:rPr sz="1200" b="0" baseline="-2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sz="1200" b="0" baseline="-2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olding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= ~  - 50 kJ/</a:t>
            </a:r>
            <a:r>
              <a:rPr lang="en-US"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mo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L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783AC2-2429-B241-9D22-172804D71748}"/>
              </a:ext>
            </a:extLst>
          </p:cNvPr>
          <p:cNvSpPr/>
          <p:nvPr/>
        </p:nvSpPr>
        <p:spPr>
          <a:xfrm>
            <a:off x="4317635" y="5120130"/>
            <a:ext cx="921835" cy="417513"/>
          </a:xfrm>
          <a:prstGeom prst="ellipse">
            <a:avLst/>
          </a:prstGeom>
          <a:noFill/>
          <a:ln w="28575" cap="flat">
            <a:solidFill>
              <a:srgbClr val="1855FF"/>
            </a:solidFill>
            <a:prstDash val="sysDot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216A743-2526-4946-AEF5-7FFC58B5F89B}"/>
              </a:ext>
            </a:extLst>
          </p:cNvPr>
          <p:cNvSpPr/>
          <p:nvPr/>
        </p:nvSpPr>
        <p:spPr>
          <a:xfrm>
            <a:off x="5343539" y="5604074"/>
            <a:ext cx="1072055" cy="417513"/>
          </a:xfrm>
          <a:prstGeom prst="ellipse">
            <a:avLst/>
          </a:prstGeom>
          <a:noFill/>
          <a:ln w="28575" cap="flat">
            <a:solidFill>
              <a:srgbClr val="1855FF"/>
            </a:solidFill>
            <a:prstDash val="sysDot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25A543A-862C-1F4A-97C8-70290A3232B1}"/>
              </a:ext>
            </a:extLst>
          </p:cNvPr>
          <p:cNvGrpSpPr/>
          <p:nvPr/>
        </p:nvGrpSpPr>
        <p:grpSpPr>
          <a:xfrm>
            <a:off x="5450775" y="265077"/>
            <a:ext cx="3782126" cy="663332"/>
            <a:chOff x="5450775" y="98827"/>
            <a:chExt cx="3782126" cy="663332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66E0250-DA98-6647-9537-09FE311C5C50}"/>
                </a:ext>
              </a:extLst>
            </p:cNvPr>
            <p:cNvSpPr/>
            <p:nvPr/>
          </p:nvSpPr>
          <p:spPr>
            <a:xfrm>
              <a:off x="5450775" y="98827"/>
              <a:ext cx="3782126" cy="654462"/>
            </a:xfrm>
            <a:prstGeom prst="rect">
              <a:avLst/>
            </a:prstGeom>
            <a:solidFill>
              <a:srgbClr val="FFFF00"/>
            </a:solidFill>
            <a:ln w="9525" cap="flat">
              <a:noFill/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grpSp>
          <p:nvGrpSpPr>
            <p:cNvPr id="61" name="Group 320">
              <a:extLst>
                <a:ext uri="{FF2B5EF4-FFF2-40B4-BE49-F238E27FC236}">
                  <a16:creationId xmlns:a16="http://schemas.microsoft.com/office/drawing/2014/main" id="{C7171927-BDAA-774B-9D28-909CA2913F43}"/>
                </a:ext>
              </a:extLst>
            </p:cNvPr>
            <p:cNvGrpSpPr/>
            <p:nvPr/>
          </p:nvGrpSpPr>
          <p:grpSpPr>
            <a:xfrm>
              <a:off x="5525780" y="284699"/>
              <a:ext cx="3604240" cy="477460"/>
              <a:chOff x="684530" y="-46573"/>
              <a:chExt cx="3713681" cy="477459"/>
            </a:xfrm>
          </p:grpSpPr>
          <p:sp>
            <p:nvSpPr>
              <p:cNvPr id="62" name="Shape 313">
                <a:extLst>
                  <a:ext uri="{FF2B5EF4-FFF2-40B4-BE49-F238E27FC236}">
                    <a16:creationId xmlns:a16="http://schemas.microsoft.com/office/drawing/2014/main" id="{464C1C4B-80B9-CC44-8E6E-64A8702883D9}"/>
                  </a:ext>
                </a:extLst>
              </p:cNvPr>
              <p:cNvSpPr/>
              <p:nvPr/>
            </p:nvSpPr>
            <p:spPr>
              <a:xfrm>
                <a:off x="3014662" y="0"/>
                <a:ext cx="1383549" cy="430886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900"/>
                  </a:spcBef>
                  <a:buClr>
                    <a:srgbClr val="000000"/>
                  </a:buClr>
                  <a:buFont typeface="Helvetica"/>
                  <a:defRPr sz="16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1400" b="0" dirty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F</a:t>
                </a:r>
                <a:r>
                  <a:rPr lang="en-US" sz="1400" b="0" dirty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olded protein in water</a:t>
                </a:r>
              </a:p>
            </p:txBody>
          </p:sp>
          <p:sp>
            <p:nvSpPr>
              <p:cNvPr id="63" name="Shape 314">
                <a:extLst>
                  <a:ext uri="{FF2B5EF4-FFF2-40B4-BE49-F238E27FC236}">
                    <a16:creationId xmlns:a16="http://schemas.microsoft.com/office/drawing/2014/main" id="{1BEFFDE6-F3E0-5C4F-961C-3C9721A3D892}"/>
                  </a:ext>
                </a:extLst>
              </p:cNvPr>
              <p:cNvSpPr/>
              <p:nvPr/>
            </p:nvSpPr>
            <p:spPr>
              <a:xfrm>
                <a:off x="684530" y="0"/>
                <a:ext cx="1570040" cy="430886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900"/>
                  </a:spcBef>
                  <a:buClr>
                    <a:srgbClr val="000000"/>
                  </a:buClr>
                  <a:buFont typeface="Helvetica"/>
                  <a:defRPr sz="16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1400" b="0" dirty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U</a:t>
                </a:r>
                <a:r>
                  <a:rPr lang="en-US" sz="1400" b="0" dirty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nfolded protein in water</a:t>
                </a:r>
              </a:p>
            </p:txBody>
          </p:sp>
          <p:grpSp>
            <p:nvGrpSpPr>
              <p:cNvPr id="64" name="Group 319">
                <a:extLst>
                  <a:ext uri="{FF2B5EF4-FFF2-40B4-BE49-F238E27FC236}">
                    <a16:creationId xmlns:a16="http://schemas.microsoft.com/office/drawing/2014/main" id="{783C163A-553B-0E41-A99E-1509B04C8630}"/>
                  </a:ext>
                </a:extLst>
              </p:cNvPr>
              <p:cNvGrpSpPr/>
              <p:nvPr/>
            </p:nvGrpSpPr>
            <p:grpSpPr>
              <a:xfrm>
                <a:off x="2328862" y="-46573"/>
                <a:ext cx="622301" cy="342900"/>
                <a:chOff x="0" y="-160873"/>
                <a:chExt cx="622300" cy="342900"/>
              </a:xfrm>
            </p:grpSpPr>
            <p:sp>
              <p:nvSpPr>
                <p:cNvPr id="65" name="Shape 315">
                  <a:extLst>
                    <a:ext uri="{FF2B5EF4-FFF2-40B4-BE49-F238E27FC236}">
                      <a16:creationId xmlns:a16="http://schemas.microsoft.com/office/drawing/2014/main" id="{8857D492-EAC5-074E-802A-6038F78F6302}"/>
                    </a:ext>
                  </a:extLst>
                </p:cNvPr>
                <p:cNvSpPr/>
                <p:nvPr/>
              </p:nvSpPr>
              <p:spPr>
                <a:xfrm>
                  <a:off x="0" y="-52923"/>
                  <a:ext cx="609600" cy="158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sz="1400"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66" name="Shape 316">
                  <a:extLst>
                    <a:ext uri="{FF2B5EF4-FFF2-40B4-BE49-F238E27FC236}">
                      <a16:creationId xmlns:a16="http://schemas.microsoft.com/office/drawing/2014/main" id="{30ABA4CC-53B5-C545-818A-753E4F1D1EF3}"/>
                    </a:ext>
                  </a:extLst>
                </p:cNvPr>
                <p:cNvSpPr/>
                <p:nvPr/>
              </p:nvSpPr>
              <p:spPr>
                <a:xfrm>
                  <a:off x="501650" y="-160873"/>
                  <a:ext cx="120650" cy="107950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sz="1400"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67" name="Shape 317">
                  <a:extLst>
                    <a:ext uri="{FF2B5EF4-FFF2-40B4-BE49-F238E27FC236}">
                      <a16:creationId xmlns:a16="http://schemas.microsoft.com/office/drawing/2014/main" id="{13E97B7E-73A2-2642-80F7-55695939ED59}"/>
                    </a:ext>
                  </a:extLst>
                </p:cNvPr>
                <p:cNvSpPr/>
                <p:nvPr/>
              </p:nvSpPr>
              <p:spPr>
                <a:xfrm>
                  <a:off x="1" y="80426"/>
                  <a:ext cx="425725" cy="2919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sz="1400"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68" name="Shape 318">
                  <a:extLst>
                    <a:ext uri="{FF2B5EF4-FFF2-40B4-BE49-F238E27FC236}">
                      <a16:creationId xmlns:a16="http://schemas.microsoft.com/office/drawing/2014/main" id="{BBEF87C8-6E50-1344-AEA9-44D8F744BF34}"/>
                    </a:ext>
                  </a:extLst>
                </p:cNvPr>
                <p:cNvSpPr/>
                <p:nvPr/>
              </p:nvSpPr>
              <p:spPr>
                <a:xfrm>
                  <a:off x="0" y="86777"/>
                  <a:ext cx="107950" cy="95250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sz="1400"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</p:grpSp>
      </p:grpSp>
      <p:sp>
        <p:nvSpPr>
          <p:cNvPr id="69" name="Shape 342">
            <a:extLst>
              <a:ext uri="{FF2B5EF4-FFF2-40B4-BE49-F238E27FC236}">
                <a16:creationId xmlns:a16="http://schemas.microsoft.com/office/drawing/2014/main" id="{280F006A-C001-214B-BF51-BF33C1AC4D8E}"/>
              </a:ext>
            </a:extLst>
          </p:cNvPr>
          <p:cNvSpPr/>
          <p:nvPr/>
        </p:nvSpPr>
        <p:spPr>
          <a:xfrm>
            <a:off x="3197667" y="5121833"/>
            <a:ext cx="90853" cy="47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1929" y="0"/>
                  <a:pt x="21600" y="806"/>
                  <a:pt x="21600" y="1800"/>
                </a:cubicBezTo>
                <a:lnTo>
                  <a:pt x="21600" y="19800"/>
                </a:lnTo>
                <a:cubicBezTo>
                  <a:pt x="21600" y="20794"/>
                  <a:pt x="11929" y="21600"/>
                  <a:pt x="0" y="21600"/>
                </a:cubicBez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/>
            <a:endParaRPr b="0">
              <a:solidFill>
                <a:schemeClr val="tx1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2D4C6CC-7487-284C-BF9F-DA98372A8BC7}"/>
              </a:ext>
            </a:extLst>
          </p:cNvPr>
          <p:cNvSpPr txBox="1"/>
          <p:nvPr/>
        </p:nvSpPr>
        <p:spPr>
          <a:xfrm>
            <a:off x="32807" y="1807182"/>
            <a:ext cx="1448836" cy="1087477"/>
          </a:xfrm>
          <a:prstGeom prst="rect">
            <a:avLst/>
          </a:prstGeom>
          <a:noFill/>
          <a:ln w="3175" cap="flat">
            <a:solidFill>
              <a:schemeClr val="tx1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Favoring folding: </a:t>
            </a:r>
          </a:p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l-GR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 SemiBold" panose="020B0502020104020203" pitchFamily="34" charset="-79"/>
                <a:cs typeface="Gill Sans" panose="020B0502020104020203" pitchFamily="34" charset="-79"/>
                <a:sym typeface="Helvetica"/>
              </a:rPr>
              <a:t>Δ</a:t>
            </a:r>
            <a:r>
              <a:rPr kumimoji="0" lang="en-US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S is +               </a:t>
            </a:r>
          </a:p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l-GR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 SemiBold" panose="020B0502020104020203" pitchFamily="34" charset="-79"/>
                <a:cs typeface="Gill Sans" panose="020B0502020104020203" pitchFamily="34" charset="-79"/>
                <a:sym typeface="Helvetica"/>
              </a:rPr>
              <a:t>Δ</a:t>
            </a:r>
            <a:r>
              <a:rPr kumimoji="0" lang="en-US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H is </a:t>
            </a:r>
            <a:r>
              <a:rPr lang="en-US" sz="18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</a:rPr>
              <a:t>-</a:t>
            </a:r>
            <a:endParaRPr kumimoji="0" lang="en-US" sz="18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Gill Sans" panose="020B0502020104020203" pitchFamily="34" charset="-79"/>
              <a:cs typeface="Gill Sans" panose="020B0502020104020203" pitchFamily="34" charset="-79"/>
              <a:sym typeface="Helvetica"/>
            </a:endParaRPr>
          </a:p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l-GR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 SemiBold" panose="020B0502020104020203" pitchFamily="34" charset="-79"/>
                <a:cs typeface="Gill Sans" panose="020B0502020104020203" pitchFamily="34" charset="-79"/>
                <a:sym typeface="Helvetica"/>
              </a:rPr>
              <a:t>Δ</a:t>
            </a:r>
            <a:r>
              <a:rPr kumimoji="0" lang="en-US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G is </a:t>
            </a:r>
            <a:r>
              <a:rPr kumimoji="0" lang="en-US" sz="18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-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838730F-50A8-614F-BE8E-C4C8F64BEBE2}"/>
              </a:ext>
            </a:extLst>
          </p:cNvPr>
          <p:cNvSpPr/>
          <p:nvPr/>
        </p:nvSpPr>
        <p:spPr>
          <a:xfrm>
            <a:off x="7056189" y="200176"/>
            <a:ext cx="6226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D</a:t>
            </a:r>
            <a:r>
              <a:rPr lang="en-US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D25BAC2-CC82-2D42-BCF1-BE32C4BBA3FA}"/>
              </a:ext>
            </a:extLst>
          </p:cNvPr>
          <p:cNvSpPr/>
          <p:nvPr/>
        </p:nvSpPr>
        <p:spPr>
          <a:xfrm>
            <a:off x="1977122" y="5309293"/>
            <a:ext cx="921835" cy="417513"/>
          </a:xfrm>
          <a:prstGeom prst="ellipse">
            <a:avLst/>
          </a:prstGeom>
          <a:noFill/>
          <a:ln w="28575" cap="flat">
            <a:solidFill>
              <a:srgbClr val="1855FF"/>
            </a:solidFill>
            <a:prstDash val="sysDot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FCBBF-DE1C-4837-07D8-9D66BA440ABD}"/>
              </a:ext>
            </a:extLst>
          </p:cNvPr>
          <p:cNvSpPr txBox="1"/>
          <p:nvPr/>
        </p:nvSpPr>
        <p:spPr>
          <a:xfrm>
            <a:off x="50159" y="4691247"/>
            <a:ext cx="1511952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32204929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" grpId="0" animBg="1" advAuto="0"/>
      <p:bldP spid="344" grpId="0" animBg="1"/>
      <p:bldP spid="350" grpId="0" animBg="1" advAuto="0"/>
      <p:bldP spid="351" grpId="0" animBg="1" advAuto="0"/>
      <p:bldP spid="352" grpId="0" animBg="1" advAuto="0"/>
      <p:bldP spid="353" grpId="0" animBg="1" advAuto="0"/>
      <p:bldP spid="354" grpId="0" animBg="1" advAuto="0"/>
      <p:bldP spid="355" grpId="0" animBg="1" advAuto="0"/>
      <p:bldP spid="356" grpId="0" animBg="1" advAuto="0"/>
      <p:bldP spid="359" grpId="0" animBg="1"/>
      <p:bldP spid="361" grpId="0" animBg="1"/>
      <p:bldP spid="376" grpId="0" animBg="1" advAuto="0"/>
      <p:bldP spid="360" grpId="0" animBg="1"/>
      <p:bldP spid="5" grpId="0" animBg="1"/>
      <p:bldP spid="59" grpId="0" animBg="1"/>
      <p:bldP spid="69" grpId="0" animBg="1"/>
      <p:bldP spid="76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21B5F8-B223-2849-9784-80347F263C5B}"/>
              </a:ext>
            </a:extLst>
          </p:cNvPr>
          <p:cNvCxnSpPr>
            <a:cxnSpLocks/>
          </p:cNvCxnSpPr>
          <p:nvPr/>
        </p:nvCxnSpPr>
        <p:spPr>
          <a:xfrm>
            <a:off x="3788227" y="3907968"/>
            <a:ext cx="1900050" cy="0"/>
          </a:xfrm>
          <a:prstGeom prst="line">
            <a:avLst/>
          </a:prstGeom>
          <a:noFill/>
          <a:ln w="28575" cap="flat">
            <a:solidFill>
              <a:schemeClr val="tx1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47F89A6-36FD-2844-A35B-3FACE8394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303" y="57397"/>
            <a:ext cx="7772400" cy="1600200"/>
          </a:xfrm>
        </p:spPr>
        <p:txBody>
          <a:bodyPr/>
          <a:lstStyle/>
          <a:p>
            <a:r>
              <a:rPr lang="en-US" dirty="0"/>
              <a:t>Summary: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D91DECAC-D7FA-8D43-B95E-7809C997A6B9}"/>
              </a:ext>
            </a:extLst>
          </p:cNvPr>
          <p:cNvSpPr/>
          <p:nvPr/>
        </p:nvSpPr>
        <p:spPr>
          <a:xfrm rot="10800000">
            <a:off x="4714817" y="5635803"/>
            <a:ext cx="261255" cy="420610"/>
          </a:xfrm>
          <a:prstGeom prst="downArrow">
            <a:avLst/>
          </a:prstGeom>
          <a:solidFill>
            <a:srgbClr val="0070C0"/>
          </a:solidFill>
          <a:ln w="952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FFA97025-2042-CB47-952E-45105D268F23}"/>
              </a:ext>
            </a:extLst>
          </p:cNvPr>
          <p:cNvSpPr/>
          <p:nvPr/>
        </p:nvSpPr>
        <p:spPr>
          <a:xfrm>
            <a:off x="3788226" y="3687285"/>
            <a:ext cx="302953" cy="2369129"/>
          </a:xfrm>
          <a:prstGeom prst="downArrow">
            <a:avLst/>
          </a:prstGeom>
          <a:solidFill>
            <a:srgbClr val="FFFF00"/>
          </a:solidFill>
          <a:ln w="952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61886391-B350-694E-88B3-7B1AF99E3E3F}"/>
              </a:ext>
            </a:extLst>
          </p:cNvPr>
          <p:cNvSpPr/>
          <p:nvPr/>
        </p:nvSpPr>
        <p:spPr>
          <a:xfrm rot="10800000">
            <a:off x="4714500" y="3928076"/>
            <a:ext cx="273135" cy="1696165"/>
          </a:xfrm>
          <a:prstGeom prst="downArrow">
            <a:avLst/>
          </a:prstGeom>
          <a:solidFill>
            <a:srgbClr val="FF0000"/>
          </a:solidFill>
          <a:ln w="952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289553-E422-8A4B-9ED6-0B30D43DB0B3}"/>
              </a:ext>
            </a:extLst>
          </p:cNvPr>
          <p:cNvCxnSpPr/>
          <p:nvPr/>
        </p:nvCxnSpPr>
        <p:spPr>
          <a:xfrm>
            <a:off x="3788227" y="6080168"/>
            <a:ext cx="1187533" cy="0"/>
          </a:xfrm>
          <a:prstGeom prst="line">
            <a:avLst/>
          </a:prstGeom>
          <a:noFill/>
          <a:ln w="28575" cap="flat">
            <a:solidFill>
              <a:schemeClr val="tx1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7B34EC-028B-1F47-9249-4B91F23678BA}"/>
              </a:ext>
            </a:extLst>
          </p:cNvPr>
          <p:cNvCxnSpPr>
            <a:cxnSpLocks/>
          </p:cNvCxnSpPr>
          <p:nvPr/>
        </p:nvCxnSpPr>
        <p:spPr>
          <a:xfrm>
            <a:off x="3788227" y="3663535"/>
            <a:ext cx="1900050" cy="0"/>
          </a:xfrm>
          <a:prstGeom prst="line">
            <a:avLst/>
          </a:prstGeom>
          <a:noFill/>
          <a:ln w="28575" cap="flat">
            <a:solidFill>
              <a:schemeClr val="tx1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Down Arrow 11">
            <a:extLst>
              <a:ext uri="{FF2B5EF4-FFF2-40B4-BE49-F238E27FC236}">
                <a16:creationId xmlns:a16="http://schemas.microsoft.com/office/drawing/2014/main" id="{B94B0462-6FD7-AB41-BC63-92F7C4330766}"/>
              </a:ext>
            </a:extLst>
          </p:cNvPr>
          <p:cNvSpPr/>
          <p:nvPr/>
        </p:nvSpPr>
        <p:spPr>
          <a:xfrm>
            <a:off x="5474520" y="3687285"/>
            <a:ext cx="261257" cy="228601"/>
          </a:xfrm>
          <a:prstGeom prst="downArrow">
            <a:avLst/>
          </a:prstGeom>
          <a:solidFill>
            <a:schemeClr val="tx1"/>
          </a:solidFill>
          <a:ln w="952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4B392A-BE1D-FA4F-A9C7-6D555101F229}"/>
              </a:ext>
            </a:extLst>
          </p:cNvPr>
          <p:cNvSpPr txBox="1"/>
          <p:nvPr/>
        </p:nvSpPr>
        <p:spPr>
          <a:xfrm rot="16200000">
            <a:off x="25276" y="4714170"/>
            <a:ext cx="2464136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Gibbs Free Energy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4D229E-C361-FF43-B9CF-24E8E8C5348F}"/>
              </a:ext>
            </a:extLst>
          </p:cNvPr>
          <p:cNvSpPr txBox="1"/>
          <p:nvPr/>
        </p:nvSpPr>
        <p:spPr>
          <a:xfrm>
            <a:off x="4963880" y="4458812"/>
            <a:ext cx="2978701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Protein conformational entropy</a:t>
            </a:r>
          </a:p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- </a:t>
            </a: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</a:t>
            </a: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D</a:t>
            </a: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  ~ </a:t>
            </a:r>
            <a:r>
              <a:rPr lang="en-US" sz="1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500 kJ/mol </a:t>
            </a:r>
          </a:p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7FB15A-0628-2747-A144-A11473B44D6F}"/>
              </a:ext>
            </a:extLst>
          </p:cNvPr>
          <p:cNvSpPr txBox="1"/>
          <p:nvPr/>
        </p:nvSpPr>
        <p:spPr>
          <a:xfrm>
            <a:off x="1641357" y="5182885"/>
            <a:ext cx="2274982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Water entropy</a:t>
            </a:r>
          </a:p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- </a:t>
            </a: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</a:t>
            </a: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D</a:t>
            </a: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  ~ </a:t>
            </a:r>
            <a:r>
              <a:rPr lang="en-US" sz="1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- </a:t>
            </a:r>
            <a:r>
              <a:rPr lang="en-US" sz="1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700 kJ/m</a:t>
            </a: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ol 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BBA260-9C70-8248-8022-B2232BC375AE}"/>
              </a:ext>
            </a:extLst>
          </p:cNvPr>
          <p:cNvSpPr txBox="1"/>
          <p:nvPr/>
        </p:nvSpPr>
        <p:spPr>
          <a:xfrm>
            <a:off x="5056095" y="5690554"/>
            <a:ext cx="365832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Protein and Water </a:t>
            </a: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D</a:t>
            </a: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H ~ </a:t>
            </a:r>
            <a:r>
              <a:rPr lang="en-US" sz="1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+ </a:t>
            </a:r>
            <a:r>
              <a:rPr lang="en-US" sz="1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Helvetica" pitchFamily="2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50 kJ/mol,</a:t>
            </a:r>
          </a:p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1855FF"/>
                </a:solidFill>
                <a:uFill>
                  <a:solidFill>
                    <a:srgbClr val="000000"/>
                  </a:solidFill>
                </a:uFill>
              </a:rPr>
              <a:t>unfavorable! </a:t>
            </a:r>
            <a:endParaRPr kumimoji="0" lang="en-US" sz="1600" i="0" u="none" strike="noStrike" cap="none" spc="0" normalizeH="0" baseline="0" dirty="0">
              <a:ln>
                <a:noFill/>
              </a:ln>
              <a:solidFill>
                <a:srgbClr val="1855FF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847850-C381-6449-8C6C-C05D93141763}"/>
              </a:ext>
            </a:extLst>
          </p:cNvPr>
          <p:cNvSpPr txBox="1"/>
          <p:nvPr/>
        </p:nvSpPr>
        <p:spPr>
          <a:xfrm>
            <a:off x="1637349" y="5690554"/>
            <a:ext cx="220445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b="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(</a:t>
            </a:r>
            <a:r>
              <a:rPr lang="en-US" sz="160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</a:rPr>
              <a:t>T</a:t>
            </a:r>
            <a:r>
              <a:rPr lang="en-US" sz="160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D</a:t>
            </a:r>
            <a:r>
              <a:rPr lang="en-US" sz="160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</a:rPr>
              <a:t>S  ~ </a:t>
            </a:r>
            <a:r>
              <a:rPr lang="en-US" sz="160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+ </a:t>
            </a:r>
            <a:r>
              <a:rPr lang="en-US" sz="160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</a:rPr>
              <a:t>700 kJ/mol)</a:t>
            </a:r>
          </a:p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</a:rPr>
              <a:t>favorable!</a:t>
            </a: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5122AE-D239-4443-BD4F-783110A85761}"/>
              </a:ext>
            </a:extLst>
          </p:cNvPr>
          <p:cNvSpPr txBox="1"/>
          <p:nvPr/>
        </p:nvSpPr>
        <p:spPr>
          <a:xfrm>
            <a:off x="5055211" y="5017345"/>
            <a:ext cx="3595856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b="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(</a:t>
            </a:r>
            <a:r>
              <a:rPr lang="en-US" sz="160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</a:rPr>
              <a:t>T</a:t>
            </a:r>
            <a:r>
              <a:rPr lang="en-US" sz="160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D</a:t>
            </a:r>
            <a:r>
              <a:rPr lang="en-US" sz="160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</a:rPr>
              <a:t>S  ~ </a:t>
            </a:r>
            <a:r>
              <a:rPr lang="en-US" sz="160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- </a:t>
            </a:r>
            <a:r>
              <a:rPr lang="en-US" sz="160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  <a:latin typeface="Helvetica" pitchFamily="2" charset="0"/>
              </a:rPr>
              <a:t>5</a:t>
            </a:r>
            <a:r>
              <a:rPr lang="en-US" sz="160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</a:rPr>
              <a:t>00 kJ/mol, unfavorable!) </a:t>
            </a:r>
            <a:endParaRPr kumimoji="0" lang="en-US" sz="1600" i="0" u="none" strike="noStrike" cap="none" spc="0" normalizeH="0" baseline="0" dirty="0">
              <a:ln>
                <a:noFill/>
              </a:ln>
              <a:solidFill>
                <a:srgbClr val="0541E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1" name="Shape 344">
            <a:extLst>
              <a:ext uri="{FF2B5EF4-FFF2-40B4-BE49-F238E27FC236}">
                <a16:creationId xmlns:a16="http://schemas.microsoft.com/office/drawing/2014/main" id="{EA9597B1-1824-CB42-BCC4-602365DDDD93}"/>
              </a:ext>
            </a:extLst>
          </p:cNvPr>
          <p:cNvSpPr/>
          <p:nvPr/>
        </p:nvSpPr>
        <p:spPr>
          <a:xfrm>
            <a:off x="3041649" y="2416599"/>
            <a:ext cx="3060701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buClr>
                <a:srgbClr val="000000"/>
              </a:buClr>
              <a:buFont typeface="Symbol"/>
              <a:defRPr sz="1800">
                <a:uFillTx/>
              </a:defRPr>
            </a:pPr>
            <a:r>
              <a:rPr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Δ</a:t>
            </a:r>
            <a:r>
              <a:rPr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G</a:t>
            </a:r>
            <a:r>
              <a:rPr b="0" baseline="-2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b="0" baseline="-2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olding</a:t>
            </a:r>
            <a:r>
              <a:rPr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= </a:t>
            </a:r>
            <a:r>
              <a:rPr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Δ</a:t>
            </a:r>
            <a:r>
              <a:rPr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</a:t>
            </a:r>
            <a:r>
              <a:rPr b="0" baseline="-2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b="0" baseline="-2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olding</a:t>
            </a:r>
            <a:r>
              <a:rPr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 - T</a:t>
            </a:r>
            <a:r>
              <a:rPr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Δ</a:t>
            </a:r>
            <a:r>
              <a:rPr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</a:t>
            </a:r>
            <a:r>
              <a:rPr b="0" baseline="-2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b="0" baseline="-2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olding</a:t>
            </a:r>
          </a:p>
        </p:txBody>
      </p:sp>
      <p:grpSp>
        <p:nvGrpSpPr>
          <p:cNvPr id="22" name="Group 320">
            <a:extLst>
              <a:ext uri="{FF2B5EF4-FFF2-40B4-BE49-F238E27FC236}">
                <a16:creationId xmlns:a16="http://schemas.microsoft.com/office/drawing/2014/main" id="{CE7EEF3E-EAA3-AF45-AFF8-B95887807954}"/>
              </a:ext>
            </a:extLst>
          </p:cNvPr>
          <p:cNvGrpSpPr/>
          <p:nvPr/>
        </p:nvGrpSpPr>
        <p:grpSpPr>
          <a:xfrm>
            <a:off x="866907" y="1791320"/>
            <a:ext cx="7733792" cy="639303"/>
            <a:chOff x="978583" y="-59375"/>
            <a:chExt cx="3419628" cy="639302"/>
          </a:xfrm>
        </p:grpSpPr>
        <p:sp>
          <p:nvSpPr>
            <p:cNvPr id="23" name="Shape 313">
              <a:extLst>
                <a:ext uri="{FF2B5EF4-FFF2-40B4-BE49-F238E27FC236}">
                  <a16:creationId xmlns:a16="http://schemas.microsoft.com/office/drawing/2014/main" id="{2F5221FE-4A5B-C64D-B07D-3BCB60A5DE81}"/>
                </a:ext>
              </a:extLst>
            </p:cNvPr>
            <p:cNvSpPr/>
            <p:nvPr/>
          </p:nvSpPr>
          <p:spPr>
            <a:xfrm>
              <a:off x="3014662" y="-35625"/>
              <a:ext cx="1383549" cy="615552"/>
            </a:xfrm>
            <a:prstGeom prst="rect">
              <a:avLst/>
            </a:prstGeom>
            <a:noFill/>
            <a:ln w="9525" cap="flat">
              <a:noFill/>
              <a:prstDash val="solid"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000000"/>
                </a:buClr>
                <a:buFont typeface="Helvetica"/>
                <a:defRPr sz="16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20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F</a:t>
              </a:r>
              <a:r>
                <a:rPr lang="en-US" sz="20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olded protein in water</a:t>
              </a:r>
            </a:p>
          </p:txBody>
        </p:sp>
        <p:sp>
          <p:nvSpPr>
            <p:cNvPr id="24" name="Shape 314">
              <a:extLst>
                <a:ext uri="{FF2B5EF4-FFF2-40B4-BE49-F238E27FC236}">
                  <a16:creationId xmlns:a16="http://schemas.microsoft.com/office/drawing/2014/main" id="{3A739D0D-FB33-C74A-8C72-ACF108DF1755}"/>
                </a:ext>
              </a:extLst>
            </p:cNvPr>
            <p:cNvSpPr/>
            <p:nvPr/>
          </p:nvSpPr>
          <p:spPr>
            <a:xfrm>
              <a:off x="978583" y="-59375"/>
              <a:ext cx="1570040" cy="615552"/>
            </a:xfrm>
            <a:prstGeom prst="rect">
              <a:avLst/>
            </a:prstGeom>
            <a:noFill/>
            <a:ln w="9525" cap="flat">
              <a:noFill/>
              <a:prstDash val="solid"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000000"/>
                </a:buClr>
                <a:buFont typeface="Helvetica"/>
                <a:defRPr sz="16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20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U</a:t>
              </a:r>
              <a:r>
                <a:rPr lang="en-US" sz="20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nfolded protein in water</a:t>
              </a:r>
            </a:p>
          </p:txBody>
        </p:sp>
        <p:grpSp>
          <p:nvGrpSpPr>
            <p:cNvPr id="25" name="Group 319">
              <a:extLst>
                <a:ext uri="{FF2B5EF4-FFF2-40B4-BE49-F238E27FC236}">
                  <a16:creationId xmlns:a16="http://schemas.microsoft.com/office/drawing/2014/main" id="{67A6876A-6AC5-2544-9B85-BA3435960CB6}"/>
                </a:ext>
              </a:extLst>
            </p:cNvPr>
            <p:cNvGrpSpPr/>
            <p:nvPr/>
          </p:nvGrpSpPr>
          <p:grpSpPr>
            <a:xfrm>
              <a:off x="2328862" y="-46573"/>
              <a:ext cx="622301" cy="342900"/>
              <a:chOff x="0" y="-160873"/>
              <a:chExt cx="622300" cy="342900"/>
            </a:xfrm>
          </p:grpSpPr>
          <p:sp>
            <p:nvSpPr>
              <p:cNvPr id="26" name="Shape 315">
                <a:extLst>
                  <a:ext uri="{FF2B5EF4-FFF2-40B4-BE49-F238E27FC236}">
                    <a16:creationId xmlns:a16="http://schemas.microsoft.com/office/drawing/2014/main" id="{97E62A30-CC23-4640-AD83-1F3294F36FA5}"/>
                  </a:ext>
                </a:extLst>
              </p:cNvPr>
              <p:cNvSpPr/>
              <p:nvPr/>
            </p:nvSpPr>
            <p:spPr>
              <a:xfrm>
                <a:off x="0" y="-52923"/>
                <a:ext cx="609600" cy="158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1400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7" name="Shape 316">
                <a:extLst>
                  <a:ext uri="{FF2B5EF4-FFF2-40B4-BE49-F238E27FC236}">
                    <a16:creationId xmlns:a16="http://schemas.microsoft.com/office/drawing/2014/main" id="{83993F73-3EA0-4948-86FF-0423F886C555}"/>
                  </a:ext>
                </a:extLst>
              </p:cNvPr>
              <p:cNvSpPr/>
              <p:nvPr/>
            </p:nvSpPr>
            <p:spPr>
              <a:xfrm>
                <a:off x="501650" y="-160873"/>
                <a:ext cx="120650" cy="107950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1400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8" name="Shape 317">
                <a:extLst>
                  <a:ext uri="{FF2B5EF4-FFF2-40B4-BE49-F238E27FC236}">
                    <a16:creationId xmlns:a16="http://schemas.microsoft.com/office/drawing/2014/main" id="{A5EB8F8B-EF60-7C49-8E03-553AB9D1D6CF}"/>
                  </a:ext>
                </a:extLst>
              </p:cNvPr>
              <p:cNvSpPr/>
              <p:nvPr/>
            </p:nvSpPr>
            <p:spPr>
              <a:xfrm>
                <a:off x="1" y="80426"/>
                <a:ext cx="425725" cy="2919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1400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9" name="Shape 318">
                <a:extLst>
                  <a:ext uri="{FF2B5EF4-FFF2-40B4-BE49-F238E27FC236}">
                    <a16:creationId xmlns:a16="http://schemas.microsoft.com/office/drawing/2014/main" id="{E7892BED-5EA2-1243-BFBE-A9F97DDAC597}"/>
                  </a:ext>
                </a:extLst>
              </p:cNvPr>
              <p:cNvSpPr/>
              <p:nvPr/>
            </p:nvSpPr>
            <p:spPr>
              <a:xfrm>
                <a:off x="0" y="86777"/>
                <a:ext cx="107950" cy="95250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1400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3EDCA48B-456E-F342-8D97-979607245881}"/>
              </a:ext>
            </a:extLst>
          </p:cNvPr>
          <p:cNvSpPr/>
          <p:nvPr/>
        </p:nvSpPr>
        <p:spPr>
          <a:xfrm>
            <a:off x="4316947" y="1530805"/>
            <a:ext cx="6226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D</a:t>
            </a:r>
            <a:r>
              <a:rPr lang="en-US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08FDBC-854D-EB49-BB42-A916B8B7A171}"/>
              </a:ext>
            </a:extLst>
          </p:cNvPr>
          <p:cNvSpPr txBox="1"/>
          <p:nvPr/>
        </p:nvSpPr>
        <p:spPr>
          <a:xfrm>
            <a:off x="5735777" y="3606561"/>
            <a:ext cx="1965603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D</a:t>
            </a:r>
            <a:r>
              <a:rPr lang="en-US" sz="160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G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  ~ </a:t>
            </a:r>
            <a:r>
              <a:rPr lang="en-US" sz="160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Symbol" pitchFamily="2" charset="2"/>
              </a:rPr>
              <a:t>- </a:t>
            </a:r>
            <a:r>
              <a:rPr lang="en-US" sz="160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50 kJ/m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</a:rPr>
              <a:t>ol 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773F6E-491B-2E40-B26F-81715FE86B37}"/>
              </a:ext>
            </a:extLst>
          </p:cNvPr>
          <p:cNvSpPr txBox="1"/>
          <p:nvPr/>
        </p:nvSpPr>
        <p:spPr>
          <a:xfrm>
            <a:off x="1130347" y="3092545"/>
            <a:ext cx="2153154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OUR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0BDC2-B7A0-37E6-900B-E84CFF688B74}"/>
              </a:ext>
            </a:extLst>
          </p:cNvPr>
          <p:cNvSpPr txBox="1"/>
          <p:nvPr/>
        </p:nvSpPr>
        <p:spPr>
          <a:xfrm>
            <a:off x="1637349" y="6354667"/>
            <a:ext cx="563647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[see Case Study: Observation Over Intuition]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D3A784-15FD-0662-21E6-A9E0B3837B06}"/>
              </a:ext>
            </a:extLst>
          </p:cNvPr>
          <p:cNvSpPr txBox="1"/>
          <p:nvPr/>
        </p:nvSpPr>
        <p:spPr>
          <a:xfrm>
            <a:off x="3383263" y="3397557"/>
            <a:ext cx="370614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7566F-6768-18BD-BB95-8EFBF628CB90}"/>
              </a:ext>
            </a:extLst>
          </p:cNvPr>
          <p:cNvSpPr txBox="1"/>
          <p:nvPr/>
        </p:nvSpPr>
        <p:spPr>
          <a:xfrm>
            <a:off x="3403558" y="3739692"/>
            <a:ext cx="341760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620846911"/>
      </p:ext>
    </p:extLst>
  </p:cSld>
  <p:clrMapOvr>
    <a:masterClrMapping/>
  </p:clrMapOvr>
  <p:transition spd="med"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Shape 659"/>
          <p:cNvSpPr>
            <a:spLocks noGrp="1"/>
          </p:cNvSpPr>
          <p:nvPr>
            <p:ph type="title"/>
          </p:nvPr>
        </p:nvSpPr>
        <p:spPr>
          <a:xfrm>
            <a:off x="0" y="-55563"/>
            <a:ext cx="9144000" cy="381001"/>
          </a:xfrm>
          <a:prstGeom prst="rect">
            <a:avLst/>
          </a:prstGeom>
        </p:spPr>
        <p:txBody>
          <a:bodyPr/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2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</a:t>
            </a:r>
            <a:r>
              <a:rPr lang="en-US" sz="22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ow to describe protein stability with a graph?</a:t>
            </a:r>
          </a:p>
        </p:txBody>
      </p:sp>
      <p:sp>
        <p:nvSpPr>
          <p:cNvPr id="660" name="Shape 660"/>
          <p:cNvSpPr/>
          <p:nvPr/>
        </p:nvSpPr>
        <p:spPr>
          <a:xfrm>
            <a:off x="-1" y="1139825"/>
            <a:ext cx="9156701" cy="353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11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</a:t>
            </a:r>
            <a:r>
              <a:rPr lang="en-US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imple example</a:t>
            </a:r>
            <a:r>
              <a:rPr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: P</a:t>
            </a:r>
            <a:r>
              <a:rPr lang="en-US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oly</a:t>
            </a:r>
            <a:r>
              <a:rPr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(G</a:t>
            </a:r>
            <a:r>
              <a:rPr lang="en-US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lu</a:t>
            </a:r>
            <a:r>
              <a:rPr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) 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sidechain can be 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CH</a:t>
            </a:r>
            <a:r>
              <a:rPr sz="1600" b="0" baseline="-1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2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-CH</a:t>
            </a:r>
            <a:r>
              <a:rPr sz="1600" b="0" baseline="-1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2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-COOH 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or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CH</a:t>
            </a:r>
            <a:r>
              <a:rPr sz="1600" b="0" baseline="-1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2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-CH</a:t>
            </a:r>
            <a:r>
              <a:rPr sz="1600" b="0" baseline="-150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2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-COO</a:t>
            </a:r>
            <a:r>
              <a:rPr sz="23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-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</a:p>
        </p:txBody>
      </p:sp>
      <p:sp>
        <p:nvSpPr>
          <p:cNvPr id="661" name="Shape 661"/>
          <p:cNvSpPr/>
          <p:nvPr/>
        </p:nvSpPr>
        <p:spPr>
          <a:xfrm>
            <a:off x="-1" y="5867400"/>
            <a:ext cx="915670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B92FC2"/>
              </a:buClr>
              <a:buFont typeface="Helvetica"/>
              <a:defRPr sz="180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N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ote: structural coordinates scale is 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arbitrary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!   Here we let “x” represent </a:t>
            </a:r>
            <a:r>
              <a:rPr lang="en-US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-helix on </a:t>
            </a:r>
            <a:r>
              <a:rPr lang="en-US" sz="1600" b="0" dirty="0" err="1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struct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. </a:t>
            </a:r>
            <a:r>
              <a:rPr lang="en-US" sz="1600" b="0" dirty="0" err="1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coord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axis</a:t>
            </a:r>
          </a:p>
        </p:txBody>
      </p:sp>
      <p:sp>
        <p:nvSpPr>
          <p:cNvPr id="662" name="Shape 662"/>
          <p:cNvSpPr/>
          <p:nvPr/>
        </p:nvSpPr>
        <p:spPr>
          <a:xfrm>
            <a:off x="-1" y="5257800"/>
            <a:ext cx="9156702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B92FC2"/>
              </a:buClr>
              <a:buFont typeface="Helvetica"/>
              <a:defRPr sz="180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M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eaning of structural coordinates axis</a:t>
            </a:r>
            <a:r>
              <a:rPr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: P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ositions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close on axis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are 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similar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in 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structure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; positions far apart are very different in structure.</a:t>
            </a:r>
          </a:p>
        </p:txBody>
      </p:sp>
      <p:grpSp>
        <p:nvGrpSpPr>
          <p:cNvPr id="672" name="Group 672"/>
          <p:cNvGrpSpPr/>
          <p:nvPr/>
        </p:nvGrpSpPr>
        <p:grpSpPr>
          <a:xfrm>
            <a:off x="31568" y="2119676"/>
            <a:ext cx="4916895" cy="3429101"/>
            <a:chOff x="69669" y="-1"/>
            <a:chExt cx="4916893" cy="3429099"/>
          </a:xfrm>
        </p:grpSpPr>
        <p:sp>
          <p:nvSpPr>
            <p:cNvPr id="663" name="Shape 663"/>
            <p:cNvSpPr/>
            <p:nvPr/>
          </p:nvSpPr>
          <p:spPr>
            <a:xfrm>
              <a:off x="272674" y="878078"/>
              <a:ext cx="246707" cy="4155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spcBef>
                  <a:spcPts val="1200"/>
                </a:spcBef>
                <a:buClr>
                  <a:srgbClr val="000000"/>
                </a:buClr>
                <a:buFont typeface="Helvetica"/>
                <a:defRPr sz="2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20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</a:p>
          </p:txBody>
        </p:sp>
        <p:grpSp>
          <p:nvGrpSpPr>
            <p:cNvPr id="671" name="Group 671"/>
            <p:cNvGrpSpPr/>
            <p:nvPr/>
          </p:nvGrpSpPr>
          <p:grpSpPr>
            <a:xfrm>
              <a:off x="69669" y="-1"/>
              <a:ext cx="4916893" cy="3429099"/>
              <a:chOff x="69669" y="0"/>
              <a:chExt cx="4916892" cy="3429097"/>
            </a:xfrm>
          </p:grpSpPr>
          <p:sp>
            <p:nvSpPr>
              <p:cNvPr id="664" name="Shape 664"/>
              <p:cNvSpPr/>
              <p:nvPr/>
            </p:nvSpPr>
            <p:spPr>
              <a:xfrm>
                <a:off x="506396" y="0"/>
                <a:ext cx="1624" cy="288256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solidFill>
                    <a:schemeClr val="tx1"/>
                  </a:solidFill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665" name="Shape 665"/>
              <p:cNvSpPr/>
              <p:nvPr/>
            </p:nvSpPr>
            <p:spPr>
              <a:xfrm>
                <a:off x="506396" y="2882563"/>
                <a:ext cx="3427914" cy="162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solidFill>
                    <a:schemeClr val="tx1"/>
                  </a:solidFill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666" name="Shape 666"/>
              <p:cNvSpPr/>
              <p:nvPr/>
            </p:nvSpPr>
            <p:spPr>
              <a:xfrm>
                <a:off x="69669" y="995374"/>
                <a:ext cx="558335" cy="48042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noAutofit/>
              </a:bodyPr>
              <a:lstStyle>
                <a:lvl1pPr>
                  <a:spcBef>
                    <a:spcPts val="1400"/>
                  </a:spcBef>
                  <a:buClr>
                    <a:srgbClr val="000000"/>
                  </a:buClr>
                  <a:buFont typeface="Helvetica"/>
                  <a:defRPr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2400" b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G</a:t>
                </a:r>
              </a:p>
            </p:txBody>
          </p:sp>
          <p:sp>
            <p:nvSpPr>
              <p:cNvPr id="667" name="Shape 667"/>
              <p:cNvSpPr/>
              <p:nvPr/>
            </p:nvSpPr>
            <p:spPr>
              <a:xfrm>
                <a:off x="2376168" y="155814"/>
                <a:ext cx="701944" cy="41550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noAutofit/>
              </a:bodyPr>
              <a:lstStyle>
                <a:lvl1pPr>
                  <a:spcBef>
                    <a:spcPts val="1200"/>
                  </a:spcBef>
                  <a:buClr>
                    <a:srgbClr val="000000"/>
                  </a:buClr>
                  <a:buFont typeface="Helvetica"/>
                  <a:defRPr sz="20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2000" b="0" dirty="0">
                    <a:solidFill>
                      <a:srgbClr val="535AD0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pH 3</a:t>
                </a:r>
              </a:p>
            </p:txBody>
          </p:sp>
          <p:sp>
            <p:nvSpPr>
              <p:cNvPr id="668" name="Shape 668"/>
              <p:cNvSpPr/>
              <p:nvPr/>
            </p:nvSpPr>
            <p:spPr>
              <a:xfrm>
                <a:off x="844498" y="2883746"/>
                <a:ext cx="4142063" cy="54535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noAutofit/>
              </a:bodyPr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Font typeface="Helvetica"/>
                  <a:defRPr sz="14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S</a:t>
                </a:r>
                <a:r>
                  <a:rPr lang="en-US" sz="1400" b="0" dirty="0">
                    <a:solidFill>
                      <a:schemeClr val="tx1"/>
                    </a:solidFill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tructural coordinates of this helix</a:t>
                </a:r>
              </a:p>
            </p:txBody>
          </p:sp>
          <p:sp>
            <p:nvSpPr>
              <p:cNvPr id="669" name="Shape 669"/>
              <p:cNvSpPr/>
              <p:nvPr/>
            </p:nvSpPr>
            <p:spPr>
              <a:xfrm>
                <a:off x="558334" y="692319"/>
                <a:ext cx="3098432" cy="21464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58" extrusionOk="0">
                    <a:moveTo>
                      <a:pt x="0" y="7"/>
                    </a:moveTo>
                    <a:cubicBezTo>
                      <a:pt x="396" y="56"/>
                      <a:pt x="803" y="170"/>
                      <a:pt x="1211" y="170"/>
                    </a:cubicBezTo>
                    <a:cubicBezTo>
                      <a:pt x="1844" y="170"/>
                      <a:pt x="2489" y="-42"/>
                      <a:pt x="3134" y="7"/>
                    </a:cubicBezTo>
                    <a:cubicBezTo>
                      <a:pt x="3383" y="23"/>
                      <a:pt x="3598" y="317"/>
                      <a:pt x="3858" y="349"/>
                    </a:cubicBezTo>
                    <a:cubicBezTo>
                      <a:pt x="4583" y="398"/>
                      <a:pt x="5307" y="463"/>
                      <a:pt x="6031" y="529"/>
                    </a:cubicBezTo>
                    <a:cubicBezTo>
                      <a:pt x="6314" y="920"/>
                      <a:pt x="6348" y="1327"/>
                      <a:pt x="6642" y="1735"/>
                    </a:cubicBezTo>
                    <a:cubicBezTo>
                      <a:pt x="6812" y="2827"/>
                      <a:pt x="7106" y="3936"/>
                      <a:pt x="7241" y="5044"/>
                    </a:cubicBezTo>
                    <a:cubicBezTo>
                      <a:pt x="7479" y="7082"/>
                      <a:pt x="7219" y="5794"/>
                      <a:pt x="7479" y="6952"/>
                    </a:cubicBezTo>
                    <a:cubicBezTo>
                      <a:pt x="7660" y="9103"/>
                      <a:pt x="8022" y="11223"/>
                      <a:pt x="8203" y="13391"/>
                    </a:cubicBezTo>
                    <a:cubicBezTo>
                      <a:pt x="8497" y="17140"/>
                      <a:pt x="8124" y="12152"/>
                      <a:pt x="8452" y="17906"/>
                    </a:cubicBezTo>
                    <a:cubicBezTo>
                      <a:pt x="8475" y="18493"/>
                      <a:pt x="8645" y="20906"/>
                      <a:pt x="8814" y="21395"/>
                    </a:cubicBezTo>
                    <a:cubicBezTo>
                      <a:pt x="8871" y="21542"/>
                      <a:pt x="9052" y="21493"/>
                      <a:pt x="9176" y="21558"/>
                    </a:cubicBezTo>
                    <a:cubicBezTo>
                      <a:pt x="9256" y="21199"/>
                      <a:pt x="9323" y="20857"/>
                      <a:pt x="9414" y="20515"/>
                    </a:cubicBezTo>
                    <a:cubicBezTo>
                      <a:pt x="9448" y="20335"/>
                      <a:pt x="9538" y="19993"/>
                      <a:pt x="9538" y="19993"/>
                    </a:cubicBezTo>
                    <a:cubicBezTo>
                      <a:pt x="9674" y="17857"/>
                      <a:pt x="9934" y="15689"/>
                      <a:pt x="10138" y="13570"/>
                    </a:cubicBezTo>
                    <a:cubicBezTo>
                      <a:pt x="10274" y="12087"/>
                      <a:pt x="10613" y="10701"/>
                      <a:pt x="10738" y="9217"/>
                    </a:cubicBezTo>
                    <a:cubicBezTo>
                      <a:pt x="10874" y="7294"/>
                      <a:pt x="11009" y="4408"/>
                      <a:pt x="12073" y="2958"/>
                    </a:cubicBezTo>
                    <a:cubicBezTo>
                      <a:pt x="12231" y="2208"/>
                      <a:pt x="12390" y="2028"/>
                      <a:pt x="12797" y="1572"/>
                    </a:cubicBezTo>
                    <a:cubicBezTo>
                      <a:pt x="12876" y="1458"/>
                      <a:pt x="12922" y="1278"/>
                      <a:pt x="13035" y="1213"/>
                    </a:cubicBezTo>
                    <a:cubicBezTo>
                      <a:pt x="13261" y="1034"/>
                      <a:pt x="13759" y="871"/>
                      <a:pt x="13759" y="871"/>
                    </a:cubicBezTo>
                    <a:cubicBezTo>
                      <a:pt x="15083" y="969"/>
                      <a:pt x="16305" y="1262"/>
                      <a:pt x="17617" y="1050"/>
                    </a:cubicBezTo>
                    <a:cubicBezTo>
                      <a:pt x="18409" y="643"/>
                      <a:pt x="18918" y="724"/>
                      <a:pt x="19790" y="871"/>
                    </a:cubicBezTo>
                    <a:cubicBezTo>
                      <a:pt x="20853" y="1360"/>
                      <a:pt x="20254" y="1213"/>
                      <a:pt x="21600" y="1213"/>
                    </a:cubicBezTo>
                  </a:path>
                </a:pathLst>
              </a:custGeom>
              <a:noFill/>
              <a:ln w="28575" cap="flat">
                <a:solidFill>
                  <a:srgbClr val="535AD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b="0">
                  <a:solidFill>
                    <a:schemeClr val="tx1"/>
                  </a:solidFill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670" name="Shape 670"/>
              <p:cNvSpPr/>
              <p:nvPr/>
            </p:nvSpPr>
            <p:spPr>
              <a:xfrm>
                <a:off x="1763916" y="2743683"/>
                <a:ext cx="246707" cy="35058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noAutofit/>
              </a:bodyPr>
              <a:lstStyle>
                <a:lvl1pPr>
                  <a:spcBef>
                    <a:spcPts val="900"/>
                  </a:spcBef>
                  <a:buClr>
                    <a:srgbClr val="0222B9"/>
                  </a:buClr>
                  <a:buFont typeface="Helvetica"/>
                  <a:defRPr sz="1600" b="1">
                    <a:solidFill>
                      <a:srgbClr val="0222B9"/>
                    </a:solidFill>
                    <a:uFill>
                      <a:solidFill>
                        <a:srgbClr val="0222B9"/>
                      </a:solidFill>
                    </a:u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  <a:uFillTx/>
                  </a:defRPr>
                </a:pP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rgbClr val="0222B9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x</a:t>
                </a:r>
              </a:p>
            </p:txBody>
          </p:sp>
        </p:grpSp>
      </p:grpSp>
      <p:grpSp>
        <p:nvGrpSpPr>
          <p:cNvPr id="681" name="Group 681"/>
          <p:cNvGrpSpPr/>
          <p:nvPr/>
        </p:nvGrpSpPr>
        <p:grpSpPr>
          <a:xfrm>
            <a:off x="4825793" y="2162303"/>
            <a:ext cx="4848097" cy="3026028"/>
            <a:chOff x="17418" y="0"/>
            <a:chExt cx="4848096" cy="3026027"/>
          </a:xfrm>
        </p:grpSpPr>
        <p:sp>
          <p:nvSpPr>
            <p:cNvPr id="673" name="Shape 673"/>
            <p:cNvSpPr/>
            <p:nvPr/>
          </p:nvSpPr>
          <p:spPr>
            <a:xfrm>
              <a:off x="457200" y="0"/>
              <a:ext cx="1588" cy="28194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74" name="Shape 674"/>
            <p:cNvSpPr/>
            <p:nvPr/>
          </p:nvSpPr>
          <p:spPr>
            <a:xfrm>
              <a:off x="457200" y="2819400"/>
              <a:ext cx="3352800" cy="158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75" name="Shape 675"/>
            <p:cNvSpPr/>
            <p:nvPr/>
          </p:nvSpPr>
          <p:spPr>
            <a:xfrm>
              <a:off x="17418" y="888274"/>
              <a:ext cx="469900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400"/>
                </a:spcBef>
                <a:buClr>
                  <a:srgbClr val="000000"/>
                </a:buClr>
                <a:buFont typeface="Helvetica"/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24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G</a:t>
              </a:r>
            </a:p>
          </p:txBody>
        </p:sp>
        <p:sp>
          <p:nvSpPr>
            <p:cNvPr id="676" name="Shape 676"/>
            <p:cNvSpPr/>
            <p:nvPr/>
          </p:nvSpPr>
          <p:spPr>
            <a:xfrm>
              <a:off x="215900" y="787400"/>
              <a:ext cx="317500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200"/>
                </a:spcBef>
                <a:buClr>
                  <a:srgbClr val="000000"/>
                </a:buClr>
                <a:buFont typeface="Helvetica"/>
                <a:defRPr sz="2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20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</a:p>
          </p:txBody>
        </p:sp>
        <p:sp>
          <p:nvSpPr>
            <p:cNvPr id="677" name="Shape 677"/>
            <p:cNvSpPr/>
            <p:nvPr/>
          </p:nvSpPr>
          <p:spPr>
            <a:xfrm>
              <a:off x="2362200" y="152400"/>
              <a:ext cx="628719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200"/>
                </a:spcBef>
                <a:buClr>
                  <a:srgbClr val="000000"/>
                </a:buClr>
                <a:buFont typeface="Helvetica"/>
                <a:defRPr sz="2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2000" b="0">
                  <a:solidFill>
                    <a:srgbClr val="E57DDB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pH 7</a:t>
              </a:r>
            </a:p>
          </p:txBody>
        </p:sp>
        <p:sp>
          <p:nvSpPr>
            <p:cNvPr id="678" name="Shape 678"/>
            <p:cNvSpPr/>
            <p:nvPr/>
          </p:nvSpPr>
          <p:spPr>
            <a:xfrm>
              <a:off x="786521" y="2810583"/>
              <a:ext cx="4078993" cy="215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buClr>
                  <a:srgbClr val="000000"/>
                </a:buClr>
                <a:buFont typeface="Helvetica"/>
                <a:defRPr sz="14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4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S</a:t>
              </a:r>
              <a:r>
                <a:rPr lang="en-US" sz="1400" b="0" dirty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tructural coordinates of helix</a:t>
              </a:r>
            </a:p>
          </p:txBody>
        </p:sp>
        <p:sp>
          <p:nvSpPr>
            <p:cNvPr id="679" name="Shape 679"/>
            <p:cNvSpPr/>
            <p:nvPr/>
          </p:nvSpPr>
          <p:spPr>
            <a:xfrm>
              <a:off x="550862" y="830262"/>
              <a:ext cx="3317876" cy="1174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8805" extrusionOk="0">
                  <a:moveTo>
                    <a:pt x="0" y="0"/>
                  </a:moveTo>
                  <a:cubicBezTo>
                    <a:pt x="403" y="2287"/>
                    <a:pt x="785" y="8132"/>
                    <a:pt x="1209" y="8132"/>
                  </a:cubicBezTo>
                  <a:cubicBezTo>
                    <a:pt x="1323" y="8132"/>
                    <a:pt x="1416" y="5591"/>
                    <a:pt x="1540" y="5336"/>
                  </a:cubicBezTo>
                  <a:cubicBezTo>
                    <a:pt x="1902" y="3812"/>
                    <a:pt x="2274" y="3304"/>
                    <a:pt x="2646" y="2541"/>
                  </a:cubicBezTo>
                  <a:cubicBezTo>
                    <a:pt x="3193" y="4320"/>
                    <a:pt x="3648" y="7369"/>
                    <a:pt x="4186" y="10673"/>
                  </a:cubicBezTo>
                  <a:cubicBezTo>
                    <a:pt x="4992" y="4066"/>
                    <a:pt x="4620" y="3812"/>
                    <a:pt x="5291" y="8132"/>
                  </a:cubicBezTo>
                  <a:cubicBezTo>
                    <a:pt x="6253" y="5845"/>
                    <a:pt x="6480" y="4320"/>
                    <a:pt x="7276" y="10673"/>
                  </a:cubicBezTo>
                  <a:cubicBezTo>
                    <a:pt x="7855" y="7878"/>
                    <a:pt x="8113" y="4066"/>
                    <a:pt x="8702" y="8132"/>
                  </a:cubicBezTo>
                  <a:cubicBezTo>
                    <a:pt x="8919" y="9402"/>
                    <a:pt x="9363" y="13468"/>
                    <a:pt x="9363" y="13468"/>
                  </a:cubicBezTo>
                  <a:cubicBezTo>
                    <a:pt x="9715" y="10419"/>
                    <a:pt x="9891" y="5336"/>
                    <a:pt x="10252" y="2541"/>
                  </a:cubicBezTo>
                  <a:cubicBezTo>
                    <a:pt x="10428" y="4320"/>
                    <a:pt x="10624" y="5336"/>
                    <a:pt x="10800" y="8132"/>
                  </a:cubicBezTo>
                  <a:cubicBezTo>
                    <a:pt x="11668" y="21600"/>
                    <a:pt x="10635" y="12452"/>
                    <a:pt x="11461" y="18805"/>
                  </a:cubicBezTo>
                  <a:cubicBezTo>
                    <a:pt x="12216" y="16518"/>
                    <a:pt x="12888" y="12706"/>
                    <a:pt x="13663" y="10673"/>
                  </a:cubicBezTo>
                  <a:cubicBezTo>
                    <a:pt x="14107" y="7115"/>
                    <a:pt x="14438" y="9656"/>
                    <a:pt x="14882" y="13468"/>
                  </a:cubicBezTo>
                  <a:cubicBezTo>
                    <a:pt x="15130" y="11689"/>
                    <a:pt x="15378" y="7369"/>
                    <a:pt x="15647" y="8132"/>
                  </a:cubicBezTo>
                  <a:cubicBezTo>
                    <a:pt x="15874" y="8640"/>
                    <a:pt x="16309" y="13468"/>
                    <a:pt x="16309" y="13468"/>
                  </a:cubicBezTo>
                  <a:cubicBezTo>
                    <a:pt x="17146" y="5336"/>
                    <a:pt x="17425" y="3812"/>
                    <a:pt x="18293" y="10673"/>
                  </a:cubicBezTo>
                  <a:cubicBezTo>
                    <a:pt x="18655" y="7624"/>
                    <a:pt x="18913" y="2795"/>
                    <a:pt x="19285" y="0"/>
                  </a:cubicBezTo>
                  <a:cubicBezTo>
                    <a:pt x="19616" y="2541"/>
                    <a:pt x="19936" y="5336"/>
                    <a:pt x="20277" y="8132"/>
                  </a:cubicBezTo>
                  <a:cubicBezTo>
                    <a:pt x="20380" y="8894"/>
                    <a:pt x="20608" y="10673"/>
                    <a:pt x="20608" y="10673"/>
                  </a:cubicBezTo>
                  <a:cubicBezTo>
                    <a:pt x="21114" y="19313"/>
                    <a:pt x="20804" y="16264"/>
                    <a:pt x="21600" y="16264"/>
                  </a:cubicBezTo>
                </a:path>
              </a:pathLst>
            </a:custGeom>
            <a:noFill/>
            <a:ln w="28575" cap="flat">
              <a:solidFill>
                <a:srgbClr val="E57DDB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80" name="Shape 680"/>
            <p:cNvSpPr/>
            <p:nvPr/>
          </p:nvSpPr>
          <p:spPr>
            <a:xfrm>
              <a:off x="1694392" y="2675997"/>
              <a:ext cx="4699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FE2A56"/>
                </a:buClr>
                <a:buFont typeface="Helvetica"/>
                <a:defRPr sz="1600" b="1">
                  <a:solidFill>
                    <a:srgbClr val="FE2A56"/>
                  </a:solidFill>
                  <a:uFill>
                    <a:solidFill>
                      <a:srgbClr val="FE2A56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FE2A56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x</a:t>
              </a:r>
            </a:p>
          </p:txBody>
        </p:sp>
      </p:grpSp>
      <p:sp>
        <p:nvSpPr>
          <p:cNvPr id="682" name="Shape 682"/>
          <p:cNvSpPr/>
          <p:nvPr/>
        </p:nvSpPr>
        <p:spPr>
          <a:xfrm>
            <a:off x="0" y="351322"/>
            <a:ext cx="8677114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L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ower, or more negative on 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G</a:t>
            </a:r>
            <a:r>
              <a:rPr sz="2000" b="0" baseline="29999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axis means more </a:t>
            </a:r>
            <a:r>
              <a:rPr lang="en-US" sz="1600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stable (G</a:t>
            </a:r>
            <a:r>
              <a:rPr lang="en-US" b="0" baseline="29999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o </a:t>
            </a:r>
            <a:r>
              <a:rPr lang="en-US" sz="1600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is standard state Gibbs free energy) </a:t>
            </a:r>
            <a:endParaRPr lang="en-US" sz="1600" b="0" dirty="0">
              <a:solidFill>
                <a:schemeClr val="tx1"/>
              </a:solidFill>
              <a:uFill>
                <a:solidFill/>
              </a:uFill>
              <a:latin typeface="Gill Sans" charset="0"/>
              <a:ea typeface="Gill Sans" charset="0"/>
              <a:cs typeface="Gill Sans" charset="0"/>
              <a:sym typeface="Helvetica"/>
            </a:endParaRPr>
          </a:p>
        </p:txBody>
      </p:sp>
      <p:sp>
        <p:nvSpPr>
          <p:cNvPr id="683" name="Shape 683"/>
          <p:cNvSpPr/>
          <p:nvPr/>
        </p:nvSpPr>
        <p:spPr>
          <a:xfrm>
            <a:off x="228600" y="685800"/>
            <a:ext cx="39751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</a:p>
        </p:txBody>
      </p:sp>
      <p:sp>
        <p:nvSpPr>
          <p:cNvPr id="684" name="Shape 684"/>
          <p:cNvSpPr/>
          <p:nvPr/>
        </p:nvSpPr>
        <p:spPr>
          <a:xfrm>
            <a:off x="0" y="638175"/>
            <a:ext cx="35179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W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hy plot 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G</a:t>
            </a:r>
            <a:r>
              <a:rPr sz="2000" b="0" baseline="29999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rather than 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G?!</a:t>
            </a:r>
          </a:p>
        </p:txBody>
      </p:sp>
      <p:grpSp>
        <p:nvGrpSpPr>
          <p:cNvPr id="692" name="Group 692"/>
          <p:cNvGrpSpPr/>
          <p:nvPr/>
        </p:nvGrpSpPr>
        <p:grpSpPr>
          <a:xfrm>
            <a:off x="3124200" y="1577974"/>
            <a:ext cx="4603014" cy="1373567"/>
            <a:chOff x="0" y="0"/>
            <a:chExt cx="4603013" cy="1373565"/>
          </a:xfrm>
        </p:grpSpPr>
        <p:pic>
          <p:nvPicPr>
            <p:cNvPr id="685" name="image.pdf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111257"/>
              <a:ext cx="1598528" cy="10665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86" name="Shape 686"/>
            <p:cNvSpPr/>
            <p:nvPr/>
          </p:nvSpPr>
          <p:spPr>
            <a:xfrm>
              <a:off x="3942612" y="161131"/>
              <a:ext cx="660401" cy="1641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500"/>
                </a:spcBef>
                <a:buClr>
                  <a:srgbClr val="000000"/>
                </a:buClr>
                <a:buFont typeface="Helvetica"/>
                <a:defRPr sz="1800">
                  <a:uFillTx/>
                </a:defRPr>
              </a:pPr>
              <a:r>
                <a:rPr sz="9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COO</a:t>
              </a:r>
              <a:r>
                <a:rPr sz="1600" b="0" baseline="23999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-</a:t>
              </a:r>
            </a:p>
          </p:txBody>
        </p:sp>
        <p:sp>
          <p:nvSpPr>
            <p:cNvPr id="687" name="Shape 687"/>
            <p:cNvSpPr/>
            <p:nvPr/>
          </p:nvSpPr>
          <p:spPr>
            <a:xfrm rot="960000">
              <a:off x="2728562" y="1209417"/>
              <a:ext cx="660401" cy="1641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500"/>
                </a:spcBef>
                <a:buClr>
                  <a:srgbClr val="000000"/>
                </a:buClr>
                <a:buFont typeface="Helvetica"/>
                <a:defRPr sz="1800">
                  <a:uFillTx/>
                </a:defRPr>
              </a:pPr>
              <a:r>
                <a:rPr sz="9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COO</a:t>
              </a:r>
              <a:r>
                <a:rPr sz="1600" b="0" baseline="23999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-</a:t>
              </a:r>
            </a:p>
          </p:txBody>
        </p:sp>
        <p:sp>
          <p:nvSpPr>
            <p:cNvPr id="688" name="Shape 688"/>
            <p:cNvSpPr/>
            <p:nvPr/>
          </p:nvSpPr>
          <p:spPr>
            <a:xfrm rot="1020000">
              <a:off x="3309841" y="749852"/>
              <a:ext cx="660401" cy="1641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500"/>
                </a:spcBef>
                <a:buClr>
                  <a:srgbClr val="000000"/>
                </a:buClr>
                <a:buFont typeface="Helvetica"/>
                <a:defRPr sz="1800">
                  <a:uFillTx/>
                </a:defRPr>
              </a:pPr>
              <a:r>
                <a:rPr sz="9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COO</a:t>
              </a:r>
              <a:r>
                <a:rPr sz="1600" b="0" baseline="23999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-</a:t>
              </a:r>
            </a:p>
          </p:txBody>
        </p:sp>
        <p:sp>
          <p:nvSpPr>
            <p:cNvPr id="689" name="Shape 689"/>
            <p:cNvSpPr/>
            <p:nvPr/>
          </p:nvSpPr>
          <p:spPr>
            <a:xfrm>
              <a:off x="3354034" y="0"/>
              <a:ext cx="660401" cy="1641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500"/>
                </a:spcBef>
                <a:buClr>
                  <a:srgbClr val="000000"/>
                </a:buClr>
                <a:buFont typeface="Helvetica"/>
                <a:defRPr sz="1800">
                  <a:uFillTx/>
                </a:defRPr>
              </a:pPr>
              <a:r>
                <a:rPr sz="9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COO</a:t>
              </a:r>
              <a:r>
                <a:rPr sz="1600" b="0" baseline="23999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-</a:t>
              </a:r>
            </a:p>
          </p:txBody>
        </p:sp>
        <p:sp>
          <p:nvSpPr>
            <p:cNvPr id="690" name="Shape 690"/>
            <p:cNvSpPr/>
            <p:nvPr/>
          </p:nvSpPr>
          <p:spPr>
            <a:xfrm rot="20820000">
              <a:off x="2608620" y="225732"/>
              <a:ext cx="660401" cy="1641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500"/>
                </a:spcBef>
                <a:buClr>
                  <a:srgbClr val="000000"/>
                </a:buClr>
                <a:buFont typeface="Helvetica"/>
                <a:defRPr sz="1800">
                  <a:uFillTx/>
                </a:defRPr>
              </a:pPr>
              <a:r>
                <a:rPr sz="9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COO</a:t>
              </a:r>
              <a:r>
                <a:rPr sz="1600" b="0" baseline="23999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-</a:t>
              </a:r>
            </a:p>
          </p:txBody>
        </p:sp>
        <p:sp>
          <p:nvSpPr>
            <p:cNvPr id="691" name="Shape 691"/>
            <p:cNvSpPr/>
            <p:nvPr/>
          </p:nvSpPr>
          <p:spPr>
            <a:xfrm rot="17640000">
              <a:off x="2248294" y="456703"/>
              <a:ext cx="749301" cy="1641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500"/>
                </a:spcBef>
                <a:buClr>
                  <a:srgbClr val="000000"/>
                </a:buClr>
                <a:buFont typeface="Helvetica"/>
                <a:defRPr sz="1800">
                  <a:uFillTx/>
                </a:defRPr>
              </a:pPr>
              <a:r>
                <a:rPr sz="9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COO</a:t>
              </a:r>
              <a:r>
                <a:rPr sz="1600" b="0" baseline="23999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-</a:t>
              </a:r>
            </a:p>
          </p:txBody>
        </p:sp>
      </p:grpSp>
      <p:sp>
        <p:nvSpPr>
          <p:cNvPr id="693" name="Shape 693"/>
          <p:cNvSpPr/>
          <p:nvPr/>
        </p:nvSpPr>
        <p:spPr>
          <a:xfrm>
            <a:off x="2578795" y="1447574"/>
            <a:ext cx="774700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700"/>
              </a:spcBef>
              <a:buClr>
                <a:srgbClr val="000000"/>
              </a:buClr>
              <a:buFont typeface="Helvetica"/>
              <a:defRPr sz="12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200" b="0" dirty="0" err="1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pKa</a:t>
            </a:r>
            <a:r>
              <a:rPr sz="12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~ 4</a:t>
            </a:r>
          </a:p>
        </p:txBody>
      </p:sp>
      <p:sp>
        <p:nvSpPr>
          <p:cNvPr id="694" name="Shape 694"/>
          <p:cNvSpPr/>
          <p:nvPr/>
        </p:nvSpPr>
        <p:spPr>
          <a:xfrm>
            <a:off x="2571749" y="638601"/>
            <a:ext cx="5812230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lvl="0">
              <a:spcBef>
                <a:spcPts val="900"/>
              </a:spcBef>
              <a:buClr>
                <a:srgbClr val="B92FC2"/>
              </a:buClr>
              <a:buFont typeface="Helvetica"/>
              <a:defRPr sz="180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B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ecause pressure = 1 atmosphere and we want concentration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to be fixed (G depends on concentration, G° is for standard state 1M).</a:t>
            </a:r>
            <a:endParaRPr sz="1600" b="0" dirty="0">
              <a:solidFill>
                <a:schemeClr val="tx1"/>
              </a:solidFill>
              <a:uFill>
                <a:solidFill>
                  <a:srgbClr val="B92FC2"/>
                </a:solidFill>
              </a:uFill>
              <a:latin typeface="Gill Sans" charset="0"/>
              <a:ea typeface="Gill Sans" charset="0"/>
              <a:cs typeface="Gill Sans" charset="0"/>
              <a:sym typeface="Helvetica"/>
            </a:endParaRPr>
          </a:p>
        </p:txBody>
      </p:sp>
      <p:sp>
        <p:nvSpPr>
          <p:cNvPr id="697" name="Shape 697"/>
          <p:cNvSpPr/>
          <p:nvPr/>
        </p:nvSpPr>
        <p:spPr>
          <a:xfrm>
            <a:off x="-1" y="6320361"/>
            <a:ext cx="915670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B92FC2"/>
              </a:buClr>
              <a:buFont typeface="Helvetica"/>
              <a:defRPr sz="180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T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his is simple case of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-helix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.  N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ow consider entire protein structure….</a:t>
            </a:r>
            <a:endParaRPr sz="1600" b="0" dirty="0">
              <a:solidFill>
                <a:schemeClr val="tx1"/>
              </a:solidFill>
              <a:uFill>
                <a:solidFill>
                  <a:srgbClr val="B92FC2"/>
                </a:solidFill>
              </a:uFill>
              <a:latin typeface="Gill Sans" charset="0"/>
              <a:ea typeface="Gill Sans" charset="0"/>
              <a:cs typeface="Gill Sans" charset="0"/>
              <a:sym typeface="Helvetica"/>
            </a:endParaRPr>
          </a:p>
        </p:txBody>
      </p:sp>
      <p:grpSp>
        <p:nvGrpSpPr>
          <p:cNvPr id="702" name="Group 702"/>
          <p:cNvGrpSpPr/>
          <p:nvPr/>
        </p:nvGrpSpPr>
        <p:grpSpPr>
          <a:xfrm>
            <a:off x="444499" y="2971799"/>
            <a:ext cx="3518596" cy="435414"/>
            <a:chOff x="63499" y="0"/>
            <a:chExt cx="3518596" cy="435412"/>
          </a:xfrm>
        </p:grpSpPr>
        <p:sp>
          <p:nvSpPr>
            <p:cNvPr id="698" name="Shape 698"/>
            <p:cNvSpPr/>
            <p:nvPr/>
          </p:nvSpPr>
          <p:spPr>
            <a:xfrm>
              <a:off x="2197795" y="219969"/>
              <a:ext cx="1384300" cy="215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800"/>
                </a:spcBef>
                <a:buClr>
                  <a:srgbClr val="0222B9"/>
                </a:buClr>
                <a:buFont typeface="Helvetica"/>
                <a:defRPr sz="1800">
                  <a:uFillTx/>
                </a:defRPr>
              </a:pPr>
              <a:r>
                <a:rPr sz="1400" b="0" dirty="0">
                  <a:solidFill>
                    <a:schemeClr val="tx1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U</a:t>
              </a:r>
              <a:r>
                <a:rPr lang="en-US" sz="1400" b="0" dirty="0">
                  <a:solidFill>
                    <a:schemeClr val="tx1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n</a:t>
              </a:r>
              <a:r>
                <a:rPr lang="en-US" sz="1400" b="0" dirty="0">
                  <a:solidFill>
                    <a:schemeClr val="tx1"/>
                  </a:solidFill>
                  <a:uFill>
                    <a:solidFill>
                      <a:srgbClr val="1025B2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folded</a:t>
              </a:r>
            </a:p>
          </p:txBody>
        </p:sp>
        <p:sp>
          <p:nvSpPr>
            <p:cNvPr id="699" name="Shape 699"/>
            <p:cNvSpPr/>
            <p:nvPr/>
          </p:nvSpPr>
          <p:spPr>
            <a:xfrm rot="5400000">
              <a:off x="2480468" y="-359569"/>
              <a:ext cx="195264" cy="1066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96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15635" y="10800"/>
                    <a:pt x="21600" y="10800"/>
                  </a:cubicBezTo>
                  <a:cubicBezTo>
                    <a:pt x="1563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5965" y="21600"/>
                    <a:pt x="0" y="21600"/>
                  </a:cubicBezTo>
                </a:path>
              </a:pathLst>
            </a:custGeom>
            <a:noFill/>
            <a:ln w="28575" cap="flat">
              <a:solidFill>
                <a:srgbClr val="0222B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00" name="Shape 700"/>
            <p:cNvSpPr/>
            <p:nvPr/>
          </p:nvSpPr>
          <p:spPr>
            <a:xfrm>
              <a:off x="133350" y="158760"/>
              <a:ext cx="1384300" cy="215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800"/>
                </a:spcBef>
                <a:buClr>
                  <a:srgbClr val="0222B9"/>
                </a:buClr>
                <a:buFont typeface="Helvetica"/>
                <a:defRPr sz="1400" b="1">
                  <a:solidFill>
                    <a:srgbClr val="0222B9"/>
                  </a:solidFill>
                  <a:uFill>
                    <a:solidFill>
                      <a:srgbClr val="0222B9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400" b="0" dirty="0">
                  <a:solidFill>
                    <a:schemeClr val="tx1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U</a:t>
              </a:r>
              <a:r>
                <a:rPr lang="en-US" sz="1400" b="0" dirty="0">
                  <a:solidFill>
                    <a:schemeClr val="tx1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nfolded</a:t>
              </a:r>
            </a:p>
          </p:txBody>
        </p:sp>
        <p:sp>
          <p:nvSpPr>
            <p:cNvPr id="701" name="Shape 701"/>
            <p:cNvSpPr/>
            <p:nvPr/>
          </p:nvSpPr>
          <p:spPr>
            <a:xfrm rot="5400000">
              <a:off x="435768" y="-372269"/>
              <a:ext cx="195264" cy="939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96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15635" y="10800"/>
                    <a:pt x="21600" y="10800"/>
                  </a:cubicBezTo>
                  <a:cubicBezTo>
                    <a:pt x="1563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5965" y="21600"/>
                    <a:pt x="0" y="21600"/>
                  </a:cubicBezTo>
                </a:path>
              </a:pathLst>
            </a:custGeom>
            <a:noFill/>
            <a:ln w="28575" cap="flat">
              <a:solidFill>
                <a:srgbClr val="0222B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703" name="Shape 703"/>
          <p:cNvSpPr/>
          <p:nvPr/>
        </p:nvSpPr>
        <p:spPr>
          <a:xfrm>
            <a:off x="5651499" y="1695191"/>
            <a:ext cx="1536701" cy="1193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17" h="20357" extrusionOk="0">
                <a:moveTo>
                  <a:pt x="6542" y="3205"/>
                </a:moveTo>
                <a:cubicBezTo>
                  <a:pt x="6947" y="3621"/>
                  <a:pt x="7443" y="3909"/>
                  <a:pt x="7803" y="4485"/>
                </a:cubicBezTo>
                <a:cubicBezTo>
                  <a:pt x="8073" y="4933"/>
                  <a:pt x="8524" y="6021"/>
                  <a:pt x="8524" y="6021"/>
                </a:cubicBezTo>
                <a:cubicBezTo>
                  <a:pt x="8434" y="6949"/>
                  <a:pt x="8343" y="9413"/>
                  <a:pt x="7983" y="10373"/>
                </a:cubicBezTo>
                <a:cubicBezTo>
                  <a:pt x="7803" y="10757"/>
                  <a:pt x="7172" y="10981"/>
                  <a:pt x="6902" y="11141"/>
                </a:cubicBezTo>
                <a:cubicBezTo>
                  <a:pt x="5686" y="10789"/>
                  <a:pt x="4469" y="10789"/>
                  <a:pt x="3298" y="10373"/>
                </a:cubicBezTo>
                <a:cubicBezTo>
                  <a:pt x="-215" y="10661"/>
                  <a:pt x="-283" y="9573"/>
                  <a:pt x="235" y="14213"/>
                </a:cubicBezTo>
                <a:cubicBezTo>
                  <a:pt x="370" y="15557"/>
                  <a:pt x="1271" y="17093"/>
                  <a:pt x="2217" y="17541"/>
                </a:cubicBezTo>
                <a:cubicBezTo>
                  <a:pt x="2758" y="17797"/>
                  <a:pt x="3298" y="18053"/>
                  <a:pt x="3839" y="18309"/>
                </a:cubicBezTo>
                <a:cubicBezTo>
                  <a:pt x="4019" y="18373"/>
                  <a:pt x="4379" y="18565"/>
                  <a:pt x="4379" y="18565"/>
                </a:cubicBezTo>
                <a:cubicBezTo>
                  <a:pt x="6204" y="18021"/>
                  <a:pt x="5933" y="16965"/>
                  <a:pt x="7262" y="15749"/>
                </a:cubicBezTo>
                <a:cubicBezTo>
                  <a:pt x="7825" y="14501"/>
                  <a:pt x="8952" y="13637"/>
                  <a:pt x="9965" y="13189"/>
                </a:cubicBezTo>
                <a:cubicBezTo>
                  <a:pt x="10776" y="12005"/>
                  <a:pt x="11880" y="11525"/>
                  <a:pt x="12848" y="10629"/>
                </a:cubicBezTo>
                <a:cubicBezTo>
                  <a:pt x="13096" y="10053"/>
                  <a:pt x="13479" y="9637"/>
                  <a:pt x="13749" y="9093"/>
                </a:cubicBezTo>
                <a:cubicBezTo>
                  <a:pt x="14222" y="8069"/>
                  <a:pt x="13501" y="8389"/>
                  <a:pt x="14470" y="7813"/>
                </a:cubicBezTo>
                <a:cubicBezTo>
                  <a:pt x="14808" y="7589"/>
                  <a:pt x="15551" y="7301"/>
                  <a:pt x="15551" y="7301"/>
                </a:cubicBezTo>
                <a:cubicBezTo>
                  <a:pt x="15844" y="7365"/>
                  <a:pt x="16182" y="7333"/>
                  <a:pt x="16452" y="7557"/>
                </a:cubicBezTo>
                <a:cubicBezTo>
                  <a:pt x="17240" y="8197"/>
                  <a:pt x="16857" y="10021"/>
                  <a:pt x="17353" y="10885"/>
                </a:cubicBezTo>
                <a:cubicBezTo>
                  <a:pt x="17465" y="11077"/>
                  <a:pt x="17713" y="11045"/>
                  <a:pt x="17893" y="11141"/>
                </a:cubicBezTo>
                <a:cubicBezTo>
                  <a:pt x="18254" y="11045"/>
                  <a:pt x="18614" y="10981"/>
                  <a:pt x="18975" y="10885"/>
                </a:cubicBezTo>
                <a:cubicBezTo>
                  <a:pt x="19335" y="10725"/>
                  <a:pt x="20056" y="10373"/>
                  <a:pt x="20056" y="10373"/>
                </a:cubicBezTo>
                <a:cubicBezTo>
                  <a:pt x="20236" y="10117"/>
                  <a:pt x="20439" y="9893"/>
                  <a:pt x="20596" y="9605"/>
                </a:cubicBezTo>
                <a:cubicBezTo>
                  <a:pt x="20867" y="8933"/>
                  <a:pt x="21317" y="7557"/>
                  <a:pt x="21317" y="7557"/>
                </a:cubicBezTo>
                <a:cubicBezTo>
                  <a:pt x="21249" y="6533"/>
                  <a:pt x="21272" y="5477"/>
                  <a:pt x="21137" y="4485"/>
                </a:cubicBezTo>
                <a:cubicBezTo>
                  <a:pt x="21002" y="3589"/>
                  <a:pt x="19695" y="2693"/>
                  <a:pt x="19695" y="2693"/>
                </a:cubicBezTo>
                <a:cubicBezTo>
                  <a:pt x="18141" y="2917"/>
                  <a:pt x="16700" y="3045"/>
                  <a:pt x="15191" y="2437"/>
                </a:cubicBezTo>
                <a:cubicBezTo>
                  <a:pt x="14245" y="2053"/>
                  <a:pt x="13479" y="1061"/>
                  <a:pt x="12488" y="901"/>
                </a:cubicBezTo>
                <a:cubicBezTo>
                  <a:pt x="11317" y="677"/>
                  <a:pt x="10190" y="517"/>
                  <a:pt x="9064" y="133"/>
                </a:cubicBezTo>
                <a:cubicBezTo>
                  <a:pt x="5393" y="325"/>
                  <a:pt x="3906" y="-1243"/>
                  <a:pt x="2938" y="2949"/>
                </a:cubicBezTo>
                <a:cubicBezTo>
                  <a:pt x="2803" y="4517"/>
                  <a:pt x="2330" y="7429"/>
                  <a:pt x="3118" y="8837"/>
                </a:cubicBezTo>
                <a:cubicBezTo>
                  <a:pt x="3411" y="9349"/>
                  <a:pt x="3794" y="9349"/>
                  <a:pt x="4199" y="9605"/>
                </a:cubicBezTo>
                <a:cubicBezTo>
                  <a:pt x="5190" y="10213"/>
                  <a:pt x="6271" y="10693"/>
                  <a:pt x="7262" y="11397"/>
                </a:cubicBezTo>
                <a:cubicBezTo>
                  <a:pt x="7893" y="11845"/>
                  <a:pt x="8884" y="13445"/>
                  <a:pt x="8884" y="13445"/>
                </a:cubicBezTo>
                <a:cubicBezTo>
                  <a:pt x="9244" y="15013"/>
                  <a:pt x="8929" y="13989"/>
                  <a:pt x="10145" y="16261"/>
                </a:cubicBezTo>
                <a:cubicBezTo>
                  <a:pt x="10326" y="16581"/>
                  <a:pt x="10686" y="17285"/>
                  <a:pt x="10686" y="17285"/>
                </a:cubicBezTo>
                <a:cubicBezTo>
                  <a:pt x="10911" y="18245"/>
                  <a:pt x="11226" y="19333"/>
                  <a:pt x="11226" y="20357"/>
                </a:cubicBezTo>
              </a:path>
            </a:pathLst>
          </a:custGeom>
          <a:ln w="57150">
            <a:solidFill>
              <a:srgbClr val="E57DDB"/>
            </a:solidFill>
            <a:round/>
          </a:ln>
        </p:spPr>
        <p:txBody>
          <a:bodyPr lIns="0" tIns="0" rIns="0" bIns="0" anchor="ctr"/>
          <a:lstStyle/>
          <a:p>
            <a:pPr lvl="0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b="0">
              <a:solidFill>
                <a:schemeClr val="tx1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708" name="Group 708"/>
          <p:cNvGrpSpPr/>
          <p:nvPr/>
        </p:nvGrpSpPr>
        <p:grpSpPr>
          <a:xfrm>
            <a:off x="5397499" y="3124198"/>
            <a:ext cx="3239068" cy="359308"/>
            <a:chOff x="63499" y="-1"/>
            <a:chExt cx="3239067" cy="359306"/>
          </a:xfrm>
        </p:grpSpPr>
        <p:sp>
          <p:nvSpPr>
            <p:cNvPr id="704" name="Shape 704"/>
            <p:cNvSpPr/>
            <p:nvPr/>
          </p:nvSpPr>
          <p:spPr>
            <a:xfrm>
              <a:off x="238125" y="128587"/>
              <a:ext cx="1384300" cy="215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800"/>
                </a:spcBef>
                <a:buClr>
                  <a:srgbClr val="FF2B5B"/>
                </a:buClr>
                <a:buFont typeface="Helvetica"/>
                <a:defRPr sz="1400" b="1">
                  <a:solidFill>
                    <a:srgbClr val="FF2B5B"/>
                  </a:solidFill>
                  <a:uFill>
                    <a:solidFill>
                      <a:srgbClr val="FF2B5B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lang="en-US" sz="1400" b="0">
                  <a:solidFill>
                    <a:schemeClr val="tx1"/>
                  </a:solidFill>
                  <a:uFill>
                    <a:solidFill>
                      <a:srgbClr val="FF2B5B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Unfolded</a:t>
              </a:r>
              <a:endParaRPr lang="en-US" sz="1400" b="0" dirty="0">
                <a:solidFill>
                  <a:schemeClr val="tx1"/>
                </a:solidFill>
                <a:uFill>
                  <a:solidFill>
                    <a:srgbClr val="FF2B5B"/>
                  </a:solidFill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05" name="Shape 705"/>
            <p:cNvSpPr/>
            <p:nvPr/>
          </p:nvSpPr>
          <p:spPr>
            <a:xfrm rot="5400000">
              <a:off x="499268" y="-435769"/>
              <a:ext cx="195264" cy="1066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96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15635" y="10800"/>
                    <a:pt x="21600" y="10800"/>
                  </a:cubicBezTo>
                  <a:cubicBezTo>
                    <a:pt x="1563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5965" y="21600"/>
                    <a:pt x="0" y="21600"/>
                  </a:cubicBezTo>
                </a:path>
              </a:pathLst>
            </a:custGeom>
            <a:noFill/>
            <a:ln w="28575" cap="flat">
              <a:solidFill>
                <a:srgbClr val="E57DDB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06" name="Shape 706"/>
            <p:cNvSpPr/>
            <p:nvPr/>
          </p:nvSpPr>
          <p:spPr>
            <a:xfrm>
              <a:off x="1918266" y="143862"/>
              <a:ext cx="1384300" cy="215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800"/>
                </a:spcBef>
                <a:buClr>
                  <a:srgbClr val="FF2B5B"/>
                </a:buClr>
                <a:buFont typeface="Helvetica"/>
                <a:defRPr sz="1400" b="1">
                  <a:solidFill>
                    <a:srgbClr val="FF2B5B"/>
                  </a:solidFill>
                  <a:uFill>
                    <a:solidFill>
                      <a:srgbClr val="FF2B5B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400" b="0" dirty="0">
                  <a:solidFill>
                    <a:schemeClr val="tx1"/>
                  </a:solidFill>
                  <a:uFill>
                    <a:solidFill>
                      <a:srgbClr val="FF2B5B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U</a:t>
              </a:r>
              <a:r>
                <a:rPr lang="en-US" sz="1400" b="0" dirty="0">
                  <a:solidFill>
                    <a:schemeClr val="tx1"/>
                  </a:solidFill>
                  <a:uFill>
                    <a:solidFill>
                      <a:srgbClr val="FF2B5B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nfolded</a:t>
              </a:r>
            </a:p>
          </p:txBody>
        </p:sp>
        <p:sp>
          <p:nvSpPr>
            <p:cNvPr id="707" name="Shape 707"/>
            <p:cNvSpPr/>
            <p:nvPr/>
          </p:nvSpPr>
          <p:spPr>
            <a:xfrm rot="5400000">
              <a:off x="2192337" y="-757238"/>
              <a:ext cx="195263" cy="1709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96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15635" y="10800"/>
                    <a:pt x="21600" y="10800"/>
                  </a:cubicBezTo>
                  <a:cubicBezTo>
                    <a:pt x="1563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5965" y="21600"/>
                    <a:pt x="0" y="21600"/>
                  </a:cubicBezTo>
                </a:path>
              </a:pathLst>
            </a:custGeom>
            <a:noFill/>
            <a:ln w="28575" cap="flat">
              <a:solidFill>
                <a:srgbClr val="E57DDB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709" name="Shape 709"/>
          <p:cNvSpPr/>
          <p:nvPr/>
        </p:nvSpPr>
        <p:spPr>
          <a:xfrm>
            <a:off x="1549400" y="1714500"/>
            <a:ext cx="1329437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7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pH &lt; pKa of ~ 4    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∴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H</a:t>
            </a:r>
            <a:r>
              <a:rPr sz="1400" b="0" baseline="18285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+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"mainly on"</a:t>
            </a:r>
          </a:p>
        </p:txBody>
      </p:sp>
      <p:pic>
        <p:nvPicPr>
          <p:cNvPr id="710" name="helix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3129739" y="1789624"/>
            <a:ext cx="1585648" cy="1033994"/>
          </a:xfrm>
          <a:prstGeom prst="rect">
            <a:avLst/>
          </a:prstGeom>
          <a:ln>
            <a:round/>
          </a:ln>
        </p:spPr>
      </p:pic>
      <p:grpSp>
        <p:nvGrpSpPr>
          <p:cNvPr id="713" name="Group 713"/>
          <p:cNvGrpSpPr/>
          <p:nvPr/>
        </p:nvGrpSpPr>
        <p:grpSpPr>
          <a:xfrm>
            <a:off x="6146800" y="3132637"/>
            <a:ext cx="1384300" cy="1796054"/>
            <a:chOff x="0" y="2"/>
            <a:chExt cx="1384300" cy="1796052"/>
          </a:xfrm>
        </p:grpSpPr>
        <p:sp>
          <p:nvSpPr>
            <p:cNvPr id="711" name="Shape 711"/>
            <p:cNvSpPr/>
            <p:nvPr/>
          </p:nvSpPr>
          <p:spPr>
            <a:xfrm>
              <a:off x="0" y="978859"/>
              <a:ext cx="1384300" cy="215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800"/>
                </a:spcBef>
                <a:buClr>
                  <a:srgbClr val="FF2B5B"/>
                </a:buClr>
                <a:buFont typeface="Helvetica"/>
                <a:defRPr sz="1400" b="1">
                  <a:solidFill>
                    <a:srgbClr val="FF2B5B"/>
                  </a:solidFill>
                  <a:uFill>
                    <a:solidFill>
                      <a:srgbClr val="FF2B5B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400" b="0" dirty="0">
                  <a:solidFill>
                    <a:schemeClr val="tx1"/>
                  </a:solidFill>
                  <a:uFill>
                    <a:solidFill>
                      <a:srgbClr val="FF2B5B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N</a:t>
              </a:r>
              <a:r>
                <a:rPr lang="en-US" sz="1400" b="0" dirty="0">
                  <a:solidFill>
                    <a:schemeClr val="tx1"/>
                  </a:solidFill>
                  <a:uFill>
                    <a:solidFill>
                      <a:srgbClr val="FF2B5B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 helix stability</a:t>
              </a:r>
            </a:p>
          </p:txBody>
        </p:sp>
        <p:sp>
          <p:nvSpPr>
            <p:cNvPr id="712" name="Shape 712"/>
            <p:cNvSpPr/>
            <p:nvPr/>
          </p:nvSpPr>
          <p:spPr>
            <a:xfrm flipV="1">
              <a:off x="443112" y="2"/>
              <a:ext cx="1" cy="1796052"/>
            </a:xfrm>
            <a:prstGeom prst="line">
              <a:avLst/>
            </a:prstGeom>
            <a:noFill/>
            <a:ln w="25400" cap="flat">
              <a:solidFill>
                <a:srgbClr val="E57DDB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780412" y="1877032"/>
            <a:ext cx="1334226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s</a:t>
            </a:r>
            <a:r>
              <a:rPr kumimoji="0" lang="en-US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 uncharged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A7EC79-3640-983E-38D0-0FCBEE6C92C7}"/>
              </a:ext>
            </a:extLst>
          </p:cNvPr>
          <p:cNvSpPr txBox="1"/>
          <p:nvPr/>
        </p:nvSpPr>
        <p:spPr>
          <a:xfrm>
            <a:off x="558177" y="2494603"/>
            <a:ext cx="370614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39F48-3ECA-B371-1E72-D34675E67EE2}"/>
              </a:ext>
            </a:extLst>
          </p:cNvPr>
          <p:cNvSpPr txBox="1"/>
          <p:nvPr/>
        </p:nvSpPr>
        <p:spPr>
          <a:xfrm>
            <a:off x="1898570" y="4665888"/>
            <a:ext cx="76815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helix</a:t>
            </a: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5" name="Shape 709">
            <a:extLst>
              <a:ext uri="{FF2B5EF4-FFF2-40B4-BE49-F238E27FC236}">
                <a16:creationId xmlns:a16="http://schemas.microsoft.com/office/drawing/2014/main" id="{5D7FBBCC-EB79-3472-5861-6DAF6405E80E}"/>
              </a:ext>
            </a:extLst>
          </p:cNvPr>
          <p:cNvSpPr/>
          <p:nvPr/>
        </p:nvSpPr>
        <p:spPr>
          <a:xfrm>
            <a:off x="7546861" y="1843408"/>
            <a:ext cx="1329437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7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pH </a:t>
            </a:r>
            <a:r>
              <a:rPr lang="en-US"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&gt;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pKa of ~ 4    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∴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H</a:t>
            </a:r>
            <a:r>
              <a:rPr sz="1400" b="0" baseline="18285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+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"mainly o</a:t>
            </a:r>
            <a:r>
              <a:rPr lang="en-US"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ff</a:t>
            </a:r>
            <a:r>
              <a:rPr sz="14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CBD252-32D6-E39E-8C9A-7BAF0896E8E1}"/>
              </a:ext>
            </a:extLst>
          </p:cNvPr>
          <p:cNvSpPr txBox="1"/>
          <p:nvPr/>
        </p:nvSpPr>
        <p:spPr>
          <a:xfrm>
            <a:off x="7846795" y="2230767"/>
            <a:ext cx="1334226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s</a:t>
            </a:r>
            <a:r>
              <a:rPr kumimoji="0" lang="en-US" sz="1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 charged!</a:t>
            </a:r>
          </a:p>
        </p:txBody>
      </p:sp>
    </p:spTree>
    <p:extLst>
      <p:ext uri="{BB962C8B-B14F-4D97-AF65-F5344CB8AC3E}">
        <p14:creationId xmlns:p14="http://schemas.microsoft.com/office/powerpoint/2010/main" val="1165552511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" grpId="0" animBg="1" advAuto="0"/>
      <p:bldP spid="662" grpId="0" animBg="1" advAuto="0"/>
      <p:bldP spid="684" grpId="0" animBg="1" advAuto="0"/>
      <p:bldP spid="694" grpId="0"/>
      <p:bldP spid="697" grpId="0" animBg="1" advAuto="0"/>
      <p:bldP spid="702" grpId="0" advAuto="0"/>
      <p:bldP spid="708" grpId="0" advAuto="0"/>
      <p:bldP spid="713" grpId="0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Shape 715"/>
          <p:cNvSpPr>
            <a:spLocks noGrp="1"/>
          </p:cNvSpPr>
          <p:nvPr>
            <p:ph type="title"/>
          </p:nvPr>
        </p:nvSpPr>
        <p:spPr>
          <a:xfrm>
            <a:off x="0" y="-55587"/>
            <a:ext cx="9144000" cy="381001"/>
          </a:xfrm>
          <a:prstGeom prst="rect">
            <a:avLst/>
          </a:prstGeom>
        </p:spPr>
        <p:txBody>
          <a:bodyPr/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2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</a:t>
            </a:r>
            <a:r>
              <a:rPr lang="en-US" sz="22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rotein stability on a graph: denaturation and renaturation</a:t>
            </a:r>
          </a:p>
        </p:txBody>
      </p:sp>
      <p:sp>
        <p:nvSpPr>
          <p:cNvPr id="716" name="Shape 716"/>
          <p:cNvSpPr/>
          <p:nvPr/>
        </p:nvSpPr>
        <p:spPr>
          <a:xfrm>
            <a:off x="457200" y="970080"/>
            <a:ext cx="1588" cy="2514600"/>
          </a:xfrm>
          <a:prstGeom prst="line">
            <a:avLst/>
          </a:prstGeom>
          <a:ln>
            <a:solidFill/>
            <a:round/>
          </a:ln>
        </p:spPr>
        <p:txBody>
          <a:bodyPr lIns="0" tIns="0" rIns="0" bIns="0"/>
          <a:lstStyle/>
          <a:p>
            <a:pPr marL="0" marR="0" lvl="0" defTabSz="457200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b="0">
              <a:solidFill>
                <a:schemeClr val="tx1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17" name="Shape 717"/>
          <p:cNvSpPr/>
          <p:nvPr/>
        </p:nvSpPr>
        <p:spPr>
          <a:xfrm>
            <a:off x="609600" y="3941880"/>
            <a:ext cx="1588" cy="2514600"/>
          </a:xfrm>
          <a:prstGeom prst="line">
            <a:avLst/>
          </a:prstGeom>
          <a:ln>
            <a:solidFill/>
            <a:round/>
          </a:ln>
        </p:spPr>
        <p:txBody>
          <a:bodyPr lIns="0" tIns="0" rIns="0" bIns="0"/>
          <a:lstStyle/>
          <a:p>
            <a:pPr marL="0" marR="0" lvl="0" defTabSz="457200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b="0">
              <a:solidFill>
                <a:schemeClr val="tx1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18" name="Shape 718"/>
          <p:cNvSpPr/>
          <p:nvPr/>
        </p:nvSpPr>
        <p:spPr>
          <a:xfrm>
            <a:off x="457200" y="3484680"/>
            <a:ext cx="5334000" cy="1588"/>
          </a:xfrm>
          <a:prstGeom prst="line">
            <a:avLst/>
          </a:prstGeom>
          <a:ln>
            <a:solidFill/>
            <a:round/>
          </a:ln>
        </p:spPr>
        <p:txBody>
          <a:bodyPr lIns="0" tIns="0" rIns="0" bIns="0"/>
          <a:lstStyle/>
          <a:p>
            <a:pPr marL="0" marR="0" lvl="0" defTabSz="457200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b="0">
              <a:solidFill>
                <a:schemeClr val="tx1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19" name="Shape 719"/>
          <p:cNvSpPr/>
          <p:nvPr/>
        </p:nvSpPr>
        <p:spPr>
          <a:xfrm>
            <a:off x="609600" y="6456480"/>
            <a:ext cx="5334000" cy="1588"/>
          </a:xfrm>
          <a:prstGeom prst="line">
            <a:avLst/>
          </a:prstGeom>
          <a:ln>
            <a:solidFill/>
            <a:round/>
          </a:ln>
        </p:spPr>
        <p:txBody>
          <a:bodyPr lIns="0" tIns="0" rIns="0" bIns="0"/>
          <a:lstStyle/>
          <a:p>
            <a:pPr marL="0" marR="0" lvl="0" defTabSz="457200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b="0">
              <a:solidFill>
                <a:schemeClr val="tx1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20" name="Shape 720"/>
          <p:cNvSpPr/>
          <p:nvPr/>
        </p:nvSpPr>
        <p:spPr>
          <a:xfrm>
            <a:off x="44825" y="1723115"/>
            <a:ext cx="5461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400"/>
              </a:spcBef>
              <a:buClr>
                <a:srgbClr val="000000"/>
              </a:buClr>
              <a:buFont typeface="Helvetica"/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4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G</a:t>
            </a:r>
          </a:p>
        </p:txBody>
      </p:sp>
      <p:sp>
        <p:nvSpPr>
          <p:cNvPr id="721" name="Shape 721"/>
          <p:cNvSpPr/>
          <p:nvPr/>
        </p:nvSpPr>
        <p:spPr>
          <a:xfrm>
            <a:off x="35860" y="4771115"/>
            <a:ext cx="6223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400"/>
              </a:spcBef>
              <a:buClr>
                <a:srgbClr val="000000"/>
              </a:buClr>
              <a:buFont typeface="Helvetica"/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4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G</a:t>
            </a:r>
          </a:p>
        </p:txBody>
      </p:sp>
      <p:sp>
        <p:nvSpPr>
          <p:cNvPr id="722" name="Shape 722"/>
          <p:cNvSpPr/>
          <p:nvPr/>
        </p:nvSpPr>
        <p:spPr>
          <a:xfrm>
            <a:off x="228600" y="1579680"/>
            <a:ext cx="3302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00000"/>
              </a:buClr>
              <a:buFont typeface="Helvetica"/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0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</a:t>
            </a:r>
          </a:p>
        </p:txBody>
      </p:sp>
      <p:sp>
        <p:nvSpPr>
          <p:cNvPr id="723" name="Shape 723"/>
          <p:cNvSpPr/>
          <p:nvPr/>
        </p:nvSpPr>
        <p:spPr>
          <a:xfrm>
            <a:off x="228600" y="4627680"/>
            <a:ext cx="3937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00000"/>
              </a:buClr>
              <a:buFont typeface="Helvetica"/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0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</a:t>
            </a:r>
          </a:p>
        </p:txBody>
      </p:sp>
      <p:sp>
        <p:nvSpPr>
          <p:cNvPr id="724" name="Shape 724"/>
          <p:cNvSpPr/>
          <p:nvPr/>
        </p:nvSpPr>
        <p:spPr>
          <a:xfrm>
            <a:off x="457200" y="1503480"/>
            <a:ext cx="5013325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8" extrusionOk="0">
                <a:moveTo>
                  <a:pt x="0" y="0"/>
                </a:moveTo>
                <a:cubicBezTo>
                  <a:pt x="506" y="521"/>
                  <a:pt x="287" y="604"/>
                  <a:pt x="657" y="229"/>
                </a:cubicBezTo>
                <a:cubicBezTo>
                  <a:pt x="1122" y="458"/>
                  <a:pt x="1272" y="667"/>
                  <a:pt x="1751" y="458"/>
                </a:cubicBezTo>
                <a:cubicBezTo>
                  <a:pt x="2189" y="687"/>
                  <a:pt x="2531" y="958"/>
                  <a:pt x="2996" y="1125"/>
                </a:cubicBezTo>
                <a:cubicBezTo>
                  <a:pt x="3488" y="1583"/>
                  <a:pt x="2886" y="1125"/>
                  <a:pt x="3721" y="1125"/>
                </a:cubicBezTo>
                <a:cubicBezTo>
                  <a:pt x="3892" y="1125"/>
                  <a:pt x="4063" y="1250"/>
                  <a:pt x="4234" y="1333"/>
                </a:cubicBezTo>
                <a:cubicBezTo>
                  <a:pt x="4726" y="2833"/>
                  <a:pt x="4651" y="3791"/>
                  <a:pt x="4815" y="5791"/>
                </a:cubicBezTo>
                <a:cubicBezTo>
                  <a:pt x="4904" y="6936"/>
                  <a:pt x="5041" y="7915"/>
                  <a:pt x="5109" y="9123"/>
                </a:cubicBezTo>
                <a:cubicBezTo>
                  <a:pt x="5219" y="11248"/>
                  <a:pt x="5246" y="13414"/>
                  <a:pt x="5328" y="15559"/>
                </a:cubicBezTo>
                <a:cubicBezTo>
                  <a:pt x="5376" y="17018"/>
                  <a:pt x="5424" y="18559"/>
                  <a:pt x="5547" y="19996"/>
                </a:cubicBezTo>
                <a:cubicBezTo>
                  <a:pt x="5581" y="20434"/>
                  <a:pt x="5581" y="20975"/>
                  <a:pt x="5691" y="21329"/>
                </a:cubicBezTo>
                <a:cubicBezTo>
                  <a:pt x="5739" y="21496"/>
                  <a:pt x="5834" y="21475"/>
                  <a:pt x="5910" y="21558"/>
                </a:cubicBezTo>
                <a:cubicBezTo>
                  <a:pt x="6252" y="21183"/>
                  <a:pt x="6046" y="21600"/>
                  <a:pt x="6204" y="20663"/>
                </a:cubicBezTo>
                <a:cubicBezTo>
                  <a:pt x="6238" y="20413"/>
                  <a:pt x="6306" y="20225"/>
                  <a:pt x="6347" y="19996"/>
                </a:cubicBezTo>
                <a:cubicBezTo>
                  <a:pt x="6409" y="19559"/>
                  <a:pt x="6498" y="18663"/>
                  <a:pt x="6498" y="18663"/>
                </a:cubicBezTo>
                <a:cubicBezTo>
                  <a:pt x="6518" y="17851"/>
                  <a:pt x="6525" y="17018"/>
                  <a:pt x="6566" y="16226"/>
                </a:cubicBezTo>
                <a:cubicBezTo>
                  <a:pt x="6600" y="15476"/>
                  <a:pt x="6730" y="14726"/>
                  <a:pt x="6785" y="13997"/>
                </a:cubicBezTo>
                <a:cubicBezTo>
                  <a:pt x="6881" y="12643"/>
                  <a:pt x="6853" y="12331"/>
                  <a:pt x="6936" y="10894"/>
                </a:cubicBezTo>
                <a:cubicBezTo>
                  <a:pt x="6990" y="9811"/>
                  <a:pt x="7127" y="8811"/>
                  <a:pt x="7223" y="7790"/>
                </a:cubicBezTo>
                <a:cubicBezTo>
                  <a:pt x="7353" y="6311"/>
                  <a:pt x="7435" y="4874"/>
                  <a:pt x="7811" y="3791"/>
                </a:cubicBezTo>
                <a:cubicBezTo>
                  <a:pt x="7900" y="2916"/>
                  <a:pt x="7961" y="2729"/>
                  <a:pt x="8249" y="2458"/>
                </a:cubicBezTo>
                <a:cubicBezTo>
                  <a:pt x="8782" y="729"/>
                  <a:pt x="10287" y="1375"/>
                  <a:pt x="10725" y="1333"/>
                </a:cubicBezTo>
                <a:cubicBezTo>
                  <a:pt x="11436" y="1770"/>
                  <a:pt x="11641" y="1833"/>
                  <a:pt x="12551" y="2000"/>
                </a:cubicBezTo>
                <a:cubicBezTo>
                  <a:pt x="12599" y="2145"/>
                  <a:pt x="12626" y="2354"/>
                  <a:pt x="12695" y="2458"/>
                </a:cubicBezTo>
                <a:cubicBezTo>
                  <a:pt x="12831" y="2666"/>
                  <a:pt x="13132" y="2895"/>
                  <a:pt x="13132" y="2895"/>
                </a:cubicBezTo>
                <a:cubicBezTo>
                  <a:pt x="13447" y="2687"/>
                  <a:pt x="13639" y="2687"/>
                  <a:pt x="13864" y="2000"/>
                </a:cubicBezTo>
                <a:cubicBezTo>
                  <a:pt x="14439" y="2437"/>
                  <a:pt x="14877" y="2916"/>
                  <a:pt x="15472" y="3124"/>
                </a:cubicBezTo>
                <a:cubicBezTo>
                  <a:pt x="15889" y="3520"/>
                  <a:pt x="16080" y="2791"/>
                  <a:pt x="16491" y="2666"/>
                </a:cubicBezTo>
                <a:cubicBezTo>
                  <a:pt x="17120" y="2458"/>
                  <a:pt x="17715" y="2187"/>
                  <a:pt x="18317" y="1562"/>
                </a:cubicBezTo>
                <a:cubicBezTo>
                  <a:pt x="18919" y="2166"/>
                  <a:pt x="19425" y="2749"/>
                  <a:pt x="20068" y="2895"/>
                </a:cubicBezTo>
                <a:cubicBezTo>
                  <a:pt x="20574" y="2999"/>
                  <a:pt x="21600" y="3124"/>
                  <a:pt x="21600" y="3124"/>
                </a:cubicBezTo>
              </a:path>
            </a:pathLst>
          </a:custGeom>
          <a:ln w="28575">
            <a:solidFill>
              <a:srgbClr val="00A8AA"/>
            </a:solidFill>
            <a:round/>
          </a:ln>
        </p:spPr>
        <p:txBody>
          <a:bodyPr lIns="0" tIns="0" rIns="0" bIns="0" anchor="ctr"/>
          <a:lstStyle/>
          <a:p>
            <a:pPr lvl="0"/>
            <a:endParaRPr b="0">
              <a:solidFill>
                <a:schemeClr val="tx1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25" name="Shape 725"/>
          <p:cNvSpPr/>
          <p:nvPr/>
        </p:nvSpPr>
        <p:spPr>
          <a:xfrm>
            <a:off x="990600" y="3484680"/>
            <a:ext cx="519430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100"/>
              </a:spcBef>
              <a:buClr>
                <a:srgbClr val="000000"/>
              </a:buClr>
              <a:buFont typeface="Helvetica"/>
              <a:defRPr sz="1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b="0">
                <a:uFillTx/>
              </a:defRPr>
            </a:pPr>
            <a:r>
              <a:rPr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S</a:t>
            </a:r>
            <a:r>
              <a:rPr lang="en-US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tructural coordinates</a:t>
            </a:r>
          </a:p>
        </p:txBody>
      </p:sp>
      <p:sp>
        <p:nvSpPr>
          <p:cNvPr id="726" name="Shape 726"/>
          <p:cNvSpPr/>
          <p:nvPr/>
        </p:nvSpPr>
        <p:spPr>
          <a:xfrm>
            <a:off x="1066800" y="6532680"/>
            <a:ext cx="217239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1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b="0">
                <a:uFillTx/>
              </a:defRPr>
            </a:pPr>
            <a:r>
              <a:rPr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S</a:t>
            </a:r>
            <a:r>
              <a:rPr lang="en-US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tructural coordinates</a:t>
            </a:r>
            <a:endParaRPr b="0" dirty="0">
              <a:solidFill>
                <a:schemeClr val="tx1"/>
              </a:solidFill>
              <a:uFill>
                <a:solidFill/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27" name="Shape 727"/>
          <p:cNvSpPr/>
          <p:nvPr/>
        </p:nvSpPr>
        <p:spPr>
          <a:xfrm>
            <a:off x="533400" y="970080"/>
            <a:ext cx="43561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A8AA"/>
              </a:buClr>
              <a:buFont typeface="Helvetica"/>
              <a:defRPr sz="1600" b="1">
                <a:solidFill>
                  <a:srgbClr val="00A8AA"/>
                </a:solidFill>
                <a:uFill>
                  <a:solidFill>
                    <a:srgbClr val="00A8AA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00A8AA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P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00A8AA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rotein in physiological buffer</a:t>
            </a:r>
            <a:endParaRPr sz="1600" b="0" dirty="0">
              <a:solidFill>
                <a:schemeClr val="tx1"/>
              </a:solidFill>
              <a:uFill>
                <a:solidFill>
                  <a:srgbClr val="00A8AA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28" name="Shape 728"/>
          <p:cNvSpPr/>
          <p:nvPr/>
        </p:nvSpPr>
        <p:spPr>
          <a:xfrm>
            <a:off x="609600" y="3941880"/>
            <a:ext cx="1599983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222B9"/>
              </a:buClr>
              <a:buFont typeface="Helvetica"/>
              <a:defRPr sz="1600" b="1">
                <a:solidFill>
                  <a:srgbClr val="0222B9"/>
                </a:solidFill>
                <a:uFill>
                  <a:solidFill>
                    <a:srgbClr val="0222B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D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enature protein in 8M urea</a:t>
            </a:r>
          </a:p>
        </p:txBody>
      </p:sp>
      <p:sp>
        <p:nvSpPr>
          <p:cNvPr id="729" name="Shape 729"/>
          <p:cNvSpPr/>
          <p:nvPr/>
        </p:nvSpPr>
        <p:spPr>
          <a:xfrm>
            <a:off x="5029200" y="1579680"/>
            <a:ext cx="457200" cy="3810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solidFill>
                <a:schemeClr val="tx1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740" name="Group 740"/>
          <p:cNvGrpSpPr/>
          <p:nvPr/>
        </p:nvGrpSpPr>
        <p:grpSpPr>
          <a:xfrm>
            <a:off x="4800600" y="1006590"/>
            <a:ext cx="4508500" cy="516971"/>
            <a:chOff x="0" y="-2"/>
            <a:chExt cx="4508500" cy="516970"/>
          </a:xfrm>
        </p:grpSpPr>
        <p:grpSp>
          <p:nvGrpSpPr>
            <p:cNvPr id="738" name="Group 738"/>
            <p:cNvGrpSpPr/>
            <p:nvPr/>
          </p:nvGrpSpPr>
          <p:grpSpPr>
            <a:xfrm>
              <a:off x="0" y="-2"/>
              <a:ext cx="4057650" cy="483733"/>
              <a:chOff x="0" y="-1"/>
              <a:chExt cx="4057650" cy="483731"/>
            </a:xfrm>
          </p:grpSpPr>
          <p:grpSp>
            <p:nvGrpSpPr>
              <p:cNvPr id="736" name="Group 736"/>
              <p:cNvGrpSpPr/>
              <p:nvPr/>
            </p:nvGrpSpPr>
            <p:grpSpPr>
              <a:xfrm>
                <a:off x="0" y="-1"/>
                <a:ext cx="3975100" cy="257177"/>
                <a:chOff x="0" y="0"/>
                <a:chExt cx="3975100" cy="257175"/>
              </a:xfrm>
            </p:grpSpPr>
            <p:sp>
              <p:nvSpPr>
                <p:cNvPr id="730" name="Shape 730"/>
                <p:cNvSpPr/>
                <p:nvPr/>
              </p:nvSpPr>
              <p:spPr>
                <a:xfrm>
                  <a:off x="0" y="0"/>
                  <a:ext cx="3975100" cy="24621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/>
                <a:p>
                  <a:pPr lvl="0">
                    <a:spcBef>
                      <a:spcPts val="900"/>
                    </a:spcBef>
                    <a:buClr>
                      <a:srgbClr val="B92FC2"/>
                    </a:buClr>
                    <a:buFont typeface="Helvetica"/>
                    <a:defRPr sz="1800">
                      <a:uFillTx/>
                    </a:defRPr>
                  </a:pPr>
                  <a:r>
                    <a:rPr sz="1600" b="0" dirty="0">
                      <a:solidFill>
                        <a:schemeClr val="tx1"/>
                      </a:solidFill>
                      <a:uFill>
                        <a:solidFill>
                          <a:srgbClr val="B92FC2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  <a:sym typeface="Helvetica"/>
                    </a:rPr>
                    <a:t>P</a:t>
                  </a:r>
                  <a:r>
                    <a:rPr lang="en-US" sz="1600" b="0" dirty="0">
                      <a:solidFill>
                        <a:schemeClr val="tx1"/>
                      </a:solidFill>
                      <a:uFill>
                        <a:solidFill>
                          <a:srgbClr val="B92FC2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  <a:sym typeface="Helvetica"/>
                    </a:rPr>
                    <a:t>rotein</a:t>
                  </a:r>
                  <a:r>
                    <a:rPr sz="1600" b="0" baseline="-25000" dirty="0">
                      <a:solidFill>
                        <a:schemeClr val="tx1"/>
                      </a:solidFill>
                      <a:uFill>
                        <a:solidFill>
                          <a:srgbClr val="B92FC2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  <a:sym typeface="Helvetica"/>
                    </a:rPr>
                    <a:t>N</a:t>
                  </a:r>
                  <a:r>
                    <a:rPr lang="en-US" sz="1600" b="0" baseline="-25000" dirty="0">
                      <a:solidFill>
                        <a:schemeClr val="tx1"/>
                      </a:solidFill>
                      <a:uFill>
                        <a:solidFill>
                          <a:srgbClr val="B92FC2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  <a:sym typeface="Helvetica"/>
                    </a:rPr>
                    <a:t>ative</a:t>
                  </a:r>
                  <a:r>
                    <a:rPr sz="1600" b="0" dirty="0">
                      <a:solidFill>
                        <a:schemeClr val="tx1"/>
                      </a:solidFill>
                      <a:uFill>
                        <a:solidFill>
                          <a:srgbClr val="B92FC2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  <a:sym typeface="Helvetica"/>
                    </a:rPr>
                    <a:t>        P</a:t>
                  </a:r>
                  <a:r>
                    <a:rPr lang="en-US" sz="1600" b="0" dirty="0">
                      <a:solidFill>
                        <a:schemeClr val="tx1"/>
                      </a:solidFill>
                      <a:uFill>
                        <a:solidFill>
                          <a:srgbClr val="B92FC2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  <a:sym typeface="Helvetica"/>
                    </a:rPr>
                    <a:t>rotein</a:t>
                  </a:r>
                  <a:r>
                    <a:rPr sz="1600" b="0" baseline="-25000" dirty="0">
                      <a:solidFill>
                        <a:schemeClr val="tx1"/>
                      </a:solidFill>
                      <a:uFill>
                        <a:solidFill>
                          <a:srgbClr val="B92FC2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  <a:sym typeface="Helvetica"/>
                    </a:rPr>
                    <a:t>D</a:t>
                  </a:r>
                  <a:r>
                    <a:rPr lang="en-US" sz="1600" b="0" baseline="-25000" dirty="0">
                      <a:solidFill>
                        <a:schemeClr val="tx1"/>
                      </a:solidFill>
                      <a:uFill>
                        <a:solidFill>
                          <a:srgbClr val="B92FC2"/>
                        </a:solidFill>
                      </a:uFill>
                      <a:latin typeface="Gill Sans" charset="0"/>
                      <a:ea typeface="Gill Sans" charset="0"/>
                      <a:cs typeface="Gill Sans" charset="0"/>
                      <a:sym typeface="Helvetica"/>
                    </a:rPr>
                    <a:t>enatured</a:t>
                  </a:r>
                </a:p>
              </p:txBody>
            </p:sp>
            <p:grpSp>
              <p:nvGrpSpPr>
                <p:cNvPr id="735" name="Group 735"/>
                <p:cNvGrpSpPr/>
                <p:nvPr/>
              </p:nvGrpSpPr>
              <p:grpSpPr>
                <a:xfrm>
                  <a:off x="1057275" y="28575"/>
                  <a:ext cx="381000" cy="228600"/>
                  <a:chOff x="-466725" y="-47625"/>
                  <a:chExt cx="381000" cy="228600"/>
                </a:xfrm>
              </p:grpSpPr>
              <p:sp>
                <p:nvSpPr>
                  <p:cNvPr id="731" name="Shape 731"/>
                  <p:cNvSpPr/>
                  <p:nvPr/>
                </p:nvSpPr>
                <p:spPr>
                  <a:xfrm>
                    <a:off x="-466725" y="28575"/>
                    <a:ext cx="381000" cy="1588"/>
                  </a:xfrm>
                  <a:prstGeom prst="line">
                    <a:avLst/>
                  </a:prstGeom>
                  <a:noFill/>
                  <a:ln w="19050" cap="flat">
                    <a:solidFill>
                      <a:schemeClr val="tx1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marL="0" marR="0" lvl="0" defTabSz="457200">
                      <a:defRPr sz="1200">
                        <a:uFillTx/>
                        <a:latin typeface="Helvetica"/>
                        <a:ea typeface="Helvetica"/>
                        <a:cs typeface="Helvetica"/>
                        <a:sym typeface="Helvetica"/>
                      </a:defRPr>
                    </a:pPr>
                    <a:endParaRPr b="0">
                      <a:solidFill>
                        <a:schemeClr val="tx1"/>
                      </a:solidFill>
                      <a:latin typeface="Gill Sans" charset="0"/>
                      <a:ea typeface="Gill Sans" charset="0"/>
                      <a:cs typeface="Gill Sans" charset="0"/>
                    </a:endParaRPr>
                  </a:p>
                </p:txBody>
              </p:sp>
              <p:sp>
                <p:nvSpPr>
                  <p:cNvPr id="732" name="Shape 732"/>
                  <p:cNvSpPr/>
                  <p:nvPr/>
                </p:nvSpPr>
                <p:spPr>
                  <a:xfrm>
                    <a:off x="-161925" y="-47625"/>
                    <a:ext cx="76200" cy="76200"/>
                  </a:xfrm>
                  <a:prstGeom prst="line">
                    <a:avLst/>
                  </a:prstGeom>
                  <a:noFill/>
                  <a:ln w="19050" cap="flat">
                    <a:solidFill>
                      <a:schemeClr val="tx1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marL="0" marR="0" lvl="0" defTabSz="457200">
                      <a:defRPr sz="1200">
                        <a:uFillTx/>
                        <a:latin typeface="Helvetica"/>
                        <a:ea typeface="Helvetica"/>
                        <a:cs typeface="Helvetica"/>
                        <a:sym typeface="Helvetica"/>
                      </a:defRPr>
                    </a:pPr>
                    <a:endParaRPr b="0">
                      <a:solidFill>
                        <a:schemeClr val="tx1"/>
                      </a:solidFill>
                      <a:latin typeface="Gill Sans" charset="0"/>
                      <a:ea typeface="Gill Sans" charset="0"/>
                      <a:cs typeface="Gill Sans" charset="0"/>
                    </a:endParaRPr>
                  </a:p>
                </p:txBody>
              </p:sp>
              <p:sp>
                <p:nvSpPr>
                  <p:cNvPr id="733" name="Shape 733"/>
                  <p:cNvSpPr/>
                  <p:nvPr/>
                </p:nvSpPr>
                <p:spPr>
                  <a:xfrm>
                    <a:off x="-466725" y="104775"/>
                    <a:ext cx="381000" cy="1588"/>
                  </a:xfrm>
                  <a:prstGeom prst="line">
                    <a:avLst/>
                  </a:prstGeom>
                  <a:noFill/>
                  <a:ln w="19050" cap="flat">
                    <a:solidFill>
                      <a:schemeClr val="tx1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marL="0" marR="0" lvl="0" defTabSz="457200">
                      <a:defRPr sz="1200">
                        <a:uFillTx/>
                        <a:latin typeface="Helvetica"/>
                        <a:ea typeface="Helvetica"/>
                        <a:cs typeface="Helvetica"/>
                        <a:sym typeface="Helvetica"/>
                      </a:defRPr>
                    </a:pPr>
                    <a:endParaRPr b="0">
                      <a:solidFill>
                        <a:schemeClr val="tx1"/>
                      </a:solidFill>
                      <a:latin typeface="Gill Sans" charset="0"/>
                      <a:ea typeface="Gill Sans" charset="0"/>
                      <a:cs typeface="Gill Sans" charset="0"/>
                    </a:endParaRPr>
                  </a:p>
                </p:txBody>
              </p:sp>
              <p:sp>
                <p:nvSpPr>
                  <p:cNvPr id="734" name="Shape 734"/>
                  <p:cNvSpPr/>
                  <p:nvPr/>
                </p:nvSpPr>
                <p:spPr>
                  <a:xfrm>
                    <a:off x="-466725" y="104775"/>
                    <a:ext cx="76200" cy="76200"/>
                  </a:xfrm>
                  <a:prstGeom prst="line">
                    <a:avLst/>
                  </a:prstGeom>
                  <a:noFill/>
                  <a:ln w="19050" cap="flat">
                    <a:solidFill>
                      <a:schemeClr val="tx1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marL="0" marR="0" lvl="0" defTabSz="457200">
                      <a:defRPr sz="1200">
                        <a:uFillTx/>
                        <a:latin typeface="Helvetica"/>
                        <a:ea typeface="Helvetica"/>
                        <a:cs typeface="Helvetica"/>
                        <a:sym typeface="Helvetica"/>
                      </a:defRPr>
                    </a:pPr>
                    <a:endParaRPr b="0">
                      <a:solidFill>
                        <a:schemeClr val="tx1"/>
                      </a:solidFill>
                      <a:latin typeface="Gill Sans" charset="0"/>
                      <a:ea typeface="Gill Sans" charset="0"/>
                      <a:cs typeface="Gill Sans" charset="0"/>
                    </a:endParaRPr>
                  </a:p>
                </p:txBody>
              </p:sp>
            </p:grpSp>
          </p:grpSp>
          <p:sp>
            <p:nvSpPr>
              <p:cNvPr id="737" name="Shape 737"/>
              <p:cNvSpPr/>
              <p:nvPr/>
            </p:nvSpPr>
            <p:spPr>
              <a:xfrm>
                <a:off x="2292350" y="268287"/>
                <a:ext cx="1765300" cy="215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800"/>
                  </a:spcBef>
                  <a:buClr>
                    <a:srgbClr val="B92FC2"/>
                  </a:buClr>
                  <a:buFont typeface="Helvetica"/>
                  <a:defRPr sz="1400" b="1">
                    <a:solidFill>
                      <a:srgbClr val="B92FC2"/>
                    </a:solidFill>
                    <a:uFill>
                      <a:solidFill>
                        <a:srgbClr val="B92FC2"/>
                      </a:solidFill>
                    </a:u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  <a:uFillTx/>
                  </a:defRPr>
                </a:pPr>
                <a:r>
                  <a:rPr sz="14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(P</a:t>
                </a:r>
                <a:r>
                  <a:rPr lang="en-US" sz="14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er residue)</a:t>
                </a:r>
              </a:p>
            </p:txBody>
          </p:sp>
        </p:grpSp>
        <p:sp>
          <p:nvSpPr>
            <p:cNvPr id="739" name="Shape 739"/>
            <p:cNvSpPr/>
            <p:nvPr/>
          </p:nvSpPr>
          <p:spPr>
            <a:xfrm>
              <a:off x="3733800" y="147637"/>
              <a:ext cx="774700" cy="3693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900"/>
                </a:spcBef>
                <a:buClr>
                  <a:srgbClr val="B92FC2"/>
                </a:buClr>
                <a:buFont typeface="Helvetica"/>
                <a:defRPr sz="1800"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~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0</a:t>
              </a:r>
              <a:r>
                <a:rPr sz="2400" b="0" dirty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.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3</a:t>
              </a:r>
            </a:p>
          </p:txBody>
        </p:sp>
      </p:grpSp>
      <p:grpSp>
        <p:nvGrpSpPr>
          <p:cNvPr id="761" name="Group 761"/>
          <p:cNvGrpSpPr/>
          <p:nvPr/>
        </p:nvGrpSpPr>
        <p:grpSpPr>
          <a:xfrm>
            <a:off x="5897135" y="1691039"/>
            <a:ext cx="3670300" cy="246222"/>
            <a:chOff x="944135" y="0"/>
            <a:chExt cx="3670300" cy="246221"/>
          </a:xfrm>
        </p:grpSpPr>
        <p:grpSp>
          <p:nvGrpSpPr>
            <p:cNvPr id="759" name="Group 759"/>
            <p:cNvGrpSpPr/>
            <p:nvPr/>
          </p:nvGrpSpPr>
          <p:grpSpPr>
            <a:xfrm>
              <a:off x="944135" y="0"/>
              <a:ext cx="3670300" cy="246221"/>
              <a:chOff x="944135" y="0"/>
              <a:chExt cx="3670300" cy="246220"/>
            </a:xfrm>
          </p:grpSpPr>
          <p:sp>
            <p:nvSpPr>
              <p:cNvPr id="753" name="Shape 753"/>
              <p:cNvSpPr/>
              <p:nvPr/>
            </p:nvSpPr>
            <p:spPr>
              <a:xfrm>
                <a:off x="944135" y="0"/>
                <a:ext cx="3670300" cy="2462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spcBef>
                    <a:spcPts val="900"/>
                  </a:spcBef>
                  <a:buClr>
                    <a:srgbClr val="B92FC2"/>
                  </a:buClr>
                  <a:buFont typeface="Helvetica"/>
                  <a:defRPr sz="1800">
                    <a:uFillTx/>
                  </a:defRPr>
                </a:pP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NaCl        </a:t>
                </a:r>
                <a:r>
                  <a:rPr lang="en-US"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</a:t>
                </a: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Na  + 1/2Cl</a:t>
                </a:r>
                <a:r>
                  <a:rPr b="0" baseline="-1700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2</a:t>
                </a:r>
              </a:p>
            </p:txBody>
          </p:sp>
          <p:grpSp>
            <p:nvGrpSpPr>
              <p:cNvPr id="758" name="Group 758"/>
              <p:cNvGrpSpPr/>
              <p:nvPr/>
            </p:nvGrpSpPr>
            <p:grpSpPr>
              <a:xfrm>
                <a:off x="1491841" y="16004"/>
                <a:ext cx="381000" cy="228600"/>
                <a:chOff x="882241" y="-60196"/>
                <a:chExt cx="381000" cy="228600"/>
              </a:xfrm>
            </p:grpSpPr>
            <p:sp>
              <p:nvSpPr>
                <p:cNvPr id="754" name="Shape 754"/>
                <p:cNvSpPr/>
                <p:nvPr/>
              </p:nvSpPr>
              <p:spPr>
                <a:xfrm>
                  <a:off x="882241" y="16004"/>
                  <a:ext cx="381000" cy="1588"/>
                </a:xfrm>
                <a:prstGeom prst="line">
                  <a:avLst/>
                </a:prstGeom>
                <a:noFill/>
                <a:ln w="19050" cap="flat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solidFill>
                      <a:schemeClr val="tx1"/>
                    </a:solidFill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755" name="Shape 755"/>
                <p:cNvSpPr/>
                <p:nvPr/>
              </p:nvSpPr>
              <p:spPr>
                <a:xfrm>
                  <a:off x="1187041" y="-60196"/>
                  <a:ext cx="76200" cy="76200"/>
                </a:xfrm>
                <a:prstGeom prst="line">
                  <a:avLst/>
                </a:prstGeom>
                <a:noFill/>
                <a:ln w="19050" cap="flat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solidFill>
                      <a:schemeClr val="tx1"/>
                    </a:solidFill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756" name="Shape 756"/>
                <p:cNvSpPr/>
                <p:nvPr/>
              </p:nvSpPr>
              <p:spPr>
                <a:xfrm>
                  <a:off x="882241" y="92204"/>
                  <a:ext cx="381000" cy="1588"/>
                </a:xfrm>
                <a:prstGeom prst="line">
                  <a:avLst/>
                </a:prstGeom>
                <a:noFill/>
                <a:ln w="19050" cap="flat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solidFill>
                      <a:schemeClr val="tx1"/>
                    </a:solidFill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757" name="Shape 757"/>
                <p:cNvSpPr/>
                <p:nvPr/>
              </p:nvSpPr>
              <p:spPr>
                <a:xfrm>
                  <a:off x="882241" y="92204"/>
                  <a:ext cx="76200" cy="76200"/>
                </a:xfrm>
                <a:prstGeom prst="line">
                  <a:avLst/>
                </a:prstGeom>
                <a:noFill/>
                <a:ln w="19050" cap="flat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solidFill>
                      <a:schemeClr val="tx1"/>
                    </a:solidFill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</p:grpSp>
        <p:sp>
          <p:nvSpPr>
            <p:cNvPr id="760" name="Shape 760"/>
            <p:cNvSpPr/>
            <p:nvPr/>
          </p:nvSpPr>
          <p:spPr>
            <a:xfrm>
              <a:off x="3657600" y="0"/>
              <a:ext cx="698500" cy="2462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B92FC2"/>
                </a:buClr>
                <a:buFont typeface="Helvetica"/>
                <a:defRPr sz="1600" b="1">
                  <a:solidFill>
                    <a:srgbClr val="B92FC2"/>
                  </a:solidFill>
                  <a:uFill>
                    <a:solidFill>
                      <a:srgbClr val="B92FC2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380</a:t>
              </a:r>
            </a:p>
          </p:txBody>
        </p:sp>
      </p:grpSp>
      <p:grpSp>
        <p:nvGrpSpPr>
          <p:cNvPr id="774" name="Group 774"/>
          <p:cNvGrpSpPr/>
          <p:nvPr/>
        </p:nvGrpSpPr>
        <p:grpSpPr>
          <a:xfrm>
            <a:off x="2362200" y="3724392"/>
            <a:ext cx="2755900" cy="664645"/>
            <a:chOff x="0" y="0"/>
            <a:chExt cx="2755900" cy="664644"/>
          </a:xfrm>
        </p:grpSpPr>
        <p:sp>
          <p:nvSpPr>
            <p:cNvPr id="771" name="Shape 771"/>
            <p:cNvSpPr/>
            <p:nvPr/>
          </p:nvSpPr>
          <p:spPr>
            <a:xfrm>
              <a:off x="0" y="293687"/>
              <a:ext cx="2755900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1100"/>
                </a:spcBef>
                <a:buClr>
                  <a:srgbClr val="0222B9"/>
                </a:buClr>
                <a:buFont typeface="Helvetica"/>
                <a:defRPr sz="1800">
                  <a:uFillTx/>
                </a:defRPr>
              </a:pPr>
              <a:r>
                <a:rPr b="0">
                  <a:solidFill>
                    <a:srgbClr val="535AD0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NH</a:t>
              </a:r>
              <a:r>
                <a:rPr sz="2000" b="0" baseline="-14999">
                  <a:solidFill>
                    <a:srgbClr val="535AD0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2</a:t>
              </a:r>
              <a:r>
                <a:rPr b="0">
                  <a:solidFill>
                    <a:srgbClr val="535AD0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-C-NH</a:t>
              </a:r>
              <a:r>
                <a:rPr sz="2000" b="0" baseline="-14999">
                  <a:solidFill>
                    <a:srgbClr val="535AD0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2</a:t>
              </a:r>
            </a:p>
          </p:txBody>
        </p:sp>
        <p:sp>
          <p:nvSpPr>
            <p:cNvPr id="772" name="Shape 772"/>
            <p:cNvSpPr/>
            <p:nvPr/>
          </p:nvSpPr>
          <p:spPr>
            <a:xfrm>
              <a:off x="496887" y="0"/>
              <a:ext cx="393701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100"/>
                </a:spcBef>
                <a:buClr>
                  <a:srgbClr val="0222B9"/>
                </a:buClr>
                <a:buFont typeface="Helvetica"/>
                <a:defRPr sz="1800" b="1">
                  <a:solidFill>
                    <a:srgbClr val="0222B9"/>
                  </a:solidFill>
                  <a:uFill>
                    <a:solidFill>
                      <a:srgbClr val="0222B9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b="0">
                  <a:solidFill>
                    <a:srgbClr val="000000"/>
                  </a:solidFill>
                  <a:uFillTx/>
                </a:defRPr>
              </a:pPr>
              <a:r>
                <a:rPr b="0">
                  <a:solidFill>
                    <a:srgbClr val="535AD0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</a:p>
          </p:txBody>
        </p:sp>
        <p:sp>
          <p:nvSpPr>
            <p:cNvPr id="773" name="Shape 773"/>
            <p:cNvSpPr/>
            <p:nvPr/>
          </p:nvSpPr>
          <p:spPr>
            <a:xfrm rot="5400000">
              <a:off x="394841" y="321972"/>
              <a:ext cx="469901" cy="215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800"/>
                </a:spcBef>
                <a:buClr>
                  <a:srgbClr val="0222B9"/>
                </a:buClr>
                <a:buFont typeface="Helvetica"/>
                <a:defRPr sz="1400" b="1">
                  <a:solidFill>
                    <a:srgbClr val="0222B9"/>
                  </a:solidFill>
                  <a:uFill>
                    <a:solidFill>
                      <a:srgbClr val="0222B9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400" b="0" dirty="0">
                  <a:solidFill>
                    <a:srgbClr val="535AD0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=</a:t>
              </a:r>
            </a:p>
          </p:txBody>
        </p:sp>
      </p:grpSp>
      <p:grpSp>
        <p:nvGrpSpPr>
          <p:cNvPr id="777" name="Group 777"/>
          <p:cNvGrpSpPr/>
          <p:nvPr/>
        </p:nvGrpSpPr>
        <p:grpSpPr>
          <a:xfrm>
            <a:off x="3352801" y="3713280"/>
            <a:ext cx="4381499" cy="738664"/>
            <a:chOff x="1" y="0"/>
            <a:chExt cx="4381499" cy="738664"/>
          </a:xfrm>
        </p:grpSpPr>
        <p:sp>
          <p:nvSpPr>
            <p:cNvPr id="775" name="Shape 775"/>
            <p:cNvSpPr/>
            <p:nvPr/>
          </p:nvSpPr>
          <p:spPr>
            <a:xfrm flipV="1">
              <a:off x="1" y="186367"/>
              <a:ext cx="528918" cy="118433"/>
            </a:xfrm>
            <a:prstGeom prst="line">
              <a:avLst/>
            </a:prstGeom>
            <a:noFill/>
            <a:ln w="28575" cap="flat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76" name="Shape 776"/>
            <p:cNvSpPr/>
            <p:nvPr/>
          </p:nvSpPr>
          <p:spPr>
            <a:xfrm>
              <a:off x="546100" y="0"/>
              <a:ext cx="3835400" cy="7386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0222B9"/>
                </a:buClr>
                <a:buFont typeface="Helvetica"/>
                <a:defRPr sz="1600" b="1">
                  <a:solidFill>
                    <a:srgbClr val="0222B9"/>
                  </a:solidFill>
                  <a:uFill>
                    <a:solidFill>
                      <a:srgbClr val="0222B9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M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uch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H-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bonding of urea with water (reversibly) destroys normal water structure, eliminates hydrophobic effect </a:t>
              </a:r>
              <a:endParaRPr sz="16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778" name="Shape 778"/>
          <p:cNvSpPr/>
          <p:nvPr/>
        </p:nvSpPr>
        <p:spPr>
          <a:xfrm>
            <a:off x="1708525" y="3327517"/>
            <a:ext cx="5461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A8AA"/>
              </a:buClr>
              <a:buFont typeface="Helvetica"/>
              <a:defRPr sz="1600" b="1">
                <a:solidFill>
                  <a:srgbClr val="00A8AA"/>
                </a:solidFill>
                <a:uFill>
                  <a:solidFill>
                    <a:srgbClr val="00A8AA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rgbClr val="00A8AA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</a:t>
            </a:r>
          </a:p>
        </p:txBody>
      </p:sp>
      <p:sp>
        <p:nvSpPr>
          <p:cNvPr id="779" name="Shape 779"/>
          <p:cNvSpPr/>
          <p:nvPr/>
        </p:nvSpPr>
        <p:spPr>
          <a:xfrm>
            <a:off x="1786565" y="6299317"/>
            <a:ext cx="242374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222B9"/>
              </a:buClr>
              <a:buFont typeface="Helvetica"/>
              <a:defRPr sz="1600" b="1">
                <a:solidFill>
                  <a:srgbClr val="0222B9"/>
                </a:solidFill>
                <a:uFill>
                  <a:solidFill>
                    <a:srgbClr val="0222B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</a:t>
            </a:r>
          </a:p>
        </p:txBody>
      </p:sp>
      <p:sp>
        <p:nvSpPr>
          <p:cNvPr id="780" name="Shape 780"/>
          <p:cNvSpPr/>
          <p:nvPr/>
        </p:nvSpPr>
        <p:spPr>
          <a:xfrm>
            <a:off x="5470525" y="2653926"/>
            <a:ext cx="3859823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222B9"/>
              </a:buClr>
              <a:buFont typeface="Helvetica"/>
              <a:defRPr sz="1600" b="1">
                <a:solidFill>
                  <a:srgbClr val="0222B9"/>
                </a:solidFill>
                <a:uFill>
                  <a:solidFill>
                    <a:srgbClr val="0222B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C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ompared with other familiar molecules, proteins are not very stable</a:t>
            </a:r>
          </a:p>
        </p:txBody>
      </p:sp>
      <p:grpSp>
        <p:nvGrpSpPr>
          <p:cNvPr id="785" name="Group 785"/>
          <p:cNvGrpSpPr/>
          <p:nvPr/>
        </p:nvGrpSpPr>
        <p:grpSpPr>
          <a:xfrm>
            <a:off x="1828800" y="1579680"/>
            <a:ext cx="2715053" cy="1524000"/>
            <a:chOff x="0" y="0"/>
            <a:chExt cx="2715053" cy="1524000"/>
          </a:xfrm>
        </p:grpSpPr>
        <p:grpSp>
          <p:nvGrpSpPr>
            <p:cNvPr id="783" name="Group 783"/>
            <p:cNvGrpSpPr/>
            <p:nvPr/>
          </p:nvGrpSpPr>
          <p:grpSpPr>
            <a:xfrm>
              <a:off x="0" y="0"/>
              <a:ext cx="2715053" cy="1524000"/>
              <a:chOff x="0" y="0"/>
              <a:chExt cx="2715053" cy="1524000"/>
            </a:xfrm>
          </p:grpSpPr>
          <p:sp>
            <p:nvSpPr>
              <p:cNvPr id="781" name="Shape 781"/>
              <p:cNvSpPr/>
              <p:nvPr/>
            </p:nvSpPr>
            <p:spPr>
              <a:xfrm>
                <a:off x="228600" y="533400"/>
                <a:ext cx="2486453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spcBef>
                    <a:spcPts val="800"/>
                  </a:spcBef>
                  <a:buClr>
                    <a:srgbClr val="00A8AA"/>
                  </a:buClr>
                  <a:buFont typeface="Helvetica"/>
                  <a:defRPr sz="1800">
                    <a:uFillTx/>
                  </a:defRPr>
                </a:pPr>
                <a:r>
                  <a:rPr sz="1400" b="0" dirty="0">
                    <a:solidFill>
                      <a:schemeClr val="tx1"/>
                    </a:solidFill>
                    <a:uFill>
                      <a:solidFill>
                        <a:srgbClr val="00A8AA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50 - 100 kJ/</a:t>
                </a:r>
                <a:r>
                  <a:rPr lang="en-US" sz="1400" b="0" dirty="0">
                    <a:solidFill>
                      <a:schemeClr val="tx1"/>
                    </a:solidFill>
                    <a:uFill>
                      <a:solidFill>
                        <a:srgbClr val="00A8AA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mol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>
                        <a:srgbClr val="00A8AA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</a:t>
                </a:r>
                <a:r>
                  <a:rPr lang="en-US" sz="1400" b="0" dirty="0">
                    <a:solidFill>
                      <a:schemeClr val="tx1"/>
                    </a:solidFill>
                    <a:uFill>
                      <a:solidFill>
                        <a:srgbClr val="00A8AA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protein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>
                        <a:srgbClr val="00A8AA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, or </a:t>
                </a:r>
                <a:r>
                  <a:rPr lang="en-US" sz="1400" b="0" dirty="0">
                    <a:solidFill>
                      <a:schemeClr val="tx1"/>
                    </a:solidFill>
                    <a:uFill>
                      <a:solidFill>
                        <a:srgbClr val="00A8AA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approx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>
                        <a:srgbClr val="00A8AA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.  0.3 kJ/</a:t>
                </a:r>
                <a:r>
                  <a:rPr lang="en-US" sz="1400" b="0" dirty="0">
                    <a:solidFill>
                      <a:schemeClr val="tx1"/>
                    </a:solidFill>
                    <a:uFill>
                      <a:solidFill>
                        <a:srgbClr val="00A8AA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mol residue</a:t>
                </a:r>
                <a:r>
                  <a:rPr lang="en-US"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</a:t>
                </a:r>
                <a:endParaRPr sz="1600" b="0" dirty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endParaRPr>
              </a:p>
            </p:txBody>
          </p:sp>
          <p:sp>
            <p:nvSpPr>
              <p:cNvPr id="782" name="Shape 782"/>
              <p:cNvSpPr/>
              <p:nvPr/>
            </p:nvSpPr>
            <p:spPr>
              <a:xfrm flipV="1">
                <a:off x="0" y="0"/>
                <a:ext cx="1588" cy="1524000"/>
              </a:xfrm>
              <a:prstGeom prst="line">
                <a:avLst/>
              </a:prstGeom>
              <a:noFill/>
              <a:ln w="28575" cap="flat">
                <a:solidFill>
                  <a:srgbClr val="00A8AA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solidFill>
                    <a:schemeClr val="tx1"/>
                  </a:solidFill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sp>
          <p:nvSpPr>
            <p:cNvPr id="784" name="Shape 784"/>
            <p:cNvSpPr/>
            <p:nvPr/>
          </p:nvSpPr>
          <p:spPr>
            <a:xfrm flipH="1" flipV="1">
              <a:off x="52387" y="611187"/>
              <a:ext cx="252413" cy="98426"/>
            </a:xfrm>
            <a:prstGeom prst="line">
              <a:avLst/>
            </a:prstGeom>
            <a:noFill/>
            <a:ln w="19050" cap="flat">
              <a:solidFill>
                <a:srgbClr val="00A8AA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150BDC3-7CD7-7E85-5A18-5638EB7FF0BD}"/>
              </a:ext>
            </a:extLst>
          </p:cNvPr>
          <p:cNvGrpSpPr/>
          <p:nvPr/>
        </p:nvGrpSpPr>
        <p:grpSpPr>
          <a:xfrm>
            <a:off x="51592" y="2417880"/>
            <a:ext cx="1689101" cy="973139"/>
            <a:chOff x="51592" y="2417880"/>
            <a:chExt cx="1689101" cy="973139"/>
          </a:xfrm>
        </p:grpSpPr>
        <p:sp>
          <p:nvSpPr>
            <p:cNvPr id="786" name="Shape 786"/>
            <p:cNvSpPr/>
            <p:nvPr/>
          </p:nvSpPr>
          <p:spPr>
            <a:xfrm>
              <a:off x="381000" y="2417880"/>
              <a:ext cx="152400" cy="685800"/>
            </a:xfrm>
            <a:prstGeom prst="rect">
              <a:avLst/>
            </a:prstGeom>
            <a:solidFill>
              <a:srgbClr val="FFFFFF"/>
            </a:solidFill>
            <a:ln>
              <a:miter lim="400000"/>
            </a:ln>
          </p:spPr>
          <p:txBody>
            <a:bodyPr lIns="0" tIns="0" rIns="0" bIns="0" anchor="ctr"/>
            <a:lstStyle/>
            <a:p>
              <a:pPr lvl="0"/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grpSp>
          <p:nvGrpSpPr>
            <p:cNvPr id="789" name="Group 789"/>
            <p:cNvGrpSpPr/>
            <p:nvPr/>
          </p:nvGrpSpPr>
          <p:grpSpPr>
            <a:xfrm>
              <a:off x="51592" y="2494656"/>
              <a:ext cx="1689101" cy="896363"/>
              <a:chOff x="51592" y="127576"/>
              <a:chExt cx="1689100" cy="896362"/>
            </a:xfrm>
          </p:grpSpPr>
          <p:sp>
            <p:nvSpPr>
              <p:cNvPr id="787" name="Shape 787"/>
              <p:cNvSpPr/>
              <p:nvPr/>
            </p:nvSpPr>
            <p:spPr>
              <a:xfrm>
                <a:off x="51592" y="127576"/>
                <a:ext cx="1689100" cy="430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800"/>
                  </a:spcBef>
                  <a:buClr>
                    <a:srgbClr val="00A8AA"/>
                  </a:buClr>
                  <a:buFont typeface="Helvetica"/>
                  <a:defRPr sz="1400" b="1">
                    <a:solidFill>
                      <a:srgbClr val="00A8AA"/>
                    </a:solidFill>
                    <a:uFill>
                      <a:solidFill>
                        <a:srgbClr val="00A8AA"/>
                      </a:solidFill>
                    </a:u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  <a:uFillTx/>
                  </a:defRPr>
                </a:pPr>
                <a:r>
                  <a:rPr sz="1400" b="0" dirty="0">
                    <a:solidFill>
                      <a:schemeClr val="tx1"/>
                    </a:solidFill>
                    <a:uFill>
                      <a:solidFill>
                        <a:srgbClr val="00A8AA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N </a:t>
                </a:r>
                <a:r>
                  <a:rPr lang="en-US" sz="1400" b="0" dirty="0">
                    <a:solidFill>
                      <a:schemeClr val="tx1"/>
                    </a:solidFill>
                    <a:uFill>
                      <a:solidFill>
                        <a:srgbClr val="00A8AA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marks the "native structure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>
                        <a:srgbClr val="00A8AA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"</a:t>
                </a:r>
              </a:p>
            </p:txBody>
          </p:sp>
          <p:sp>
            <p:nvSpPr>
              <p:cNvPr id="788" name="Shape 788"/>
              <p:cNvSpPr/>
              <p:nvPr/>
            </p:nvSpPr>
            <p:spPr>
              <a:xfrm>
                <a:off x="1219200" y="652462"/>
                <a:ext cx="500063" cy="371476"/>
              </a:xfrm>
              <a:prstGeom prst="line">
                <a:avLst/>
              </a:prstGeom>
              <a:noFill/>
              <a:ln w="19050" cap="flat">
                <a:solidFill>
                  <a:srgbClr val="00A8AA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solidFill>
                    <a:schemeClr val="tx1"/>
                  </a:solidFill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</p:grpSp>
      <p:sp>
        <p:nvSpPr>
          <p:cNvPr id="790" name="Shape 790"/>
          <p:cNvSpPr/>
          <p:nvPr/>
        </p:nvSpPr>
        <p:spPr>
          <a:xfrm>
            <a:off x="-15314" y="386577"/>
            <a:ext cx="85725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J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argon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: </a:t>
            </a:r>
            <a:r>
              <a:rPr sz="1600" b="0" u="sng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D</a:t>
            </a:r>
            <a:r>
              <a:rPr lang="en-US" sz="1600" b="0" u="sng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enature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is to modify such that natural properties are lost</a:t>
            </a:r>
          </a:p>
        </p:txBody>
      </p:sp>
      <p:sp>
        <p:nvSpPr>
          <p:cNvPr id="791" name="Shape 791"/>
          <p:cNvSpPr/>
          <p:nvPr/>
        </p:nvSpPr>
        <p:spPr>
          <a:xfrm>
            <a:off x="609599" y="623453"/>
            <a:ext cx="70993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R</a:t>
            </a:r>
            <a:r>
              <a:rPr lang="en-US" sz="1600" b="0" u="sng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enature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is to recover natural properties</a:t>
            </a:r>
          </a:p>
        </p:txBody>
      </p:sp>
      <p:sp>
        <p:nvSpPr>
          <p:cNvPr id="792" name="Shape 792"/>
          <p:cNvSpPr/>
          <p:nvPr/>
        </p:nvSpPr>
        <p:spPr>
          <a:xfrm rot="180000">
            <a:off x="3114310" y="1495834"/>
            <a:ext cx="2146301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A8AA"/>
              </a:buClr>
              <a:buFont typeface="Helvetica"/>
              <a:defRPr sz="1400" b="1">
                <a:solidFill>
                  <a:srgbClr val="00A8AA"/>
                </a:solidFill>
                <a:uFill>
                  <a:solidFill>
                    <a:srgbClr val="00A8AA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 dirty="0">
                <a:solidFill>
                  <a:schemeClr val="tx1"/>
                </a:solidFill>
                <a:uFill>
                  <a:solidFill>
                    <a:srgbClr val="00A8AA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U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0A8AA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nfolded</a:t>
            </a:r>
          </a:p>
        </p:txBody>
      </p:sp>
      <p:sp>
        <p:nvSpPr>
          <p:cNvPr id="793" name="Shape 793"/>
          <p:cNvSpPr/>
          <p:nvPr/>
        </p:nvSpPr>
        <p:spPr>
          <a:xfrm rot="180000">
            <a:off x="370443" y="1378661"/>
            <a:ext cx="2146301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A8AA"/>
              </a:buClr>
              <a:buFont typeface="Helvetica"/>
              <a:defRPr sz="1400" b="1">
                <a:solidFill>
                  <a:srgbClr val="00A8AA"/>
                </a:solidFill>
                <a:uFill>
                  <a:solidFill>
                    <a:srgbClr val="00A8AA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 dirty="0">
                <a:solidFill>
                  <a:schemeClr val="tx1"/>
                </a:solidFill>
                <a:uFill>
                  <a:solidFill>
                    <a:srgbClr val="00A8AA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U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0A8AA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nfolded</a:t>
            </a:r>
          </a:p>
        </p:txBody>
      </p:sp>
      <p:sp>
        <p:nvSpPr>
          <p:cNvPr id="794" name="Shape 794"/>
          <p:cNvSpPr/>
          <p:nvPr/>
        </p:nvSpPr>
        <p:spPr>
          <a:xfrm>
            <a:off x="660400" y="4780080"/>
            <a:ext cx="3200400" cy="6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383" extrusionOk="0">
                <a:moveTo>
                  <a:pt x="0" y="3677"/>
                </a:moveTo>
                <a:cubicBezTo>
                  <a:pt x="975" y="17464"/>
                  <a:pt x="3086" y="14707"/>
                  <a:pt x="3086" y="14707"/>
                </a:cubicBezTo>
                <a:cubicBezTo>
                  <a:pt x="4779" y="11490"/>
                  <a:pt x="5636" y="3677"/>
                  <a:pt x="7286" y="7354"/>
                </a:cubicBezTo>
                <a:cubicBezTo>
                  <a:pt x="8936" y="18843"/>
                  <a:pt x="8218" y="14247"/>
                  <a:pt x="11229" y="11030"/>
                </a:cubicBezTo>
                <a:cubicBezTo>
                  <a:pt x="12011" y="-2757"/>
                  <a:pt x="12750" y="10571"/>
                  <a:pt x="13543" y="18383"/>
                </a:cubicBezTo>
                <a:cubicBezTo>
                  <a:pt x="14571" y="13788"/>
                  <a:pt x="15579" y="4137"/>
                  <a:pt x="16629" y="0"/>
                </a:cubicBezTo>
                <a:cubicBezTo>
                  <a:pt x="18000" y="11490"/>
                  <a:pt x="17079" y="10111"/>
                  <a:pt x="19457" y="14707"/>
                </a:cubicBezTo>
                <a:cubicBezTo>
                  <a:pt x="21482" y="10571"/>
                  <a:pt x="20764" y="11030"/>
                  <a:pt x="21600" y="11030"/>
                </a:cubicBezTo>
              </a:path>
            </a:pathLst>
          </a:custGeom>
          <a:ln w="28575">
            <a:solidFill>
              <a:srgbClr val="535AD0"/>
            </a:solidFill>
            <a:round/>
          </a:ln>
        </p:spPr>
        <p:txBody>
          <a:bodyPr lIns="0" tIns="0" rIns="0" bIns="0" anchor="ctr"/>
          <a:lstStyle/>
          <a:p>
            <a:pPr lvl="0"/>
            <a:endParaRPr b="0">
              <a:solidFill>
                <a:schemeClr val="tx1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799" name="Group 799"/>
          <p:cNvGrpSpPr/>
          <p:nvPr/>
        </p:nvGrpSpPr>
        <p:grpSpPr>
          <a:xfrm>
            <a:off x="609600" y="4895966"/>
            <a:ext cx="6731977" cy="630556"/>
            <a:chOff x="0" y="-1"/>
            <a:chExt cx="6731977" cy="630555"/>
          </a:xfrm>
        </p:grpSpPr>
        <p:sp>
          <p:nvSpPr>
            <p:cNvPr id="795" name="Shape 795"/>
            <p:cNvSpPr/>
            <p:nvPr/>
          </p:nvSpPr>
          <p:spPr>
            <a:xfrm>
              <a:off x="3276600" y="138112"/>
              <a:ext cx="3455377" cy="492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0222B9"/>
                </a:buClr>
                <a:buFont typeface="Helvetica"/>
                <a:defRPr sz="1600" b="1">
                  <a:solidFill>
                    <a:srgbClr val="0222B9"/>
                  </a:solidFill>
                  <a:uFill>
                    <a:solidFill>
                      <a:srgbClr val="0222B9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L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0222B9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ots of different structures, far from native, are comparably stable</a:t>
              </a:r>
            </a:p>
          </p:txBody>
        </p:sp>
        <p:sp>
          <p:nvSpPr>
            <p:cNvPr id="796" name="Shape 796"/>
            <p:cNvSpPr/>
            <p:nvPr/>
          </p:nvSpPr>
          <p:spPr>
            <a:xfrm rot="5400000">
              <a:off x="2268537" y="-842963"/>
              <a:ext cx="119063" cy="1804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96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15635" y="10800"/>
                    <a:pt x="21600" y="10800"/>
                  </a:cubicBezTo>
                  <a:cubicBezTo>
                    <a:pt x="1563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5965" y="21600"/>
                    <a:pt x="0" y="21600"/>
                  </a:cubicBezTo>
                </a:path>
              </a:pathLst>
            </a:custGeom>
            <a:noFill/>
            <a:ln w="12700" cap="flat">
              <a:solidFill>
                <a:srgbClr val="535AD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97" name="Shape 797"/>
            <p:cNvSpPr/>
            <p:nvPr/>
          </p:nvSpPr>
          <p:spPr>
            <a:xfrm>
              <a:off x="2293766" y="208320"/>
              <a:ext cx="983751" cy="152790"/>
            </a:xfrm>
            <a:prstGeom prst="line">
              <a:avLst/>
            </a:prstGeom>
            <a:noFill/>
            <a:ln w="19050" cap="flat">
              <a:solidFill>
                <a:srgbClr val="535AD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98" name="Shape 798"/>
            <p:cNvSpPr/>
            <p:nvPr/>
          </p:nvSpPr>
          <p:spPr>
            <a:xfrm rot="5400000">
              <a:off x="558006" y="-551657"/>
              <a:ext cx="127001" cy="1243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96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15635" y="10800"/>
                    <a:pt x="21600" y="10800"/>
                  </a:cubicBezTo>
                  <a:cubicBezTo>
                    <a:pt x="1563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5965" y="21600"/>
                    <a:pt x="0" y="21600"/>
                  </a:cubicBezTo>
                </a:path>
              </a:pathLst>
            </a:custGeom>
            <a:noFill/>
            <a:ln w="12700" cap="flat">
              <a:solidFill>
                <a:srgbClr val="535AD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800" name="Shape 800"/>
          <p:cNvSpPr/>
          <p:nvPr/>
        </p:nvSpPr>
        <p:spPr>
          <a:xfrm>
            <a:off x="3873500" y="5948480"/>
            <a:ext cx="43561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222B9"/>
              </a:buClr>
              <a:buFont typeface="Helvetica"/>
              <a:defRPr sz="1600" b="1">
                <a:solidFill>
                  <a:srgbClr val="0222B9"/>
                </a:solidFill>
                <a:uFill>
                  <a:solidFill>
                    <a:srgbClr val="0222B9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R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0222B9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emove urea, find protein folding is reversible</a:t>
            </a:r>
          </a:p>
        </p:txBody>
      </p:sp>
      <p:grpSp>
        <p:nvGrpSpPr>
          <p:cNvPr id="803" name="Group 803"/>
          <p:cNvGrpSpPr/>
          <p:nvPr/>
        </p:nvGrpSpPr>
        <p:grpSpPr>
          <a:xfrm>
            <a:off x="1384300" y="4895173"/>
            <a:ext cx="1426635" cy="1473498"/>
            <a:chOff x="0" y="0"/>
            <a:chExt cx="1426634" cy="1473496"/>
          </a:xfrm>
        </p:grpSpPr>
        <p:sp>
          <p:nvSpPr>
            <p:cNvPr id="801" name="Shape 801"/>
            <p:cNvSpPr/>
            <p:nvPr/>
          </p:nvSpPr>
          <p:spPr>
            <a:xfrm>
              <a:off x="0" y="656301"/>
              <a:ext cx="1426634" cy="4308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800"/>
                </a:spcBef>
                <a:buClr>
                  <a:srgbClr val="FF2B5B"/>
                </a:buClr>
                <a:buFont typeface="Helvetica"/>
                <a:defRPr sz="1400" b="1">
                  <a:solidFill>
                    <a:srgbClr val="1735FD"/>
                  </a:solidFill>
                  <a:uFill>
                    <a:solidFill>
                      <a:srgbClr val="FF2B5B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400" b="0" dirty="0">
                  <a:solidFill>
                    <a:schemeClr val="tx1"/>
                  </a:solidFill>
                  <a:uFill>
                    <a:solidFill>
                      <a:srgbClr val="FF2B5B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N</a:t>
              </a:r>
              <a:r>
                <a:rPr lang="en-US" sz="1400" b="0" dirty="0">
                  <a:solidFill>
                    <a:schemeClr val="tx1"/>
                  </a:solidFill>
                  <a:uFill>
                    <a:solidFill>
                      <a:srgbClr val="FF2B5B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 stability of native structure</a:t>
              </a:r>
            </a:p>
          </p:txBody>
        </p:sp>
        <p:sp>
          <p:nvSpPr>
            <p:cNvPr id="802" name="Shape 802"/>
            <p:cNvSpPr/>
            <p:nvPr/>
          </p:nvSpPr>
          <p:spPr>
            <a:xfrm flipV="1">
              <a:off x="520700" y="0"/>
              <a:ext cx="1" cy="1473496"/>
            </a:xfrm>
            <a:prstGeom prst="line">
              <a:avLst/>
            </a:prstGeom>
            <a:noFill/>
            <a:ln w="25400" cap="flat">
              <a:solidFill>
                <a:srgbClr val="535AD0">
                  <a:alpha val="46637"/>
                </a:srgbClr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5540008" y="1967146"/>
            <a:ext cx="3769092" cy="257376"/>
            <a:chOff x="5540008" y="1967146"/>
            <a:chExt cx="3769092" cy="257376"/>
          </a:xfrm>
        </p:grpSpPr>
        <p:grpSp>
          <p:nvGrpSpPr>
            <p:cNvPr id="768" name="Group 768"/>
            <p:cNvGrpSpPr/>
            <p:nvPr/>
          </p:nvGrpSpPr>
          <p:grpSpPr>
            <a:xfrm>
              <a:off x="5540008" y="1967146"/>
              <a:ext cx="3594100" cy="246222"/>
              <a:chOff x="118944" y="0"/>
              <a:chExt cx="3594100" cy="246220"/>
            </a:xfrm>
          </p:grpSpPr>
          <p:sp>
            <p:nvSpPr>
              <p:cNvPr id="762" name="Shape 762"/>
              <p:cNvSpPr/>
              <p:nvPr/>
            </p:nvSpPr>
            <p:spPr>
              <a:xfrm>
                <a:off x="118944" y="0"/>
                <a:ext cx="3594100" cy="2462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spcBef>
                    <a:spcPts val="900"/>
                  </a:spcBef>
                  <a:buClr>
                    <a:srgbClr val="B92FC2"/>
                  </a:buClr>
                  <a:buFont typeface="Helvetica"/>
                  <a:defRPr sz="1800">
                    <a:uFillTx/>
                  </a:defRPr>
                </a:pP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CH</a:t>
                </a:r>
                <a:r>
                  <a:rPr b="0" baseline="-1700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3</a:t>
                </a: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-</a:t>
                </a:r>
                <a:r>
                  <a:rPr lang="en-US"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CH</a:t>
                </a:r>
                <a:r>
                  <a:rPr lang="en-US" b="0" baseline="-1700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3</a:t>
                </a: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        </a:t>
                </a:r>
                <a:r>
                  <a:rPr lang="en-US"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2</a:t>
                </a: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C  +  </a:t>
                </a:r>
                <a:r>
                  <a:rPr lang="en-US"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3</a:t>
                </a: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H</a:t>
                </a:r>
                <a:r>
                  <a:rPr b="0" baseline="-1700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2</a:t>
                </a: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</a:t>
                </a:r>
                <a:endParaRPr b="0" baseline="-17000" dirty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endParaRPr>
              </a:p>
            </p:txBody>
          </p:sp>
          <p:grpSp>
            <p:nvGrpSpPr>
              <p:cNvPr id="767" name="Group 767"/>
              <p:cNvGrpSpPr/>
              <p:nvPr/>
            </p:nvGrpSpPr>
            <p:grpSpPr>
              <a:xfrm>
                <a:off x="1054100" y="15875"/>
                <a:ext cx="381000" cy="228600"/>
                <a:chOff x="139700" y="-60325"/>
                <a:chExt cx="381000" cy="228600"/>
              </a:xfrm>
            </p:grpSpPr>
            <p:sp>
              <p:nvSpPr>
                <p:cNvPr id="763" name="Shape 763"/>
                <p:cNvSpPr/>
                <p:nvPr/>
              </p:nvSpPr>
              <p:spPr>
                <a:xfrm>
                  <a:off x="139700" y="15875"/>
                  <a:ext cx="381000" cy="1588"/>
                </a:xfrm>
                <a:prstGeom prst="line">
                  <a:avLst/>
                </a:prstGeom>
                <a:noFill/>
                <a:ln w="19050" cap="flat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solidFill>
                      <a:schemeClr val="tx1"/>
                    </a:solidFill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764" name="Shape 764"/>
                <p:cNvSpPr/>
                <p:nvPr/>
              </p:nvSpPr>
              <p:spPr>
                <a:xfrm>
                  <a:off x="444500" y="-60325"/>
                  <a:ext cx="76200" cy="76200"/>
                </a:xfrm>
                <a:prstGeom prst="line">
                  <a:avLst/>
                </a:prstGeom>
                <a:noFill/>
                <a:ln w="19050" cap="flat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solidFill>
                      <a:schemeClr val="tx1"/>
                    </a:solidFill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765" name="Shape 765"/>
                <p:cNvSpPr/>
                <p:nvPr/>
              </p:nvSpPr>
              <p:spPr>
                <a:xfrm>
                  <a:off x="139700" y="92075"/>
                  <a:ext cx="381000" cy="1588"/>
                </a:xfrm>
                <a:prstGeom prst="line">
                  <a:avLst/>
                </a:prstGeom>
                <a:noFill/>
                <a:ln w="19050" cap="flat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solidFill>
                      <a:schemeClr val="tx1"/>
                    </a:solidFill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766" name="Shape 766"/>
                <p:cNvSpPr/>
                <p:nvPr/>
              </p:nvSpPr>
              <p:spPr>
                <a:xfrm>
                  <a:off x="139700" y="92075"/>
                  <a:ext cx="76200" cy="76200"/>
                </a:xfrm>
                <a:prstGeom prst="line">
                  <a:avLst/>
                </a:prstGeom>
                <a:noFill/>
                <a:ln w="19050" cap="flat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solidFill>
                      <a:schemeClr val="tx1"/>
                    </a:solidFill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</p:grpSp>
        <p:sp>
          <p:nvSpPr>
            <p:cNvPr id="100" name="Shape 760"/>
            <p:cNvSpPr/>
            <p:nvPr/>
          </p:nvSpPr>
          <p:spPr>
            <a:xfrm>
              <a:off x="8610600" y="1978301"/>
              <a:ext cx="6985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B92FC2"/>
                </a:buClr>
                <a:buFont typeface="Helvetica"/>
                <a:defRPr sz="1600" b="1">
                  <a:solidFill>
                    <a:srgbClr val="B92FC2"/>
                  </a:solidFill>
                  <a:uFill>
                    <a:solidFill>
                      <a:srgbClr val="B92FC2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3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3</a:t>
              </a:r>
              <a:endParaRPr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101" name="Group 761"/>
          <p:cNvGrpSpPr/>
          <p:nvPr/>
        </p:nvGrpSpPr>
        <p:grpSpPr>
          <a:xfrm>
            <a:off x="5942441" y="2255333"/>
            <a:ext cx="3670300" cy="276999"/>
            <a:chOff x="944135" y="0"/>
            <a:chExt cx="3670300" cy="276998"/>
          </a:xfrm>
        </p:grpSpPr>
        <p:grpSp>
          <p:nvGrpSpPr>
            <p:cNvPr id="102" name="Group 759"/>
            <p:cNvGrpSpPr/>
            <p:nvPr/>
          </p:nvGrpSpPr>
          <p:grpSpPr>
            <a:xfrm>
              <a:off x="944135" y="0"/>
              <a:ext cx="3670300" cy="276998"/>
              <a:chOff x="944135" y="0"/>
              <a:chExt cx="3670300" cy="276997"/>
            </a:xfrm>
          </p:grpSpPr>
          <p:sp>
            <p:nvSpPr>
              <p:cNvPr id="104" name="Shape 753"/>
              <p:cNvSpPr/>
              <p:nvPr/>
            </p:nvSpPr>
            <p:spPr>
              <a:xfrm>
                <a:off x="944135" y="0"/>
                <a:ext cx="3670300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spcBef>
                    <a:spcPts val="900"/>
                  </a:spcBef>
                  <a:buClr>
                    <a:srgbClr val="B92FC2"/>
                  </a:buClr>
                  <a:buFont typeface="Helvetica"/>
                  <a:defRPr sz="1800">
                    <a:uFillTx/>
                  </a:defRPr>
                </a:pP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N</a:t>
                </a:r>
                <a:r>
                  <a:rPr lang="en-US"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H</a:t>
                </a:r>
                <a:r>
                  <a:rPr lang="en-US" sz="1800" b="0" baseline="-1700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3</a:t>
                </a: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      </a:t>
                </a:r>
                <a:r>
                  <a:rPr lang="en-US"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  </a:t>
                </a:r>
                <a:r>
                  <a:rPr lang="en-US" sz="14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1/2</a:t>
                </a: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N</a:t>
                </a:r>
                <a:r>
                  <a:rPr lang="en-US" sz="1800" b="0" baseline="-2500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2</a:t>
                </a: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+ </a:t>
                </a:r>
                <a:r>
                  <a:rPr lang="en-US" sz="14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3</a:t>
                </a:r>
                <a:r>
                  <a:rPr sz="14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/2</a:t>
                </a:r>
                <a:r>
                  <a:rPr lang="en-US"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H</a:t>
                </a:r>
                <a:r>
                  <a:rPr b="0" baseline="-1700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2</a:t>
                </a:r>
                <a:r>
                  <a:rPr lang="en-US" b="0" baseline="-1700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</a:t>
                </a:r>
                <a:r>
                  <a:rPr lang="en-US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   </a:t>
                </a:r>
                <a:r>
                  <a:rPr lang="en-US" sz="10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</a:t>
                </a:r>
                <a:r>
                  <a:rPr lang="en-US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 </a:t>
                </a:r>
                <a:r>
                  <a:rPr lang="en-US" sz="16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16</a:t>
                </a:r>
                <a:endParaRPr sz="1600" b="0" baseline="-17000" dirty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endParaRPr>
              </a:p>
            </p:txBody>
          </p:sp>
          <p:grpSp>
            <p:nvGrpSpPr>
              <p:cNvPr id="105" name="Group 758"/>
              <p:cNvGrpSpPr/>
              <p:nvPr/>
            </p:nvGrpSpPr>
            <p:grpSpPr>
              <a:xfrm>
                <a:off x="1491841" y="16004"/>
                <a:ext cx="381000" cy="228600"/>
                <a:chOff x="882241" y="-60196"/>
                <a:chExt cx="381000" cy="228600"/>
              </a:xfrm>
            </p:grpSpPr>
            <p:sp>
              <p:nvSpPr>
                <p:cNvPr id="106" name="Shape 754"/>
                <p:cNvSpPr/>
                <p:nvPr/>
              </p:nvSpPr>
              <p:spPr>
                <a:xfrm>
                  <a:off x="882241" y="16004"/>
                  <a:ext cx="381000" cy="1588"/>
                </a:xfrm>
                <a:prstGeom prst="line">
                  <a:avLst/>
                </a:prstGeom>
                <a:noFill/>
                <a:ln w="19050" cap="flat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solidFill>
                      <a:schemeClr val="tx1"/>
                    </a:solidFill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107" name="Shape 755"/>
                <p:cNvSpPr/>
                <p:nvPr/>
              </p:nvSpPr>
              <p:spPr>
                <a:xfrm>
                  <a:off x="1187041" y="-60196"/>
                  <a:ext cx="76200" cy="76200"/>
                </a:xfrm>
                <a:prstGeom prst="line">
                  <a:avLst/>
                </a:prstGeom>
                <a:noFill/>
                <a:ln w="19050" cap="flat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solidFill>
                      <a:schemeClr val="tx1"/>
                    </a:solidFill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108" name="Shape 756"/>
                <p:cNvSpPr/>
                <p:nvPr/>
              </p:nvSpPr>
              <p:spPr>
                <a:xfrm>
                  <a:off x="882241" y="92204"/>
                  <a:ext cx="381000" cy="1588"/>
                </a:xfrm>
                <a:prstGeom prst="line">
                  <a:avLst/>
                </a:prstGeom>
                <a:noFill/>
                <a:ln w="19050" cap="flat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solidFill>
                      <a:schemeClr val="tx1"/>
                    </a:solidFill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109" name="Shape 757"/>
                <p:cNvSpPr/>
                <p:nvPr/>
              </p:nvSpPr>
              <p:spPr>
                <a:xfrm>
                  <a:off x="882241" y="92204"/>
                  <a:ext cx="76200" cy="76200"/>
                </a:xfrm>
                <a:prstGeom prst="line">
                  <a:avLst/>
                </a:prstGeom>
                <a:noFill/>
                <a:ln w="19050" cap="flat">
                  <a:solidFill>
                    <a:schemeClr val="tx1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solidFill>
                      <a:schemeClr val="tx1"/>
                    </a:solidFill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</p:grpSp>
        <p:sp>
          <p:nvSpPr>
            <p:cNvPr id="103" name="Shape 760"/>
            <p:cNvSpPr/>
            <p:nvPr/>
          </p:nvSpPr>
          <p:spPr>
            <a:xfrm>
              <a:off x="3657600" y="0"/>
              <a:ext cx="698500" cy="2462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B92FC2"/>
                </a:buClr>
                <a:buFont typeface="Helvetica"/>
                <a:defRPr sz="1600" b="1">
                  <a:solidFill>
                    <a:srgbClr val="B92FC2"/>
                  </a:solidFill>
                  <a:uFill>
                    <a:solidFill>
                      <a:srgbClr val="B92FC2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endParaRPr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75E3201-A7C4-9E4A-BE85-24D888E6C50D}"/>
              </a:ext>
            </a:extLst>
          </p:cNvPr>
          <p:cNvGrpSpPr/>
          <p:nvPr/>
        </p:nvGrpSpPr>
        <p:grpSpPr>
          <a:xfrm>
            <a:off x="8410996" y="618076"/>
            <a:ext cx="1155702" cy="551021"/>
            <a:chOff x="8410996" y="618076"/>
            <a:chExt cx="1155702" cy="551021"/>
          </a:xfrm>
        </p:grpSpPr>
        <p:grpSp>
          <p:nvGrpSpPr>
            <p:cNvPr id="743" name="Group 743"/>
            <p:cNvGrpSpPr/>
            <p:nvPr/>
          </p:nvGrpSpPr>
          <p:grpSpPr>
            <a:xfrm>
              <a:off x="8410996" y="618076"/>
              <a:ext cx="1155702" cy="551021"/>
              <a:chOff x="0" y="0"/>
              <a:chExt cx="1155701" cy="551021"/>
            </a:xfrm>
          </p:grpSpPr>
          <p:sp>
            <p:nvSpPr>
              <p:cNvPr id="741" name="Shape 741"/>
              <p:cNvSpPr/>
              <p:nvPr/>
            </p:nvSpPr>
            <p:spPr>
              <a:xfrm>
                <a:off x="152400" y="0"/>
                <a:ext cx="774700" cy="3077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spcBef>
                    <a:spcPts val="1000"/>
                  </a:spcBef>
                  <a:buClr>
                    <a:srgbClr val="B92FC2"/>
                  </a:buClr>
                  <a:buFont typeface="Symbol"/>
                  <a:defRPr sz="1800">
                    <a:uFillTx/>
                  </a:defRPr>
                </a:pPr>
                <a:r>
                  <a:rPr sz="20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Symbol"/>
                  </a:rPr>
                  <a:t>Δ</a:t>
                </a:r>
                <a:r>
                  <a:rPr sz="2000" b="0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G</a:t>
                </a:r>
                <a:r>
                  <a:rPr sz="1600" b="0" baseline="25999" dirty="0">
                    <a:solidFill>
                      <a:schemeClr val="tx1"/>
                    </a:solidFill>
                    <a:uFill>
                      <a:solidFill>
                        <a:srgbClr val="B92FC2"/>
                      </a:solidFill>
                    </a:uFill>
                    <a:latin typeface="Gill Sans" charset="0"/>
                    <a:ea typeface="Gill Sans" charset="0"/>
                    <a:cs typeface="Gill Sans" charset="0"/>
                    <a:sym typeface="Helvetica"/>
                  </a:rPr>
                  <a:t>O</a:t>
                </a:r>
              </a:p>
            </p:txBody>
          </p:sp>
          <p:sp>
            <p:nvSpPr>
              <p:cNvPr id="742" name="Shape 742"/>
              <p:cNvSpPr/>
              <p:nvPr/>
            </p:nvSpPr>
            <p:spPr>
              <a:xfrm>
                <a:off x="0" y="304800"/>
                <a:ext cx="1155701" cy="2462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900"/>
                  </a:spcBef>
                  <a:buClr>
                    <a:srgbClr val="B92FC2"/>
                  </a:buClr>
                  <a:buFont typeface="Helvetica"/>
                  <a:defRPr sz="1600" b="1" u="sng">
                    <a:solidFill>
                      <a:srgbClr val="B92FC2"/>
                    </a:solidFill>
                    <a:uFill>
                      <a:solidFill>
                        <a:srgbClr val="B92FC2"/>
                      </a:solidFill>
                    </a:uFill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 u="none">
                    <a:solidFill>
                      <a:srgbClr val="000000"/>
                    </a:solidFill>
                    <a:uFillTx/>
                  </a:defRPr>
                </a:pPr>
                <a:r>
                  <a:rPr sz="1600" b="0" dirty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kJ/</a:t>
                </a:r>
                <a:r>
                  <a:rPr lang="en-US" sz="1600" b="0" dirty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mol</a:t>
                </a:r>
              </a:p>
            </p:txBody>
          </p:sp>
        </p:grpSp>
        <p:cxnSp>
          <p:nvCxnSpPr>
            <p:cNvPr id="3" name="Straight Connector 2"/>
            <p:cNvCxnSpPr/>
            <p:nvPr/>
          </p:nvCxnSpPr>
          <p:spPr>
            <a:xfrm>
              <a:off x="8410996" y="1169097"/>
              <a:ext cx="723112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9522444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" grpId="0" animBg="1" advAuto="0"/>
      <p:bldP spid="740" grpId="0" advAuto="0"/>
      <p:bldP spid="761" grpId="0" advAuto="0"/>
      <p:bldP spid="774" grpId="0" advAuto="0"/>
      <p:bldP spid="777" grpId="0" advAuto="0"/>
      <p:bldP spid="780" grpId="0" animBg="1" advAuto="0"/>
      <p:bldP spid="785" grpId="0" advAuto="0"/>
      <p:bldP spid="790" grpId="0" animBg="1" advAuto="0"/>
      <p:bldP spid="791" grpId="0" animBg="1" advAuto="0"/>
      <p:bldP spid="792" grpId="0" animBg="1" advAuto="0"/>
      <p:bldP spid="793" grpId="0" animBg="1" advAuto="0"/>
      <p:bldP spid="799" grpId="0" advAuto="0"/>
      <p:bldP spid="800" grpId="0" animBg="1" advAuto="0"/>
      <p:bldP spid="803" grpId="0" advAuto="0"/>
      <p:bldP spid="101" grpId="0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2" name="Group 812"/>
          <p:cNvGrpSpPr/>
          <p:nvPr/>
        </p:nvGrpSpPr>
        <p:grpSpPr>
          <a:xfrm>
            <a:off x="-1" y="1292224"/>
            <a:ext cx="9156701" cy="247341"/>
            <a:chOff x="0" y="0"/>
            <a:chExt cx="9156700" cy="247340"/>
          </a:xfrm>
        </p:grpSpPr>
        <p:sp>
          <p:nvSpPr>
            <p:cNvPr id="806" name="Shape 806"/>
            <p:cNvSpPr/>
            <p:nvPr/>
          </p:nvSpPr>
          <p:spPr>
            <a:xfrm>
              <a:off x="0" y="0"/>
              <a:ext cx="9156700" cy="2462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buClr>
                  <a:srgbClr val="000000"/>
                </a:buClr>
                <a:buFont typeface="Helvetica"/>
                <a:defRPr sz="1800">
                  <a:uFillTx/>
                </a:defRPr>
              </a:pP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e.g.  </a:t>
              </a:r>
              <a:r>
                <a:rPr lang="en-US" sz="1600" b="0" dirty="0" err="1">
                  <a:latin typeface="Gill Sans" charset="0"/>
                  <a:ea typeface="Gill Sans" charset="0"/>
                  <a:cs typeface="Gill Sans" charset="0"/>
                </a:rPr>
                <a:t>H</a:t>
              </a:r>
              <a:r>
                <a:rPr sz="1600" b="0" dirty="0" err="1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b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 +  O</a:t>
              </a:r>
              <a:r>
                <a:rPr sz="2400" b="0" baseline="-2500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2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       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H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bO</a:t>
              </a:r>
              <a:r>
                <a:rPr sz="2400" b="0" baseline="-2500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2</a:t>
              </a:r>
            </a:p>
          </p:txBody>
        </p:sp>
        <p:grpSp>
          <p:nvGrpSpPr>
            <p:cNvPr id="811" name="Group 811"/>
            <p:cNvGrpSpPr/>
            <p:nvPr/>
          </p:nvGrpSpPr>
          <p:grpSpPr>
            <a:xfrm>
              <a:off x="1372560" y="18740"/>
              <a:ext cx="381001" cy="228600"/>
              <a:chOff x="-132390" y="-159060"/>
              <a:chExt cx="381000" cy="228600"/>
            </a:xfrm>
          </p:grpSpPr>
          <p:sp>
            <p:nvSpPr>
              <p:cNvPr id="807" name="Shape 807"/>
              <p:cNvSpPr/>
              <p:nvPr/>
            </p:nvSpPr>
            <p:spPr>
              <a:xfrm>
                <a:off x="-132390" y="-82860"/>
                <a:ext cx="381000" cy="158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808" name="Shape 808"/>
              <p:cNvSpPr/>
              <p:nvPr/>
            </p:nvSpPr>
            <p:spPr>
              <a:xfrm>
                <a:off x="172410" y="-159060"/>
                <a:ext cx="76200" cy="76200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809" name="Shape 809"/>
              <p:cNvSpPr/>
              <p:nvPr/>
            </p:nvSpPr>
            <p:spPr>
              <a:xfrm>
                <a:off x="-132390" y="-6660"/>
                <a:ext cx="228600" cy="158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810" name="Shape 810"/>
              <p:cNvSpPr/>
              <p:nvPr/>
            </p:nvSpPr>
            <p:spPr>
              <a:xfrm>
                <a:off x="-132390" y="-6660"/>
                <a:ext cx="76200" cy="76200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</p:grpSp>
      <p:sp>
        <p:nvSpPr>
          <p:cNvPr id="813" name="Shape 813"/>
          <p:cNvSpPr/>
          <p:nvPr/>
        </p:nvSpPr>
        <p:spPr>
          <a:xfrm>
            <a:off x="3111500" y="1190625"/>
            <a:ext cx="35941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"R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eversible binding" means:</a:t>
            </a:r>
          </a:p>
        </p:txBody>
      </p:sp>
      <p:sp>
        <p:nvSpPr>
          <p:cNvPr id="814" name="Shape 814"/>
          <p:cNvSpPr/>
          <p:nvPr/>
        </p:nvSpPr>
        <p:spPr>
          <a:xfrm>
            <a:off x="3124200" y="1581150"/>
            <a:ext cx="60325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1.  F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orward and reverse reactions occur multiple times during the observation</a:t>
            </a:r>
          </a:p>
        </p:txBody>
      </p:sp>
      <p:sp>
        <p:nvSpPr>
          <p:cNvPr id="815" name="Shape 815"/>
          <p:cNvSpPr/>
          <p:nvPr/>
        </p:nvSpPr>
        <p:spPr>
          <a:xfrm>
            <a:off x="3124200" y="2273300"/>
            <a:ext cx="5956300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2.  A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ppreciable concentrations of both reactants and products are present at equilibrium, i.e. the reaction does not go extremely far to the left or right</a:t>
            </a:r>
          </a:p>
        </p:txBody>
      </p:sp>
      <p:sp>
        <p:nvSpPr>
          <p:cNvPr id="816" name="Shape 816"/>
          <p:cNvSpPr/>
          <p:nvPr/>
        </p:nvSpPr>
        <p:spPr>
          <a:xfrm>
            <a:off x="3048000" y="5270500"/>
            <a:ext cx="60325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"R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eversible phosphorylation" means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:</a:t>
            </a:r>
          </a:p>
        </p:txBody>
      </p:sp>
      <p:sp>
        <p:nvSpPr>
          <p:cNvPr id="817" name="Shape 817"/>
          <p:cNvSpPr/>
          <p:nvPr/>
        </p:nvSpPr>
        <p:spPr>
          <a:xfrm>
            <a:off x="3098799" y="762000"/>
            <a:ext cx="4861169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1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b="0">
                <a:uFillTx/>
              </a:defRPr>
            </a:pPr>
            <a:r>
              <a:rPr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</a:t>
            </a:r>
            <a:r>
              <a:rPr lang="en-US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 no!  Multiple meanings in biochemistry!</a:t>
            </a:r>
          </a:p>
        </p:txBody>
      </p:sp>
      <p:sp>
        <p:nvSpPr>
          <p:cNvPr id="818" name="Shape 818"/>
          <p:cNvSpPr/>
          <p:nvPr/>
        </p:nvSpPr>
        <p:spPr>
          <a:xfrm>
            <a:off x="3124200" y="3289110"/>
            <a:ext cx="59563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3. N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ot covalent binding</a:t>
            </a:r>
            <a:endParaRPr sz="1600" b="0" dirty="0">
              <a:uFill>
                <a:solidFill/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821" name="Group 821"/>
          <p:cNvGrpSpPr/>
          <p:nvPr/>
        </p:nvGrpSpPr>
        <p:grpSpPr>
          <a:xfrm>
            <a:off x="1029730" y="5129369"/>
            <a:ext cx="8448249" cy="1151870"/>
            <a:chOff x="-291070" y="-115731"/>
            <a:chExt cx="8448248" cy="1151870"/>
          </a:xfrm>
        </p:grpSpPr>
        <p:sp>
          <p:nvSpPr>
            <p:cNvPr id="819" name="Shape 819"/>
            <p:cNvSpPr/>
            <p:nvPr/>
          </p:nvSpPr>
          <p:spPr>
            <a:xfrm>
              <a:off x="2124677" y="543696"/>
              <a:ext cx="6032501" cy="492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buClr>
                  <a:srgbClr val="000000"/>
                </a:buClr>
                <a:buFont typeface="Helvetica"/>
                <a:defRPr sz="16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T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his protein can be phosphorylated or dephosphorylated multiple times.  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T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he protein can thereby cycle between active and inactive.</a:t>
              </a:r>
            </a:p>
          </p:txBody>
        </p:sp>
        <p:sp>
          <p:nvSpPr>
            <p:cNvPr id="820" name="Shape 820"/>
            <p:cNvSpPr/>
            <p:nvPr/>
          </p:nvSpPr>
          <p:spPr>
            <a:xfrm flipH="1" flipV="1">
              <a:off x="-291070" y="-115731"/>
              <a:ext cx="2411970" cy="776130"/>
            </a:xfrm>
            <a:prstGeom prst="line">
              <a:avLst/>
            </a:prstGeom>
            <a:noFill/>
            <a:ln w="19050" cap="flat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822" name="Shape 822"/>
          <p:cNvSpPr/>
          <p:nvPr/>
        </p:nvSpPr>
        <p:spPr>
          <a:xfrm>
            <a:off x="0" y="161762"/>
            <a:ext cx="9156700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200"/>
              </a:spcBef>
              <a:buClr>
                <a:srgbClr val="000000"/>
              </a:buClr>
              <a:buFont typeface="Helvetica"/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b="0">
                <a:uFillTx/>
              </a:defRPr>
            </a:pPr>
            <a:r>
              <a:rPr lang="en-US" sz="2800" dirty="0">
                <a:latin typeface="Gill Sans" charset="0"/>
                <a:ea typeface="Gill Sans" charset="0"/>
                <a:cs typeface="Gill Sans" charset="0"/>
              </a:rPr>
              <a:t>What is the meaning of "reversible"?  </a:t>
            </a:r>
          </a:p>
        </p:txBody>
      </p:sp>
      <p:grpSp>
        <p:nvGrpSpPr>
          <p:cNvPr id="830" name="Group 830"/>
          <p:cNvGrpSpPr/>
          <p:nvPr/>
        </p:nvGrpSpPr>
        <p:grpSpPr>
          <a:xfrm>
            <a:off x="0" y="4646612"/>
            <a:ext cx="5499100" cy="492578"/>
            <a:chOff x="0" y="0"/>
            <a:chExt cx="5499100" cy="492577"/>
          </a:xfrm>
        </p:grpSpPr>
        <p:sp>
          <p:nvSpPr>
            <p:cNvPr id="823" name="Shape 823"/>
            <p:cNvSpPr/>
            <p:nvPr/>
          </p:nvSpPr>
          <p:spPr>
            <a:xfrm>
              <a:off x="0" y="236537"/>
              <a:ext cx="5499100" cy="2462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buClr>
                  <a:srgbClr val="000000"/>
                </a:buClr>
                <a:buFont typeface="Helvetica"/>
                <a:defRPr sz="1800">
                  <a:uFillTx/>
                </a:defRPr>
              </a:pP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e.g.  P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rotein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+  ATP             P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rotein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-PO</a:t>
              </a:r>
              <a:r>
                <a:rPr sz="2400" b="0" baseline="-2500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4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 +  ADP</a:t>
              </a:r>
            </a:p>
          </p:txBody>
        </p:sp>
        <p:sp>
          <p:nvSpPr>
            <p:cNvPr id="824" name="Shape 824"/>
            <p:cNvSpPr/>
            <p:nvPr/>
          </p:nvSpPr>
          <p:spPr>
            <a:xfrm>
              <a:off x="1792940" y="0"/>
              <a:ext cx="14605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buClr>
                  <a:srgbClr val="0E33FF"/>
                </a:buClr>
                <a:buFont typeface="Helvetica"/>
                <a:defRPr sz="1600" b="1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0E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K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0E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inase</a:t>
              </a:r>
            </a:p>
          </p:txBody>
        </p:sp>
        <p:grpSp>
          <p:nvGrpSpPr>
            <p:cNvPr id="829" name="Group 829"/>
            <p:cNvGrpSpPr/>
            <p:nvPr/>
          </p:nvGrpSpPr>
          <p:grpSpPr>
            <a:xfrm>
              <a:off x="1903612" y="263976"/>
              <a:ext cx="381000" cy="228601"/>
              <a:chOff x="-395088" y="-131311"/>
              <a:chExt cx="381000" cy="228600"/>
            </a:xfrm>
          </p:grpSpPr>
          <p:sp>
            <p:nvSpPr>
              <p:cNvPr id="825" name="Shape 825"/>
              <p:cNvSpPr/>
              <p:nvPr/>
            </p:nvSpPr>
            <p:spPr>
              <a:xfrm>
                <a:off x="-395088" y="-55111"/>
                <a:ext cx="381000" cy="158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826" name="Shape 826"/>
              <p:cNvSpPr/>
              <p:nvPr/>
            </p:nvSpPr>
            <p:spPr>
              <a:xfrm>
                <a:off x="-90288" y="-131311"/>
                <a:ext cx="76200" cy="76200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827" name="Shape 827"/>
              <p:cNvSpPr/>
              <p:nvPr/>
            </p:nvSpPr>
            <p:spPr>
              <a:xfrm>
                <a:off x="-395088" y="21089"/>
                <a:ext cx="228600" cy="158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828" name="Shape 828"/>
              <p:cNvSpPr/>
              <p:nvPr/>
            </p:nvSpPr>
            <p:spPr>
              <a:xfrm>
                <a:off x="-395088" y="21089"/>
                <a:ext cx="76200" cy="76200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</p:grpSp>
      <p:sp>
        <p:nvSpPr>
          <p:cNvPr id="831" name="Shape 831"/>
          <p:cNvSpPr/>
          <p:nvPr/>
        </p:nvSpPr>
        <p:spPr>
          <a:xfrm>
            <a:off x="3128962" y="5537200"/>
            <a:ext cx="466090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T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here</a:t>
            </a:r>
            <a:r>
              <a:rPr lang="en-US" sz="1600" b="0" dirty="0">
                <a:solidFill>
                  <a:srgbClr val="B92FC2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is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covalent binding, but:</a:t>
            </a:r>
          </a:p>
        </p:txBody>
      </p:sp>
      <p:sp>
        <p:nvSpPr>
          <p:cNvPr id="832" name="Shape 832"/>
          <p:cNvSpPr/>
          <p:nvPr/>
        </p:nvSpPr>
        <p:spPr>
          <a:xfrm>
            <a:off x="3124200" y="4251325"/>
            <a:ext cx="59563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5. A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nd still one more meaning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:</a:t>
            </a:r>
          </a:p>
        </p:txBody>
      </p:sp>
      <p:grpSp>
        <p:nvGrpSpPr>
          <p:cNvPr id="835" name="Group 835"/>
          <p:cNvGrpSpPr/>
          <p:nvPr/>
        </p:nvGrpSpPr>
        <p:grpSpPr>
          <a:xfrm>
            <a:off x="3124200" y="3783105"/>
            <a:ext cx="6032500" cy="246221"/>
            <a:chOff x="0" y="0"/>
            <a:chExt cx="6032500" cy="246221"/>
          </a:xfrm>
        </p:grpSpPr>
        <p:sp>
          <p:nvSpPr>
            <p:cNvPr id="833" name="Shape 833"/>
            <p:cNvSpPr/>
            <p:nvPr/>
          </p:nvSpPr>
          <p:spPr>
            <a:xfrm>
              <a:off x="0" y="0"/>
              <a:ext cx="60325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000000"/>
                </a:buClr>
                <a:buFont typeface="Helvetica"/>
                <a:defRPr sz="16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4. R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emove additive          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R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eturn to original state</a:t>
              </a:r>
            </a:p>
          </p:txBody>
        </p:sp>
        <p:sp>
          <p:nvSpPr>
            <p:cNvPr id="834" name="Shape 834"/>
            <p:cNvSpPr/>
            <p:nvPr/>
          </p:nvSpPr>
          <p:spPr>
            <a:xfrm>
              <a:off x="1664333" y="143291"/>
              <a:ext cx="482600" cy="158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864434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2" grpId="0" animBg="1" advAuto="0"/>
      <p:bldP spid="813" grpId="0" animBg="1" advAuto="0"/>
      <p:bldP spid="814" grpId="0" animBg="1" advAuto="0"/>
      <p:bldP spid="815" grpId="0" animBg="1" advAuto="0"/>
      <p:bldP spid="816" grpId="0" animBg="1" advAuto="0"/>
      <p:bldP spid="817" grpId="0" animBg="1" advAuto="0"/>
      <p:bldP spid="818" grpId="0" animBg="1" advAuto="0"/>
      <p:bldP spid="821" grpId="0" animBg="1" advAuto="0"/>
      <p:bldP spid="830" grpId="0" animBg="1" advAuto="0"/>
      <p:bldP spid="831" grpId="0" animBg="1" advAuto="0"/>
      <p:bldP spid="832" grpId="0" animBg="1" advAuto="0"/>
      <p:bldP spid="835" grpId="0" animBg="1" advAuto="0"/>
    </p:bld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6E6E9"/>
        </a:solidFill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Times Roman"/>
        <a:ea typeface="Times Roman"/>
        <a:cs typeface="Times Roman"/>
      </a:majorFont>
      <a:minorFont>
        <a:latin typeface="Times Roman"/>
        <a:ea typeface="Times Roman"/>
        <a:cs typeface="Times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6E6E9"/>
        </a:solidFill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37300</TotalTime>
  <Words>1760</Words>
  <Application>Microsoft Macintosh PowerPoint</Application>
  <PresentationFormat>On-screen Show (4:3)</PresentationFormat>
  <Paragraphs>481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Gill Sans</vt:lpstr>
      <vt:lpstr>Gill Sans MT</vt:lpstr>
      <vt:lpstr>Gill Sans Regular</vt:lpstr>
      <vt:lpstr>Gill Sans SemiBold</vt:lpstr>
      <vt:lpstr>Helvetica</vt:lpstr>
      <vt:lpstr>Lucida Grande</vt:lpstr>
      <vt:lpstr>Symbol</vt:lpstr>
      <vt:lpstr>White</vt:lpstr>
      <vt:lpstr>Lecture 9</vt:lpstr>
      <vt:lpstr>PowerPoint Presentation</vt:lpstr>
      <vt:lpstr>Review of the levels of protein structure:</vt:lpstr>
      <vt:lpstr>Thermodynamics of Protein Stability</vt:lpstr>
      <vt:lpstr>Setting the Context</vt:lpstr>
      <vt:lpstr>PowerPoint Presentation</vt:lpstr>
      <vt:lpstr>Disease-causing amyloid fibril formation</vt:lpstr>
      <vt:lpstr>Alzheimer’s Disease</vt:lpstr>
      <vt:lpstr>Mad Cow Disease: PrPC →PrPSc</vt:lpstr>
      <vt:lpstr>PowerPoint Presentation</vt:lpstr>
      <vt:lpstr>PowerPoint Presentation</vt:lpstr>
      <vt:lpstr>Big Picture:</vt:lpstr>
      <vt:lpstr>PowerPoint Presentation</vt:lpstr>
      <vt:lpstr>Summary:</vt:lpstr>
      <vt:lpstr>How to describe protein stability with a graph?</vt:lpstr>
      <vt:lpstr>Protein stability on a graph: denaturation and renaturation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Linda K. Nicholson</cp:lastModifiedBy>
  <cp:revision>207</cp:revision>
  <cp:lastPrinted>2022-08-12T02:59:23Z</cp:lastPrinted>
  <dcterms:modified xsi:type="dcterms:W3CDTF">2025-09-21T00:53:58Z</dcterms:modified>
</cp:coreProperties>
</file>